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69" r:id="rId3"/>
    <p:sldId id="270" r:id="rId4"/>
    <p:sldId id="271" r:id="rId5"/>
    <p:sldId id="272" r:id="rId6"/>
    <p:sldId id="274" r:id="rId7"/>
    <p:sldId id="275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A075"/>
    <a:srgbClr val="D97706"/>
    <a:srgbClr val="A8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0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72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5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85800" y="2148840"/>
            <a:ext cx="82753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576072" y="1043940"/>
            <a:ext cx="8732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Ronny Aleman: TC TLM - PLD - Operaciones - </a:t>
            </a:r>
            <a:r>
              <a:rPr lang="en-US" sz="3200" b="1" dirty="0" err="1">
                <a:solidFill>
                  <a:srgbClr val="FFFFFF"/>
                </a:solidFill>
              </a:rPr>
              <a:t>Portafolio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2215515"/>
            <a:ext cx="8732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Ronny Aleman  ·  Subgerente BBVA TLM 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700147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Cierre Mayo 2026</a:t>
            </a:r>
            <a:endParaRPr lang="en-US" sz="12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08247B6-0ABD-FF21-E0E7-BE74437F7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240003"/>
            <a:ext cx="3657600" cy="2082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RESUMEN GENERAL|  TC TLM · PLD OUT · OPERACIONES OUT · PORTAFOLIO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 /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01168" y="11521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</a:rPr>
              <a:t>Sub-Gerente: Ronny Aleman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" y="1265791"/>
            <a:ext cx="309067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9A075"/>
                </a:solidFill>
              </a:rPr>
              <a:t>90%</a:t>
            </a:r>
            <a:endParaRPr lang="en-US" sz="6000" dirty="0">
              <a:solidFill>
                <a:srgbClr val="19A075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-65589" y="2697861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Avance promedio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33472" y="749808"/>
            <a:ext cx="45719" cy="3773119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2743200" y="749808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2880360" y="841248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CONECTADOS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880360" y="1024128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70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920740" y="749808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6057900" y="841248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DOTACION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6057900" y="1024128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50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2743200" y="1609344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2880360" y="1700784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PEND. SELECCION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2880360" y="1883664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2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5920740" y="1609344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6057900" y="1700784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PEND. INDUCCION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6057900" y="1883664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16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2743200" y="2468880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/>
          <p:nvPr/>
        </p:nvSpPr>
        <p:spPr>
          <a:xfrm>
            <a:off x="2880360" y="2560320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PRESUPUESTO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2880360" y="2743200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100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920740" y="2468880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6057900" y="2560320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SEMANA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6057900" y="2743200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05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0" y="3419856"/>
            <a:ext cx="9144000" cy="234696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182880" y="3419856"/>
            <a:ext cx="310896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Sub-campaña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561863" y="3419308"/>
            <a:ext cx="118872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Presupuesto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26280" y="3419856"/>
            <a:ext cx="210312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Avance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656832" y="3419856"/>
            <a:ext cx="8686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% Logro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543800" y="3419856"/>
            <a:ext cx="146304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Proyeccion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0" y="3654552"/>
            <a:ext cx="9144000" cy="234696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8"/>
          <p:cNvSpPr/>
          <p:nvPr/>
        </p:nvSpPr>
        <p:spPr>
          <a:xfrm>
            <a:off x="182880" y="3654552"/>
            <a:ext cx="29260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078"/>
                </a:solidFill>
              </a:rPr>
              <a:t>TC Telemarketing OUT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695937" y="3654552"/>
            <a:ext cx="118872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50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26280" y="3720267"/>
            <a:ext cx="1920240" cy="98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Shape 41"/>
          <p:cNvSpPr/>
          <p:nvPr/>
        </p:nvSpPr>
        <p:spPr>
          <a:xfrm>
            <a:off x="4526280" y="3720267"/>
            <a:ext cx="1728216" cy="985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2"/>
          <p:cNvSpPr/>
          <p:nvPr/>
        </p:nvSpPr>
        <p:spPr>
          <a:xfrm>
            <a:off x="6656832" y="3654552"/>
            <a:ext cx="8686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90%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543800" y="3654552"/>
            <a:ext cx="146304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0" y="3889248"/>
            <a:ext cx="9144000" cy="23469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Text 45"/>
          <p:cNvSpPr/>
          <p:nvPr/>
        </p:nvSpPr>
        <p:spPr>
          <a:xfrm>
            <a:off x="182880" y="3889248"/>
            <a:ext cx="29260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078"/>
                </a:solidFill>
              </a:rPr>
              <a:t>PLD OUT (Prestamos)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2695937" y="3889248"/>
            <a:ext cx="118872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16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526280" y="3954963"/>
            <a:ext cx="1920240" cy="98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1" name="Shape 48"/>
          <p:cNvSpPr/>
          <p:nvPr/>
        </p:nvSpPr>
        <p:spPr>
          <a:xfrm>
            <a:off x="4526280" y="3954963"/>
            <a:ext cx="1401775" cy="985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49"/>
          <p:cNvSpPr/>
          <p:nvPr/>
        </p:nvSpPr>
        <p:spPr>
          <a:xfrm>
            <a:off x="6656832" y="3889248"/>
            <a:ext cx="8686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73%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543800" y="3889248"/>
            <a:ext cx="146304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4123944"/>
            <a:ext cx="9144000" cy="234696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2"/>
          <p:cNvSpPr/>
          <p:nvPr/>
        </p:nvSpPr>
        <p:spPr>
          <a:xfrm>
            <a:off x="182880" y="4123944"/>
            <a:ext cx="29260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078"/>
                </a:solidFill>
              </a:rPr>
              <a:t>Operaciones OUT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2695937" y="4123944"/>
            <a:ext cx="118872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14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526280" y="4189659"/>
            <a:ext cx="1920240" cy="98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8" name="Shape 55"/>
          <p:cNvSpPr/>
          <p:nvPr/>
        </p:nvSpPr>
        <p:spPr>
          <a:xfrm>
            <a:off x="4526280" y="4189659"/>
            <a:ext cx="1747418" cy="985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9" name="Text 56"/>
          <p:cNvSpPr/>
          <p:nvPr/>
        </p:nvSpPr>
        <p:spPr>
          <a:xfrm>
            <a:off x="6656832" y="4123944"/>
            <a:ext cx="8686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91%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543800" y="4123944"/>
            <a:ext cx="146304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0" y="4358640"/>
            <a:ext cx="9144000" cy="234696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2" name="Text 59"/>
          <p:cNvSpPr/>
          <p:nvPr/>
        </p:nvSpPr>
        <p:spPr>
          <a:xfrm>
            <a:off x="182880" y="4358640"/>
            <a:ext cx="29260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145078"/>
                </a:solidFill>
              </a:rPr>
              <a:t>Portafolio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2695937" y="4358640"/>
            <a:ext cx="118872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18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526280" y="4424355"/>
            <a:ext cx="1920240" cy="98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5" name="Shape 62"/>
          <p:cNvSpPr/>
          <p:nvPr/>
        </p:nvSpPr>
        <p:spPr>
          <a:xfrm>
            <a:off x="4526280" y="4424355"/>
            <a:ext cx="1728216" cy="985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6" name="Text 63"/>
          <p:cNvSpPr/>
          <p:nvPr/>
        </p:nvSpPr>
        <p:spPr>
          <a:xfrm>
            <a:off x="6656832" y="4358640"/>
            <a:ext cx="86868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90%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7543800" y="4358640"/>
            <a:ext cx="146304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6" name="Text 73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TLM OUT  |  RONNY ALEMAN  |  Ronny Aleman  |  Cierre Mayo 2026</a:t>
            </a:r>
            <a:endParaRPr lang="en-US" sz="750" dirty="0"/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1E55FB29-2C7A-3DF5-E1C1-495612494CC7}"/>
              </a:ext>
            </a:extLst>
          </p:cNvPr>
          <p:cNvSpPr/>
          <p:nvPr/>
        </p:nvSpPr>
        <p:spPr>
          <a:xfrm>
            <a:off x="150876" y="785632"/>
            <a:ext cx="23317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670DE5C5-466E-0434-E549-07443ECBCDEA}"/>
              </a:ext>
            </a:extLst>
          </p:cNvPr>
          <p:cNvSpPr/>
          <p:nvPr/>
        </p:nvSpPr>
        <p:spPr>
          <a:xfrm>
            <a:off x="242316" y="85878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2" name="Text 8">
            <a:extLst>
              <a:ext uri="{FF2B5EF4-FFF2-40B4-BE49-F238E27FC236}">
                <a16:creationId xmlns:a16="http://schemas.microsoft.com/office/drawing/2014/main" id="{25D52E78-6D8B-03BB-4AC6-1C261FE7C63D}"/>
              </a:ext>
            </a:extLst>
          </p:cNvPr>
          <p:cNvSpPr/>
          <p:nvPr/>
        </p:nvSpPr>
        <p:spPr>
          <a:xfrm>
            <a:off x="461772" y="785632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59669"/>
                </a:solidFill>
              </a:rPr>
              <a:t>EN AVANCE</a:t>
            </a:r>
          </a:p>
        </p:txBody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5F92946E-1D69-F6E6-2C88-56D8E60AE516}"/>
              </a:ext>
            </a:extLst>
          </p:cNvPr>
          <p:cNvSpPr/>
          <p:nvPr/>
        </p:nvSpPr>
        <p:spPr>
          <a:xfrm>
            <a:off x="5117268" y="3636752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5B730E9C-AA80-E186-C853-2B5A3F158C92}"/>
              </a:ext>
            </a:extLst>
          </p:cNvPr>
          <p:cNvSpPr/>
          <p:nvPr/>
        </p:nvSpPr>
        <p:spPr>
          <a:xfrm>
            <a:off x="5117268" y="3863431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39C92EC7-43C5-93A3-ED45-17C5DD507E03}"/>
              </a:ext>
            </a:extLst>
          </p:cNvPr>
          <p:cNvSpPr/>
          <p:nvPr/>
        </p:nvSpPr>
        <p:spPr>
          <a:xfrm>
            <a:off x="5112083" y="4098127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290F34D1-83D5-6F68-33F7-F0CEEC135045}"/>
              </a:ext>
            </a:extLst>
          </p:cNvPr>
          <p:cNvSpPr/>
          <p:nvPr/>
        </p:nvSpPr>
        <p:spPr>
          <a:xfrm>
            <a:off x="5134288" y="4332823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89" name="Text 33">
            <a:extLst>
              <a:ext uri="{FF2B5EF4-FFF2-40B4-BE49-F238E27FC236}">
                <a16:creationId xmlns:a16="http://schemas.microsoft.com/office/drawing/2014/main" id="{51739359-080A-87AC-E263-2B1F7386CDC2}"/>
              </a:ext>
            </a:extLst>
          </p:cNvPr>
          <p:cNvSpPr/>
          <p:nvPr/>
        </p:nvSpPr>
        <p:spPr>
          <a:xfrm>
            <a:off x="3426494" y="3395827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Conectados</a:t>
            </a:r>
            <a:endParaRPr lang="en-US" sz="850" dirty="0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A45C6784-DEFA-6A05-0C12-ACEB39062D5D}"/>
              </a:ext>
            </a:extLst>
          </p:cNvPr>
          <p:cNvSpPr/>
          <p:nvPr/>
        </p:nvSpPr>
        <p:spPr>
          <a:xfrm>
            <a:off x="3659544" y="3850854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40</a:t>
            </a:r>
            <a:endParaRPr lang="en-US" sz="950" dirty="0"/>
          </a:p>
        </p:txBody>
      </p:sp>
      <p:sp>
        <p:nvSpPr>
          <p:cNvPr id="93" name="Text 39">
            <a:extLst>
              <a:ext uri="{FF2B5EF4-FFF2-40B4-BE49-F238E27FC236}">
                <a16:creationId xmlns:a16="http://schemas.microsoft.com/office/drawing/2014/main" id="{B316B709-51A4-52D3-CA68-4E901C66D448}"/>
              </a:ext>
            </a:extLst>
          </p:cNvPr>
          <p:cNvSpPr/>
          <p:nvPr/>
        </p:nvSpPr>
        <p:spPr>
          <a:xfrm>
            <a:off x="3651295" y="4099851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20</a:t>
            </a:r>
            <a:endParaRPr lang="en-US" sz="950" dirty="0"/>
          </a:p>
        </p:txBody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DA737AF7-796F-F563-8F6E-7DE3DBA1BE14}"/>
              </a:ext>
            </a:extLst>
          </p:cNvPr>
          <p:cNvSpPr/>
          <p:nvPr/>
        </p:nvSpPr>
        <p:spPr>
          <a:xfrm>
            <a:off x="3659544" y="4328690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28</a:t>
            </a:r>
            <a:endParaRPr lang="en-US" sz="950" dirty="0"/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DD7FE2D-1574-A852-9D78-84797E63A60B}"/>
              </a:ext>
            </a:extLst>
          </p:cNvPr>
          <p:cNvSpPr/>
          <p:nvPr/>
        </p:nvSpPr>
        <p:spPr>
          <a:xfrm>
            <a:off x="3634505" y="3628735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40</a:t>
            </a:r>
            <a:endParaRPr lang="en-US" sz="950" dirty="0"/>
          </a:p>
        </p:txBody>
      </p:sp>
      <p:pic>
        <p:nvPicPr>
          <p:cNvPr id="100" name="Imagen 99">
            <a:extLst>
              <a:ext uri="{FF2B5EF4-FFF2-40B4-BE49-F238E27FC236}">
                <a16:creationId xmlns:a16="http://schemas.microsoft.com/office/drawing/2014/main" id="{7C9C3F1A-8CBE-17D2-6A39-C0A2FBC71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2" y="-144967"/>
            <a:ext cx="1773938" cy="10098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TC TELEMARKETING OUT: Información al 30 de Mayo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3317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292608" y="82296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12064" y="749808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59669"/>
                </a:solidFill>
              </a:rPr>
              <a:t>EN AVANCE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Sub Gerente: Ronny Aleman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679" y="1939674"/>
            <a:ext cx="28648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59669"/>
                </a:solidFill>
              </a:rPr>
              <a:t>131.1%</a:t>
            </a:r>
            <a:endParaRPr lang="en-US" sz="6600" dirty="0"/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Shape 7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8" name="Text 7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TLM  |  TC TELEMARKETING OUT  |  Ronny Aleman  |  Cierre Mayo 2026</a:t>
            </a:r>
            <a:endParaRPr lang="en-US" sz="750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6A52EC1A-ECE5-7429-EB2B-53DDC576150A}"/>
              </a:ext>
            </a:extLst>
          </p:cNvPr>
          <p:cNvSpPr/>
          <p:nvPr/>
        </p:nvSpPr>
        <p:spPr>
          <a:xfrm>
            <a:off x="317734" y="1959611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2.90 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19304F58-7AC2-FD96-3E5B-D3891140C0ED}"/>
              </a:ext>
            </a:extLst>
          </p:cNvPr>
          <p:cNvSpPr/>
          <p:nvPr/>
        </p:nvSpPr>
        <p:spPr>
          <a:xfrm>
            <a:off x="-162082" y="3098250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1.12K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8DC758B8-8C77-33D6-72A9-856DE757EDDF}"/>
              </a:ext>
            </a:extLst>
          </p:cNvPr>
          <p:cNvSpPr/>
          <p:nvPr/>
        </p:nvSpPr>
        <p:spPr>
          <a:xfrm>
            <a:off x="1036644" y="3094810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855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BARRAS_AVANCE_TARJETAS_TLM" descr="image.png">
            <a:extLst>
              <a:ext uri="{FF2B5EF4-FFF2-40B4-BE49-F238E27FC236}">
                <a16:creationId xmlns:a16="http://schemas.microsoft.com/office/drawing/2014/main" id="{42A79ACB-DCF5-C9C4-DE27-9C7BCD938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449" y="1760062"/>
            <a:ext cx="5884498" cy="184480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FD118CC7-1577-BE8C-D36C-D9875A02B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09" y="-102845"/>
            <a:ext cx="1645923" cy="936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PLD OUT PRESTAMOS: Información al 30 de Mayo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/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33172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292608" y="82296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12064" y="749808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EN OBSERVACIÓN</a:t>
            </a:r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Lider: Ronny Aleman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01168" y="2080313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DC2626"/>
                </a:solidFill>
              </a:rPr>
              <a:t>72.4%</a:t>
            </a:r>
            <a:endParaRPr lang="en-US" sz="7200" dirty="0"/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Shape 6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3" name="Text 70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TLM  |  PLD OUT (PRESTAMOS)  |  Ronny Aleman  |  Cierre Mayo 2026</a:t>
            </a:r>
            <a:endParaRPr lang="en-US" sz="750" dirty="0"/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A3CE5A69-2D8A-DEC3-224F-DC959E3CE084}"/>
              </a:ext>
            </a:extLst>
          </p:cNvPr>
          <p:cNvSpPr/>
          <p:nvPr/>
        </p:nvSpPr>
        <p:spPr>
          <a:xfrm>
            <a:off x="372071" y="2019018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360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00A0BCA2-1D05-DDB4-7B19-ACF1A687F615}"/>
              </a:ext>
            </a:extLst>
          </p:cNvPr>
          <p:cNvSpPr/>
          <p:nvPr/>
        </p:nvSpPr>
        <p:spPr>
          <a:xfrm>
            <a:off x="-107745" y="3157657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71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07A0A797-C2A0-0C0F-F1C9-7AB6F9DFA654}"/>
              </a:ext>
            </a:extLst>
          </p:cNvPr>
          <p:cNvSpPr/>
          <p:nvPr/>
        </p:nvSpPr>
        <p:spPr>
          <a:xfrm>
            <a:off x="1090981" y="3154217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98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BARRAS_AVANCE_PRESTAMOS_OUT" descr="image.png">
            <a:extLst>
              <a:ext uri="{FF2B5EF4-FFF2-40B4-BE49-F238E27FC236}">
                <a16:creationId xmlns:a16="http://schemas.microsoft.com/office/drawing/2014/main" id="{44F9A783-719F-6E0E-CB32-278EB6E2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576" y="1697652"/>
            <a:ext cx="5385290" cy="181936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3632DD9D-BBCB-FF88-8097-E7A869171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09" y="-113970"/>
            <a:ext cx="1645923" cy="936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OPERACIONES OUT: : Información al 30 de Mayo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3317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10" name="Shape 7"/>
          <p:cNvSpPr/>
          <p:nvPr/>
        </p:nvSpPr>
        <p:spPr>
          <a:xfrm>
            <a:off x="292608" y="82296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12064" y="749808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59669"/>
                </a:solidFill>
              </a:rPr>
              <a:t>EN AVANCE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Sub Gerente: Ronny Aleman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8782" y="2079549"/>
            <a:ext cx="28283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59669"/>
                </a:solidFill>
              </a:rPr>
              <a:t>107.7%</a:t>
            </a:r>
            <a:endParaRPr lang="en-US" sz="6600" dirty="0"/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TLM  |  OPERACIONES OUT  |  Ronny Aleman  |  Cierre Mayo 2026</a:t>
            </a:r>
            <a:endParaRPr lang="en-US" sz="750" dirty="0"/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19DC7FAC-F2C8-7C50-C52D-609D7BDC37C7}"/>
              </a:ext>
            </a:extLst>
          </p:cNvPr>
          <p:cNvSpPr/>
          <p:nvPr/>
        </p:nvSpPr>
        <p:spPr>
          <a:xfrm>
            <a:off x="317734" y="2048488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5.25K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8A18A742-CA04-9FB6-9013-10B872A82677}"/>
              </a:ext>
            </a:extLst>
          </p:cNvPr>
          <p:cNvSpPr/>
          <p:nvPr/>
        </p:nvSpPr>
        <p:spPr>
          <a:xfrm>
            <a:off x="-162082" y="3187127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1.98K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8A3E5AD3-EA77-5D27-6691-7BA2A6BCDDC2}"/>
              </a:ext>
            </a:extLst>
          </p:cNvPr>
          <p:cNvSpPr/>
          <p:nvPr/>
        </p:nvSpPr>
        <p:spPr>
          <a:xfrm>
            <a:off x="1036644" y="3183687"/>
            <a:ext cx="1523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1.84K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0" name="BARRAS_AVANCE_OPERACIONES" descr="image.png">
            <a:extLst>
              <a:ext uri="{FF2B5EF4-FFF2-40B4-BE49-F238E27FC236}">
                <a16:creationId xmlns:a16="http://schemas.microsoft.com/office/drawing/2014/main" id="{FBD52858-531C-6FF7-88EB-E80D74F8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182" y="1804481"/>
            <a:ext cx="4899760" cy="1671814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3EE3A7F-9640-B14C-05BA-B13F0401C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354" y="-107818"/>
            <a:ext cx="1645923" cy="936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PORTAFOLIO: Información al 30 de Mayo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Sub Gerente: Ronny Aleman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1445" y="2192975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D97706"/>
                </a:solidFill>
              </a:rPr>
              <a:t>82.3%</a:t>
            </a:r>
            <a:endParaRPr lang="en-US" sz="6600" dirty="0">
              <a:solidFill>
                <a:srgbClr val="D97706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7" name="Shape 6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TLM  |  PORTAFOLIO EFECTIVO  |  Ronny Aleman  |  Cierre Mayo 2026</a:t>
            </a:r>
            <a:endParaRPr lang="en-US" sz="750" dirty="0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47F183FE-CFFB-69E3-3EA0-0A139F9F9FBC}"/>
              </a:ext>
            </a:extLst>
          </p:cNvPr>
          <p:cNvSpPr/>
          <p:nvPr/>
        </p:nvSpPr>
        <p:spPr>
          <a:xfrm>
            <a:off x="403403" y="2120661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3.00 M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B2955AC3-DCA7-84EF-4488-32597A99A94B}"/>
              </a:ext>
            </a:extLst>
          </p:cNvPr>
          <p:cNvSpPr/>
          <p:nvPr/>
        </p:nvSpPr>
        <p:spPr>
          <a:xfrm>
            <a:off x="-92742" y="3275629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552.5K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4633EEC3-E4C1-EBE0-DE74-E75CC831C279}"/>
              </a:ext>
            </a:extLst>
          </p:cNvPr>
          <p:cNvSpPr/>
          <p:nvPr/>
        </p:nvSpPr>
        <p:spPr>
          <a:xfrm>
            <a:off x="1024339" y="3255860"/>
            <a:ext cx="1624998" cy="354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671.7K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BARRAS_AVANCE_EFECTIVO" descr="image.png">
            <a:extLst>
              <a:ext uri="{FF2B5EF4-FFF2-40B4-BE49-F238E27FC236}">
                <a16:creationId xmlns:a16="http://schemas.microsoft.com/office/drawing/2014/main" id="{54B66F17-D06F-2B6B-E662-6755E700F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051" y="1500402"/>
            <a:ext cx="6160051" cy="2489957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21A3CA72-0301-57BA-CCEC-D057CA6B3B4E}"/>
              </a:ext>
            </a:extLst>
          </p:cNvPr>
          <p:cNvSpPr/>
          <p:nvPr/>
        </p:nvSpPr>
        <p:spPr>
          <a:xfrm>
            <a:off x="89154" y="775423"/>
            <a:ext cx="233172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4F653980-A1C1-A5E7-8548-D79EA748600E}"/>
              </a:ext>
            </a:extLst>
          </p:cNvPr>
          <p:cNvSpPr/>
          <p:nvPr/>
        </p:nvSpPr>
        <p:spPr>
          <a:xfrm>
            <a:off x="180594" y="848575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B4BD7086-9E6A-7CBE-AA66-56550A90C3CA}"/>
              </a:ext>
            </a:extLst>
          </p:cNvPr>
          <p:cNvSpPr/>
          <p:nvPr/>
        </p:nvSpPr>
        <p:spPr>
          <a:xfrm>
            <a:off x="400050" y="775423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EN SEGUIMIENTO</a:t>
            </a:r>
            <a:endParaRPr lang="en-US" sz="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3A5D-0727-E6DB-463A-AE28CC2B8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-13311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BBVA TLM OUT  |  DIAGNOSTICO Y SEGUIMIENTO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/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0" y="749808"/>
            <a:ext cx="4160520" cy="310896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91440" y="749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FFFFFF"/>
                </a:solidFill>
              </a:rPr>
              <a:t>SEGUIMIENTO PLAN SEMANA ANTERIOR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0" y="1097280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0" y="1097280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128016" y="1152144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Calibracion de pitch + ajuste de guion y roleplay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8016" y="1815023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Ejecutado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2334768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0" y="2334768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28016" y="2389632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Talleres conversion + dinamica Strategy_7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28016" y="3052511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En proceso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3572256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7"/>
          <p:cNvSpPr/>
          <p:nvPr/>
        </p:nvSpPr>
        <p:spPr>
          <a:xfrm>
            <a:off x="0" y="3572256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128016" y="3627120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Completar dotacion Portafolio Efectivo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28016" y="4289999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En proceso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242816" y="749808"/>
            <a:ext cx="18288" cy="40599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4343400" y="749808"/>
            <a:ext cx="4800600" cy="310896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4434840" y="74980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FFFFFF"/>
                </a:solidFill>
              </a:rPr>
              <a:t>DIAGNOSTICO — CAUSAS RAIZ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43400" y="1097280"/>
            <a:ext cx="48006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4"/>
          <p:cNvSpPr/>
          <p:nvPr/>
        </p:nvSpPr>
        <p:spPr>
          <a:xfrm>
            <a:off x="4343400" y="1097280"/>
            <a:ext cx="502920" cy="17922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4343400" y="109728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93776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078"/>
                </a:solidFill>
              </a:rPr>
              <a:t>PLD OUT al 73% — conversion desembolso al 40%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1444752"/>
            <a:ext cx="4114800" cy="779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1828"/>
                </a:solidFill>
              </a:rPr>
              <a:t>Oferta maxima cliente ejecutada al 40%. Gap en pitch de cierre y seguimiento de promesas.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37760" y="2615184"/>
            <a:ext cx="100584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4937760" y="26151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Impacto Alto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343400" y="2953512"/>
            <a:ext cx="48006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1"/>
          <p:cNvSpPr/>
          <p:nvPr/>
        </p:nvSpPr>
        <p:spPr>
          <a:xfrm>
            <a:off x="4343400" y="2953512"/>
            <a:ext cx="502920" cy="17922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4343400" y="2953512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937760" y="3044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078"/>
                </a:solidFill>
              </a:rPr>
              <a:t>Portafolio Efectivo al 20% — solo 2 activos de 8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937760" y="3300984"/>
            <a:ext cx="4114800" cy="779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1828"/>
                </a:solidFill>
              </a:rPr>
              <a:t>Plan de crecimiento escalonado sin completar. Sin dotacion no hay produccion.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937760" y="4471416"/>
            <a:ext cx="100584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/>
          <p:nvPr/>
        </p:nvSpPr>
        <p:spPr>
          <a:xfrm>
            <a:off x="4937760" y="447141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</a:rPr>
              <a:t>Impacto Alto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TLM OUT  |  DIAGNOSTICO  |  Ronny Aleman  |  Cierre Mayo 2026</a:t>
            </a:r>
            <a:endParaRPr lang="en-US" sz="750" dirty="0"/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AF98D781-2B6A-88FB-F3D2-7A8EB5594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-11521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5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85800" y="2148840"/>
            <a:ext cx="82753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85800" y="1069848"/>
            <a:ext cx="8732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Norma Levano: TC </a:t>
            </a:r>
            <a:r>
              <a:rPr lang="en-US" sz="3200" b="1" dirty="0" err="1">
                <a:solidFill>
                  <a:srgbClr val="FFFFFF"/>
                </a:solidFill>
              </a:rPr>
              <a:t>Hibrido</a:t>
            </a:r>
            <a:r>
              <a:rPr lang="en-US" sz="3200" b="1" dirty="0">
                <a:solidFill>
                  <a:srgbClr val="FFFFFF"/>
                </a:solidFill>
              </a:rPr>
              <a:t> - PLD Digital - Operaciones - TC Respaldada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2244852"/>
            <a:ext cx="8732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Norma Levano  ·  Sub-Gerente BBVA Digital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766822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Cierre Mayo 2026</a:t>
            </a:r>
            <a:endParaRPr lang="en-US"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F17E0B2-9198-3AF4-16E7-F636B621D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496" y="3197352"/>
            <a:ext cx="3785624" cy="21549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RESUMEN GENERAL|  TC HIBRIDO · PLD DIGITAL · OPERACIONES DIGITAL · TC RESPALDADA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 /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3317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292608" y="82296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30352" y="749808"/>
            <a:ext cx="1984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D97706"/>
                </a:solidFill>
              </a:rPr>
              <a:t>EN SEGUIMIENTO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1168" y="11521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7085"/>
                </a:solidFill>
              </a:rPr>
              <a:t>Sub-Gerente: Norma Levano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1168" y="1463040"/>
            <a:ext cx="2331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D97706"/>
                </a:solidFill>
              </a:rPr>
              <a:t>82%</a:t>
            </a:r>
            <a:endParaRPr lang="en-US" sz="8000" dirty="0"/>
          </a:p>
        </p:txBody>
      </p:sp>
      <p:sp>
        <p:nvSpPr>
          <p:cNvPr id="14" name="Text 11"/>
          <p:cNvSpPr/>
          <p:nvPr/>
        </p:nvSpPr>
        <p:spPr>
          <a:xfrm>
            <a:off x="201168" y="29077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Avance promedio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33472" y="749808"/>
            <a:ext cx="20117" cy="4069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2743200" y="749808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2880360" y="841248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CONECTADOS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880360" y="1024128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57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920740" y="749808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6057900" y="841248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DOTACION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6057900" y="1024128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71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2743200" y="1609344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2880360" y="1700784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PEND. SELECCION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2880360" y="1883664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1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5920740" y="1609344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6057900" y="1700784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PEND. INDUCCION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6057900" y="1883664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13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2743200" y="2468880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/>
          <p:nvPr/>
        </p:nvSpPr>
        <p:spPr>
          <a:xfrm>
            <a:off x="2880360" y="2560320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PRESUPUESTO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2880360" y="2743200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71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920740" y="2468880"/>
            <a:ext cx="30861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6057900" y="2560320"/>
            <a:ext cx="29032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kern="0" spc="40" dirty="0">
                <a:solidFill>
                  <a:srgbClr val="667085"/>
                </a:solidFill>
              </a:rPr>
              <a:t>SEMANA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6057900" y="2743200"/>
            <a:ext cx="29032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078"/>
                </a:solidFill>
              </a:rPr>
              <a:t>05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0" y="3419856"/>
            <a:ext cx="9144000" cy="281635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182880" y="3419856"/>
            <a:ext cx="31089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Sub-campaña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351570" y="3419856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Presupuesto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26280" y="3419856"/>
            <a:ext cx="21031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Avance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656832" y="3419856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% Logro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543800" y="3419856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Proyeccion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0" y="3701491"/>
            <a:ext cx="9144000" cy="281635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8"/>
          <p:cNvSpPr/>
          <p:nvPr/>
        </p:nvSpPr>
        <p:spPr>
          <a:xfrm>
            <a:off x="182880" y="3701491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078"/>
                </a:solidFill>
              </a:rPr>
              <a:t>TC Hibrido (Tarjetas Digital)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498212" y="3701491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25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26280" y="3780349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Shape 41"/>
          <p:cNvSpPr/>
          <p:nvPr/>
        </p:nvSpPr>
        <p:spPr>
          <a:xfrm>
            <a:off x="4526280" y="3780349"/>
            <a:ext cx="1459382" cy="11828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2"/>
          <p:cNvSpPr/>
          <p:nvPr/>
        </p:nvSpPr>
        <p:spPr>
          <a:xfrm>
            <a:off x="6656832" y="3701491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76%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543800" y="3701491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0" y="3983126"/>
            <a:ext cx="9144000" cy="281635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Text 45"/>
          <p:cNvSpPr/>
          <p:nvPr/>
        </p:nvSpPr>
        <p:spPr>
          <a:xfrm>
            <a:off x="182880" y="3983126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078"/>
                </a:solidFill>
              </a:rPr>
              <a:t>Operaciones Digital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2498212" y="3983126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20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526280" y="4061984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1" name="Shape 48"/>
          <p:cNvSpPr/>
          <p:nvPr/>
        </p:nvSpPr>
        <p:spPr>
          <a:xfrm>
            <a:off x="4526280" y="4061984"/>
            <a:ext cx="1536192" cy="11828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49"/>
          <p:cNvSpPr/>
          <p:nvPr/>
        </p:nvSpPr>
        <p:spPr>
          <a:xfrm>
            <a:off x="6656832" y="3983126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80%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543800" y="3983126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4264762"/>
            <a:ext cx="9144000" cy="281635"/>
          </a:xfrm>
          <a:prstGeom prst="rect">
            <a:avLst/>
          </a:prstGeom>
          <a:solidFill>
            <a:srgbClr val="FFFFFF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2"/>
          <p:cNvSpPr/>
          <p:nvPr/>
        </p:nvSpPr>
        <p:spPr>
          <a:xfrm>
            <a:off x="182880" y="4264762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078"/>
                </a:solidFill>
              </a:rPr>
              <a:t>PLD Digital (Prestamos)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2498212" y="4264762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10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526280" y="4343619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8" name="Shape 55"/>
          <p:cNvSpPr/>
          <p:nvPr/>
        </p:nvSpPr>
        <p:spPr>
          <a:xfrm>
            <a:off x="4526280" y="4343619"/>
            <a:ext cx="1920240" cy="118287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9" name="Text 56"/>
          <p:cNvSpPr/>
          <p:nvPr/>
        </p:nvSpPr>
        <p:spPr>
          <a:xfrm>
            <a:off x="6656832" y="4264762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103%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543800" y="4264762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0" y="4546397"/>
            <a:ext cx="9144000" cy="281635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2" name="Text 59"/>
          <p:cNvSpPr/>
          <p:nvPr/>
        </p:nvSpPr>
        <p:spPr>
          <a:xfrm>
            <a:off x="182880" y="4546397"/>
            <a:ext cx="29260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078"/>
                </a:solidFill>
              </a:rPr>
              <a:t>TC Respaldada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2498212" y="4546397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16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526280" y="4625255"/>
            <a:ext cx="1920240" cy="11828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5" name="Shape 62"/>
          <p:cNvSpPr/>
          <p:nvPr/>
        </p:nvSpPr>
        <p:spPr>
          <a:xfrm>
            <a:off x="4526280" y="4625255"/>
            <a:ext cx="1555394" cy="11828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6" name="Text 63"/>
          <p:cNvSpPr/>
          <p:nvPr/>
        </p:nvSpPr>
        <p:spPr>
          <a:xfrm>
            <a:off x="6656832" y="4546397"/>
            <a:ext cx="86868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81%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7543800" y="4546397"/>
            <a:ext cx="14630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085"/>
                </a:solidFill>
              </a:rPr>
              <a:t>700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9" name="Text 66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DIGITAL  |  NORMA LEVANO  |  Norma Levano  |  Cierre Mayo 2026</a:t>
            </a:r>
            <a:endParaRPr lang="en-US" sz="750" dirty="0"/>
          </a:p>
        </p:txBody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EDB46277-5DFE-41CA-1D0F-8607DDACB47C}"/>
              </a:ext>
            </a:extLst>
          </p:cNvPr>
          <p:cNvSpPr/>
          <p:nvPr/>
        </p:nvSpPr>
        <p:spPr>
          <a:xfrm>
            <a:off x="5060549" y="3710636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16D5521A-7387-FF67-F06A-F8B3DB17D9C2}"/>
              </a:ext>
            </a:extLst>
          </p:cNvPr>
          <p:cNvSpPr/>
          <p:nvPr/>
        </p:nvSpPr>
        <p:spPr>
          <a:xfrm>
            <a:off x="5134288" y="3988773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5E6D863A-D9F8-DABA-51E9-6A141B079082}"/>
              </a:ext>
            </a:extLst>
          </p:cNvPr>
          <p:cNvSpPr/>
          <p:nvPr/>
        </p:nvSpPr>
        <p:spPr>
          <a:xfrm>
            <a:off x="5224718" y="4261944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734381A0-16F3-499C-91FB-57637AE08174}"/>
              </a:ext>
            </a:extLst>
          </p:cNvPr>
          <p:cNvSpPr/>
          <p:nvPr/>
        </p:nvSpPr>
        <p:spPr>
          <a:xfrm>
            <a:off x="5084665" y="4546397"/>
            <a:ext cx="126069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900</a:t>
            </a:r>
            <a:endParaRPr lang="en-US" sz="950" dirty="0"/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EE6159A9-E90D-225C-BE9F-3193D446CBFD}"/>
              </a:ext>
            </a:extLst>
          </p:cNvPr>
          <p:cNvSpPr/>
          <p:nvPr/>
        </p:nvSpPr>
        <p:spPr>
          <a:xfrm>
            <a:off x="3328305" y="3399699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Conectados</a:t>
            </a:r>
            <a:endParaRPr lang="en-US" sz="85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65069EF4-EF82-2351-6446-1AD3FC907DB8}"/>
              </a:ext>
            </a:extLst>
          </p:cNvPr>
          <p:cNvSpPr/>
          <p:nvPr/>
        </p:nvSpPr>
        <p:spPr>
          <a:xfrm>
            <a:off x="3530781" y="3653976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40</a:t>
            </a:r>
            <a:endParaRPr lang="en-US" sz="95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ED12223E-687F-9E78-F20F-888642B45EC3}"/>
              </a:ext>
            </a:extLst>
          </p:cNvPr>
          <p:cNvSpPr/>
          <p:nvPr/>
        </p:nvSpPr>
        <p:spPr>
          <a:xfrm>
            <a:off x="3544480" y="3982956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20</a:t>
            </a:r>
            <a:endParaRPr lang="en-US" sz="950" dirty="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744C982A-CC8C-5C69-CED9-0D2A261DFB08}"/>
              </a:ext>
            </a:extLst>
          </p:cNvPr>
          <p:cNvSpPr/>
          <p:nvPr/>
        </p:nvSpPr>
        <p:spPr>
          <a:xfrm>
            <a:off x="3561355" y="4263554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28</a:t>
            </a:r>
            <a:endParaRPr lang="en-US" sz="950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B5DFDEA4-93A8-540B-CE5F-627403DF028F}"/>
              </a:ext>
            </a:extLst>
          </p:cNvPr>
          <p:cNvSpPr/>
          <p:nvPr/>
        </p:nvSpPr>
        <p:spPr>
          <a:xfrm>
            <a:off x="3585612" y="4545189"/>
            <a:ext cx="11887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010"/>
                </a:solidFill>
              </a:rPr>
              <a:t>4</a:t>
            </a:r>
            <a:endParaRPr lang="en-US" sz="950" dirty="0"/>
          </a:p>
        </p:txBody>
      </p:sp>
      <p:pic>
        <p:nvPicPr>
          <p:cNvPr id="89" name="Picture 8">
            <a:extLst>
              <a:ext uri="{FF2B5EF4-FFF2-40B4-BE49-F238E27FC236}">
                <a16:creationId xmlns:a16="http://schemas.microsoft.com/office/drawing/2014/main" id="{DB335D8E-DAD0-8DAF-3C94-76A1564C5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-15232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TC HIBRIDO — TARJETAS DIGITAL: Información al 30 de Mayo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 /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667085"/>
                </a:solidFill>
              </a:rPr>
              <a:t>Sub-</a:t>
            </a:r>
            <a:r>
              <a:rPr lang="en-US" sz="800" i="1" dirty="0" err="1">
                <a:solidFill>
                  <a:srgbClr val="667085"/>
                </a:solidFill>
              </a:rPr>
              <a:t>Gerente</a:t>
            </a:r>
            <a:r>
              <a:rPr lang="en-US" sz="800" i="1" dirty="0">
                <a:solidFill>
                  <a:srgbClr val="667085"/>
                </a:solidFill>
              </a:rPr>
              <a:t> </a:t>
            </a:r>
            <a:r>
              <a:rPr lang="en-US" sz="850" i="1" dirty="0">
                <a:solidFill>
                  <a:srgbClr val="667085"/>
                </a:solidFill>
              </a:rPr>
              <a:t>: Norma Levano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3458" y="2049562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9A075"/>
                </a:solidFill>
              </a:rPr>
              <a:t>99%</a:t>
            </a:r>
            <a:endParaRPr lang="en-US" sz="7200" dirty="0">
              <a:solidFill>
                <a:srgbClr val="19A075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Shape 7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8" name="Text 7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DIGITAL  |  TC HIBRIDO (TARJETAS)  |  Norma Levano  |  Cierre Mayo 2026</a:t>
            </a:r>
            <a:endParaRPr lang="en-US" sz="750" dirty="0"/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CE342462-AEF5-27AF-9D0A-8C61BD68C57E}"/>
              </a:ext>
            </a:extLst>
          </p:cNvPr>
          <p:cNvSpPr/>
          <p:nvPr/>
        </p:nvSpPr>
        <p:spPr>
          <a:xfrm>
            <a:off x="423458" y="2045251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2.80k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B6116E27-65FF-2E4A-FCED-FB340C6A370A}"/>
              </a:ext>
            </a:extLst>
          </p:cNvPr>
          <p:cNvSpPr/>
          <p:nvPr/>
        </p:nvSpPr>
        <p:spPr>
          <a:xfrm>
            <a:off x="-56358" y="3183890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595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C26A8E09-D220-F7F0-8529-A345739179C5}"/>
              </a:ext>
            </a:extLst>
          </p:cNvPr>
          <p:cNvSpPr/>
          <p:nvPr/>
        </p:nvSpPr>
        <p:spPr>
          <a:xfrm>
            <a:off x="1142368" y="3180450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601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BARRAS_AVANCE_TARJETAS_DIGITAL" descr="image.png">
            <a:extLst>
              <a:ext uri="{FF2B5EF4-FFF2-40B4-BE49-F238E27FC236}">
                <a16:creationId xmlns:a16="http://schemas.microsoft.com/office/drawing/2014/main" id="{D06EBFBE-36CC-A076-403C-6D4F5F6E9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982" y="1572768"/>
            <a:ext cx="5125159" cy="2071643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FB3879E5-13D0-7CAE-00D7-94114AFA0339}"/>
              </a:ext>
            </a:extLst>
          </p:cNvPr>
          <p:cNvSpPr/>
          <p:nvPr/>
        </p:nvSpPr>
        <p:spPr>
          <a:xfrm>
            <a:off x="91440" y="759213"/>
            <a:ext cx="23317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10B6BD4F-7FA6-3688-AC63-DF3B989E6203}"/>
              </a:ext>
            </a:extLst>
          </p:cNvPr>
          <p:cNvSpPr/>
          <p:nvPr/>
        </p:nvSpPr>
        <p:spPr>
          <a:xfrm>
            <a:off x="182880" y="832365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A1FF34D-0E5E-428F-A548-E95DA37926D9}"/>
              </a:ext>
            </a:extLst>
          </p:cNvPr>
          <p:cNvSpPr/>
          <p:nvPr/>
        </p:nvSpPr>
        <p:spPr>
          <a:xfrm>
            <a:off x="402336" y="759213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59669"/>
                </a:solidFill>
              </a:rPr>
              <a:t>EN AVANCE</a:t>
            </a:r>
            <a:endParaRPr lang="en-US" sz="950" dirty="0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FC6A1E59-F2DC-0ABF-AC77-32F124B8B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-15232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OPERACIONES DIGITAL: </a:t>
            </a:r>
            <a:r>
              <a:rPr lang="en-US" sz="1250" b="1" kern="0" spc="30" dirty="0" err="1">
                <a:solidFill>
                  <a:srgbClr val="FFFFFF"/>
                </a:solidFill>
              </a:rPr>
              <a:t>Informacion</a:t>
            </a:r>
            <a:r>
              <a:rPr lang="en-US" sz="1250" b="1" kern="0" spc="30" dirty="0">
                <a:solidFill>
                  <a:srgbClr val="FFFFFF"/>
                </a:solidFill>
              </a:rPr>
              <a:t> al 30 de Mayo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667085"/>
                </a:solidFill>
              </a:rPr>
              <a:t>Sub-</a:t>
            </a:r>
            <a:r>
              <a:rPr lang="en-US" sz="800" i="1" dirty="0" err="1">
                <a:solidFill>
                  <a:srgbClr val="667085"/>
                </a:solidFill>
              </a:rPr>
              <a:t>Gerente</a:t>
            </a:r>
            <a:r>
              <a:rPr lang="en-US" sz="800" i="1" dirty="0">
                <a:solidFill>
                  <a:srgbClr val="667085"/>
                </a:solidFill>
              </a:rPr>
              <a:t> </a:t>
            </a:r>
            <a:r>
              <a:rPr lang="en-US" sz="850" i="1" dirty="0">
                <a:solidFill>
                  <a:srgbClr val="667085"/>
                </a:solidFill>
              </a:rPr>
              <a:t>: Norma Levano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8225" y="207098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0000"/>
                </a:solidFill>
              </a:rPr>
              <a:t>41.1%</a:t>
            </a:r>
            <a:endParaRPr lang="en-US" sz="7200" dirty="0">
              <a:solidFill>
                <a:srgbClr val="C0000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Shape 7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8" name="Text 75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DIGITAL  |  OPERACIONES HIBRIDO  |  Norma Levano  |  Cierre Mayo 2026</a:t>
            </a:r>
            <a:endParaRPr lang="en-US" sz="750" dirty="0"/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5D4F52AB-42F3-60EA-D4DD-893480880F78}"/>
              </a:ext>
            </a:extLst>
          </p:cNvPr>
          <p:cNvSpPr/>
          <p:nvPr/>
        </p:nvSpPr>
        <p:spPr>
          <a:xfrm>
            <a:off x="470518" y="2035375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4.00k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E2101963-994E-1919-D127-79AF54582F0F}"/>
              </a:ext>
            </a:extLst>
          </p:cNvPr>
          <p:cNvSpPr/>
          <p:nvPr/>
        </p:nvSpPr>
        <p:spPr>
          <a:xfrm>
            <a:off x="-9298" y="3174014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319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E0134AAA-27D6-DE6B-A951-F2716CDCB379}"/>
              </a:ext>
            </a:extLst>
          </p:cNvPr>
          <p:cNvSpPr/>
          <p:nvPr/>
        </p:nvSpPr>
        <p:spPr>
          <a:xfrm>
            <a:off x="1189428" y="3170574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777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1" name="BARRAS_AVANCE_OPERACIONES_DIGITAL" descr="image.png">
            <a:extLst>
              <a:ext uri="{FF2B5EF4-FFF2-40B4-BE49-F238E27FC236}">
                <a16:creationId xmlns:a16="http://schemas.microsoft.com/office/drawing/2014/main" id="{D45A250F-2AD2-C233-A518-D90AFE28A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781" y="1551395"/>
            <a:ext cx="5442291" cy="2695939"/>
          </a:xfrm>
          <a:prstGeom prst="rect">
            <a:avLst/>
          </a:prstGeom>
        </p:spPr>
      </p:pic>
      <p:sp>
        <p:nvSpPr>
          <p:cNvPr id="29" name="Shape 6">
            <a:extLst>
              <a:ext uri="{FF2B5EF4-FFF2-40B4-BE49-F238E27FC236}">
                <a16:creationId xmlns:a16="http://schemas.microsoft.com/office/drawing/2014/main" id="{B26CD5DB-3AD5-DB03-D98B-2AC2E5B65F16}"/>
              </a:ext>
            </a:extLst>
          </p:cNvPr>
          <p:cNvSpPr/>
          <p:nvPr/>
        </p:nvSpPr>
        <p:spPr>
          <a:xfrm>
            <a:off x="91440" y="785704"/>
            <a:ext cx="233172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A1648BD7-9CB8-3964-45BA-22E0C0F32935}"/>
              </a:ext>
            </a:extLst>
          </p:cNvPr>
          <p:cNvSpPr/>
          <p:nvPr/>
        </p:nvSpPr>
        <p:spPr>
          <a:xfrm>
            <a:off x="182880" y="85885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E0D2FC64-771F-2BBE-BE27-D89178315431}"/>
              </a:ext>
            </a:extLst>
          </p:cNvPr>
          <p:cNvSpPr/>
          <p:nvPr/>
        </p:nvSpPr>
        <p:spPr>
          <a:xfrm>
            <a:off x="402336" y="785704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DC2626"/>
                </a:solidFill>
              </a:rPr>
              <a:t>EN OBSERVACIÓN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1A0F12F0-DE73-A8A8-A8CE-76D057805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PLD DIGITAL: </a:t>
            </a:r>
            <a:r>
              <a:rPr lang="en-US" sz="1250" b="1" kern="0" spc="30" dirty="0" err="1">
                <a:solidFill>
                  <a:srgbClr val="FFFFFF"/>
                </a:solidFill>
              </a:rPr>
              <a:t>Informacion</a:t>
            </a:r>
            <a:r>
              <a:rPr lang="en-US" sz="1250" b="1" kern="0" spc="30" dirty="0">
                <a:solidFill>
                  <a:srgbClr val="FFFFFF"/>
                </a:solidFill>
              </a:rPr>
              <a:t> al 30 de Mayo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/ 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" y="749808"/>
            <a:ext cx="23317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292608" y="82296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12064" y="749808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59669"/>
                </a:solidFill>
              </a:rPr>
              <a:t>EN AVANCE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116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667085"/>
                </a:solidFill>
              </a:rPr>
              <a:t>Sub-</a:t>
            </a:r>
            <a:r>
              <a:rPr lang="en-US" sz="800" i="1" dirty="0" err="1">
                <a:solidFill>
                  <a:srgbClr val="667085"/>
                </a:solidFill>
              </a:rPr>
              <a:t>Gerente</a:t>
            </a:r>
            <a:r>
              <a:rPr lang="en-US" sz="800" i="1" dirty="0">
                <a:solidFill>
                  <a:srgbClr val="667085"/>
                </a:solidFill>
              </a:rPr>
              <a:t> </a:t>
            </a:r>
            <a:r>
              <a:rPr lang="en-US" sz="850" i="1" dirty="0">
                <a:solidFill>
                  <a:srgbClr val="667085"/>
                </a:solidFill>
              </a:rPr>
              <a:t>: Norma Levano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0371" y="213580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59669"/>
                </a:solidFill>
              </a:rPr>
              <a:t>117%</a:t>
            </a:r>
            <a:endParaRPr lang="en-US" sz="7200" dirty="0"/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Shape 6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3" name="Text 70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DIGITAL  |  PLD DIGITAL (PRESTAMOS)  |  Norma Levano  |  Cierre Mayo 2026</a:t>
            </a:r>
            <a:endParaRPr lang="en-US" sz="750" dirty="0"/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F3EBCCF7-7214-2130-1FA9-E31457629BA3}"/>
              </a:ext>
            </a:extLst>
          </p:cNvPr>
          <p:cNvSpPr/>
          <p:nvPr/>
        </p:nvSpPr>
        <p:spPr>
          <a:xfrm>
            <a:off x="434906" y="2088745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400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0737E61C-88FB-907B-E8F9-897CF8B11E72}"/>
              </a:ext>
            </a:extLst>
          </p:cNvPr>
          <p:cNvSpPr/>
          <p:nvPr/>
        </p:nvSpPr>
        <p:spPr>
          <a:xfrm>
            <a:off x="-44910" y="3227384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124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BFD4EF03-1C60-CA28-7777-90A8034C19F4}"/>
              </a:ext>
            </a:extLst>
          </p:cNvPr>
          <p:cNvSpPr/>
          <p:nvPr/>
        </p:nvSpPr>
        <p:spPr>
          <a:xfrm>
            <a:off x="1153816" y="3223944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106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6" name="Imagen 75">
            <a:extLst>
              <a:ext uri="{FF2B5EF4-FFF2-40B4-BE49-F238E27FC236}">
                <a16:creationId xmlns:a16="http://schemas.microsoft.com/office/drawing/2014/main" id="{9C1213A0-702B-B32F-1472-0CDB816CE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532"/>
          <a:stretch>
            <a:fillRect/>
          </a:stretch>
        </p:blipFill>
        <p:spPr>
          <a:xfrm>
            <a:off x="2868391" y="1800375"/>
            <a:ext cx="6019577" cy="2191154"/>
          </a:xfrm>
          <a:prstGeom prst="rect">
            <a:avLst/>
          </a:prstGeom>
        </p:spPr>
      </p:pic>
      <p:pic>
        <p:nvPicPr>
          <p:cNvPr id="28" name="Picture 8">
            <a:extLst>
              <a:ext uri="{FF2B5EF4-FFF2-40B4-BE49-F238E27FC236}">
                <a16:creationId xmlns:a16="http://schemas.microsoft.com/office/drawing/2014/main" id="{986FBAAE-887A-E83F-7775-2CFA29354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30" dirty="0">
                <a:solidFill>
                  <a:srgbClr val="FFFFFF"/>
                </a:solidFill>
              </a:rPr>
              <a:t>TC RESPALDADA: </a:t>
            </a:r>
            <a:r>
              <a:rPr lang="en-US" sz="1250" b="1" kern="0" spc="30" dirty="0" err="1">
                <a:solidFill>
                  <a:srgbClr val="FFFFFF"/>
                </a:solidFill>
              </a:rPr>
              <a:t>Informacion</a:t>
            </a:r>
            <a:r>
              <a:rPr lang="en-US" sz="1250" b="1" kern="0" spc="30" dirty="0">
                <a:solidFill>
                  <a:srgbClr val="FFFFFF"/>
                </a:solidFill>
              </a:rPr>
              <a:t> al 30 de Mayo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95301" y="11584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667085"/>
                </a:solidFill>
              </a:rPr>
              <a:t>Sub-</a:t>
            </a:r>
            <a:r>
              <a:rPr lang="en-US" sz="800" i="1" dirty="0" err="1">
                <a:solidFill>
                  <a:srgbClr val="667085"/>
                </a:solidFill>
              </a:rPr>
              <a:t>Gerente</a:t>
            </a:r>
            <a:r>
              <a:rPr lang="en-US" sz="800" i="1" dirty="0">
                <a:solidFill>
                  <a:srgbClr val="667085"/>
                </a:solidFill>
              </a:rPr>
              <a:t> </a:t>
            </a:r>
            <a:r>
              <a:rPr lang="en-US" sz="850" i="1" dirty="0">
                <a:solidFill>
                  <a:srgbClr val="667085"/>
                </a:solidFill>
              </a:rPr>
              <a:t>: Norma Levano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95743" y="2020256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9A075"/>
                </a:solidFill>
              </a:rPr>
              <a:t>97.7%</a:t>
            </a:r>
            <a:endParaRPr lang="en-US" sz="7200" dirty="0">
              <a:solidFill>
                <a:srgbClr val="19A075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1760" y="749808"/>
            <a:ext cx="18288" cy="4078224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1"/>
          <p:cNvSpPr/>
          <p:nvPr/>
        </p:nvSpPr>
        <p:spPr>
          <a:xfrm>
            <a:off x="2999232" y="4645152"/>
            <a:ext cx="5861304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Shape 6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3" name="Text 70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DIGITAL  |  TC RESPALDADA  |  Norma Levano  |  Cierre Mayo 2026</a:t>
            </a:r>
            <a:endParaRPr lang="en-US" sz="750" dirty="0"/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6E3927B6-2417-2C78-5D87-B31C9ED86135}"/>
              </a:ext>
            </a:extLst>
          </p:cNvPr>
          <p:cNvSpPr/>
          <p:nvPr/>
        </p:nvSpPr>
        <p:spPr>
          <a:xfrm>
            <a:off x="408671" y="2034222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META: 650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CC5CD9B7-B5CD-51E4-B10B-5216F9AEA9F1}"/>
              </a:ext>
            </a:extLst>
          </p:cNvPr>
          <p:cNvSpPr/>
          <p:nvPr/>
        </p:nvSpPr>
        <p:spPr>
          <a:xfrm>
            <a:off x="-71145" y="3172861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AVANCE: 167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53C7C78C-13B4-3463-B3C3-3D0578367B1B}"/>
              </a:ext>
            </a:extLst>
          </p:cNvPr>
          <p:cNvSpPr/>
          <p:nvPr/>
        </p:nvSpPr>
        <p:spPr>
          <a:xfrm>
            <a:off x="1127581" y="3169421"/>
            <a:ext cx="139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</a:rPr>
              <a:t>META AVANCE: 171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E59611B-4DBF-56EB-CA01-09719364A8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538"/>
          <a:stretch>
            <a:fillRect/>
          </a:stretch>
        </p:blipFill>
        <p:spPr>
          <a:xfrm>
            <a:off x="2889104" y="1825824"/>
            <a:ext cx="6254896" cy="2073316"/>
          </a:xfrm>
          <a:prstGeom prst="rect">
            <a:avLst/>
          </a:prstGeom>
        </p:spPr>
      </p:pic>
      <p:sp>
        <p:nvSpPr>
          <p:cNvPr id="31" name="Shape 6">
            <a:extLst>
              <a:ext uri="{FF2B5EF4-FFF2-40B4-BE49-F238E27FC236}">
                <a16:creationId xmlns:a16="http://schemas.microsoft.com/office/drawing/2014/main" id="{51A25C9F-58FE-AA95-32C6-0839F97D73A4}"/>
              </a:ext>
            </a:extLst>
          </p:cNvPr>
          <p:cNvSpPr/>
          <p:nvPr/>
        </p:nvSpPr>
        <p:spPr>
          <a:xfrm>
            <a:off x="195301" y="777008"/>
            <a:ext cx="233172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3D5D5F47-C893-B137-447B-D16F78E33F7B}"/>
              </a:ext>
            </a:extLst>
          </p:cNvPr>
          <p:cNvSpPr/>
          <p:nvPr/>
        </p:nvSpPr>
        <p:spPr>
          <a:xfrm>
            <a:off x="286741" y="85016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D607C4E0-CFB8-3DB1-6E3A-D9661C2D97A8}"/>
              </a:ext>
            </a:extLst>
          </p:cNvPr>
          <p:cNvSpPr/>
          <p:nvPr/>
        </p:nvSpPr>
        <p:spPr>
          <a:xfrm>
            <a:off x="506197" y="777008"/>
            <a:ext cx="2002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59669"/>
                </a:solidFill>
              </a:rPr>
              <a:t>EN AVANCE</a:t>
            </a:r>
            <a:endParaRPr lang="en-US" sz="950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67708AED-FBF2-EF2D-185D-801DB0DE0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AFCB07"/>
          </a:solidFill>
          <a:ln w="12700">
            <a:solidFill>
              <a:srgbClr val="AFCB0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201168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" dirty="0">
                <a:solidFill>
                  <a:srgbClr val="FFFFFF"/>
                </a:solidFill>
              </a:rPr>
              <a:t>BBVA DIGITAL |  DIAGNOSTICO Y SEGUIMIENTO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solidFill>
            <a:srgbClr val="0E3854"/>
          </a:solidFill>
          <a:ln w="12700">
            <a:solidFill>
              <a:srgbClr val="0E385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577072" y="71323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 /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0" y="749808"/>
            <a:ext cx="4160520" cy="310896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91440" y="749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FFFFFF"/>
                </a:solidFill>
              </a:rPr>
              <a:t>SEGUIMIENTO PLAN SEMANA ANTERIOR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0" y="1097280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0" y="1097280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128016" y="1152144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Segmentacion y analisis de base de datos para focalizar esfuerzos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8016" y="1815023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Ejecutado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2334768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0" y="2334768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128016" y="2389632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Entrenamiento continuo: script y manejo de objeciones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28016" y="3052511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Ejecutado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3572256"/>
            <a:ext cx="4160520" cy="1191768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7"/>
          <p:cNvSpPr/>
          <p:nvPr/>
        </p:nvSpPr>
        <p:spPr>
          <a:xfrm>
            <a:off x="0" y="3572256"/>
            <a:ext cx="50292" cy="1191768"/>
          </a:xfrm>
          <a:prstGeom prst="rect">
            <a:avLst/>
          </a:prstGeom>
          <a:solidFill>
            <a:srgbClr val="2B7A8C"/>
          </a:solidFill>
          <a:ln w="12700">
            <a:solidFill>
              <a:srgbClr val="2B7A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128016" y="3627120"/>
            <a:ext cx="3959352" cy="680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</a:rPr>
              <a:t>Fortalecimiento de convenios estrategicos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9728" y="4174236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B07"/>
                </a:solidFill>
              </a:rPr>
              <a:t>Ejecutado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242816" y="749808"/>
            <a:ext cx="18288" cy="4059936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1"/>
          <p:cNvSpPr/>
          <p:nvPr/>
        </p:nvSpPr>
        <p:spPr>
          <a:xfrm>
            <a:off x="4343400" y="749808"/>
            <a:ext cx="4800600" cy="310896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4434840" y="74980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FFFFFF"/>
                </a:solidFill>
              </a:rPr>
              <a:t>DIAGNOSTICO — CAUSAS RAIZ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43400" y="1097280"/>
            <a:ext cx="48006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4"/>
          <p:cNvSpPr/>
          <p:nvPr/>
        </p:nvSpPr>
        <p:spPr>
          <a:xfrm>
            <a:off x="4343400" y="1097280"/>
            <a:ext cx="502920" cy="17922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4343400" y="1097280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93776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078"/>
                </a:solidFill>
              </a:rPr>
              <a:t>TC Hibrido al 76% — caida del CET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1444752"/>
            <a:ext cx="4114800" cy="779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1828"/>
                </a:solidFill>
              </a:rPr>
              <a:t>CET cayo -5.7pp vs abril. Incremento cierre sin formaliz. equivalente. Cliente no concreta deposito.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37760" y="2615184"/>
            <a:ext cx="1005840" cy="219456"/>
          </a:xfrm>
          <a:prstGeom prst="rect">
            <a:avLst/>
          </a:prstGeom>
          <a:solidFill>
            <a:srgbClr val="FBEDD0"/>
          </a:solidFill>
          <a:ln w="12700">
            <a:solidFill>
              <a:srgbClr val="FBED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4937760" y="26151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A024"/>
                </a:solidFill>
              </a:rPr>
              <a:t>Impacto Medio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343400" y="2953512"/>
            <a:ext cx="48006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1"/>
          <p:cNvSpPr/>
          <p:nvPr/>
        </p:nvSpPr>
        <p:spPr>
          <a:xfrm>
            <a:off x="4343400" y="2953512"/>
            <a:ext cx="502920" cy="1792224"/>
          </a:xfrm>
          <a:prstGeom prst="rect">
            <a:avLst/>
          </a:prstGeom>
          <a:solidFill>
            <a:srgbClr val="145078"/>
          </a:solidFill>
          <a:ln w="12700">
            <a:solidFill>
              <a:srgbClr val="1450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4343400" y="2953512"/>
            <a:ext cx="5029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937760" y="3044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078"/>
                </a:solidFill>
              </a:rPr>
              <a:t>TC Respaldada al 81% — 3 pendientes de formalizacion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937760" y="3300984"/>
            <a:ext cx="4114800" cy="779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1828"/>
                </a:solidFill>
              </a:rPr>
              <a:t>Falta de seguimiento &lt;24h. Desistimiento posterior a la aceptacion.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937760" y="4471416"/>
            <a:ext cx="1005840" cy="219456"/>
          </a:xfrm>
          <a:prstGeom prst="rect">
            <a:avLst/>
          </a:prstGeom>
          <a:solidFill>
            <a:srgbClr val="FBEDD0"/>
          </a:solidFill>
          <a:ln w="12700">
            <a:solidFill>
              <a:srgbClr val="FBEDD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6"/>
          <p:cNvSpPr/>
          <p:nvPr/>
        </p:nvSpPr>
        <p:spPr>
          <a:xfrm>
            <a:off x="4937760" y="447141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A024"/>
                </a:solidFill>
              </a:rPr>
              <a:t>Impacto Medio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FAFBFC"/>
          </a:solidFill>
          <a:ln w="381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0"/>
          <p:cNvSpPr/>
          <p:nvPr/>
        </p:nvSpPr>
        <p:spPr>
          <a:xfrm>
            <a:off x="201168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7085"/>
                </a:solidFill>
              </a:rPr>
              <a:t>TU META ES NUESTRA META  ·  BBVA DIGITAL  |  DIAGNOSTICO Y SEGUIMIENTO  |  Norma Levano  |  Cierre Mayo 2026</a:t>
            </a:r>
            <a:endParaRPr lang="en-US" sz="750" dirty="0"/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6AC55FDF-5738-EA47-B4F2-68596CE6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170" y="-37330"/>
            <a:ext cx="1298448" cy="739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1bec757-b8d9-4f0d-86eb-78a37ed8c863}" enabled="0" method="" siteId="{51bec757-b8d9-4f0d-86eb-78a37ed8c86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884</Words>
  <Application>Microsoft Office PowerPoint</Application>
  <PresentationFormat>Presentación en pantalla (16:9)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Comite Semanal de Campanas — Cierre Mayo 2026</dc:title>
  <dc:subject>PptxGenJS Presentation</dc:subject>
  <dc:creator>PptxGenJS</dc:creator>
  <cp:lastModifiedBy>Jeampiere Manuel Pocomucha Toribio</cp:lastModifiedBy>
  <cp:revision>15</cp:revision>
  <dcterms:created xsi:type="dcterms:W3CDTF">2026-06-10T17:53:50Z</dcterms:created>
  <dcterms:modified xsi:type="dcterms:W3CDTF">2026-07-18T18:22:26Z</dcterms:modified>
</cp:coreProperties>
</file>