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5" r:id="rId2"/>
    <p:sldId id="286" r:id="rId3"/>
    <p:sldId id="288" r:id="rId4"/>
    <p:sldId id="287" r:id="rId5"/>
    <p:sldId id="289" r:id="rId6"/>
    <p:sldId id="319" r:id="rId7"/>
    <p:sldId id="290" r:id="rId8"/>
    <p:sldId id="29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075"/>
    <a:srgbClr val="D97706"/>
    <a:srgbClr val="A8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72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596C-901E-BE66-BF58-E2B4B4BB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77CE6-0A99-FF46-4152-5FD1B52D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38BED-B980-11E4-5A77-614E6D4D6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3A50-523E-AA94-1B3D-4A96E9BCF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06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85800" y="2148840"/>
            <a:ext cx="82753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502920" y="1027938"/>
            <a:ext cx="8732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Sheyla: BBVA Convenios Lima - Call - Norte - Oriente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10743" y="2313432"/>
            <a:ext cx="8732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Sheyla  ·  Sub </a:t>
            </a:r>
            <a:r>
              <a:rPr lang="en-US" sz="1400" dirty="0" err="1">
                <a:solidFill>
                  <a:srgbClr val="FFFFFF"/>
                </a:solidFill>
              </a:rPr>
              <a:t>Gerenta</a:t>
            </a:r>
            <a:r>
              <a:rPr lang="en-US" sz="1400" dirty="0">
                <a:solidFill>
                  <a:srgbClr val="FFFFFF"/>
                </a:solidFill>
              </a:rPr>
              <a:t> de BBVA Convenios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0743" y="2844546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Cierre Mayo 2026</a:t>
            </a:r>
            <a:endParaRPr lang="en-US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594D15-71DC-6787-371E-F6DCF0BA3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76" y="3164586"/>
            <a:ext cx="3785624" cy="2154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RESUMEN GENERAL: BBVA CONVENIOS  |LIMA · TELECAMPO +PROV. · NORTE · SUR · ORIENTE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/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30352" y="749808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D97706"/>
                </a:solidFill>
              </a:rPr>
              <a:t>EN SEGUIMIENTO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" y="11521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</a:rPr>
              <a:t>Sub-Gerente: Sheyla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1168" y="1463040"/>
            <a:ext cx="2331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D97706"/>
                </a:solidFill>
              </a:rPr>
              <a:t>87%</a:t>
            </a:r>
            <a:endParaRPr lang="en-US" sz="8000" dirty="0"/>
          </a:p>
        </p:txBody>
      </p:sp>
      <p:sp>
        <p:nvSpPr>
          <p:cNvPr id="14" name="Text 11"/>
          <p:cNvSpPr/>
          <p:nvPr/>
        </p:nvSpPr>
        <p:spPr>
          <a:xfrm>
            <a:off x="201168" y="29077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Avance promedio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33472" y="749808"/>
            <a:ext cx="20117" cy="4069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274320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88036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ACTIVOS TOTAL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88036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69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92074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05790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DOTACION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605790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79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74320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288036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SELECCION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288036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92074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605790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INDUCCION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05790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10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274320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288036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PRESUPUESTO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288036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79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92074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05790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SEMANA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05790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05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0" y="3273214"/>
            <a:ext cx="9144000" cy="281635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182880" y="3273214"/>
            <a:ext cx="31089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Sub-campaña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257450" y="3262518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Presupuesto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26280" y="3273214"/>
            <a:ext cx="21031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Avance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656832" y="3273214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% Logro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543800" y="3273214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Proyeccion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3606605"/>
            <a:ext cx="9144000" cy="281635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41" name="Text 38"/>
          <p:cNvSpPr/>
          <p:nvPr/>
        </p:nvSpPr>
        <p:spPr>
          <a:xfrm>
            <a:off x="182880" y="3606605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5078"/>
                </a:solidFill>
              </a:rPr>
              <a:t>BBVA Conv. Lima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455856" y="3604535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1828"/>
                </a:solidFill>
              </a:rPr>
              <a:t>12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526280" y="3685463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44" name="Shape 41"/>
          <p:cNvSpPr/>
          <p:nvPr/>
        </p:nvSpPr>
        <p:spPr>
          <a:xfrm>
            <a:off x="4526280" y="3685463"/>
            <a:ext cx="1593799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45" name="Text 42"/>
          <p:cNvSpPr/>
          <p:nvPr/>
        </p:nvSpPr>
        <p:spPr>
          <a:xfrm>
            <a:off x="6656832" y="3606605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83%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543800" y="3606605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7085"/>
                </a:solidFill>
              </a:rPr>
              <a:t>700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0" y="3888240"/>
            <a:ext cx="9144000" cy="281635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48" name="Text 45"/>
          <p:cNvSpPr/>
          <p:nvPr/>
        </p:nvSpPr>
        <p:spPr>
          <a:xfrm>
            <a:off x="182880" y="3888240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5078"/>
                </a:solidFill>
              </a:rPr>
              <a:t>BBVA Conv. Telecampo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455856" y="3886170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1828"/>
                </a:solidFill>
              </a:rPr>
              <a:t>20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26280" y="3967098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51" name="Shape 48"/>
          <p:cNvSpPr/>
          <p:nvPr/>
        </p:nvSpPr>
        <p:spPr>
          <a:xfrm>
            <a:off x="4526280" y="3967098"/>
            <a:ext cx="1728216" cy="118287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52" name="Text 49"/>
          <p:cNvSpPr/>
          <p:nvPr/>
        </p:nvSpPr>
        <p:spPr>
          <a:xfrm>
            <a:off x="6656832" y="3888240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90%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543800" y="3888240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7085"/>
                </a:solidFill>
              </a:rPr>
              <a:t>700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0" y="4169876"/>
            <a:ext cx="9144000" cy="281635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400" dirty="0"/>
          </a:p>
        </p:txBody>
      </p:sp>
      <p:sp>
        <p:nvSpPr>
          <p:cNvPr id="55" name="Text 52"/>
          <p:cNvSpPr/>
          <p:nvPr/>
        </p:nvSpPr>
        <p:spPr>
          <a:xfrm>
            <a:off x="182880" y="4169876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5078"/>
                </a:solidFill>
              </a:rPr>
              <a:t>BBVA Conv. Norte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2455856" y="4167806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1828"/>
                </a:solidFill>
              </a:rPr>
              <a:t>25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526280" y="4248733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58" name="Shape 55"/>
          <p:cNvSpPr/>
          <p:nvPr/>
        </p:nvSpPr>
        <p:spPr>
          <a:xfrm>
            <a:off x="4526280" y="4248733"/>
            <a:ext cx="1689811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59" name="Text 56"/>
          <p:cNvSpPr/>
          <p:nvPr/>
        </p:nvSpPr>
        <p:spPr>
          <a:xfrm>
            <a:off x="6656832" y="4169876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88%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543800" y="4169876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7085"/>
                </a:solidFill>
              </a:rPr>
              <a:t>700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190025" y="4657046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5078"/>
                </a:solidFill>
              </a:rPr>
              <a:t>BBVA Conv. Oriente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455856" y="4449441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1828"/>
                </a:solidFill>
              </a:rPr>
              <a:t>22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526280" y="4530369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65" name="Shape 62"/>
          <p:cNvSpPr/>
          <p:nvPr/>
        </p:nvSpPr>
        <p:spPr>
          <a:xfrm>
            <a:off x="4526280" y="4530369"/>
            <a:ext cx="1651406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66" name="Text 63"/>
          <p:cNvSpPr/>
          <p:nvPr/>
        </p:nvSpPr>
        <p:spPr>
          <a:xfrm>
            <a:off x="6656832" y="4451511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86%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7543800" y="4451511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7085"/>
                </a:solidFill>
              </a:rPr>
              <a:t>700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-11430" y="4950611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67085"/>
                </a:solidFill>
              </a:rPr>
              <a:t>TU META ES NUESTRA META  ·  BBVA CONVENIOS  |  SHEYLA  |  Sheyla  |  Cierre Mayo 2026</a:t>
            </a:r>
            <a:endParaRPr lang="en-US" sz="600" dirty="0"/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BBE9F211-45A5-BA17-A407-5C3D2D5E01C0}"/>
              </a:ext>
            </a:extLst>
          </p:cNvPr>
          <p:cNvSpPr/>
          <p:nvPr/>
        </p:nvSpPr>
        <p:spPr>
          <a:xfrm>
            <a:off x="5090775" y="3608382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900</a:t>
            </a:r>
            <a:endParaRPr lang="en-US" sz="800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9739C4FB-C6F0-5718-92AC-168903A98407}"/>
              </a:ext>
            </a:extLst>
          </p:cNvPr>
          <p:cNvSpPr/>
          <p:nvPr/>
        </p:nvSpPr>
        <p:spPr>
          <a:xfrm>
            <a:off x="5134288" y="3893887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900</a:t>
            </a:r>
            <a:endParaRPr lang="en-US" sz="800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DA8907C7-B650-7E80-A036-E2338D79CEBF}"/>
              </a:ext>
            </a:extLst>
          </p:cNvPr>
          <p:cNvSpPr/>
          <p:nvPr/>
        </p:nvSpPr>
        <p:spPr>
          <a:xfrm>
            <a:off x="5116000" y="4167058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900</a:t>
            </a:r>
            <a:endParaRPr lang="en-US" sz="800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893EA4AE-ED9B-6CA2-CFEC-AF368EFA86EE}"/>
              </a:ext>
            </a:extLst>
          </p:cNvPr>
          <p:cNvSpPr/>
          <p:nvPr/>
        </p:nvSpPr>
        <p:spPr>
          <a:xfrm>
            <a:off x="5116000" y="4442367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900</a:t>
            </a:r>
            <a:endParaRPr lang="en-US" sz="800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0CACAE7C-1921-24FD-B255-786D9F421FB3}"/>
              </a:ext>
            </a:extLst>
          </p:cNvPr>
          <p:cNvSpPr/>
          <p:nvPr/>
        </p:nvSpPr>
        <p:spPr>
          <a:xfrm>
            <a:off x="3103612" y="3275124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Conectados</a:t>
            </a:r>
            <a:endParaRPr lang="en-US" sz="85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BF71203-C7EC-7F9E-8B17-7BB746571FE6}"/>
              </a:ext>
            </a:extLst>
          </p:cNvPr>
          <p:cNvSpPr/>
          <p:nvPr/>
        </p:nvSpPr>
        <p:spPr>
          <a:xfrm>
            <a:off x="3306088" y="3676043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40</a:t>
            </a:r>
            <a:endParaRPr lang="en-US" sz="9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0041979E-326E-63A7-480C-145660A93053}"/>
              </a:ext>
            </a:extLst>
          </p:cNvPr>
          <p:cNvSpPr/>
          <p:nvPr/>
        </p:nvSpPr>
        <p:spPr>
          <a:xfrm>
            <a:off x="3319787" y="3910137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20</a:t>
            </a:r>
            <a:endParaRPr lang="en-US" sz="800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6CA350C2-4943-0699-47E4-98BF833841D6}"/>
              </a:ext>
            </a:extLst>
          </p:cNvPr>
          <p:cNvSpPr/>
          <p:nvPr/>
        </p:nvSpPr>
        <p:spPr>
          <a:xfrm>
            <a:off x="3336662" y="4190735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28</a:t>
            </a:r>
            <a:endParaRPr lang="en-US" sz="80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44DFD12E-CDA2-118E-71A3-9CA5686F69E4}"/>
              </a:ext>
            </a:extLst>
          </p:cNvPr>
          <p:cNvSpPr/>
          <p:nvPr/>
        </p:nvSpPr>
        <p:spPr>
          <a:xfrm>
            <a:off x="3360919" y="4446492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4</a:t>
            </a:r>
            <a:endParaRPr lang="en-US" sz="800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DFC632F1-521C-5FA9-948D-98F5C8218648}"/>
              </a:ext>
            </a:extLst>
          </p:cNvPr>
          <p:cNvSpPr/>
          <p:nvPr/>
        </p:nvSpPr>
        <p:spPr>
          <a:xfrm>
            <a:off x="185537" y="4420771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5078"/>
                </a:solidFill>
              </a:rPr>
              <a:t>BBVA Conv. Sur</a:t>
            </a:r>
            <a:endParaRPr lang="en-US" sz="800" dirty="0"/>
          </a:p>
        </p:txBody>
      </p:sp>
      <p:sp>
        <p:nvSpPr>
          <p:cNvPr id="93" name="Text 60">
            <a:extLst>
              <a:ext uri="{FF2B5EF4-FFF2-40B4-BE49-F238E27FC236}">
                <a16:creationId xmlns:a16="http://schemas.microsoft.com/office/drawing/2014/main" id="{57F6436D-E93C-A866-2C0A-72558B67DCBE}"/>
              </a:ext>
            </a:extLst>
          </p:cNvPr>
          <p:cNvSpPr/>
          <p:nvPr/>
        </p:nvSpPr>
        <p:spPr>
          <a:xfrm>
            <a:off x="2462624" y="4662343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1828"/>
                </a:solidFill>
              </a:rPr>
              <a:t>22</a:t>
            </a:r>
            <a:endParaRPr lang="en-US" sz="800" dirty="0"/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0717CE86-AB76-1918-6623-C813E72FFD7D}"/>
              </a:ext>
            </a:extLst>
          </p:cNvPr>
          <p:cNvSpPr/>
          <p:nvPr/>
        </p:nvSpPr>
        <p:spPr>
          <a:xfrm>
            <a:off x="3366672" y="4685152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4</a:t>
            </a:r>
            <a:endParaRPr lang="en-US" sz="800" dirty="0"/>
          </a:p>
        </p:txBody>
      </p:sp>
      <p:sp>
        <p:nvSpPr>
          <p:cNvPr id="101" name="Shape 61">
            <a:extLst>
              <a:ext uri="{FF2B5EF4-FFF2-40B4-BE49-F238E27FC236}">
                <a16:creationId xmlns:a16="http://schemas.microsoft.com/office/drawing/2014/main" id="{AA0CA985-77A4-1BD8-33D2-D5D819E47FA4}"/>
              </a:ext>
            </a:extLst>
          </p:cNvPr>
          <p:cNvSpPr/>
          <p:nvPr/>
        </p:nvSpPr>
        <p:spPr>
          <a:xfrm>
            <a:off x="4566542" y="4760403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D5E6F4F4-4BB3-96CB-AF80-07B00F5CC9E2}"/>
              </a:ext>
            </a:extLst>
          </p:cNvPr>
          <p:cNvSpPr/>
          <p:nvPr/>
        </p:nvSpPr>
        <p:spPr>
          <a:xfrm>
            <a:off x="4552434" y="4761089"/>
            <a:ext cx="1651406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400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2D1BBE0-41F8-3157-1A79-F802C038E87A}"/>
              </a:ext>
            </a:extLst>
          </p:cNvPr>
          <p:cNvSpPr/>
          <p:nvPr/>
        </p:nvSpPr>
        <p:spPr>
          <a:xfrm>
            <a:off x="5142154" y="4673087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010"/>
                </a:solidFill>
              </a:rPr>
              <a:t>900</a:t>
            </a:r>
            <a:endParaRPr lang="en-US" sz="800" dirty="0"/>
          </a:p>
        </p:txBody>
      </p:sp>
      <p:sp>
        <p:nvSpPr>
          <p:cNvPr id="103" name="Text 63">
            <a:extLst>
              <a:ext uri="{FF2B5EF4-FFF2-40B4-BE49-F238E27FC236}">
                <a16:creationId xmlns:a16="http://schemas.microsoft.com/office/drawing/2014/main" id="{D73B47FE-74EB-55D4-B959-CFC3A28C71A1}"/>
              </a:ext>
            </a:extLst>
          </p:cNvPr>
          <p:cNvSpPr/>
          <p:nvPr/>
        </p:nvSpPr>
        <p:spPr>
          <a:xfrm>
            <a:off x="6671213" y="4672921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86%</a:t>
            </a:r>
            <a:endParaRPr lang="en-US" sz="800" dirty="0"/>
          </a:p>
        </p:txBody>
      </p:sp>
      <p:sp>
        <p:nvSpPr>
          <p:cNvPr id="105" name="Text 64">
            <a:extLst>
              <a:ext uri="{FF2B5EF4-FFF2-40B4-BE49-F238E27FC236}">
                <a16:creationId xmlns:a16="http://schemas.microsoft.com/office/drawing/2014/main" id="{916BD683-1652-98CD-4EF9-2457640F25DD}"/>
              </a:ext>
            </a:extLst>
          </p:cNvPr>
          <p:cNvSpPr/>
          <p:nvPr/>
        </p:nvSpPr>
        <p:spPr>
          <a:xfrm>
            <a:off x="7558181" y="4672921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7085"/>
                </a:solidFill>
              </a:rPr>
              <a:t>700</a:t>
            </a:r>
            <a:endParaRPr lang="en-US" sz="700" dirty="0"/>
          </a:p>
        </p:txBody>
      </p:sp>
      <p:pic>
        <p:nvPicPr>
          <p:cNvPr id="107" name="Picture 8">
            <a:extLst>
              <a:ext uri="{FF2B5EF4-FFF2-40B4-BE49-F238E27FC236}">
                <a16:creationId xmlns:a16="http://schemas.microsoft.com/office/drawing/2014/main" id="{0AFA0D32-5A0E-A7FC-9D89-11C05C1E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BBVA CONVENIOS  | TELECAMPO: Información al 30 de Mayo 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67085"/>
                </a:solidFill>
              </a:rPr>
              <a:t>Sub Gerente : Sheyla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74904" y="2019776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0000"/>
                </a:solidFill>
              </a:rPr>
              <a:t>51%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CALL LIMA + PROVINCIA  |  Sheyla  |  Cierre Mayo 2026</a:t>
            </a:r>
            <a:endParaRPr lang="en-US" sz="750" dirty="0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423458" y="202566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800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56358" y="316430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600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142368" y="316086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700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925928"/>
            <a:ext cx="5878102" cy="2434069"/>
          </a:xfrm>
          <a:prstGeom prst="rect">
            <a:avLst/>
          </a:prstGeom>
        </p:spPr>
      </p:pic>
      <p:pic>
        <p:nvPicPr>
          <p:cNvPr id="37" name="Picture 34" descr="image.png">
            <a:extLst>
              <a:ext uri="{FF2B5EF4-FFF2-40B4-BE49-F238E27FC236}">
                <a16:creationId xmlns:a16="http://schemas.microsoft.com/office/drawing/2014/main" id="{EA6B5B9D-BF35-B4BC-E75A-C33D4566E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775" y="3532237"/>
            <a:ext cx="1967304" cy="1314083"/>
          </a:xfrm>
          <a:prstGeom prst="rect">
            <a:avLst/>
          </a:prstGeom>
        </p:spPr>
      </p:pic>
      <p:pic>
        <p:nvPicPr>
          <p:cNvPr id="39" name="Asesor" descr="image.png">
            <a:extLst>
              <a:ext uri="{FF2B5EF4-FFF2-40B4-BE49-F238E27FC236}">
                <a16:creationId xmlns:a16="http://schemas.microsoft.com/office/drawing/2014/main" id="{34D6065A-9504-0D23-92D5-C9D916EA6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033" y="3487048"/>
            <a:ext cx="2355565" cy="1461047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91440" y="785704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182880" y="85885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402336" y="785704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BBVA CONVENIOS  | LIMA CAMPO: </a:t>
            </a:r>
            <a:r>
              <a:rPr lang="en-US" sz="1250" b="1" kern="0" spc="30" dirty="0" err="1">
                <a:solidFill>
                  <a:srgbClr val="FFFFFF"/>
                </a:solidFill>
              </a:rPr>
              <a:t>Informacion</a:t>
            </a:r>
            <a:r>
              <a:rPr lang="en-US" sz="1250" b="1" kern="0" spc="30" dirty="0">
                <a:solidFill>
                  <a:srgbClr val="FFFFFF"/>
                </a:solidFill>
              </a:rPr>
              <a:t> al 30 de Mayo  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7160" y="125272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Gerente: Sheyla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41240" y="2214602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0000"/>
                </a:solidFill>
              </a:rPr>
              <a:t>70.8%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LIMA CAMPO  |  Sheyla  |  Cierre Mayo 2026</a:t>
            </a:r>
            <a:endParaRPr lang="en-US" sz="7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457964" y="213199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8.00 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73611" y="3287882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670.21K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142368" y="3301695"/>
            <a:ext cx="1527680" cy="264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946.7K 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56" y="759705"/>
            <a:ext cx="4741132" cy="2170809"/>
          </a:xfrm>
          <a:prstGeom prst="rect">
            <a:avLst/>
          </a:prstGeom>
        </p:spPr>
      </p:pic>
      <p:pic>
        <p:nvPicPr>
          <p:cNvPr id="29" name="Picture 34" descr="image.png">
            <a:extLst>
              <a:ext uri="{FF2B5EF4-FFF2-40B4-BE49-F238E27FC236}">
                <a16:creationId xmlns:a16="http://schemas.microsoft.com/office/drawing/2014/main" id="{9C77F8C9-766E-27C3-C891-996AEC5E0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662" y="3063856"/>
            <a:ext cx="2719034" cy="1816210"/>
          </a:xfrm>
          <a:prstGeom prst="rect">
            <a:avLst/>
          </a:prstGeom>
        </p:spPr>
      </p:pic>
      <p:pic>
        <p:nvPicPr>
          <p:cNvPr id="31" name="Asesor" descr="image.png">
            <a:extLst>
              <a:ext uri="{FF2B5EF4-FFF2-40B4-BE49-F238E27FC236}">
                <a16:creationId xmlns:a16="http://schemas.microsoft.com/office/drawing/2014/main" id="{D6059DDA-6B4F-BA7A-BC24-D63B5754B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339" y="3063856"/>
            <a:ext cx="2844284" cy="1764176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91440" y="785704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182880" y="85885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402336" y="785704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BBVA CONVENIOS  | PROVINCIA NORTE:  Información al 30 de Mayo 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/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</a:t>
            </a:r>
            <a:r>
              <a:rPr lang="en-US" sz="850" i="1" dirty="0" err="1">
                <a:solidFill>
                  <a:srgbClr val="667085"/>
                </a:solidFill>
              </a:rPr>
              <a:t>Gerenta</a:t>
            </a:r>
            <a:r>
              <a:rPr lang="en-US" sz="850" i="1" dirty="0">
                <a:solidFill>
                  <a:srgbClr val="667085"/>
                </a:solidFill>
              </a:rPr>
              <a:t>: Sheyla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541" y="2107333"/>
            <a:ext cx="2770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19A075"/>
                </a:solidFill>
              </a:rPr>
              <a:t>121.3%</a:t>
            </a:r>
            <a:endParaRPr lang="en-US" sz="6600" dirty="0">
              <a:solidFill>
                <a:srgbClr val="19A075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70048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NORTE  |  Sheyla  |  Cierre Mayo 2026</a:t>
            </a:r>
            <a:endParaRPr lang="en-US" sz="7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AB0575AD-6901-AE80-E45C-78AB50A743C4}"/>
              </a:ext>
            </a:extLst>
          </p:cNvPr>
          <p:cNvSpPr/>
          <p:nvPr/>
        </p:nvSpPr>
        <p:spPr>
          <a:xfrm>
            <a:off x="497069" y="2093696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8.00M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5C7218A-B099-E1DA-6E16-6D61BC90CC79}"/>
              </a:ext>
            </a:extLst>
          </p:cNvPr>
          <p:cNvSpPr/>
          <p:nvPr/>
        </p:nvSpPr>
        <p:spPr>
          <a:xfrm>
            <a:off x="0" y="326684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1.23M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26DF5C35-EDFA-E398-100F-070596FE01B8}"/>
              </a:ext>
            </a:extLst>
          </p:cNvPr>
          <p:cNvSpPr/>
          <p:nvPr/>
        </p:nvSpPr>
        <p:spPr>
          <a:xfrm>
            <a:off x="1215979" y="3228894"/>
            <a:ext cx="1491104" cy="356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1.01M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Imagen_barras" descr="image.png">
            <a:extLst>
              <a:ext uri="{FF2B5EF4-FFF2-40B4-BE49-F238E27FC236}">
                <a16:creationId xmlns:a16="http://schemas.microsoft.com/office/drawing/2014/main" id="{31068695-F214-6276-68B8-7D2ABCF4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42" y="801048"/>
            <a:ext cx="5376730" cy="2205819"/>
          </a:xfrm>
          <a:prstGeom prst="rect">
            <a:avLst/>
          </a:prstGeom>
        </p:spPr>
      </p:pic>
      <p:pic>
        <p:nvPicPr>
          <p:cNvPr id="30" name="Picture 34" descr="image.png">
            <a:extLst>
              <a:ext uri="{FF2B5EF4-FFF2-40B4-BE49-F238E27FC236}">
                <a16:creationId xmlns:a16="http://schemas.microsoft.com/office/drawing/2014/main" id="{DDF3AF98-EA43-292D-C0C6-C587FE9B1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613" y="3324441"/>
            <a:ext cx="2331720" cy="1557499"/>
          </a:xfrm>
          <a:prstGeom prst="rect">
            <a:avLst/>
          </a:prstGeom>
        </p:spPr>
      </p:pic>
      <p:pic>
        <p:nvPicPr>
          <p:cNvPr id="32" name="Asesor" descr="image.png">
            <a:extLst>
              <a:ext uri="{FF2B5EF4-FFF2-40B4-BE49-F238E27FC236}">
                <a16:creationId xmlns:a16="http://schemas.microsoft.com/office/drawing/2014/main" id="{832C5A12-1555-7F3C-7B6D-16C6CEF4C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488" y="3228894"/>
            <a:ext cx="2651639" cy="1644688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CB8CFC5B-1408-6000-A44E-099F69EE743E}"/>
              </a:ext>
            </a:extLst>
          </p:cNvPr>
          <p:cNvSpPr/>
          <p:nvPr/>
        </p:nvSpPr>
        <p:spPr>
          <a:xfrm>
            <a:off x="195301" y="777008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C40E32A9-5A7B-27DE-A226-0A0B45572163}"/>
              </a:ext>
            </a:extLst>
          </p:cNvPr>
          <p:cNvSpPr/>
          <p:nvPr/>
        </p:nvSpPr>
        <p:spPr>
          <a:xfrm>
            <a:off x="286741" y="8501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C213A1C-5EED-46B3-2B49-A48C45517E04}"/>
              </a:ext>
            </a:extLst>
          </p:cNvPr>
          <p:cNvSpPr/>
          <p:nvPr/>
        </p:nvSpPr>
        <p:spPr>
          <a:xfrm>
            <a:off x="506197" y="7770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578C4-1704-7C62-F49A-7680D8193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835FE-2760-7CDA-4AE8-A8AECFB4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475BB5-1838-23F5-BC27-F66ABAF9E0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E5DC8-FD0C-EDDA-5A42-1C2AB6DB6564}"/>
              </a:ext>
            </a:extLst>
          </p:cNvPr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847520-2E56-03F3-2E50-96F3ED1A2F16}"/>
              </a:ext>
            </a:extLst>
          </p:cNvPr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3C71BA-4DAD-AAEE-21BC-8562D6B53F99}"/>
              </a:ext>
            </a:extLst>
          </p:cNvPr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BBVA CONVENIOS  | PROVINCIA SUR:  Información al 30 de Mayo 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65A6FD-1970-5084-751D-33FFFBFC7B97}"/>
              </a:ext>
            </a:extLst>
          </p:cNvPr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/ 4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BC58CE-F762-59E8-9E5E-7681E8357ADB}"/>
              </a:ext>
            </a:extLst>
          </p:cNvPr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</a:t>
            </a:r>
            <a:r>
              <a:rPr lang="en-US" sz="850" i="1" dirty="0" err="1">
                <a:solidFill>
                  <a:srgbClr val="667085"/>
                </a:solidFill>
              </a:rPr>
              <a:t>Gerenta</a:t>
            </a:r>
            <a:r>
              <a:rPr lang="en-US" sz="850" i="1" dirty="0">
                <a:solidFill>
                  <a:srgbClr val="667085"/>
                </a:solidFill>
              </a:rPr>
              <a:t>: Sheyla</a:t>
            </a:r>
            <a:endParaRPr lang="en-US" sz="8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1EE82-98A1-05BF-8668-B98D7AC2ECCA}"/>
              </a:ext>
            </a:extLst>
          </p:cNvPr>
          <p:cNvSpPr/>
          <p:nvPr/>
        </p:nvSpPr>
        <p:spPr>
          <a:xfrm>
            <a:off x="249457" y="2144374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0000"/>
                </a:solidFill>
              </a:rPr>
              <a:t>30.1%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97DE739-B7E3-CCAE-DD3D-ECA8DE8AB222}"/>
              </a:ext>
            </a:extLst>
          </p:cNvPr>
          <p:cNvSpPr/>
          <p:nvPr/>
        </p:nvSpPr>
        <p:spPr>
          <a:xfrm>
            <a:off x="2670048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6341AA6A-C53D-503F-7A4A-73156A0D98E4}"/>
              </a:ext>
            </a:extLst>
          </p:cNvPr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DE704FB0-D0CE-88BD-0085-EE00C688AB4F}"/>
              </a:ext>
            </a:extLst>
          </p:cNvPr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NORTE  |  Sheyla  |  Cierre Mayo 2026</a:t>
            </a:r>
            <a:endParaRPr lang="en-US" sz="7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9A13ABEF-76D2-249B-8311-FA6523DB245A}"/>
              </a:ext>
            </a:extLst>
          </p:cNvPr>
          <p:cNvSpPr/>
          <p:nvPr/>
        </p:nvSpPr>
        <p:spPr>
          <a:xfrm>
            <a:off x="391350" y="2113484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3.00M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9556D5C2-2C1E-5EF6-480E-DE83DE4C4BD1}"/>
              </a:ext>
            </a:extLst>
          </p:cNvPr>
          <p:cNvSpPr/>
          <p:nvPr/>
        </p:nvSpPr>
        <p:spPr>
          <a:xfrm>
            <a:off x="-105719" y="3286629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98.95K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A40E2505-6C6E-8ABA-320D-DC4C2FA463B7}"/>
              </a:ext>
            </a:extLst>
          </p:cNvPr>
          <p:cNvSpPr/>
          <p:nvPr/>
        </p:nvSpPr>
        <p:spPr>
          <a:xfrm>
            <a:off x="1075754" y="3248682"/>
            <a:ext cx="1536824" cy="343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328.9K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9" name="Imagen_barras" descr="image.png">
            <a:extLst>
              <a:ext uri="{FF2B5EF4-FFF2-40B4-BE49-F238E27FC236}">
                <a16:creationId xmlns:a16="http://schemas.microsoft.com/office/drawing/2014/main" id="{8B767D98-EB03-7419-18B2-57A83A5F4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973" y="897372"/>
            <a:ext cx="5441049" cy="2034856"/>
          </a:xfrm>
          <a:prstGeom prst="rect">
            <a:avLst/>
          </a:prstGeom>
        </p:spPr>
      </p:pic>
      <p:pic>
        <p:nvPicPr>
          <p:cNvPr id="33" name="Picture 34" descr="image.png">
            <a:extLst>
              <a:ext uri="{FF2B5EF4-FFF2-40B4-BE49-F238E27FC236}">
                <a16:creationId xmlns:a16="http://schemas.microsoft.com/office/drawing/2014/main" id="{97F770EF-071A-49EF-8237-192FEFACB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333" y="3248682"/>
            <a:ext cx="2198689" cy="1468639"/>
          </a:xfrm>
          <a:prstGeom prst="rect">
            <a:avLst/>
          </a:prstGeom>
        </p:spPr>
      </p:pic>
      <p:pic>
        <p:nvPicPr>
          <p:cNvPr id="35" name="Asesor" descr="image.png">
            <a:extLst>
              <a:ext uri="{FF2B5EF4-FFF2-40B4-BE49-F238E27FC236}">
                <a16:creationId xmlns:a16="http://schemas.microsoft.com/office/drawing/2014/main" id="{0E2AC5AE-AECF-CF06-1065-323DA7FB1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754" y="3248682"/>
            <a:ext cx="2361203" cy="1464544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6E892E2C-3830-D938-95BF-83C884706599}"/>
              </a:ext>
            </a:extLst>
          </p:cNvPr>
          <p:cNvSpPr/>
          <p:nvPr/>
        </p:nvSpPr>
        <p:spPr>
          <a:xfrm>
            <a:off x="91440" y="785704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970F1A6-4A82-60F7-3100-2BB6CC472735}"/>
              </a:ext>
            </a:extLst>
          </p:cNvPr>
          <p:cNvSpPr/>
          <p:nvPr/>
        </p:nvSpPr>
        <p:spPr>
          <a:xfrm>
            <a:off x="182880" y="85885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B340E67-2F21-D7C4-DB0E-4E58739E8512}"/>
              </a:ext>
            </a:extLst>
          </p:cNvPr>
          <p:cNvSpPr/>
          <p:nvPr/>
        </p:nvSpPr>
        <p:spPr>
          <a:xfrm>
            <a:off x="402336" y="785704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85C88-D079-8F91-1A9D-9B8A145E2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12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BBVA CONVENIOS  |  PROVINCIA ORIENTE: Información al 30 de Mayo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Gerente: Sheyla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6347" y="196885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0000"/>
                </a:solidFill>
              </a:rPr>
              <a:t>33.1%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COA  |  Sheyla  |  Cierre Mayo 2026</a:t>
            </a:r>
            <a:endParaRPr lang="en-US" sz="7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E0C2926-0DB6-DEE8-581C-3B85250E44BC}"/>
              </a:ext>
            </a:extLst>
          </p:cNvPr>
          <p:cNvSpPr/>
          <p:nvPr/>
        </p:nvSpPr>
        <p:spPr>
          <a:xfrm>
            <a:off x="506544" y="1905476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6.50M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FE172D7-36A3-67F1-79EA-6723B1D67A6B}"/>
              </a:ext>
            </a:extLst>
          </p:cNvPr>
          <p:cNvSpPr/>
          <p:nvPr/>
        </p:nvSpPr>
        <p:spPr>
          <a:xfrm>
            <a:off x="-5634" y="3124742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208.05K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520EAADD-646C-F993-7B08-8B352D62F52A}"/>
              </a:ext>
            </a:extLst>
          </p:cNvPr>
          <p:cNvSpPr/>
          <p:nvPr/>
        </p:nvSpPr>
        <p:spPr>
          <a:xfrm>
            <a:off x="1227598" y="3104049"/>
            <a:ext cx="1424162" cy="331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629K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Imagen_barras" descr="image.png">
            <a:extLst>
              <a:ext uri="{FF2B5EF4-FFF2-40B4-BE49-F238E27FC236}">
                <a16:creationId xmlns:a16="http://schemas.microsoft.com/office/drawing/2014/main" id="{22949D2E-2703-6298-2348-A66E0E896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424" y="956497"/>
            <a:ext cx="4946214" cy="1832423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D11C918-8487-A1B2-8C4D-296717D1C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885" y="3124742"/>
            <a:ext cx="2211430" cy="1477150"/>
          </a:xfrm>
          <a:prstGeom prst="rect">
            <a:avLst/>
          </a:prstGeom>
        </p:spPr>
      </p:pic>
      <p:pic>
        <p:nvPicPr>
          <p:cNvPr id="37" name="Asesor" descr="image.png">
            <a:extLst>
              <a:ext uri="{FF2B5EF4-FFF2-40B4-BE49-F238E27FC236}">
                <a16:creationId xmlns:a16="http://schemas.microsoft.com/office/drawing/2014/main" id="{ABC338E2-1293-405F-134D-8882C6C43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434" y="3124742"/>
            <a:ext cx="2374886" cy="1473031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E2BA164A-6A35-7335-C2B6-FC10BA27A74B}"/>
              </a:ext>
            </a:extLst>
          </p:cNvPr>
          <p:cNvSpPr/>
          <p:nvPr/>
        </p:nvSpPr>
        <p:spPr>
          <a:xfrm>
            <a:off x="91440" y="785704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0E632C6-671C-F739-6A56-745B8ED2CB72}"/>
              </a:ext>
            </a:extLst>
          </p:cNvPr>
          <p:cNvSpPr/>
          <p:nvPr/>
        </p:nvSpPr>
        <p:spPr>
          <a:xfrm>
            <a:off x="182880" y="85885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1E0B2FB-D17F-A92A-ED55-670D6500C537}"/>
              </a:ext>
            </a:extLst>
          </p:cNvPr>
          <p:cNvSpPr/>
          <p:nvPr/>
        </p:nvSpPr>
        <p:spPr>
          <a:xfrm>
            <a:off x="402336" y="785704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354AB-69AC-6F65-C8D4-25F5E5629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BBVA CONVENIOS  |  DIAGNOSTICO Y SEGUIMIENTO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0" y="749808"/>
            <a:ext cx="416052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9144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SEGUIMIENTO PLAN SEMANA ANTERIOR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1097280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097280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28016" y="1152144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Segmentacion y analisis de base de datos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8016" y="1815023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2334768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0" y="2334768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28016" y="2389632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Entrenamiento continuo al equipo de ventas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8016" y="3052511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3572256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7"/>
          <p:cNvSpPr/>
          <p:nvPr/>
        </p:nvSpPr>
        <p:spPr>
          <a:xfrm>
            <a:off x="0" y="3572256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128016" y="3627120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Plan visitas presenciales + operativos por plaza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28016" y="4289999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En proceso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42816" y="749808"/>
            <a:ext cx="18288" cy="40599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4343400" y="749808"/>
            <a:ext cx="480060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4434840" y="74980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DIAGNOSTICO — CAUSAS RAIZ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43400" y="1097280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937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Impacto Ley 32561 — Rechazos PNP/FF.AA al 50.1%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1444752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3,422 leads retirados. Impacto S/ 488K neto. COA: renuncias TOP y desistimientos PNP.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Impacto Alto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43400" y="2953512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1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93776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Lima Campo con 5 pendientes de seleccion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37760" y="3300984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La zona mas afectada. Sin completar dotacion Lima no cierra la brecha del 17%.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solidFill>
            <a:srgbClr val="FBEDD0"/>
          </a:solidFill>
          <a:ln w="12700">
            <a:solidFill>
              <a:srgbClr val="FBED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A024"/>
                </a:solidFill>
              </a:rPr>
              <a:t>Impacto Medio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CONVENIOS  |  DIAGNOSTICO  |  Sheyla  |  Cierre Mayo 2026</a:t>
            </a:r>
            <a:endParaRPr lang="en-US" sz="750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BE94AFF7-0D8A-F349-9403-6414FE509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1bec757-b8d9-4f0d-86eb-78a37ed8c863}" enabled="0" method="" siteId="{51bec757-b8d9-4f0d-86eb-78a37ed8c86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504</Words>
  <Application>Microsoft Office PowerPoint</Application>
  <PresentationFormat>Presentación en pantalla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Comite Semanal de Campanas — Cierre Mayo 2026</dc:title>
  <dc:subject>PptxGenJS Presentation</dc:subject>
  <dc:creator>PptxGenJS</dc:creator>
  <cp:lastModifiedBy>Jeampiere Manuel Pocomucha Toribio</cp:lastModifiedBy>
  <cp:revision>15</cp:revision>
  <dcterms:created xsi:type="dcterms:W3CDTF">2026-06-10T17:53:50Z</dcterms:created>
  <dcterms:modified xsi:type="dcterms:W3CDTF">2026-07-18T18:37:26Z</dcterms:modified>
</cp:coreProperties>
</file>