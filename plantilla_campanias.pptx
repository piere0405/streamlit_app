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  <Override PartName="/ppt/slides/slide4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5"/>
  </p:notesMasterIdLst>
  <p:sldIdLst>
    <p:sldId id="256" r:id="rId2"/>
    <p:sldId id="259" r:id="rId3"/>
    <p:sldId id="260" r:id="rId4"/>
    <p:sldId id="261" r:id="rId5"/>
    <p:sldId id="266" r:id="rId6"/>
    <p:sldId id="324" r:id="rId7"/>
    <p:sldId id="325" r:id="rId8"/>
    <p:sldId id="262" r:id="rId9"/>
    <p:sldId id="263" r:id="rId10"/>
    <p:sldId id="320" r:id="rId11"/>
    <p:sldId id="310" r:id="rId12"/>
    <p:sldId id="311" r:id="rId13"/>
    <p:sldId id="265" r:id="rId14"/>
    <p:sldId id="322" r:id="rId15"/>
    <p:sldId id="326" r:id="rId16"/>
    <p:sldId id="327" r:id="rId17"/>
    <p:sldId id="328" r:id="rId18"/>
    <p:sldId id="329" r:id="rId19"/>
    <p:sldId id="330" r:id="rId20"/>
    <p:sldId id="331" r:id="rId21"/>
    <p:sldId id="333" r:id="rId50"/>
    <p:sldId id="332" r:id="rId22"/>
    <p:sldId id="268" r:id="rId23"/>
    <p:sldId id="269" r:id="rId24"/>
    <p:sldId id="270" r:id="rId25"/>
    <p:sldId id="271" r:id="rId26"/>
    <p:sldId id="272" r:id="rId27"/>
    <p:sldId id="274" r:id="rId28"/>
    <p:sldId id="275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5" r:id="rId37"/>
    <p:sldId id="286" r:id="rId38"/>
    <p:sldId id="288" r:id="rId39"/>
    <p:sldId id="287" r:id="rId40"/>
    <p:sldId id="289" r:id="rId41"/>
    <p:sldId id="319" r:id="rId42"/>
    <p:sldId id="290" r:id="rId43"/>
    <p:sldId id="291" r:id="rId4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9A075"/>
    <a:srgbClr val="D97706"/>
    <a:srgbClr val="A84D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600" autoAdjust="0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84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50" Type="http://schemas.openxmlformats.org/officeDocument/2006/relationships/slide" Target="slides/slide4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07225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549D2-720A-B44B-9E80-E06DFDFE1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B97268-F9AD-A27B-D5D4-4C58A92733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30BC3F-CA68-BFD5-CB62-81FB8073E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43A4C7-97E7-81BB-B14C-C42EB3CE7F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0429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C7CA5-C6B7-1EF2-0C40-7706E7728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A37ED1-86E8-4732-6996-31F21533C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1236FF-4DEB-268A-D161-F664F6DCB7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0FD2C9-F18A-5CEF-BA7A-5EAFB2ED1D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4760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773D3-56E6-59CD-329B-9F0D2398D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3CBFA9-F4C1-F409-2823-0934E2C5F0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89D587-D068-4C9A-8983-B5629ACB75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B86900-3E23-47BE-CA79-E51C6BACED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5352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1DFF7-143D-5CAD-9A98-EDA383ED2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A9F77F-F449-C0BF-5F37-904BBA1BC4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40B0A3-F5B5-2990-A87A-A2920A2E2B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48D817-88E8-1500-D09E-F295A46CC5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359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B6699-E119-FF9C-9666-53409F3AC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513FBA-652A-5ADC-22C8-61EF5126E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F91704-515A-0CBD-DCE4-E23B621AB0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F7D0E7-15C6-713F-5D3D-6C8D26E2A1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248154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0536B-AD6E-C4E5-CE2E-1DF834462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BC1914-47E6-FB71-60A9-BBD0BD3ABD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07A601-6FB7-089E-28FC-33F2D3A071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32A18E-443B-402D-E9C9-90C8AC7279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56011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0671F-669A-830E-B499-D081C4292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2B7E2E-3610-5E35-6B0D-6AABF7FF79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EA1A79-9E18-FE54-7811-4AABAD3B1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9DDF73-3B25-DD34-362F-4363D07166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9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2E95F-EAF5-188C-0937-9F269BA39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E2AED5-D977-B564-B39E-0D95DBFE37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781C6B-5011-AD3B-4BFE-10FCD448E4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2BF83-2CD1-8840-D75B-EAA48BAF30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12622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272A0-000C-4A1A-FBE7-ABA473388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BB2875-48BA-486E-0C26-0B8091A77A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98A456-1256-E31F-D5C4-A45B5D23EB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4E65D1-64AA-FBAB-80DA-56F967A34C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16022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90539-FA09-E5E6-1C37-F3CD4FAFF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D1C8C5-62B5-A15A-91B1-8A00482837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7C9D6E-7771-C539-4F12-AA03792AA5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216E4C-9F58-5994-E722-965AF91CCC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49823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4097C-C4FF-9036-4170-CA16C873B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50A574-7C0D-AB74-5BEF-A69E51A7A7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3FFDE2-13A2-FCC7-6691-FB9AD0CD98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9834F3-867D-FF81-7B09-735801E944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45229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2596C-901E-BE66-BF58-E2B4B4BBB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177CE6-0A99-FF46-4152-5FD1B52D62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538BED-B980-11E4-5A77-614E6D4D6E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DD3A50-523E-AA94-1B3D-4A96E9BCFE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60646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.png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Shape 2"/>
          <p:cNvSpPr/>
          <p:nvPr/>
        </p:nvSpPr>
        <p:spPr>
          <a:xfrm>
            <a:off x="57045" y="1353312"/>
            <a:ext cx="8778240" cy="2286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124097" y="1515387"/>
            <a:ext cx="8778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4400" b="1" kern="0" spc="-50" dirty="0">
                <a:solidFill>
                  <a:srgbClr val="FFFFFF"/>
                </a:solidFill>
              </a:rPr>
              <a:t>COMITÉ SEMANAL DE CAMPAÑAS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182880" y="2978427"/>
            <a:ext cx="8778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</a:rPr>
              <a:t>Consolidado · Julio 2026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224825" y="3703320"/>
            <a:ext cx="8778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Julio 2026  ·  MF Asesoría y </a:t>
            </a:r>
            <a:r>
              <a:rPr lang="en-US" sz="1100" dirty="0" err="1">
                <a:solidFill>
                  <a:srgbClr val="FFFFFF"/>
                </a:solidFill>
              </a:rPr>
              <a:t>Consultoría</a:t>
            </a:r>
            <a:r>
              <a:rPr lang="en-US" sz="1100" dirty="0">
                <a:solidFill>
                  <a:srgbClr val="FFFFFF"/>
                </a:solidFill>
              </a:rPr>
              <a:t>  &amp;  PlusMetas</a:t>
            </a:r>
            <a:endParaRPr lang="en-US" sz="11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85F19C7-3194-4AD2-FC53-73E90CB7E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097" y="-186309"/>
            <a:ext cx="1808553" cy="180855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109728" y="2160769"/>
            <a:ext cx="8778240" cy="2286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/>
          <p:cNvSpPr/>
          <p:nvPr/>
        </p:nvSpPr>
        <p:spPr>
          <a:xfrm>
            <a:off x="155448" y="1094004"/>
            <a:ext cx="8732520" cy="8042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3200" b="1" dirty="0">
                <a:solidFill>
                  <a:srgbClr val="FFFFFF"/>
                </a:solidFill>
              </a:rPr>
              <a:t>Christian </a:t>
            </a:r>
            <a:r>
              <a:rPr lang="en-US" sz="3200" b="1" dirty="0" err="1">
                <a:solidFill>
                  <a:srgbClr val="FFFFFF"/>
                </a:solidFill>
              </a:rPr>
              <a:t>Passara</a:t>
            </a:r>
            <a:r>
              <a:rPr lang="en-US" sz="3200" b="1" dirty="0">
                <a:solidFill>
                  <a:srgbClr val="FFFFFF"/>
                </a:solidFill>
              </a:rPr>
              <a:t>: </a:t>
            </a:r>
            <a:r>
              <a:rPr lang="en-US" sz="3200" b="1" dirty="0" err="1">
                <a:solidFill>
                  <a:srgbClr val="FFFFFF"/>
                </a:solidFill>
              </a:rPr>
              <a:t>Tarjetas</a:t>
            </a:r>
            <a:r>
              <a:rPr lang="en-US" sz="3200" b="1" dirty="0">
                <a:solidFill>
                  <a:srgbClr val="FFFFFF"/>
                </a:solidFill>
              </a:rPr>
              <a:t> SBP</a:t>
            </a:r>
            <a:endParaRPr lang="en-US" sz="3200" b="1" dirty="0"/>
          </a:p>
        </p:txBody>
      </p:sp>
      <p:sp>
        <p:nvSpPr>
          <p:cNvPr id="8" name="Text 5"/>
          <p:cNvSpPr/>
          <p:nvPr/>
        </p:nvSpPr>
        <p:spPr>
          <a:xfrm>
            <a:off x="201168" y="2232325"/>
            <a:ext cx="8732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Christian </a:t>
            </a:r>
            <a:r>
              <a:rPr lang="en-US" sz="1400" dirty="0" err="1">
                <a:solidFill>
                  <a:srgbClr val="FFFFFF"/>
                </a:solidFill>
              </a:rPr>
              <a:t>Passara</a:t>
            </a:r>
            <a:r>
              <a:rPr lang="en-US" sz="1400" dirty="0">
                <a:solidFill>
                  <a:srgbClr val="FFFFFF"/>
                </a:solidFill>
              </a:rPr>
              <a:t> : Subgerenta de Ventas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201168" y="2805948"/>
            <a:ext cx="8732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Julio 2026</a:t>
            </a:r>
            <a:endParaRPr lang="en-US" sz="1200" dirty="0"/>
          </a:p>
        </p:txBody>
      </p:sp>
      <p:pic>
        <p:nvPicPr>
          <p:cNvPr id="13" name="Picture 9">
            <a:extLst>
              <a:ext uri="{FF2B5EF4-FFF2-40B4-BE49-F238E27FC236}">
                <a16:creationId xmlns:a16="http://schemas.microsoft.com/office/drawing/2014/main" id="{277C8468-0A3E-3EC2-4F2C-7DC598DAED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328" y="3670788"/>
            <a:ext cx="1808553" cy="180855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RESUMEN GENERAL|  SCOTIABANK TARJETAS · FONOCOMPRAS · EFECTIVO · BANBIF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 / 3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47472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82880" cy="1828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30352" y="749808"/>
            <a:ext cx="1984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</a:rPr>
              <a:t>EN SEGUIMIENTO</a:t>
            </a:r>
          </a:p>
        </p:txBody>
      </p:sp>
      <p:sp>
        <p:nvSpPr>
          <p:cNvPr id="12" name="Text 9"/>
          <p:cNvSpPr/>
          <p:nvPr/>
        </p:nvSpPr>
        <p:spPr>
          <a:xfrm>
            <a:off x="201168" y="1152144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A9189"/>
                </a:solidFill>
              </a:rPr>
              <a:t>Sub-Gerente: Monica Mogollon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201168" y="1463040"/>
            <a:ext cx="233172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0" b="1" dirty="0">
                <a:solidFill>
                  <a:srgbClr val="D97706"/>
                </a:solidFill>
              </a:rPr>
              <a:t>89%</a:t>
            </a:r>
            <a:endParaRPr lang="en-US" sz="8000" dirty="0"/>
          </a:p>
        </p:txBody>
      </p:sp>
      <p:sp>
        <p:nvSpPr>
          <p:cNvPr id="14" name="Text 11"/>
          <p:cNvSpPr/>
          <p:nvPr/>
        </p:nvSpPr>
        <p:spPr>
          <a:xfrm>
            <a:off x="-28346" y="2631786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A9189"/>
                </a:solidFill>
              </a:rPr>
              <a:t>Avance promedio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633472" y="749808"/>
            <a:ext cx="20117" cy="4069080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274320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288036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CONECTADOS</a:t>
            </a:r>
            <a:endParaRPr lang="en-US" sz="780" dirty="0"/>
          </a:p>
        </p:txBody>
      </p:sp>
      <p:sp>
        <p:nvSpPr>
          <p:cNvPr id="18" name="Text 15"/>
          <p:cNvSpPr/>
          <p:nvPr/>
        </p:nvSpPr>
        <p:spPr>
          <a:xfrm>
            <a:off x="288036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120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92074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/>
          <p:nvPr/>
        </p:nvSpPr>
        <p:spPr>
          <a:xfrm>
            <a:off x="605790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DOTACION</a:t>
            </a:r>
            <a:endParaRPr lang="en-US" sz="780" dirty="0"/>
          </a:p>
        </p:txBody>
      </p:sp>
      <p:sp>
        <p:nvSpPr>
          <p:cNvPr id="21" name="Text 18"/>
          <p:cNvSpPr/>
          <p:nvPr/>
        </p:nvSpPr>
        <p:spPr>
          <a:xfrm>
            <a:off x="605790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130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274320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/>
          <p:cNvSpPr/>
          <p:nvPr/>
        </p:nvSpPr>
        <p:spPr>
          <a:xfrm>
            <a:off x="288036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PEND. SELECCION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288036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2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592074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/>
          <p:cNvSpPr/>
          <p:nvPr/>
        </p:nvSpPr>
        <p:spPr>
          <a:xfrm>
            <a:off x="605790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PEND. INDUCCION</a:t>
            </a:r>
            <a:endParaRPr lang="en-US" sz="780" dirty="0"/>
          </a:p>
        </p:txBody>
      </p:sp>
      <p:sp>
        <p:nvSpPr>
          <p:cNvPr id="27" name="Text 24"/>
          <p:cNvSpPr/>
          <p:nvPr/>
        </p:nvSpPr>
        <p:spPr>
          <a:xfrm>
            <a:off x="605790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12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274320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/>
          <p:nvPr/>
        </p:nvSpPr>
        <p:spPr>
          <a:xfrm>
            <a:off x="288036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PRESUPUESTO</a:t>
            </a:r>
            <a:endParaRPr lang="en-US" sz="780" dirty="0"/>
          </a:p>
        </p:txBody>
      </p:sp>
      <p:sp>
        <p:nvSpPr>
          <p:cNvPr id="30" name="Text 27"/>
          <p:cNvSpPr/>
          <p:nvPr/>
        </p:nvSpPr>
        <p:spPr>
          <a:xfrm>
            <a:off x="288036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140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92074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05790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SEMANA</a:t>
            </a:r>
            <a:endParaRPr lang="en-US" sz="780" dirty="0"/>
          </a:p>
        </p:txBody>
      </p:sp>
      <p:sp>
        <p:nvSpPr>
          <p:cNvPr id="33" name="Text 30"/>
          <p:cNvSpPr/>
          <p:nvPr/>
        </p:nvSpPr>
        <p:spPr>
          <a:xfrm>
            <a:off x="605790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05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0" y="3419856"/>
            <a:ext cx="9144000" cy="281635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182880" y="3419856"/>
            <a:ext cx="310896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Sub-campaña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2671877" y="3415284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Presupuesto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4526280" y="3419856"/>
            <a:ext cx="21031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Avance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6656832" y="3419856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% Logro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7543800" y="3419856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Proyeccion</a:t>
            </a:r>
            <a:endParaRPr lang="en-US" sz="850" dirty="0"/>
          </a:p>
        </p:txBody>
      </p:sp>
      <p:sp>
        <p:nvSpPr>
          <p:cNvPr id="40" name="Shape 37"/>
          <p:cNvSpPr/>
          <p:nvPr/>
        </p:nvSpPr>
        <p:spPr>
          <a:xfrm>
            <a:off x="0" y="3701491"/>
            <a:ext cx="9144000" cy="281635"/>
          </a:xfrm>
          <a:prstGeom prst="rect">
            <a:avLst/>
          </a:prstGeom>
          <a:solidFill>
            <a:srgbClr val="FFFFFF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1" name="Text 38"/>
          <p:cNvSpPr/>
          <p:nvPr/>
        </p:nvSpPr>
        <p:spPr>
          <a:xfrm>
            <a:off x="182880" y="3701491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150B"/>
                </a:solidFill>
              </a:rPr>
              <a:t>Scotiabank Tarjetas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2899956" y="3701491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50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4526280" y="3780349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4" name="Shape 41"/>
          <p:cNvSpPr/>
          <p:nvPr/>
        </p:nvSpPr>
        <p:spPr>
          <a:xfrm>
            <a:off x="4526280" y="3780349"/>
            <a:ext cx="1632204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5" name="Text 42"/>
          <p:cNvSpPr/>
          <p:nvPr/>
        </p:nvSpPr>
        <p:spPr>
          <a:xfrm>
            <a:off x="6656832" y="3701491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</a:rPr>
              <a:t>85%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7543800" y="3701491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A9189"/>
                </a:solidFill>
              </a:rPr>
              <a:t>820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182880" y="3983126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9" name="Text 46"/>
          <p:cNvSpPr/>
          <p:nvPr/>
        </p:nvSpPr>
        <p:spPr>
          <a:xfrm>
            <a:off x="2899956" y="398312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6656832" y="3983126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7543800" y="3983126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55" name="Text 52"/>
          <p:cNvSpPr/>
          <p:nvPr/>
        </p:nvSpPr>
        <p:spPr>
          <a:xfrm>
            <a:off x="182880" y="4264762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2899956" y="4264762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59" name="Text 56"/>
          <p:cNvSpPr/>
          <p:nvPr/>
        </p:nvSpPr>
        <p:spPr>
          <a:xfrm>
            <a:off x="6656832" y="4264762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7543800" y="4264762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62" name="Text 59"/>
          <p:cNvSpPr/>
          <p:nvPr/>
        </p:nvSpPr>
        <p:spPr>
          <a:xfrm>
            <a:off x="182880" y="4546397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63" name="Text 60"/>
          <p:cNvSpPr/>
          <p:nvPr/>
        </p:nvSpPr>
        <p:spPr>
          <a:xfrm>
            <a:off x="2899956" y="4546397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66" name="Text 63"/>
          <p:cNvSpPr/>
          <p:nvPr/>
        </p:nvSpPr>
        <p:spPr>
          <a:xfrm>
            <a:off x="6656832" y="4546397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7543800" y="4546397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9" name="Shape 66"/>
          <p:cNvSpPr/>
          <p:nvPr/>
        </p:nvSpPr>
        <p:spPr>
          <a:xfrm flipV="1">
            <a:off x="0" y="4774471"/>
            <a:ext cx="9144000" cy="90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67"/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GRUPO EFE  |  MONICA MOGOLLON  |  Monica Mogollon  |  Cierre Julio 2026</a:t>
            </a:r>
            <a:endParaRPr lang="en-US" sz="750" dirty="0"/>
          </a:p>
        </p:txBody>
      </p:sp>
      <p:sp>
        <p:nvSpPr>
          <p:cNvPr id="72" name="Text 33">
            <a:extLst>
              <a:ext uri="{FF2B5EF4-FFF2-40B4-BE49-F238E27FC236}">
                <a16:creationId xmlns:a16="http://schemas.microsoft.com/office/drawing/2014/main" id="{1FEADA45-2A4C-A74C-7E13-45E36139D062}"/>
              </a:ext>
            </a:extLst>
          </p:cNvPr>
          <p:cNvSpPr/>
          <p:nvPr/>
        </p:nvSpPr>
        <p:spPr>
          <a:xfrm>
            <a:off x="3380277" y="3417039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 err="1">
                <a:solidFill>
                  <a:srgbClr val="FFFFFF"/>
                </a:solidFill>
              </a:rPr>
              <a:t>Conectados</a:t>
            </a:r>
            <a:endParaRPr lang="en-US" sz="850" dirty="0"/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2BBFCF78-CEF4-871D-6475-75D1D7F70882}"/>
              </a:ext>
            </a:extLst>
          </p:cNvPr>
          <p:cNvSpPr/>
          <p:nvPr/>
        </p:nvSpPr>
        <p:spPr>
          <a:xfrm>
            <a:off x="3582753" y="367131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40</a:t>
            </a:r>
            <a:endParaRPr lang="en-US" sz="950" dirty="0"/>
          </a:p>
        </p:txBody>
      </p:sp>
      <p:sp>
        <p:nvSpPr>
          <p:cNvPr id="74" name="Text 39">
            <a:extLst>
              <a:ext uri="{FF2B5EF4-FFF2-40B4-BE49-F238E27FC236}">
                <a16:creationId xmlns:a16="http://schemas.microsoft.com/office/drawing/2014/main" id="{150685D9-7BB8-48CF-2190-A720A6B3D794}"/>
              </a:ext>
            </a:extLst>
          </p:cNvPr>
          <p:cNvSpPr/>
          <p:nvPr/>
        </p:nvSpPr>
        <p:spPr>
          <a:xfrm>
            <a:off x="5032203" y="3707138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700</a:t>
            </a:r>
            <a:endParaRPr lang="en-US" sz="950" dirty="0"/>
          </a:p>
        </p:txBody>
      </p:sp>
      <p:sp>
        <p:nvSpPr>
          <p:cNvPr id="76" name="Text 39">
            <a:extLst>
              <a:ext uri="{FF2B5EF4-FFF2-40B4-BE49-F238E27FC236}">
                <a16:creationId xmlns:a16="http://schemas.microsoft.com/office/drawing/2014/main" id="{C5AC93AD-5A08-6987-88BA-E57100E9C387}"/>
              </a:ext>
            </a:extLst>
          </p:cNvPr>
          <p:cNvSpPr/>
          <p:nvPr/>
        </p:nvSpPr>
        <p:spPr>
          <a:xfrm>
            <a:off x="3596452" y="400029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78" name="Text 39">
            <a:extLst>
              <a:ext uri="{FF2B5EF4-FFF2-40B4-BE49-F238E27FC236}">
                <a16:creationId xmlns:a16="http://schemas.microsoft.com/office/drawing/2014/main" id="{BAF3BBE1-A491-554B-D7CC-56E9D1420CCB}"/>
              </a:ext>
            </a:extLst>
          </p:cNvPr>
          <p:cNvSpPr/>
          <p:nvPr/>
        </p:nvSpPr>
        <p:spPr>
          <a:xfrm>
            <a:off x="3613327" y="4280894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80" name="Text 39">
            <a:extLst>
              <a:ext uri="{FF2B5EF4-FFF2-40B4-BE49-F238E27FC236}">
                <a16:creationId xmlns:a16="http://schemas.microsoft.com/office/drawing/2014/main" id="{56EF3E9B-2C63-1B8D-F512-148C0552D520}"/>
              </a:ext>
            </a:extLst>
          </p:cNvPr>
          <p:cNvSpPr/>
          <p:nvPr/>
        </p:nvSpPr>
        <p:spPr>
          <a:xfrm>
            <a:off x="3637584" y="4562529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pic>
        <p:nvPicPr>
          <p:cNvPr id="90" name="Imagen 89">
            <a:extLst>
              <a:ext uri="{FF2B5EF4-FFF2-40B4-BE49-F238E27FC236}">
                <a16:creationId xmlns:a16="http://schemas.microsoft.com/office/drawing/2014/main" id="{F6672D11-DCE6-2755-A6C0-69C3EA0942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56552" y="4902997"/>
            <a:ext cx="236904" cy="230781"/>
          </a:xfrm>
          <a:prstGeom prst="rect">
            <a:avLst/>
          </a:prstGeom>
        </p:spPr>
      </p:pic>
      <p:pic>
        <p:nvPicPr>
          <p:cNvPr id="92" name="Picture 76">
            <a:extLst>
              <a:ext uri="{FF2B5EF4-FFF2-40B4-BE49-F238E27FC236}">
                <a16:creationId xmlns:a16="http://schemas.microsoft.com/office/drawing/2014/main" id="{76438E3E-66CC-890A-DEE3-99CCE2DCB7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1591" y="-144818"/>
            <a:ext cx="948004" cy="948004"/>
          </a:xfrm>
          <a:prstGeom prst="rect">
            <a:avLst/>
          </a:prstGeom>
        </p:spPr>
      </p:pic>
      <p:sp>
        <p:nvSpPr>
          <p:cNvPr id="5" name="Text 39">
            <a:extLst>
              <a:ext uri="{FF2B5EF4-FFF2-40B4-BE49-F238E27FC236}">
                <a16:creationId xmlns:a16="http://schemas.microsoft.com/office/drawing/2014/main" id="{9C3C4FD9-A956-E798-2965-0B24A80E8071}"/>
              </a:ext>
            </a:extLst>
          </p:cNvPr>
          <p:cNvSpPr/>
          <p:nvPr/>
        </p:nvSpPr>
        <p:spPr>
          <a:xfrm>
            <a:off x="5134288" y="3988773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277059CD-1B47-1223-9703-71893B86DE14}"/>
              </a:ext>
            </a:extLst>
          </p:cNvPr>
          <p:cNvSpPr/>
          <p:nvPr/>
        </p:nvSpPr>
        <p:spPr>
          <a:xfrm>
            <a:off x="5258974" y="4270408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79" name="Text 39">
            <a:extLst>
              <a:ext uri="{FF2B5EF4-FFF2-40B4-BE49-F238E27FC236}">
                <a16:creationId xmlns:a16="http://schemas.microsoft.com/office/drawing/2014/main" id="{7C2A76F4-D25F-B41A-FAFC-572F9DD9E162}"/>
              </a:ext>
            </a:extLst>
          </p:cNvPr>
          <p:cNvSpPr/>
          <p:nvPr/>
        </p:nvSpPr>
        <p:spPr>
          <a:xfrm>
            <a:off x="5298174" y="4546397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pic>
        <p:nvPicPr>
          <p:cNvPr id="93" name="Panel Resume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97687"/>
            <a:ext cx="9144000" cy="4194353"/>
          </a:xfrm>
          <a:prstGeom prst="rect">
            <a:avLst/>
          </a:prstGeom>
        </p:spPr>
      </p:pic>
      <p:sp>
        <p:nvSpPr>
          <p:cNvPr id="94" name="dato_manual"/>
          <p:cNvSpPr>
            <a:spLocks noGrp="1"/>
          </p:cNvSpPr>
          <p:nvPr/>
        </p:nvSpPr>
        <p:spPr>
          <a:xfrm>
            <a:off x="2743200" y="1424886"/>
            <a:ext cx="1259586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1650" b="1" dirty="0">
                <a:solidFill>
                  <a:srgbClr val="103A5E"/>
                </a:solidFill>
                <a:latin typeface="Arial"/>
              </a:rPr>
              <a:t>120</a:t>
            </a:r>
          </a:p>
        </p:txBody>
      </p:sp>
      <p:sp>
        <p:nvSpPr>
          <p:cNvPr id="95" name="dato_manual"/>
          <p:cNvSpPr>
            <a:spLocks noGrp="1"/>
          </p:cNvSpPr>
          <p:nvPr/>
        </p:nvSpPr>
        <p:spPr>
          <a:xfrm>
            <a:off x="4359401" y="1424886"/>
            <a:ext cx="1259586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1650" b="1" dirty="0">
                <a:solidFill>
                  <a:srgbClr val="103A5E"/>
                </a:solidFill>
                <a:latin typeface="Arial"/>
              </a:rPr>
              <a:t>14</a:t>
            </a:r>
          </a:p>
        </p:txBody>
      </p:sp>
      <p:sp>
        <p:nvSpPr>
          <p:cNvPr id="96" name="dato_manual"/>
          <p:cNvSpPr>
            <a:spLocks noGrp="1"/>
          </p:cNvSpPr>
          <p:nvPr/>
        </p:nvSpPr>
        <p:spPr>
          <a:xfrm>
            <a:off x="2531059" y="3391662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50</a:t>
            </a:r>
          </a:p>
        </p:txBody>
      </p:sp>
      <p:sp>
        <p:nvSpPr>
          <p:cNvPr id="97" name="dato_manual"/>
          <p:cNvSpPr>
            <a:spLocks noGrp="1"/>
          </p:cNvSpPr>
          <p:nvPr/>
        </p:nvSpPr>
        <p:spPr>
          <a:xfrm>
            <a:off x="3584448" y="3391662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40</a:t>
            </a:r>
          </a:p>
        </p:txBody>
      </p:sp>
      <p:sp>
        <p:nvSpPr>
          <p:cNvPr id="98" name="dato_manual"/>
          <p:cNvSpPr>
            <a:spLocks noGrp="1"/>
          </p:cNvSpPr>
          <p:nvPr/>
        </p:nvSpPr>
        <p:spPr>
          <a:xfrm>
            <a:off x="2531059" y="4269994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123A5E"/>
                </a:solidFill>
                <a:latin typeface="Arial"/>
              </a:rPr>
              <a:t>50</a:t>
            </a:r>
          </a:p>
        </p:txBody>
      </p:sp>
      <p:sp>
        <p:nvSpPr>
          <p:cNvPr id="99" name="dato_manual"/>
          <p:cNvSpPr>
            <a:spLocks noGrp="1"/>
          </p:cNvSpPr>
          <p:nvPr/>
        </p:nvSpPr>
        <p:spPr>
          <a:xfrm>
            <a:off x="3584448" y="4269994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123A5E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SCOTIABANK TARJETAS:  Información al 18 de Julio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 / 5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29184"/>
          </a:xfrm>
          <a:prstGeom prst="rect">
            <a:avLst/>
          </a:prstGeom>
          <a:solidFill>
            <a:srgbClr val="FBEED6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64592" cy="164592"/>
          </a:xfrm>
          <a:prstGeom prst="ellipse">
            <a:avLst/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12064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08A1E"/>
                </a:solidFill>
              </a:rPr>
              <a:t>Cerca de la meta</a:t>
            </a:r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A9189"/>
                </a:solidFill>
              </a:rPr>
              <a:t>Sub </a:t>
            </a:r>
            <a:r>
              <a:rPr lang="en-US" sz="850" i="1" dirty="0" err="1">
                <a:solidFill>
                  <a:srgbClr val="9A9189"/>
                </a:solidFill>
              </a:rPr>
              <a:t>Gerenta</a:t>
            </a:r>
            <a:r>
              <a:rPr lang="en-US" sz="850" i="1" dirty="0">
                <a:solidFill>
                  <a:srgbClr val="9A9189"/>
                </a:solidFill>
              </a:rPr>
              <a:t>: Monica Mogollon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85353" y="2065967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E08A1E"/>
                </a:solidFill>
              </a:rPr>
              <a:t>97.2%</a:t>
            </a:r>
            <a:endParaRPr lang="en-US" sz="6600" dirty="0"/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Shape 31"/>
          <p:cNvSpPr/>
          <p:nvPr/>
        </p:nvSpPr>
        <p:spPr>
          <a:xfrm>
            <a:off x="2999232" y="4645152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Shape 32"/>
          <p:cNvSpPr/>
          <p:nvPr/>
        </p:nvSpPr>
        <p:spPr>
          <a:xfrm>
            <a:off x="2999232" y="3505200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Shape 33"/>
          <p:cNvSpPr/>
          <p:nvPr/>
        </p:nvSpPr>
        <p:spPr>
          <a:xfrm>
            <a:off x="2999232" y="2365248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7" name="Shape 34"/>
          <p:cNvSpPr/>
          <p:nvPr/>
        </p:nvSpPr>
        <p:spPr>
          <a:xfrm>
            <a:off x="2999232" y="1225296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Shape 65"/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9" name="Text 66"/>
          <p:cNvSpPr/>
          <p:nvPr/>
        </p:nvSpPr>
        <p:spPr>
          <a:xfrm>
            <a:off x="2787099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GRUPO EFE  |  SCOTIABANK TARJETAS  |  Monica Mogollon  |  Cierre Julio 2026</a:t>
            </a:r>
            <a:endParaRPr lang="en-US" sz="750" dirty="0"/>
          </a:p>
        </p:txBody>
      </p:sp>
      <p:sp>
        <p:nvSpPr>
          <p:cNvPr id="71" name="Text 26">
            <a:extLst>
              <a:ext uri="{FF2B5EF4-FFF2-40B4-BE49-F238E27FC236}">
                <a16:creationId xmlns:a16="http://schemas.microsoft.com/office/drawing/2014/main" id="{A1FBE876-C87E-44F6-1B09-E7352548F12B}"/>
              </a:ext>
            </a:extLst>
          </p:cNvPr>
          <p:cNvSpPr/>
          <p:nvPr/>
        </p:nvSpPr>
        <p:spPr>
          <a:xfrm>
            <a:off x="405170" y="2003577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800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D2917A25-1176-7DD4-70EF-B4DA7CE6BC4A}"/>
              </a:ext>
            </a:extLst>
          </p:cNvPr>
          <p:cNvSpPr/>
          <p:nvPr/>
        </p:nvSpPr>
        <p:spPr>
          <a:xfrm>
            <a:off x="-74646" y="3142216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621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3" name="Text 26">
            <a:extLst>
              <a:ext uri="{FF2B5EF4-FFF2-40B4-BE49-F238E27FC236}">
                <a16:creationId xmlns:a16="http://schemas.microsoft.com/office/drawing/2014/main" id="{0B7D283D-A65C-1B11-E3D8-76028B73D1D6}"/>
              </a:ext>
            </a:extLst>
          </p:cNvPr>
          <p:cNvSpPr/>
          <p:nvPr/>
        </p:nvSpPr>
        <p:spPr>
          <a:xfrm>
            <a:off x="1124080" y="3138776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639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77A02C71-D92C-5CAC-3EF0-C7BBB4135A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210" y="4881067"/>
            <a:ext cx="251755" cy="245248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06390E95-FB8C-6D12-75F9-804BB7F4D6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1444" y="-163467"/>
            <a:ext cx="948004" cy="948004"/>
          </a:xfrm>
          <a:prstGeom prst="rect">
            <a:avLst/>
          </a:prstGeom>
        </p:spPr>
      </p:pic>
      <p:pic>
        <p:nvPicPr>
          <p:cNvPr id="5" name="BARRAS_AVANCE_FONO" descr="image.png">
            <a:extLst>
              <a:ext uri="{FF2B5EF4-FFF2-40B4-BE49-F238E27FC236}">
                <a16:creationId xmlns:a16="http://schemas.microsoft.com/office/drawing/2014/main" id="{72CBE53E-979D-41F8-9C26-0EFC336420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0165" y="1405277"/>
            <a:ext cx="6499437" cy="260086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TC SBP |  DIAGNOSTICO Y SEGUIMIENTO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 / 3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0" y="749808"/>
            <a:ext cx="4160520" cy="3108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91440" y="749808"/>
            <a:ext cx="4069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SEGUIMIENTO PLAN SEMANA ANTERIOR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0" y="1097280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097280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28016" y="1152144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Operacion Fenix Tarjetas + mejora tabla de comision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28016" y="1635587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0" y="2025396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0" y="2025396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28016" y="2080260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Seguimiento base reciclada + cupones Fonocompras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28016" y="2563703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0" y="2953512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Shape 17"/>
          <p:cNvSpPr/>
          <p:nvPr/>
        </p:nvSpPr>
        <p:spPr>
          <a:xfrm>
            <a:off x="0" y="2953512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/>
          <p:cNvSpPr/>
          <p:nvPr/>
        </p:nvSpPr>
        <p:spPr>
          <a:xfrm>
            <a:off x="128016" y="3008376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Intensidad x5 base Efectivo — Dormidos RECORD 145%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28016" y="3491819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0" y="3881628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0" y="3881628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128016" y="3936492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Full agendamiento BanBif + desembolso en linea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128016" y="4419935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242816" y="749808"/>
            <a:ext cx="18288" cy="4059936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Shape 25"/>
          <p:cNvSpPr/>
          <p:nvPr/>
        </p:nvSpPr>
        <p:spPr>
          <a:xfrm>
            <a:off x="4343400" y="749808"/>
            <a:ext cx="4800600" cy="3108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/>
          <p:nvPr/>
        </p:nvSpPr>
        <p:spPr>
          <a:xfrm>
            <a:off x="4434840" y="749808"/>
            <a:ext cx="4709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DIAGNOSTICO MES ACTUAL — CAUSAS RAIZ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343400" y="1097280"/>
            <a:ext cx="4800600" cy="1173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28"/>
          <p:cNvSpPr/>
          <p:nvPr/>
        </p:nvSpPr>
        <p:spPr>
          <a:xfrm>
            <a:off x="4343400" y="1097280"/>
            <a:ext cx="502920" cy="117348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4343400" y="1097280"/>
            <a:ext cx="50292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4937760" y="1188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Tarjetas: 8 asesores pendientes de induccion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4937760" y="1444752"/>
            <a:ext cx="4114800" cy="519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16% del presupuesto sin productividad. Tasa CET por mejorar — brecha del 15%.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4937760" y="1996440"/>
            <a:ext cx="100584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Text 33"/>
          <p:cNvSpPr/>
          <p:nvPr/>
        </p:nvSpPr>
        <p:spPr>
          <a:xfrm>
            <a:off x="4937760" y="199644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Impacto Alto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4343400" y="2334768"/>
            <a:ext cx="4800600" cy="1173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Shape 35"/>
          <p:cNvSpPr/>
          <p:nvPr/>
        </p:nvSpPr>
        <p:spPr>
          <a:xfrm>
            <a:off x="4343400" y="2334768"/>
            <a:ext cx="502920" cy="117348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4343400" y="2334768"/>
            <a:ext cx="50292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4937760" y="242620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Fonocompras: 2 pendientes OB + 2 pendientes IB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4937760" y="2682240"/>
            <a:ext cx="4114800" cy="519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Brecha del 12% en ambos canales. Un asesor con menor productividad cada uno.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4937760" y="3233928"/>
            <a:ext cx="1005840" cy="219456"/>
          </a:xfrm>
          <a:prstGeom prst="rect">
            <a:avLst/>
          </a:prstGeom>
          <a:solidFill>
            <a:srgbClr val="FEECEE"/>
          </a:solidFill>
          <a:ln w="12700">
            <a:solidFill>
              <a:srgbClr val="FEECE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/>
          <p:cNvSpPr/>
          <p:nvPr/>
        </p:nvSpPr>
        <p:spPr>
          <a:xfrm>
            <a:off x="4937760" y="3233928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30713"/>
                </a:solidFill>
              </a:rPr>
              <a:t>Impacto Bajo</a:t>
            </a:r>
            <a:endParaRPr lang="en-US" sz="850" dirty="0"/>
          </a:p>
        </p:txBody>
      </p:sp>
      <p:sp>
        <p:nvSpPr>
          <p:cNvPr id="44" name="Shape 41"/>
          <p:cNvSpPr/>
          <p:nvPr/>
        </p:nvSpPr>
        <p:spPr>
          <a:xfrm>
            <a:off x="4343400" y="3572256"/>
            <a:ext cx="4800600" cy="1173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5" name="Shape 42"/>
          <p:cNvSpPr/>
          <p:nvPr/>
        </p:nvSpPr>
        <p:spPr>
          <a:xfrm>
            <a:off x="4343400" y="3572256"/>
            <a:ext cx="502920" cy="117348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6" name="Text 43"/>
          <p:cNvSpPr/>
          <p:nvPr/>
        </p:nvSpPr>
        <p:spPr>
          <a:xfrm>
            <a:off x="4343400" y="3572256"/>
            <a:ext cx="50292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47" name="Text 44"/>
          <p:cNvSpPr/>
          <p:nvPr/>
        </p:nvSpPr>
        <p:spPr>
          <a:xfrm>
            <a:off x="4937760" y="366369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Efectivo: Recurrentes al 65% en recuperacion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4937760" y="3919728"/>
            <a:ext cx="4114800" cy="519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Base parcialmente agotada. Dormidos 145% y Nuevos 171% compensan la brecha.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solidFill>
            <a:srgbClr val="FEF9E7"/>
          </a:solidFill>
          <a:ln w="12700">
            <a:solidFill>
              <a:srgbClr val="FEF9E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0" name="Text 47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C97A0C"/>
                </a:solidFill>
              </a:rPr>
              <a:t>Impacto Medio</a:t>
            </a:r>
            <a:endParaRPr lang="en-US" sz="850" dirty="0"/>
          </a:p>
        </p:txBody>
      </p:sp>
      <p:sp>
        <p:nvSpPr>
          <p:cNvPr id="51" name="Shape 48"/>
          <p:cNvSpPr/>
          <p:nvPr/>
        </p:nvSpPr>
        <p:spPr>
          <a:xfrm>
            <a:off x="0" y="4407408"/>
            <a:ext cx="9144000" cy="365760"/>
          </a:xfrm>
          <a:prstGeom prst="rect">
            <a:avLst/>
          </a:prstGeom>
          <a:solidFill>
            <a:srgbClr val="FBF2F0"/>
          </a:solidFill>
          <a:ln w="635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Text 49"/>
          <p:cNvSpPr/>
          <p:nvPr/>
        </p:nvSpPr>
        <p:spPr>
          <a:xfrm>
            <a:off x="164592" y="4407408"/>
            <a:ext cx="8869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B150B"/>
                </a:solidFill>
              </a:rPr>
              <a:t>Nota: BanBif cumplido al 100% (S/ 1,503,083). Foco en Tarjetas e induccion pendiente.</a:t>
            </a:r>
            <a:endParaRPr lang="en-US" sz="850" dirty="0"/>
          </a:p>
        </p:txBody>
      </p:sp>
      <p:sp>
        <p:nvSpPr>
          <p:cNvPr id="53" name="Shape 50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4" name="Shape 51"/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5" name="Text 52"/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GRUPO EFE  |  MONICA MOGOLLON  —  DIAGNOSTICO  |  Monica Mogollon  |  Cierre Julio 2026</a:t>
            </a:r>
            <a:endParaRPr lang="en-US" sz="750" dirty="0"/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F4C3F8F0-14D7-07DF-2372-ED3640609F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0019" y="-106317"/>
            <a:ext cx="948004" cy="948004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95D9564F-9BCB-77FA-43C3-4015E7CBD1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56552" y="4902997"/>
            <a:ext cx="236904" cy="23078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62DF0E-F57E-C9F5-5336-EC7F1A443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915AA25-F72D-5150-08F5-60206D9963EC}"/>
              </a:ext>
            </a:extLst>
          </p:cNvPr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EC3F819-DF0B-D7CE-1797-1A717578BDB3}"/>
              </a:ext>
            </a:extLst>
          </p:cNvPr>
          <p:cNvSpPr/>
          <p:nvPr/>
        </p:nvSpPr>
        <p:spPr>
          <a:xfrm>
            <a:off x="109728" y="2160769"/>
            <a:ext cx="8778240" cy="2286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C98D3B3-47F7-5380-6388-7F3ADB9A971B}"/>
              </a:ext>
            </a:extLst>
          </p:cNvPr>
          <p:cNvSpPr/>
          <p:nvPr/>
        </p:nvSpPr>
        <p:spPr>
          <a:xfrm>
            <a:off x="155448" y="1094004"/>
            <a:ext cx="8732520" cy="8042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3200" b="1" dirty="0">
                <a:solidFill>
                  <a:srgbClr val="FFFFFF"/>
                </a:solidFill>
              </a:rPr>
              <a:t>Monica Mogollon: </a:t>
            </a:r>
            <a:r>
              <a:rPr lang="en-US" sz="3200" b="1" dirty="0" err="1">
                <a:solidFill>
                  <a:srgbClr val="FFFFFF"/>
                </a:solidFill>
              </a:rPr>
              <a:t>Tarjetas</a:t>
            </a:r>
            <a:r>
              <a:rPr lang="en-US" sz="3200" b="1" dirty="0">
                <a:solidFill>
                  <a:srgbClr val="FFFFFF"/>
                </a:solidFill>
              </a:rPr>
              <a:t> SBP - Fonocompras - </a:t>
            </a:r>
            <a:r>
              <a:rPr lang="en-US" sz="3200" b="1" dirty="0" err="1">
                <a:solidFill>
                  <a:srgbClr val="FFFFFF"/>
                </a:solidFill>
              </a:rPr>
              <a:t>Efectivo</a:t>
            </a:r>
            <a:r>
              <a:rPr lang="en-US" sz="3200" b="1" dirty="0">
                <a:solidFill>
                  <a:srgbClr val="FFFFFF"/>
                </a:solidFill>
              </a:rPr>
              <a:t> - BanBif</a:t>
            </a:r>
            <a:endParaRPr lang="en-US" sz="3200" b="1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39B1D3E3-BDE8-D2DF-8421-095E522E08C5}"/>
              </a:ext>
            </a:extLst>
          </p:cNvPr>
          <p:cNvSpPr/>
          <p:nvPr/>
        </p:nvSpPr>
        <p:spPr>
          <a:xfrm>
            <a:off x="201168" y="2232325"/>
            <a:ext cx="8732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Monica Mogollon: Subgerenta de Ventas</a:t>
            </a:r>
            <a:endParaRPr lang="en-US" sz="14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9F31DB3B-0AAF-D39E-DA27-EF09E04142F3}"/>
              </a:ext>
            </a:extLst>
          </p:cNvPr>
          <p:cNvSpPr/>
          <p:nvPr/>
        </p:nvSpPr>
        <p:spPr>
          <a:xfrm>
            <a:off x="201168" y="2805948"/>
            <a:ext cx="8732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FFFFFF"/>
                </a:solidFill>
              </a:rPr>
              <a:t>Julio 2026</a:t>
            </a:r>
            <a:endParaRPr lang="en-US" sz="1200" dirty="0"/>
          </a:p>
        </p:txBody>
      </p:sp>
      <p:pic>
        <p:nvPicPr>
          <p:cNvPr id="13" name="Picture 9">
            <a:extLst>
              <a:ext uri="{FF2B5EF4-FFF2-40B4-BE49-F238E27FC236}">
                <a16:creationId xmlns:a16="http://schemas.microsoft.com/office/drawing/2014/main" id="{7F75E1CB-250B-D3FA-C0A2-A428CB7C1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328" y="3670788"/>
            <a:ext cx="1808553" cy="1808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9496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710D6E-CDC0-B010-1957-79A16B615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5CCE81A-8ABE-3701-8137-51C5ED130897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BEB4725-6E02-DF02-2C70-3C387342A309}"/>
              </a:ext>
            </a:extLst>
          </p:cNvPr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A2FBDCCF-F583-3F8B-F7AA-61E2DE71CD11}"/>
              </a:ext>
            </a:extLst>
          </p:cNvPr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RESUMEN GENERAL|  SCOTIABANK TARJETAS · FONOCOMPRAS · EFECTIVO · BANBIF</a:t>
            </a:r>
            <a:endParaRPr lang="en-US" sz="125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D001581A-1597-B21E-CC08-74613789B7BE}"/>
              </a:ext>
            </a:extLst>
          </p:cNvPr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B1E7B4F-AC39-9147-1F67-144B64370197}"/>
              </a:ext>
            </a:extLst>
          </p:cNvPr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 / 3</a:t>
            </a:r>
            <a:endParaRPr lang="en-US" sz="8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04A1433E-2E0C-2287-D03C-302FE6412BA9}"/>
              </a:ext>
            </a:extLst>
          </p:cNvPr>
          <p:cNvSpPr/>
          <p:nvPr/>
        </p:nvSpPr>
        <p:spPr>
          <a:xfrm>
            <a:off x="201168" y="749808"/>
            <a:ext cx="2331720" cy="347472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37EDC5BA-DF03-4B47-2C55-8FB8B04921DA}"/>
              </a:ext>
            </a:extLst>
          </p:cNvPr>
          <p:cNvSpPr/>
          <p:nvPr/>
        </p:nvSpPr>
        <p:spPr>
          <a:xfrm>
            <a:off x="292608" y="822960"/>
            <a:ext cx="182880" cy="1828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52BE60F1-9D2F-C70F-F468-2DD5F6E9EDD4}"/>
              </a:ext>
            </a:extLst>
          </p:cNvPr>
          <p:cNvSpPr/>
          <p:nvPr/>
        </p:nvSpPr>
        <p:spPr>
          <a:xfrm>
            <a:off x="530352" y="749808"/>
            <a:ext cx="1984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</a:rPr>
              <a:t>EN SEGUIMIENTO</a:t>
            </a: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1D0D5E7-FFF3-ADDF-C606-5081A9BF09F3}"/>
              </a:ext>
            </a:extLst>
          </p:cNvPr>
          <p:cNvSpPr/>
          <p:nvPr/>
        </p:nvSpPr>
        <p:spPr>
          <a:xfrm>
            <a:off x="201168" y="1152144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A9189"/>
                </a:solidFill>
              </a:rPr>
              <a:t>Sub-Gerente: Monica Mogollon</a:t>
            </a:r>
            <a:endParaRPr lang="en-US" sz="90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819ACD99-17D0-0CC4-8240-C861561E9FAC}"/>
              </a:ext>
            </a:extLst>
          </p:cNvPr>
          <p:cNvSpPr/>
          <p:nvPr/>
        </p:nvSpPr>
        <p:spPr>
          <a:xfrm>
            <a:off x="201168" y="1463040"/>
            <a:ext cx="233172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0" b="1" dirty="0">
                <a:solidFill>
                  <a:srgbClr val="D97706"/>
                </a:solidFill>
              </a:rPr>
              <a:t>89%</a:t>
            </a:r>
            <a:endParaRPr lang="en-US" sz="80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3AC7FE0B-6F20-7A96-032C-E948703C4D39}"/>
              </a:ext>
            </a:extLst>
          </p:cNvPr>
          <p:cNvSpPr/>
          <p:nvPr/>
        </p:nvSpPr>
        <p:spPr>
          <a:xfrm>
            <a:off x="-28346" y="2631786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A9189"/>
                </a:solidFill>
              </a:rPr>
              <a:t>Avance promedio</a:t>
            </a:r>
            <a:endParaRPr lang="en-US" sz="9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FE2ABED9-7BBD-AC16-1B41-EEA551C14D8F}"/>
              </a:ext>
            </a:extLst>
          </p:cNvPr>
          <p:cNvSpPr/>
          <p:nvPr/>
        </p:nvSpPr>
        <p:spPr>
          <a:xfrm>
            <a:off x="2633472" y="749808"/>
            <a:ext cx="20117" cy="4069080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8439B5A9-638D-09CB-96D0-2EEC542FF4A5}"/>
              </a:ext>
            </a:extLst>
          </p:cNvPr>
          <p:cNvSpPr/>
          <p:nvPr/>
        </p:nvSpPr>
        <p:spPr>
          <a:xfrm>
            <a:off x="274320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92C1C8EE-5340-D80A-715F-0940F4561C73}"/>
              </a:ext>
            </a:extLst>
          </p:cNvPr>
          <p:cNvSpPr/>
          <p:nvPr/>
        </p:nvSpPr>
        <p:spPr>
          <a:xfrm>
            <a:off x="288036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CONECTADOS</a:t>
            </a:r>
            <a:endParaRPr lang="en-US" sz="78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1D56DF93-BBFD-03CA-09BF-31E4BE953885}"/>
              </a:ext>
            </a:extLst>
          </p:cNvPr>
          <p:cNvSpPr/>
          <p:nvPr/>
        </p:nvSpPr>
        <p:spPr>
          <a:xfrm>
            <a:off x="288036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120</a:t>
            </a:r>
            <a:endParaRPr lang="en-US" sz="220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BBDDEDC0-65A6-97BE-E585-F66AD6DD0266}"/>
              </a:ext>
            </a:extLst>
          </p:cNvPr>
          <p:cNvSpPr/>
          <p:nvPr/>
        </p:nvSpPr>
        <p:spPr>
          <a:xfrm>
            <a:off x="592074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DEAC6006-29A3-6B19-31B3-18022430D149}"/>
              </a:ext>
            </a:extLst>
          </p:cNvPr>
          <p:cNvSpPr/>
          <p:nvPr/>
        </p:nvSpPr>
        <p:spPr>
          <a:xfrm>
            <a:off x="605790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DOTACION</a:t>
            </a:r>
            <a:endParaRPr lang="en-US" sz="780" dirty="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082A72C2-5DCC-9A69-72E8-8B572758520F}"/>
              </a:ext>
            </a:extLst>
          </p:cNvPr>
          <p:cNvSpPr/>
          <p:nvPr/>
        </p:nvSpPr>
        <p:spPr>
          <a:xfrm>
            <a:off x="605790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130</a:t>
            </a:r>
            <a:endParaRPr lang="en-US" sz="2200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095B4EFC-A42E-238F-D52B-700D3A99032C}"/>
              </a:ext>
            </a:extLst>
          </p:cNvPr>
          <p:cNvSpPr/>
          <p:nvPr/>
        </p:nvSpPr>
        <p:spPr>
          <a:xfrm>
            <a:off x="274320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295839A0-00D2-C004-B75A-9AFAD5E7EAC6}"/>
              </a:ext>
            </a:extLst>
          </p:cNvPr>
          <p:cNvSpPr/>
          <p:nvPr/>
        </p:nvSpPr>
        <p:spPr>
          <a:xfrm>
            <a:off x="288036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PEND. SELECCION</a:t>
            </a:r>
            <a:endParaRPr lang="en-US" sz="780" dirty="0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719FCB19-1C60-B7E1-0FBE-6CBC6E3805EE}"/>
              </a:ext>
            </a:extLst>
          </p:cNvPr>
          <p:cNvSpPr/>
          <p:nvPr/>
        </p:nvSpPr>
        <p:spPr>
          <a:xfrm>
            <a:off x="288036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2</a:t>
            </a:r>
            <a:endParaRPr lang="en-US" sz="2200" dirty="0"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264EF2FD-7AB7-B80D-BD48-E0C019820995}"/>
              </a:ext>
            </a:extLst>
          </p:cNvPr>
          <p:cNvSpPr/>
          <p:nvPr/>
        </p:nvSpPr>
        <p:spPr>
          <a:xfrm>
            <a:off x="592074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BEA6659A-F4CD-BF60-2061-C64534DC1383}"/>
              </a:ext>
            </a:extLst>
          </p:cNvPr>
          <p:cNvSpPr/>
          <p:nvPr/>
        </p:nvSpPr>
        <p:spPr>
          <a:xfrm>
            <a:off x="605790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PEND. INDUCCION</a:t>
            </a:r>
            <a:endParaRPr lang="en-US" sz="780" dirty="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36AAEC47-14FC-B1F5-E8DB-23E6DBB87C3C}"/>
              </a:ext>
            </a:extLst>
          </p:cNvPr>
          <p:cNvSpPr/>
          <p:nvPr/>
        </p:nvSpPr>
        <p:spPr>
          <a:xfrm>
            <a:off x="605790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12</a:t>
            </a:r>
            <a:endParaRPr lang="en-US" sz="2200" dirty="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E56FF5F1-2656-2F0B-5AB3-5C0EE6259747}"/>
              </a:ext>
            </a:extLst>
          </p:cNvPr>
          <p:cNvSpPr/>
          <p:nvPr/>
        </p:nvSpPr>
        <p:spPr>
          <a:xfrm>
            <a:off x="274320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7AF54009-81D3-7F4C-DCAB-0BCEA399F554}"/>
              </a:ext>
            </a:extLst>
          </p:cNvPr>
          <p:cNvSpPr/>
          <p:nvPr/>
        </p:nvSpPr>
        <p:spPr>
          <a:xfrm>
            <a:off x="288036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PRESUPUESTO</a:t>
            </a:r>
            <a:endParaRPr lang="en-US" sz="780" dirty="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38E0A71D-3E87-F4B3-E2C1-EF53E3D5BCB3}"/>
              </a:ext>
            </a:extLst>
          </p:cNvPr>
          <p:cNvSpPr/>
          <p:nvPr/>
        </p:nvSpPr>
        <p:spPr>
          <a:xfrm>
            <a:off x="288036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140</a:t>
            </a:r>
            <a:endParaRPr lang="en-US" sz="2200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4C3BE525-B666-DA21-7B84-E35F78F639B0}"/>
              </a:ext>
            </a:extLst>
          </p:cNvPr>
          <p:cNvSpPr/>
          <p:nvPr/>
        </p:nvSpPr>
        <p:spPr>
          <a:xfrm>
            <a:off x="592074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3D9D8001-DD1A-43AA-C8DA-7C0835411281}"/>
              </a:ext>
            </a:extLst>
          </p:cNvPr>
          <p:cNvSpPr/>
          <p:nvPr/>
        </p:nvSpPr>
        <p:spPr>
          <a:xfrm>
            <a:off x="605790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SEMANA</a:t>
            </a:r>
            <a:endParaRPr lang="en-US" sz="780" dirty="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591284AA-06D8-AA08-B76F-519EC6991703}"/>
              </a:ext>
            </a:extLst>
          </p:cNvPr>
          <p:cNvSpPr/>
          <p:nvPr/>
        </p:nvSpPr>
        <p:spPr>
          <a:xfrm>
            <a:off x="605790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05</a:t>
            </a:r>
            <a:endParaRPr lang="en-US" sz="2200" dirty="0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0D6FFB7B-9BA5-CB8D-A859-03B11391AAC3}"/>
              </a:ext>
            </a:extLst>
          </p:cNvPr>
          <p:cNvSpPr/>
          <p:nvPr/>
        </p:nvSpPr>
        <p:spPr>
          <a:xfrm>
            <a:off x="0" y="3419856"/>
            <a:ext cx="9144000" cy="281635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7A6D6F65-528C-1C01-9FB3-6592403964C7}"/>
              </a:ext>
            </a:extLst>
          </p:cNvPr>
          <p:cNvSpPr/>
          <p:nvPr/>
        </p:nvSpPr>
        <p:spPr>
          <a:xfrm>
            <a:off x="182880" y="3419856"/>
            <a:ext cx="310896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Sub-campaña</a:t>
            </a:r>
            <a:endParaRPr lang="en-US" sz="850" dirty="0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4AAC91FE-2CBB-C4E9-3D53-D491106C0A50}"/>
              </a:ext>
            </a:extLst>
          </p:cNvPr>
          <p:cNvSpPr/>
          <p:nvPr/>
        </p:nvSpPr>
        <p:spPr>
          <a:xfrm>
            <a:off x="2671877" y="3415284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Presupuesto</a:t>
            </a:r>
            <a:endParaRPr lang="en-US" sz="850" dirty="0"/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CE20C154-1282-EC30-5E2A-5FF0DC225872}"/>
              </a:ext>
            </a:extLst>
          </p:cNvPr>
          <p:cNvSpPr/>
          <p:nvPr/>
        </p:nvSpPr>
        <p:spPr>
          <a:xfrm>
            <a:off x="4526280" y="3419856"/>
            <a:ext cx="21031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Avance</a:t>
            </a:r>
            <a:endParaRPr lang="en-US" sz="850" dirty="0"/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B2F2DF42-D16C-733A-9B64-A9CEA61D5B7F}"/>
              </a:ext>
            </a:extLst>
          </p:cNvPr>
          <p:cNvSpPr/>
          <p:nvPr/>
        </p:nvSpPr>
        <p:spPr>
          <a:xfrm>
            <a:off x="6656832" y="3419856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% Logro</a:t>
            </a:r>
            <a:endParaRPr lang="en-US" sz="850" dirty="0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B5B82CA9-B8B4-A7F4-9951-B896181BFD87}"/>
              </a:ext>
            </a:extLst>
          </p:cNvPr>
          <p:cNvSpPr/>
          <p:nvPr/>
        </p:nvSpPr>
        <p:spPr>
          <a:xfrm>
            <a:off x="7543800" y="3419856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Proyeccion</a:t>
            </a:r>
            <a:endParaRPr lang="en-US" sz="850" dirty="0"/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80A33226-54A2-AD63-283E-CBCFA7A19D1E}"/>
              </a:ext>
            </a:extLst>
          </p:cNvPr>
          <p:cNvSpPr/>
          <p:nvPr/>
        </p:nvSpPr>
        <p:spPr>
          <a:xfrm>
            <a:off x="2899956" y="3701491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5476ECC9-FB70-F37F-7EC9-94FE7727F1FC}"/>
              </a:ext>
            </a:extLst>
          </p:cNvPr>
          <p:cNvSpPr/>
          <p:nvPr/>
        </p:nvSpPr>
        <p:spPr>
          <a:xfrm>
            <a:off x="7543800" y="3701491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71ED4455-B211-DE91-62FA-1F94D050764D}"/>
              </a:ext>
            </a:extLst>
          </p:cNvPr>
          <p:cNvSpPr/>
          <p:nvPr/>
        </p:nvSpPr>
        <p:spPr>
          <a:xfrm>
            <a:off x="0" y="3983126"/>
            <a:ext cx="9144000" cy="281635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8" name="Text 45">
            <a:extLst>
              <a:ext uri="{FF2B5EF4-FFF2-40B4-BE49-F238E27FC236}">
                <a16:creationId xmlns:a16="http://schemas.microsoft.com/office/drawing/2014/main" id="{3C6C54AB-AE0F-D427-10C5-8C4C25788172}"/>
              </a:ext>
            </a:extLst>
          </p:cNvPr>
          <p:cNvSpPr/>
          <p:nvPr/>
        </p:nvSpPr>
        <p:spPr>
          <a:xfrm>
            <a:off x="182880" y="3983126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150B"/>
                </a:solidFill>
              </a:rPr>
              <a:t>Fonocompras </a:t>
            </a:r>
            <a:endParaRPr lang="en-US" sz="950" dirty="0"/>
          </a:p>
        </p:txBody>
      </p:sp>
      <p:sp>
        <p:nvSpPr>
          <p:cNvPr id="49" name="Text 46">
            <a:extLst>
              <a:ext uri="{FF2B5EF4-FFF2-40B4-BE49-F238E27FC236}">
                <a16:creationId xmlns:a16="http://schemas.microsoft.com/office/drawing/2014/main" id="{84B6892D-25A4-36D2-4A64-D14E6258AC8F}"/>
              </a:ext>
            </a:extLst>
          </p:cNvPr>
          <p:cNvSpPr/>
          <p:nvPr/>
        </p:nvSpPr>
        <p:spPr>
          <a:xfrm>
            <a:off x="2899956" y="398312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24</a:t>
            </a:r>
            <a:endParaRPr lang="en-US" sz="950" dirty="0"/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BEBBB499-0356-6066-42F5-FA92CFC49464}"/>
              </a:ext>
            </a:extLst>
          </p:cNvPr>
          <p:cNvSpPr/>
          <p:nvPr/>
        </p:nvSpPr>
        <p:spPr>
          <a:xfrm>
            <a:off x="4526280" y="4061984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C8C1B586-EAAD-FB10-B970-91A4E1BA7378}"/>
              </a:ext>
            </a:extLst>
          </p:cNvPr>
          <p:cNvSpPr/>
          <p:nvPr/>
        </p:nvSpPr>
        <p:spPr>
          <a:xfrm>
            <a:off x="4526280" y="4061984"/>
            <a:ext cx="1689811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Text 49">
            <a:extLst>
              <a:ext uri="{FF2B5EF4-FFF2-40B4-BE49-F238E27FC236}">
                <a16:creationId xmlns:a16="http://schemas.microsoft.com/office/drawing/2014/main" id="{2AB3CFE4-D2D1-22B4-4982-171AE33B1970}"/>
              </a:ext>
            </a:extLst>
          </p:cNvPr>
          <p:cNvSpPr/>
          <p:nvPr/>
        </p:nvSpPr>
        <p:spPr>
          <a:xfrm>
            <a:off x="6656832" y="3983126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</a:rPr>
              <a:t>88%</a:t>
            </a:r>
            <a:endParaRPr lang="en-US" sz="1000" dirty="0"/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F89ADD6F-CC64-B9BB-B638-B802187AC70A}"/>
              </a:ext>
            </a:extLst>
          </p:cNvPr>
          <p:cNvSpPr/>
          <p:nvPr/>
        </p:nvSpPr>
        <p:spPr>
          <a:xfrm>
            <a:off x="7543800" y="3983126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A9189"/>
                </a:solidFill>
              </a:rPr>
              <a:t>1´500,000</a:t>
            </a:r>
            <a:endParaRPr lang="en-US" sz="850" dirty="0"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CDF3E905-913C-1542-8CD1-99F847DAD56C}"/>
              </a:ext>
            </a:extLst>
          </p:cNvPr>
          <p:cNvSpPr/>
          <p:nvPr/>
        </p:nvSpPr>
        <p:spPr>
          <a:xfrm>
            <a:off x="0" y="4264762"/>
            <a:ext cx="9144000" cy="281635"/>
          </a:xfrm>
          <a:prstGeom prst="rect">
            <a:avLst/>
          </a:prstGeom>
          <a:solidFill>
            <a:srgbClr val="FFFFFF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5" name="Text 52">
            <a:extLst>
              <a:ext uri="{FF2B5EF4-FFF2-40B4-BE49-F238E27FC236}">
                <a16:creationId xmlns:a16="http://schemas.microsoft.com/office/drawing/2014/main" id="{F8E6F6BB-B31B-2B07-8B75-00EDEB51AE10}"/>
              </a:ext>
            </a:extLst>
          </p:cNvPr>
          <p:cNvSpPr/>
          <p:nvPr/>
        </p:nvSpPr>
        <p:spPr>
          <a:xfrm>
            <a:off x="182880" y="4264762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150B"/>
                </a:solidFill>
              </a:rPr>
              <a:t>Efectivo (</a:t>
            </a:r>
            <a:r>
              <a:rPr lang="en-US" sz="950" b="1" dirty="0" err="1">
                <a:solidFill>
                  <a:srgbClr val="6B150B"/>
                </a:solidFill>
              </a:rPr>
              <a:t>Dormido+Recurrente+Nuevos</a:t>
            </a:r>
            <a:r>
              <a:rPr lang="en-US" sz="950" b="1" dirty="0">
                <a:solidFill>
                  <a:srgbClr val="6B150B"/>
                </a:solidFill>
              </a:rPr>
              <a:t>)</a:t>
            </a:r>
            <a:endParaRPr lang="en-US" sz="950" dirty="0"/>
          </a:p>
        </p:txBody>
      </p:sp>
      <p:sp>
        <p:nvSpPr>
          <p:cNvPr id="56" name="Text 53">
            <a:extLst>
              <a:ext uri="{FF2B5EF4-FFF2-40B4-BE49-F238E27FC236}">
                <a16:creationId xmlns:a16="http://schemas.microsoft.com/office/drawing/2014/main" id="{3DDF9BC2-80D1-07C2-7F3D-C00C56F94FD0}"/>
              </a:ext>
            </a:extLst>
          </p:cNvPr>
          <p:cNvSpPr/>
          <p:nvPr/>
        </p:nvSpPr>
        <p:spPr>
          <a:xfrm>
            <a:off x="2899956" y="4264762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39</a:t>
            </a:r>
            <a:endParaRPr lang="en-US" sz="950" dirty="0"/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FACBA088-81BF-329F-45AD-A5A7B759E401}"/>
              </a:ext>
            </a:extLst>
          </p:cNvPr>
          <p:cNvSpPr/>
          <p:nvPr/>
        </p:nvSpPr>
        <p:spPr>
          <a:xfrm>
            <a:off x="4526280" y="4343619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CB7C41B7-2919-7A2E-BD13-4F31A0326188}"/>
              </a:ext>
            </a:extLst>
          </p:cNvPr>
          <p:cNvSpPr/>
          <p:nvPr/>
        </p:nvSpPr>
        <p:spPr>
          <a:xfrm>
            <a:off x="4526280" y="4343619"/>
            <a:ext cx="1785823" cy="118287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9" name="Text 56">
            <a:extLst>
              <a:ext uri="{FF2B5EF4-FFF2-40B4-BE49-F238E27FC236}">
                <a16:creationId xmlns:a16="http://schemas.microsoft.com/office/drawing/2014/main" id="{BF4EB3FC-E023-26C9-CF96-93D58600C3D4}"/>
              </a:ext>
            </a:extLst>
          </p:cNvPr>
          <p:cNvSpPr/>
          <p:nvPr/>
        </p:nvSpPr>
        <p:spPr>
          <a:xfrm>
            <a:off x="6656832" y="4264762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</a:rPr>
              <a:t>93%</a:t>
            </a:r>
            <a:endParaRPr lang="en-US" sz="1000" dirty="0"/>
          </a:p>
        </p:txBody>
      </p:sp>
      <p:sp>
        <p:nvSpPr>
          <p:cNvPr id="60" name="Text 57">
            <a:extLst>
              <a:ext uri="{FF2B5EF4-FFF2-40B4-BE49-F238E27FC236}">
                <a16:creationId xmlns:a16="http://schemas.microsoft.com/office/drawing/2014/main" id="{2F855612-6949-39D7-7AD5-26108E836141}"/>
              </a:ext>
            </a:extLst>
          </p:cNvPr>
          <p:cNvSpPr/>
          <p:nvPr/>
        </p:nvSpPr>
        <p:spPr>
          <a:xfrm>
            <a:off x="7543800" y="4264762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A9189"/>
                </a:solidFill>
              </a:rPr>
              <a:t>8’200,000</a:t>
            </a:r>
            <a:endParaRPr lang="en-US" sz="850" dirty="0"/>
          </a:p>
        </p:txBody>
      </p:sp>
      <p:sp>
        <p:nvSpPr>
          <p:cNvPr id="61" name="Shape 58">
            <a:extLst>
              <a:ext uri="{FF2B5EF4-FFF2-40B4-BE49-F238E27FC236}">
                <a16:creationId xmlns:a16="http://schemas.microsoft.com/office/drawing/2014/main" id="{FAC7CF1D-024C-A048-48FB-DC899F89EC5C}"/>
              </a:ext>
            </a:extLst>
          </p:cNvPr>
          <p:cNvSpPr/>
          <p:nvPr/>
        </p:nvSpPr>
        <p:spPr>
          <a:xfrm>
            <a:off x="0" y="4546397"/>
            <a:ext cx="9144000" cy="281635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BF94E060-62D9-9A03-3F5F-84D965914F36}"/>
              </a:ext>
            </a:extLst>
          </p:cNvPr>
          <p:cNvSpPr/>
          <p:nvPr/>
        </p:nvSpPr>
        <p:spPr>
          <a:xfrm>
            <a:off x="182880" y="4546397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 err="1">
                <a:solidFill>
                  <a:srgbClr val="6B150B"/>
                </a:solidFill>
              </a:rPr>
              <a:t>BanBif</a:t>
            </a:r>
            <a:r>
              <a:rPr lang="en-US" sz="950" b="1" dirty="0">
                <a:solidFill>
                  <a:srgbClr val="6B150B"/>
                </a:solidFill>
              </a:rPr>
              <a:t> </a:t>
            </a:r>
            <a:endParaRPr lang="en-US" sz="950" dirty="0"/>
          </a:p>
        </p:txBody>
      </p:sp>
      <p:sp>
        <p:nvSpPr>
          <p:cNvPr id="63" name="Text 60">
            <a:extLst>
              <a:ext uri="{FF2B5EF4-FFF2-40B4-BE49-F238E27FC236}">
                <a16:creationId xmlns:a16="http://schemas.microsoft.com/office/drawing/2014/main" id="{A5508137-5DA9-809A-6792-F7BC7355AAAA}"/>
              </a:ext>
            </a:extLst>
          </p:cNvPr>
          <p:cNvSpPr/>
          <p:nvPr/>
        </p:nvSpPr>
        <p:spPr>
          <a:xfrm>
            <a:off x="2899956" y="4546397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5</a:t>
            </a:r>
            <a:endParaRPr lang="en-US" sz="950" dirty="0"/>
          </a:p>
        </p:txBody>
      </p:sp>
      <p:sp>
        <p:nvSpPr>
          <p:cNvPr id="64" name="Shape 61">
            <a:extLst>
              <a:ext uri="{FF2B5EF4-FFF2-40B4-BE49-F238E27FC236}">
                <a16:creationId xmlns:a16="http://schemas.microsoft.com/office/drawing/2014/main" id="{99FEB9E4-99A7-25DC-8A89-AC898CFA1F12}"/>
              </a:ext>
            </a:extLst>
          </p:cNvPr>
          <p:cNvSpPr/>
          <p:nvPr/>
        </p:nvSpPr>
        <p:spPr>
          <a:xfrm>
            <a:off x="4526280" y="4625255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5" name="Shape 62">
            <a:extLst>
              <a:ext uri="{FF2B5EF4-FFF2-40B4-BE49-F238E27FC236}">
                <a16:creationId xmlns:a16="http://schemas.microsoft.com/office/drawing/2014/main" id="{94FE5A07-C44C-13F0-1AF7-A40B2FE0FED1}"/>
              </a:ext>
            </a:extLst>
          </p:cNvPr>
          <p:cNvSpPr/>
          <p:nvPr/>
        </p:nvSpPr>
        <p:spPr>
          <a:xfrm>
            <a:off x="4526280" y="4625255"/>
            <a:ext cx="1920240" cy="118287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6" name="Text 63">
            <a:extLst>
              <a:ext uri="{FF2B5EF4-FFF2-40B4-BE49-F238E27FC236}">
                <a16:creationId xmlns:a16="http://schemas.microsoft.com/office/drawing/2014/main" id="{69CDC250-7C88-8A78-E621-1D86B605D8CB}"/>
              </a:ext>
            </a:extLst>
          </p:cNvPr>
          <p:cNvSpPr/>
          <p:nvPr/>
        </p:nvSpPr>
        <p:spPr>
          <a:xfrm>
            <a:off x="6656832" y="4546397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</a:rPr>
              <a:t>100%</a:t>
            </a:r>
            <a:endParaRPr lang="en-US" sz="1000" dirty="0"/>
          </a:p>
        </p:txBody>
      </p:sp>
      <p:sp>
        <p:nvSpPr>
          <p:cNvPr id="67" name="Text 64">
            <a:extLst>
              <a:ext uri="{FF2B5EF4-FFF2-40B4-BE49-F238E27FC236}">
                <a16:creationId xmlns:a16="http://schemas.microsoft.com/office/drawing/2014/main" id="{9A00ADDB-30A1-8E25-D9D3-C322483C1B52}"/>
              </a:ext>
            </a:extLst>
          </p:cNvPr>
          <p:cNvSpPr/>
          <p:nvPr/>
        </p:nvSpPr>
        <p:spPr>
          <a:xfrm>
            <a:off x="7543800" y="4546397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A9189"/>
                </a:solidFill>
              </a:rPr>
              <a:t>1,500,000</a:t>
            </a:r>
            <a:endParaRPr lang="en-US" sz="850" dirty="0"/>
          </a:p>
        </p:txBody>
      </p:sp>
      <p:sp>
        <p:nvSpPr>
          <p:cNvPr id="68" name="Shape 65">
            <a:extLst>
              <a:ext uri="{FF2B5EF4-FFF2-40B4-BE49-F238E27FC236}">
                <a16:creationId xmlns:a16="http://schemas.microsoft.com/office/drawing/2014/main" id="{8E92A864-F541-F475-14F3-B6661E319641}"/>
              </a:ext>
            </a:extLst>
          </p:cNvPr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9" name="Shape 66">
            <a:extLst>
              <a:ext uri="{FF2B5EF4-FFF2-40B4-BE49-F238E27FC236}">
                <a16:creationId xmlns:a16="http://schemas.microsoft.com/office/drawing/2014/main" id="{C35B0139-422C-FA77-5966-889C7E2A5A80}"/>
              </a:ext>
            </a:extLst>
          </p:cNvPr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67">
            <a:extLst>
              <a:ext uri="{FF2B5EF4-FFF2-40B4-BE49-F238E27FC236}">
                <a16:creationId xmlns:a16="http://schemas.microsoft.com/office/drawing/2014/main" id="{F98E7C80-8943-1281-F4E5-6027635CA71E}"/>
              </a:ext>
            </a:extLst>
          </p:cNvPr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GRUPO EFE  |  MONICA MOGOLLON  |  Monica Mogollon  |  Cierre Julio 2026</a:t>
            </a:r>
            <a:endParaRPr lang="en-US" sz="750" dirty="0"/>
          </a:p>
        </p:txBody>
      </p:sp>
      <p:sp>
        <p:nvSpPr>
          <p:cNvPr id="72" name="Text 33">
            <a:extLst>
              <a:ext uri="{FF2B5EF4-FFF2-40B4-BE49-F238E27FC236}">
                <a16:creationId xmlns:a16="http://schemas.microsoft.com/office/drawing/2014/main" id="{7B599B23-6EE0-470D-F55D-CD0911175A26}"/>
              </a:ext>
            </a:extLst>
          </p:cNvPr>
          <p:cNvSpPr/>
          <p:nvPr/>
        </p:nvSpPr>
        <p:spPr>
          <a:xfrm>
            <a:off x="3380277" y="3417039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 err="1">
                <a:solidFill>
                  <a:srgbClr val="FFFFFF"/>
                </a:solidFill>
              </a:rPr>
              <a:t>Conectados</a:t>
            </a:r>
            <a:endParaRPr lang="en-US" sz="850" dirty="0"/>
          </a:p>
        </p:txBody>
      </p:sp>
      <p:sp>
        <p:nvSpPr>
          <p:cNvPr id="76" name="Text 39">
            <a:extLst>
              <a:ext uri="{FF2B5EF4-FFF2-40B4-BE49-F238E27FC236}">
                <a16:creationId xmlns:a16="http://schemas.microsoft.com/office/drawing/2014/main" id="{81C1BA1C-65D2-03D7-5D18-AB47CE5CA46F}"/>
              </a:ext>
            </a:extLst>
          </p:cNvPr>
          <p:cNvSpPr/>
          <p:nvPr/>
        </p:nvSpPr>
        <p:spPr>
          <a:xfrm>
            <a:off x="3596452" y="400029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20</a:t>
            </a:r>
            <a:endParaRPr lang="en-US" sz="950" dirty="0"/>
          </a:p>
        </p:txBody>
      </p:sp>
      <p:sp>
        <p:nvSpPr>
          <p:cNvPr id="78" name="Text 39">
            <a:extLst>
              <a:ext uri="{FF2B5EF4-FFF2-40B4-BE49-F238E27FC236}">
                <a16:creationId xmlns:a16="http://schemas.microsoft.com/office/drawing/2014/main" id="{50400527-0269-9043-E6D5-59A22005A22D}"/>
              </a:ext>
            </a:extLst>
          </p:cNvPr>
          <p:cNvSpPr/>
          <p:nvPr/>
        </p:nvSpPr>
        <p:spPr>
          <a:xfrm>
            <a:off x="3613327" y="4280894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28</a:t>
            </a:r>
            <a:endParaRPr lang="en-US" sz="950" dirty="0"/>
          </a:p>
        </p:txBody>
      </p:sp>
      <p:sp>
        <p:nvSpPr>
          <p:cNvPr id="80" name="Text 39">
            <a:extLst>
              <a:ext uri="{FF2B5EF4-FFF2-40B4-BE49-F238E27FC236}">
                <a16:creationId xmlns:a16="http://schemas.microsoft.com/office/drawing/2014/main" id="{D1961235-D9D5-DDBC-C4A1-99352DC453F6}"/>
              </a:ext>
            </a:extLst>
          </p:cNvPr>
          <p:cNvSpPr/>
          <p:nvPr/>
        </p:nvSpPr>
        <p:spPr>
          <a:xfrm>
            <a:off x="3637584" y="4562529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4</a:t>
            </a:r>
            <a:endParaRPr lang="en-US" sz="950" dirty="0"/>
          </a:p>
        </p:txBody>
      </p:sp>
      <p:pic>
        <p:nvPicPr>
          <p:cNvPr id="90" name="Imagen 89">
            <a:extLst>
              <a:ext uri="{FF2B5EF4-FFF2-40B4-BE49-F238E27FC236}">
                <a16:creationId xmlns:a16="http://schemas.microsoft.com/office/drawing/2014/main" id="{7AFECDBC-9AD2-9B6D-DFEE-C18C4CFC30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56552" y="4902997"/>
            <a:ext cx="236904" cy="230781"/>
          </a:xfrm>
          <a:prstGeom prst="rect">
            <a:avLst/>
          </a:prstGeom>
        </p:spPr>
      </p:pic>
      <p:pic>
        <p:nvPicPr>
          <p:cNvPr id="92" name="Picture 76">
            <a:extLst>
              <a:ext uri="{FF2B5EF4-FFF2-40B4-BE49-F238E27FC236}">
                <a16:creationId xmlns:a16="http://schemas.microsoft.com/office/drawing/2014/main" id="{01D3C902-A22F-0D12-B901-358A6D8A3D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1591" y="-144818"/>
            <a:ext cx="948004" cy="948004"/>
          </a:xfrm>
          <a:prstGeom prst="rect">
            <a:avLst/>
          </a:prstGeom>
        </p:spPr>
      </p:pic>
      <p:sp>
        <p:nvSpPr>
          <p:cNvPr id="5" name="Text 39">
            <a:extLst>
              <a:ext uri="{FF2B5EF4-FFF2-40B4-BE49-F238E27FC236}">
                <a16:creationId xmlns:a16="http://schemas.microsoft.com/office/drawing/2014/main" id="{E55A6494-0B09-85A0-338D-5910F49BD43B}"/>
              </a:ext>
            </a:extLst>
          </p:cNvPr>
          <p:cNvSpPr/>
          <p:nvPr/>
        </p:nvSpPr>
        <p:spPr>
          <a:xfrm>
            <a:off x="5134288" y="3988773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08342046-0DFA-3BF2-006C-DF3C6C34468C}"/>
              </a:ext>
            </a:extLst>
          </p:cNvPr>
          <p:cNvSpPr/>
          <p:nvPr/>
        </p:nvSpPr>
        <p:spPr>
          <a:xfrm>
            <a:off x="5258974" y="4270408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79" name="Text 39">
            <a:extLst>
              <a:ext uri="{FF2B5EF4-FFF2-40B4-BE49-F238E27FC236}">
                <a16:creationId xmlns:a16="http://schemas.microsoft.com/office/drawing/2014/main" id="{AB25939E-CEAF-978E-361A-9D8434D4DC4B}"/>
              </a:ext>
            </a:extLst>
          </p:cNvPr>
          <p:cNvSpPr/>
          <p:nvPr/>
        </p:nvSpPr>
        <p:spPr>
          <a:xfrm>
            <a:off x="5298174" y="4546397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pic>
        <p:nvPicPr>
          <p:cNvPr id="93" name="Panel Resume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717804"/>
            <a:ext cx="9144000" cy="4174236"/>
          </a:xfrm>
          <a:prstGeom prst="rect">
            <a:avLst/>
          </a:prstGeom>
        </p:spPr>
      </p:pic>
      <p:sp>
        <p:nvSpPr>
          <p:cNvPr id="94" name="dato_manual"/>
          <p:cNvSpPr>
            <a:spLocks noGrp="1"/>
          </p:cNvSpPr>
          <p:nvPr/>
        </p:nvSpPr>
        <p:spPr>
          <a:xfrm>
            <a:off x="2743200" y="1441383"/>
            <a:ext cx="1259586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1650" b="1" dirty="0">
                <a:solidFill>
                  <a:srgbClr val="103A5E"/>
                </a:solidFill>
                <a:latin typeface="Arial"/>
              </a:rPr>
              <a:t>120</a:t>
            </a:r>
          </a:p>
        </p:txBody>
      </p:sp>
      <p:sp>
        <p:nvSpPr>
          <p:cNvPr id="95" name="dato_manual"/>
          <p:cNvSpPr>
            <a:spLocks noGrp="1"/>
          </p:cNvSpPr>
          <p:nvPr/>
        </p:nvSpPr>
        <p:spPr>
          <a:xfrm>
            <a:off x="4359401" y="1441383"/>
            <a:ext cx="1259586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1650" b="1" dirty="0">
                <a:solidFill>
                  <a:srgbClr val="103A5E"/>
                </a:solidFill>
                <a:latin typeface="Arial"/>
              </a:rPr>
              <a:t>14</a:t>
            </a:r>
          </a:p>
        </p:txBody>
      </p:sp>
      <p:sp>
        <p:nvSpPr>
          <p:cNvPr id="96" name="dato_manual"/>
          <p:cNvSpPr>
            <a:spLocks noGrp="1"/>
          </p:cNvSpPr>
          <p:nvPr/>
        </p:nvSpPr>
        <p:spPr>
          <a:xfrm>
            <a:off x="2531059" y="3137759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7" name="dato_manual"/>
          <p:cNvSpPr>
            <a:spLocks noGrp="1"/>
          </p:cNvSpPr>
          <p:nvPr/>
        </p:nvSpPr>
        <p:spPr>
          <a:xfrm>
            <a:off x="3584448" y="3137759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8" name="dato_manual"/>
          <p:cNvSpPr>
            <a:spLocks noGrp="1"/>
          </p:cNvSpPr>
          <p:nvPr/>
        </p:nvSpPr>
        <p:spPr>
          <a:xfrm>
            <a:off x="2531059" y="3486959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24</a:t>
            </a:r>
          </a:p>
        </p:txBody>
      </p:sp>
      <p:sp>
        <p:nvSpPr>
          <p:cNvPr id="99" name="dato_manual"/>
          <p:cNvSpPr>
            <a:spLocks noGrp="1"/>
          </p:cNvSpPr>
          <p:nvPr/>
        </p:nvSpPr>
        <p:spPr>
          <a:xfrm>
            <a:off x="3584448" y="3486959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100" name="dato_manual"/>
          <p:cNvSpPr>
            <a:spLocks noGrp="1"/>
          </p:cNvSpPr>
          <p:nvPr/>
        </p:nvSpPr>
        <p:spPr>
          <a:xfrm>
            <a:off x="2531059" y="3836159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1" name="dato_manual"/>
          <p:cNvSpPr>
            <a:spLocks noGrp="1"/>
          </p:cNvSpPr>
          <p:nvPr/>
        </p:nvSpPr>
        <p:spPr>
          <a:xfrm>
            <a:off x="3584448" y="3836159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2" name="dato_manual"/>
          <p:cNvSpPr>
            <a:spLocks noGrp="1"/>
          </p:cNvSpPr>
          <p:nvPr/>
        </p:nvSpPr>
        <p:spPr>
          <a:xfrm>
            <a:off x="2531059" y="4185359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3" name="dato_manual"/>
          <p:cNvSpPr>
            <a:spLocks noGrp="1"/>
          </p:cNvSpPr>
          <p:nvPr/>
        </p:nvSpPr>
        <p:spPr>
          <a:xfrm>
            <a:off x="3584448" y="4185359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4" name="dato_manual"/>
          <p:cNvSpPr>
            <a:spLocks noGrp="1"/>
          </p:cNvSpPr>
          <p:nvPr/>
        </p:nvSpPr>
        <p:spPr>
          <a:xfrm>
            <a:off x="2531059" y="4534559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123A5E"/>
                </a:solidFill>
                <a:latin typeface="Arial"/>
              </a:rPr>
              <a:t>24</a:t>
            </a:r>
          </a:p>
        </p:txBody>
      </p:sp>
      <p:sp>
        <p:nvSpPr>
          <p:cNvPr id="105" name="dato_manual"/>
          <p:cNvSpPr>
            <a:spLocks noGrp="1"/>
          </p:cNvSpPr>
          <p:nvPr/>
        </p:nvSpPr>
        <p:spPr>
          <a:xfrm>
            <a:off x="3584448" y="4534559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123A5E"/>
                </a:solidFill>
                <a:latin typeface="Arial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1797127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EFECTIVA (DORMIDOS + NUEVOS + RECURRENTES): Información al 18 de Julio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29184"/>
          </a:xfrm>
          <a:prstGeom prst="rect">
            <a:avLst/>
          </a:prstGeom>
          <a:solidFill>
            <a:srgbClr val="F7DDDA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64592" cy="16459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12064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392B"/>
                </a:solidFill>
              </a:rPr>
              <a:t>Bajo la meta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A9189"/>
                </a:solidFill>
              </a:rPr>
              <a:t>Sub </a:t>
            </a:r>
            <a:r>
              <a:rPr lang="en-US" sz="850" i="1" dirty="0" err="1">
                <a:solidFill>
                  <a:srgbClr val="9A9189"/>
                </a:solidFill>
              </a:rPr>
              <a:t>Gerenta</a:t>
            </a:r>
            <a:r>
              <a:rPr lang="en-US" sz="850" i="1" dirty="0">
                <a:solidFill>
                  <a:srgbClr val="9A9189"/>
                </a:solidFill>
              </a:rPr>
              <a:t>: Monica Mogollon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50482" y="1905299"/>
            <a:ext cx="24012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C0392B"/>
                </a:solidFill>
              </a:rPr>
              <a:t>75.4%</a:t>
            </a:r>
            <a:endParaRPr lang="en-US" sz="6600" dirty="0"/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Shape 69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3" name="Shape 70"/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4" name="Text 71"/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GRUPO EFE  |  FONOCOMPRAS OB  |  Monica Mogollon  |  Cierre Julio 2026</a:t>
            </a:r>
            <a:endParaRPr lang="en-US" sz="750" dirty="0"/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5A95A43B-8C1B-E7A9-3F8A-F8832210E4EC}"/>
              </a:ext>
            </a:extLst>
          </p:cNvPr>
          <p:cNvSpPr/>
          <p:nvPr/>
        </p:nvSpPr>
        <p:spPr>
          <a:xfrm>
            <a:off x="386534" y="1890839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7.20M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B78515AE-5431-E16A-0558-6D3EBE41CA32}"/>
              </a:ext>
            </a:extLst>
          </p:cNvPr>
          <p:cNvSpPr/>
          <p:nvPr/>
        </p:nvSpPr>
        <p:spPr>
          <a:xfrm>
            <a:off x="-45871" y="299435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3.71M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1" name="Text 26">
            <a:extLst>
              <a:ext uri="{FF2B5EF4-FFF2-40B4-BE49-F238E27FC236}">
                <a16:creationId xmlns:a16="http://schemas.microsoft.com/office/drawing/2014/main" id="{D22012C6-8E82-1724-8567-32DAD424347C}"/>
              </a:ext>
            </a:extLst>
          </p:cNvPr>
          <p:cNvSpPr/>
          <p:nvPr/>
        </p:nvSpPr>
        <p:spPr>
          <a:xfrm>
            <a:off x="1072545" y="2975117"/>
            <a:ext cx="1536598" cy="33835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4.92M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94" name="Picture 76">
            <a:extLst>
              <a:ext uri="{FF2B5EF4-FFF2-40B4-BE49-F238E27FC236}">
                <a16:creationId xmlns:a16="http://schemas.microsoft.com/office/drawing/2014/main" id="{C378C096-3B27-1ACC-5814-70E7AD9888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1591" y="-144818"/>
            <a:ext cx="948004" cy="948004"/>
          </a:xfrm>
          <a:prstGeom prst="rect">
            <a:avLst/>
          </a:prstGeom>
        </p:spPr>
      </p:pic>
      <p:pic>
        <p:nvPicPr>
          <p:cNvPr id="96" name="Imagen 95">
            <a:extLst>
              <a:ext uri="{FF2B5EF4-FFF2-40B4-BE49-F238E27FC236}">
                <a16:creationId xmlns:a16="http://schemas.microsoft.com/office/drawing/2014/main" id="{BD613C91-CE49-A213-6746-E2942781BF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56552" y="4902997"/>
            <a:ext cx="236904" cy="230781"/>
          </a:xfrm>
          <a:prstGeom prst="rect">
            <a:avLst/>
          </a:prstGeom>
        </p:spPr>
      </p:pic>
      <p:pic>
        <p:nvPicPr>
          <p:cNvPr id="30" name="BARRAS_AVANCE_GENE" descr="image.png">
            <a:extLst>
              <a:ext uri="{FF2B5EF4-FFF2-40B4-BE49-F238E27FC236}">
                <a16:creationId xmlns:a16="http://schemas.microsoft.com/office/drawing/2014/main" id="{B684F4F9-EA71-8A8C-AC5E-31362EE95C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16557" y="1456620"/>
            <a:ext cx="6393038" cy="258413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3 / 5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A9189"/>
                </a:solidFill>
              </a:rPr>
              <a:t>Sub </a:t>
            </a:r>
            <a:r>
              <a:rPr lang="en-US" sz="850" i="1" dirty="0" err="1">
                <a:solidFill>
                  <a:srgbClr val="9A9189"/>
                </a:solidFill>
              </a:rPr>
              <a:t>Gerenta</a:t>
            </a:r>
            <a:r>
              <a:rPr lang="en-US" sz="850" i="1" dirty="0">
                <a:solidFill>
                  <a:srgbClr val="9A9189"/>
                </a:solidFill>
              </a:rPr>
              <a:t>: Monica Mogollon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99869" y="2033125"/>
            <a:ext cx="29597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8CA61E"/>
                </a:solidFill>
              </a:rPr>
              <a:t>123%</a:t>
            </a:r>
            <a:endParaRPr lang="en-US" sz="6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798721" y="749808"/>
            <a:ext cx="18288" cy="4078224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Shape 33"/>
          <p:cNvSpPr/>
          <p:nvPr/>
        </p:nvSpPr>
        <p:spPr>
          <a:xfrm>
            <a:off x="2999232" y="2365248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7" name="Shape 34"/>
          <p:cNvSpPr/>
          <p:nvPr/>
        </p:nvSpPr>
        <p:spPr>
          <a:xfrm>
            <a:off x="2999232" y="1225296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Shape 69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3" name="Shape 70"/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4" name="Text 71"/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GRUPO EFE  |  FONOCOMPRAS IB  |  Monica Mogollon  |  Cierre Julio 2026</a:t>
            </a:r>
            <a:endParaRPr lang="en-US" sz="750" dirty="0"/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DEACF6FC-D8B2-D9B1-CDCF-B1A1D7239020}"/>
              </a:ext>
            </a:extLst>
          </p:cNvPr>
          <p:cNvSpPr/>
          <p:nvPr/>
        </p:nvSpPr>
        <p:spPr>
          <a:xfrm>
            <a:off x="401769" y="1977362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1.20M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3BEF903F-6E02-B677-1B0E-518C48BECC56}"/>
              </a:ext>
            </a:extLst>
          </p:cNvPr>
          <p:cNvSpPr/>
          <p:nvPr/>
        </p:nvSpPr>
        <p:spPr>
          <a:xfrm>
            <a:off x="-78047" y="311600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918.7K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1" name="Text 26">
            <a:extLst>
              <a:ext uri="{FF2B5EF4-FFF2-40B4-BE49-F238E27FC236}">
                <a16:creationId xmlns:a16="http://schemas.microsoft.com/office/drawing/2014/main" id="{98CBD1BF-558A-CE57-7DB7-54E38E9C9EDF}"/>
              </a:ext>
            </a:extLst>
          </p:cNvPr>
          <p:cNvSpPr/>
          <p:nvPr/>
        </p:nvSpPr>
        <p:spPr>
          <a:xfrm>
            <a:off x="1120679" y="3112560"/>
            <a:ext cx="1585952" cy="3407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749.7K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5" name="Text 3">
            <a:extLst>
              <a:ext uri="{FF2B5EF4-FFF2-40B4-BE49-F238E27FC236}">
                <a16:creationId xmlns:a16="http://schemas.microsoft.com/office/drawing/2014/main" id="{2CA298DF-18B6-7A10-9BA2-E676AA00C02D}"/>
              </a:ext>
            </a:extLst>
          </p:cNvPr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FONOCOMPRAS (</a:t>
            </a:r>
            <a:r>
              <a:rPr lang="es-ES" sz="1400" b="1" dirty="0">
                <a:solidFill>
                  <a:schemeClr val="bg1"/>
                </a:solidFill>
              </a:rPr>
              <a:t>OUTBOUND  + INBOUD)</a:t>
            </a:r>
            <a:r>
              <a:rPr lang="en-US" sz="1250" b="1" kern="0" spc="30" dirty="0">
                <a:solidFill>
                  <a:srgbClr val="FFFFFF"/>
                </a:solidFill>
              </a:rPr>
              <a:t>: Información al 18 de Julio</a:t>
            </a:r>
            <a:endParaRPr lang="en-US" sz="1250" dirty="0"/>
          </a:p>
        </p:txBody>
      </p:sp>
      <p:pic>
        <p:nvPicPr>
          <p:cNvPr id="87" name="Picture 76">
            <a:extLst>
              <a:ext uri="{FF2B5EF4-FFF2-40B4-BE49-F238E27FC236}">
                <a16:creationId xmlns:a16="http://schemas.microsoft.com/office/drawing/2014/main" id="{864F06DD-164B-E44A-CA51-240D322140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1444" y="-163467"/>
            <a:ext cx="948004" cy="948004"/>
          </a:xfrm>
          <a:prstGeom prst="rect">
            <a:avLst/>
          </a:prstGeom>
        </p:spPr>
      </p:pic>
      <p:pic>
        <p:nvPicPr>
          <p:cNvPr id="89" name="Imagen 88">
            <a:extLst>
              <a:ext uri="{FF2B5EF4-FFF2-40B4-BE49-F238E27FC236}">
                <a16:creationId xmlns:a16="http://schemas.microsoft.com/office/drawing/2014/main" id="{E88D4D88-E14E-C376-CAA4-B52DB5C5FE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56552" y="4902997"/>
            <a:ext cx="236904" cy="230781"/>
          </a:xfrm>
          <a:prstGeom prst="rect">
            <a:avLst/>
          </a:prstGeom>
        </p:spPr>
      </p:pic>
      <p:pic>
        <p:nvPicPr>
          <p:cNvPr id="5" name="BARRAS_AVANCE_FONO" descr="image.png">
            <a:extLst>
              <a:ext uri="{FF2B5EF4-FFF2-40B4-BE49-F238E27FC236}">
                <a16:creationId xmlns:a16="http://schemas.microsoft.com/office/drawing/2014/main" id="{93403B95-B57B-CBC4-FF41-9350A87126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15768" y="1453896"/>
            <a:ext cx="6391656" cy="2587752"/>
          </a:xfrm>
          <a:prstGeom prst="rect">
            <a:avLst/>
          </a:prstGeom>
        </p:spPr>
      </p:pic>
      <p:sp>
        <p:nvSpPr>
          <p:cNvPr id="31" name="Shape 6">
            <a:extLst>
              <a:ext uri="{FF2B5EF4-FFF2-40B4-BE49-F238E27FC236}">
                <a16:creationId xmlns:a16="http://schemas.microsoft.com/office/drawing/2014/main" id="{6D6FFEC3-9CDC-ACCC-09D5-E64DD649870D}"/>
              </a:ext>
            </a:extLst>
          </p:cNvPr>
          <p:cNvSpPr/>
          <p:nvPr/>
        </p:nvSpPr>
        <p:spPr>
          <a:xfrm>
            <a:off x="134169" y="749808"/>
            <a:ext cx="2331720" cy="329184"/>
          </a:xfrm>
          <a:prstGeom prst="rect">
            <a:avLst/>
          </a:prstGeom>
          <a:solidFill>
            <a:srgbClr val="EAF0D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18EB2B28-7F64-66E3-37D2-62DF37DD5C5D}"/>
              </a:ext>
            </a:extLst>
          </p:cNvPr>
          <p:cNvSpPr/>
          <p:nvPr/>
        </p:nvSpPr>
        <p:spPr>
          <a:xfrm>
            <a:off x="225609" y="822960"/>
            <a:ext cx="164592" cy="164592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07BC38A4-FB55-131C-E699-D860CE9B25B2}"/>
              </a:ext>
            </a:extLst>
          </p:cNvPr>
          <p:cNvSpPr/>
          <p:nvPr/>
        </p:nvSpPr>
        <p:spPr>
          <a:xfrm>
            <a:off x="445065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CA61E"/>
                </a:solidFill>
              </a:rPr>
              <a:t>Meta alcanzada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383087-F7EB-E87E-DFA9-A1CF06056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0A025FA-FA9F-2133-4A58-73FA393A2F0E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2791697-C660-94E5-A1A8-8D7064ADA38E}"/>
              </a:ext>
            </a:extLst>
          </p:cNvPr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34F1300-59BF-0049-9F17-BA4D369FC8EA}"/>
              </a:ext>
            </a:extLst>
          </p:cNvPr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EFECTIVA Y FONOCOMPRAS|  DIAGNOSTICO Y SEGUIMIENTO</a:t>
            </a:r>
            <a:endParaRPr lang="en-US" sz="125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9816C696-95AD-DA1B-134C-E3A4800C965D}"/>
              </a:ext>
            </a:extLst>
          </p:cNvPr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6CD059E5-1C48-D24C-B419-8AEE66358A2B}"/>
              </a:ext>
            </a:extLst>
          </p:cNvPr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 / 3</a:t>
            </a:r>
            <a:endParaRPr lang="en-US" sz="8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183D63F7-589C-60E2-A21B-CF1A5715C5E8}"/>
              </a:ext>
            </a:extLst>
          </p:cNvPr>
          <p:cNvSpPr/>
          <p:nvPr/>
        </p:nvSpPr>
        <p:spPr>
          <a:xfrm>
            <a:off x="0" y="749808"/>
            <a:ext cx="4160520" cy="3108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77CCD22F-0A25-CDF8-CB54-BF6262B0B6BE}"/>
              </a:ext>
            </a:extLst>
          </p:cNvPr>
          <p:cNvSpPr/>
          <p:nvPr/>
        </p:nvSpPr>
        <p:spPr>
          <a:xfrm>
            <a:off x="91440" y="749808"/>
            <a:ext cx="4069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SEGUIMIENTO PLAN SEMANA ANTERIOR</a:t>
            </a:r>
            <a:endParaRPr lang="en-US" sz="800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A02F8562-1638-9C6A-D9F0-15417663777A}"/>
              </a:ext>
            </a:extLst>
          </p:cNvPr>
          <p:cNvSpPr/>
          <p:nvPr/>
        </p:nvSpPr>
        <p:spPr>
          <a:xfrm>
            <a:off x="0" y="1097280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3856A065-A66C-2B42-CDAB-189153046711}"/>
              </a:ext>
            </a:extLst>
          </p:cNvPr>
          <p:cNvSpPr/>
          <p:nvPr/>
        </p:nvSpPr>
        <p:spPr>
          <a:xfrm>
            <a:off x="0" y="1097280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72A23E7E-4539-E6F5-1502-78FF8817F8F8}"/>
              </a:ext>
            </a:extLst>
          </p:cNvPr>
          <p:cNvSpPr/>
          <p:nvPr/>
        </p:nvSpPr>
        <p:spPr>
          <a:xfrm>
            <a:off x="128016" y="1152144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Operacion Fenix Tarjetas + mejora tabla de comision</a:t>
            </a:r>
            <a:endParaRPr lang="en-US" sz="95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484C78BF-265C-30F0-4BE3-627D52D43AAE}"/>
              </a:ext>
            </a:extLst>
          </p:cNvPr>
          <p:cNvSpPr/>
          <p:nvPr/>
        </p:nvSpPr>
        <p:spPr>
          <a:xfrm>
            <a:off x="128016" y="1635587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5A594C9B-0196-DB65-98AE-E71150BDE06A}"/>
              </a:ext>
            </a:extLst>
          </p:cNvPr>
          <p:cNvSpPr/>
          <p:nvPr/>
        </p:nvSpPr>
        <p:spPr>
          <a:xfrm>
            <a:off x="0" y="2025396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4A2494AF-B537-B7E1-9E74-EB666F03B22F}"/>
              </a:ext>
            </a:extLst>
          </p:cNvPr>
          <p:cNvSpPr/>
          <p:nvPr/>
        </p:nvSpPr>
        <p:spPr>
          <a:xfrm>
            <a:off x="0" y="2025396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E7AC2A0A-C385-A19C-7370-43080F470B5D}"/>
              </a:ext>
            </a:extLst>
          </p:cNvPr>
          <p:cNvSpPr/>
          <p:nvPr/>
        </p:nvSpPr>
        <p:spPr>
          <a:xfrm>
            <a:off x="128016" y="2080260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Seguimiento base reciclada + cupones Fonocompras</a:t>
            </a:r>
            <a:endParaRPr lang="en-US" sz="95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52372521-86CE-2170-113B-B33F6A5B2CC3}"/>
              </a:ext>
            </a:extLst>
          </p:cNvPr>
          <p:cNvSpPr/>
          <p:nvPr/>
        </p:nvSpPr>
        <p:spPr>
          <a:xfrm>
            <a:off x="128016" y="2563703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F1C2B0AD-A340-522A-AE3C-6D1FDD9C5D6F}"/>
              </a:ext>
            </a:extLst>
          </p:cNvPr>
          <p:cNvSpPr/>
          <p:nvPr/>
        </p:nvSpPr>
        <p:spPr>
          <a:xfrm>
            <a:off x="0" y="2953512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D760219C-0161-E58B-5CFE-279CBC8C274A}"/>
              </a:ext>
            </a:extLst>
          </p:cNvPr>
          <p:cNvSpPr/>
          <p:nvPr/>
        </p:nvSpPr>
        <p:spPr>
          <a:xfrm>
            <a:off x="0" y="2953512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408874E7-3A7F-C84C-F099-48422C19A42D}"/>
              </a:ext>
            </a:extLst>
          </p:cNvPr>
          <p:cNvSpPr/>
          <p:nvPr/>
        </p:nvSpPr>
        <p:spPr>
          <a:xfrm>
            <a:off x="128016" y="3008376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Intensidad x5 base Efectivo — Dormidos RECORD 145%</a:t>
            </a:r>
            <a:endParaRPr lang="en-US" sz="950" dirty="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4E5ECA30-3937-1D1E-E3B6-6D8275528C16}"/>
              </a:ext>
            </a:extLst>
          </p:cNvPr>
          <p:cNvSpPr/>
          <p:nvPr/>
        </p:nvSpPr>
        <p:spPr>
          <a:xfrm>
            <a:off x="128016" y="3491819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D5E6A2F1-4745-234E-6F7A-2DE5347FE022}"/>
              </a:ext>
            </a:extLst>
          </p:cNvPr>
          <p:cNvSpPr/>
          <p:nvPr/>
        </p:nvSpPr>
        <p:spPr>
          <a:xfrm>
            <a:off x="0" y="3881628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CCF7376A-8F8F-F922-2F9F-D25055D6D126}"/>
              </a:ext>
            </a:extLst>
          </p:cNvPr>
          <p:cNvSpPr/>
          <p:nvPr/>
        </p:nvSpPr>
        <p:spPr>
          <a:xfrm>
            <a:off x="0" y="3881628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EB555759-E1C5-FDDF-D76E-DA8F38008CF8}"/>
              </a:ext>
            </a:extLst>
          </p:cNvPr>
          <p:cNvSpPr/>
          <p:nvPr/>
        </p:nvSpPr>
        <p:spPr>
          <a:xfrm>
            <a:off x="128016" y="3936492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Full agendamiento BanBif + desembolso en linea</a:t>
            </a:r>
            <a:endParaRPr lang="en-US" sz="950" dirty="0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708FD6D9-4757-E19F-D152-068E6EFC0A16}"/>
              </a:ext>
            </a:extLst>
          </p:cNvPr>
          <p:cNvSpPr/>
          <p:nvPr/>
        </p:nvSpPr>
        <p:spPr>
          <a:xfrm>
            <a:off x="128016" y="4419935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B0B5EB40-F0D7-B967-CFB7-772ACB59FA13}"/>
              </a:ext>
            </a:extLst>
          </p:cNvPr>
          <p:cNvSpPr/>
          <p:nvPr/>
        </p:nvSpPr>
        <p:spPr>
          <a:xfrm>
            <a:off x="4242816" y="749808"/>
            <a:ext cx="18288" cy="4059936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0577D150-F49B-748B-5D45-A30360722C4A}"/>
              </a:ext>
            </a:extLst>
          </p:cNvPr>
          <p:cNvSpPr/>
          <p:nvPr/>
        </p:nvSpPr>
        <p:spPr>
          <a:xfrm>
            <a:off x="4343400" y="749808"/>
            <a:ext cx="4800600" cy="3108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29DFD249-DDF3-B911-7FA0-4305845D93D6}"/>
              </a:ext>
            </a:extLst>
          </p:cNvPr>
          <p:cNvSpPr/>
          <p:nvPr/>
        </p:nvSpPr>
        <p:spPr>
          <a:xfrm>
            <a:off x="4434840" y="749808"/>
            <a:ext cx="4709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DIAGNOSTICO MES ACTUAL — CAUSAS RAIZ</a:t>
            </a:r>
            <a:endParaRPr lang="en-US" sz="800" dirty="0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37E15F6C-015B-6E2A-6194-2DE36D1E62CB}"/>
              </a:ext>
            </a:extLst>
          </p:cNvPr>
          <p:cNvSpPr/>
          <p:nvPr/>
        </p:nvSpPr>
        <p:spPr>
          <a:xfrm>
            <a:off x="4343400" y="1097280"/>
            <a:ext cx="4800600" cy="1173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6B2A5AFD-F91F-53BC-6E62-9C998831936A}"/>
              </a:ext>
            </a:extLst>
          </p:cNvPr>
          <p:cNvSpPr/>
          <p:nvPr/>
        </p:nvSpPr>
        <p:spPr>
          <a:xfrm>
            <a:off x="4343400" y="1097280"/>
            <a:ext cx="502920" cy="117348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444F2494-C489-B8FA-F2DF-9F965817934F}"/>
              </a:ext>
            </a:extLst>
          </p:cNvPr>
          <p:cNvSpPr/>
          <p:nvPr/>
        </p:nvSpPr>
        <p:spPr>
          <a:xfrm>
            <a:off x="4343400" y="1097280"/>
            <a:ext cx="50292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9B5F1FAC-F05F-2C31-AD0F-A205F48456F9}"/>
              </a:ext>
            </a:extLst>
          </p:cNvPr>
          <p:cNvSpPr/>
          <p:nvPr/>
        </p:nvSpPr>
        <p:spPr>
          <a:xfrm>
            <a:off x="4937760" y="1188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Tarjetas: 8 asesores pendientes de induccion</a:t>
            </a:r>
            <a:endParaRPr lang="en-US" sz="1100" dirty="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EE99228C-BAE7-A1D3-4F30-A64965511433}"/>
              </a:ext>
            </a:extLst>
          </p:cNvPr>
          <p:cNvSpPr/>
          <p:nvPr/>
        </p:nvSpPr>
        <p:spPr>
          <a:xfrm>
            <a:off x="4937760" y="1444752"/>
            <a:ext cx="4114800" cy="519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16% del presupuesto sin productividad. Tasa CET por mejorar — brecha del 15%.</a:t>
            </a:r>
            <a:endParaRPr lang="en-US" sz="900" dirty="0"/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F04686CE-0131-1663-A01E-B067BFC67CDF}"/>
              </a:ext>
            </a:extLst>
          </p:cNvPr>
          <p:cNvSpPr/>
          <p:nvPr/>
        </p:nvSpPr>
        <p:spPr>
          <a:xfrm>
            <a:off x="4937760" y="1996440"/>
            <a:ext cx="100584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8D8B06C0-AF82-B732-D748-109ED55DB9D6}"/>
              </a:ext>
            </a:extLst>
          </p:cNvPr>
          <p:cNvSpPr/>
          <p:nvPr/>
        </p:nvSpPr>
        <p:spPr>
          <a:xfrm>
            <a:off x="4937760" y="199644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Impacto Alto</a:t>
            </a:r>
            <a:endParaRPr lang="en-US" sz="850" dirty="0"/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5D800B76-E9C5-AF6C-B1C5-50ED04C3F451}"/>
              </a:ext>
            </a:extLst>
          </p:cNvPr>
          <p:cNvSpPr/>
          <p:nvPr/>
        </p:nvSpPr>
        <p:spPr>
          <a:xfrm>
            <a:off x="4343400" y="2334768"/>
            <a:ext cx="4800600" cy="1173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B28470CA-FDF8-BB32-928C-4B6C14A82AD3}"/>
              </a:ext>
            </a:extLst>
          </p:cNvPr>
          <p:cNvSpPr/>
          <p:nvPr/>
        </p:nvSpPr>
        <p:spPr>
          <a:xfrm>
            <a:off x="4343400" y="2334768"/>
            <a:ext cx="502920" cy="117348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00176589-B3C1-100A-8FC9-D85F49E50111}"/>
              </a:ext>
            </a:extLst>
          </p:cNvPr>
          <p:cNvSpPr/>
          <p:nvPr/>
        </p:nvSpPr>
        <p:spPr>
          <a:xfrm>
            <a:off x="4343400" y="2334768"/>
            <a:ext cx="50292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40" name="Text 37">
            <a:extLst>
              <a:ext uri="{FF2B5EF4-FFF2-40B4-BE49-F238E27FC236}">
                <a16:creationId xmlns:a16="http://schemas.microsoft.com/office/drawing/2014/main" id="{ADD83951-9FB8-5085-D085-91431C496B37}"/>
              </a:ext>
            </a:extLst>
          </p:cNvPr>
          <p:cNvSpPr/>
          <p:nvPr/>
        </p:nvSpPr>
        <p:spPr>
          <a:xfrm>
            <a:off x="4937760" y="242620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Fonocompras: 2 pendientes OB + 2 pendientes IB</a:t>
            </a:r>
            <a:endParaRPr lang="en-US" sz="1100" dirty="0"/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0BCFDF2D-83EF-CD99-6F0B-85E04F90D7ED}"/>
              </a:ext>
            </a:extLst>
          </p:cNvPr>
          <p:cNvSpPr/>
          <p:nvPr/>
        </p:nvSpPr>
        <p:spPr>
          <a:xfrm>
            <a:off x="4937760" y="2682240"/>
            <a:ext cx="4114800" cy="519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Brecha del 12% en ambos canales. Un asesor con menor productividad cada uno.</a:t>
            </a:r>
            <a:endParaRPr lang="en-US" sz="900" dirty="0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656D53DE-05ED-88F9-0F6F-AA5A6CF4B98C}"/>
              </a:ext>
            </a:extLst>
          </p:cNvPr>
          <p:cNvSpPr/>
          <p:nvPr/>
        </p:nvSpPr>
        <p:spPr>
          <a:xfrm>
            <a:off x="4937760" y="3233928"/>
            <a:ext cx="1005840" cy="219456"/>
          </a:xfrm>
          <a:prstGeom prst="rect">
            <a:avLst/>
          </a:prstGeom>
          <a:solidFill>
            <a:srgbClr val="FEECEE"/>
          </a:solidFill>
          <a:ln w="12700">
            <a:solidFill>
              <a:srgbClr val="FEECE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3251122E-37E0-170B-0E31-F7B146C60385}"/>
              </a:ext>
            </a:extLst>
          </p:cNvPr>
          <p:cNvSpPr/>
          <p:nvPr/>
        </p:nvSpPr>
        <p:spPr>
          <a:xfrm>
            <a:off x="4937760" y="3233928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30713"/>
                </a:solidFill>
              </a:rPr>
              <a:t>Impacto Bajo</a:t>
            </a:r>
            <a:endParaRPr lang="en-US" sz="850" dirty="0"/>
          </a:p>
        </p:txBody>
      </p:sp>
      <p:sp>
        <p:nvSpPr>
          <p:cNvPr id="44" name="Shape 41">
            <a:extLst>
              <a:ext uri="{FF2B5EF4-FFF2-40B4-BE49-F238E27FC236}">
                <a16:creationId xmlns:a16="http://schemas.microsoft.com/office/drawing/2014/main" id="{BF241DA4-9F4B-6515-ECBE-6D02CEBB0F1D}"/>
              </a:ext>
            </a:extLst>
          </p:cNvPr>
          <p:cNvSpPr/>
          <p:nvPr/>
        </p:nvSpPr>
        <p:spPr>
          <a:xfrm>
            <a:off x="4343400" y="3572256"/>
            <a:ext cx="4800600" cy="1173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5" name="Shape 42">
            <a:extLst>
              <a:ext uri="{FF2B5EF4-FFF2-40B4-BE49-F238E27FC236}">
                <a16:creationId xmlns:a16="http://schemas.microsoft.com/office/drawing/2014/main" id="{0E48C422-573B-79DA-EEFC-DEE123F857B3}"/>
              </a:ext>
            </a:extLst>
          </p:cNvPr>
          <p:cNvSpPr/>
          <p:nvPr/>
        </p:nvSpPr>
        <p:spPr>
          <a:xfrm>
            <a:off x="4343400" y="3572256"/>
            <a:ext cx="502920" cy="117348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2503A433-9E4C-5943-610A-10357D48B3AE}"/>
              </a:ext>
            </a:extLst>
          </p:cNvPr>
          <p:cNvSpPr/>
          <p:nvPr/>
        </p:nvSpPr>
        <p:spPr>
          <a:xfrm>
            <a:off x="4343400" y="3572256"/>
            <a:ext cx="50292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47" name="Text 44">
            <a:extLst>
              <a:ext uri="{FF2B5EF4-FFF2-40B4-BE49-F238E27FC236}">
                <a16:creationId xmlns:a16="http://schemas.microsoft.com/office/drawing/2014/main" id="{2C52C031-66FA-6E6F-410D-EE91D62989D5}"/>
              </a:ext>
            </a:extLst>
          </p:cNvPr>
          <p:cNvSpPr/>
          <p:nvPr/>
        </p:nvSpPr>
        <p:spPr>
          <a:xfrm>
            <a:off x="4937760" y="366369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Efectivo: Recurrentes al 65% en recuperacion</a:t>
            </a:r>
            <a:endParaRPr lang="en-US" sz="1100" dirty="0"/>
          </a:p>
        </p:txBody>
      </p:sp>
      <p:sp>
        <p:nvSpPr>
          <p:cNvPr id="48" name="Text 45">
            <a:extLst>
              <a:ext uri="{FF2B5EF4-FFF2-40B4-BE49-F238E27FC236}">
                <a16:creationId xmlns:a16="http://schemas.microsoft.com/office/drawing/2014/main" id="{58D4F7EC-3C1C-8093-F555-759C090F41F0}"/>
              </a:ext>
            </a:extLst>
          </p:cNvPr>
          <p:cNvSpPr/>
          <p:nvPr/>
        </p:nvSpPr>
        <p:spPr>
          <a:xfrm>
            <a:off x="4937760" y="3919728"/>
            <a:ext cx="4114800" cy="519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Base parcialmente agotada. Dormidos 145% y Nuevos 171% compensan la brecha.</a:t>
            </a:r>
            <a:endParaRPr lang="en-US" sz="900" dirty="0"/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05570C27-A0D8-E4B0-10CD-443173FAA70C}"/>
              </a:ext>
            </a:extLst>
          </p:cNvPr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solidFill>
            <a:srgbClr val="FEF9E7"/>
          </a:solidFill>
          <a:ln w="12700">
            <a:solidFill>
              <a:srgbClr val="FEF9E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0" name="Text 47">
            <a:extLst>
              <a:ext uri="{FF2B5EF4-FFF2-40B4-BE49-F238E27FC236}">
                <a16:creationId xmlns:a16="http://schemas.microsoft.com/office/drawing/2014/main" id="{F81A0FE7-527F-2FEC-CDC6-2C0ABCFC444E}"/>
              </a:ext>
            </a:extLst>
          </p:cNvPr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C97A0C"/>
                </a:solidFill>
              </a:rPr>
              <a:t>Impacto Medio</a:t>
            </a:r>
            <a:endParaRPr lang="en-US" sz="850" dirty="0"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476394A6-3F4C-1465-F509-08187E957C5F}"/>
              </a:ext>
            </a:extLst>
          </p:cNvPr>
          <p:cNvSpPr/>
          <p:nvPr/>
        </p:nvSpPr>
        <p:spPr>
          <a:xfrm>
            <a:off x="0" y="4407408"/>
            <a:ext cx="9144000" cy="365760"/>
          </a:xfrm>
          <a:prstGeom prst="rect">
            <a:avLst/>
          </a:prstGeom>
          <a:solidFill>
            <a:srgbClr val="FBF2F0"/>
          </a:solidFill>
          <a:ln w="635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Text 49">
            <a:extLst>
              <a:ext uri="{FF2B5EF4-FFF2-40B4-BE49-F238E27FC236}">
                <a16:creationId xmlns:a16="http://schemas.microsoft.com/office/drawing/2014/main" id="{FCDC0EAA-717F-5140-4D8E-41B76DDEA1EC}"/>
              </a:ext>
            </a:extLst>
          </p:cNvPr>
          <p:cNvSpPr/>
          <p:nvPr/>
        </p:nvSpPr>
        <p:spPr>
          <a:xfrm>
            <a:off x="164592" y="4407408"/>
            <a:ext cx="8869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B150B"/>
                </a:solidFill>
              </a:rPr>
              <a:t>Nota: BanBif cumplido al 100% (S/ 1,503,083). Foco en Tarjetas e induccion pendiente.</a:t>
            </a:r>
            <a:endParaRPr lang="en-US" sz="850" dirty="0"/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2C9D7E13-64E1-D4AB-8D67-F0C7E6D5E33C}"/>
              </a:ext>
            </a:extLst>
          </p:cNvPr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8EE25665-97A4-9A3E-BFC3-100B15E1C673}"/>
              </a:ext>
            </a:extLst>
          </p:cNvPr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5" name="Text 52">
            <a:extLst>
              <a:ext uri="{FF2B5EF4-FFF2-40B4-BE49-F238E27FC236}">
                <a16:creationId xmlns:a16="http://schemas.microsoft.com/office/drawing/2014/main" id="{1D8E8564-35D1-B8EA-4F1E-1AA164FBAA7A}"/>
              </a:ext>
            </a:extLst>
          </p:cNvPr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GRUPO EFE  |  MONICA MOGOLLON  —  DIAGNOSTICO  |  Monica Mogollon  |  Cierre Julio 2026</a:t>
            </a:r>
            <a:endParaRPr lang="en-US" sz="750" dirty="0"/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BD549FAA-CC46-D6F4-9FC9-C85F40C25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0019" y="-106317"/>
            <a:ext cx="948004" cy="948004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C66F6BA0-751F-A43D-0C8B-47DF27B1F1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56552" y="4902997"/>
            <a:ext cx="236904" cy="230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6761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DINERS  |  TARJETAS DE CREDITO: :  Información al 18 de Julio 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 / 1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A9189"/>
                </a:solidFill>
              </a:rPr>
              <a:t>Sub Gerente: Bruno Rivera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174532" y="2044724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DC2626"/>
                </a:solidFill>
              </a:rPr>
              <a:t>16.0%</a:t>
            </a:r>
            <a:endParaRPr lang="en-US" sz="7200" dirty="0"/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Shape 31"/>
          <p:cNvSpPr/>
          <p:nvPr/>
        </p:nvSpPr>
        <p:spPr>
          <a:xfrm>
            <a:off x="2999232" y="4645152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Shape 32"/>
          <p:cNvSpPr/>
          <p:nvPr/>
        </p:nvSpPr>
        <p:spPr>
          <a:xfrm>
            <a:off x="2999232" y="3505200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Shape 33"/>
          <p:cNvSpPr/>
          <p:nvPr/>
        </p:nvSpPr>
        <p:spPr>
          <a:xfrm>
            <a:off x="2999232" y="2365248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Shape 65"/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9" name="Text 66"/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DINERS  |  TARJETAS DE CREDITO  |  Bruno Rivera  |  Cierre Julio 2026</a:t>
            </a:r>
            <a:endParaRPr lang="en-US" sz="750" dirty="0"/>
          </a:p>
        </p:txBody>
      </p:sp>
      <p:pic>
        <p:nvPicPr>
          <p:cNvPr id="74" name="BARRAS_AVANCE__DINERS" descr="image.png">
            <a:extLst>
              <a:ext uri="{FF2B5EF4-FFF2-40B4-BE49-F238E27FC236}">
                <a16:creationId xmlns:a16="http://schemas.microsoft.com/office/drawing/2014/main" id="{D29437BB-A5F9-4BE0-FACC-4950DFF7F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5946" y="1455415"/>
            <a:ext cx="4257269" cy="2108916"/>
          </a:xfrm>
          <a:prstGeom prst="rect">
            <a:avLst/>
          </a:prstGeom>
        </p:spPr>
      </p:pic>
      <p:sp>
        <p:nvSpPr>
          <p:cNvPr id="76" name="Text 26">
            <a:extLst>
              <a:ext uri="{FF2B5EF4-FFF2-40B4-BE49-F238E27FC236}">
                <a16:creationId xmlns:a16="http://schemas.microsoft.com/office/drawing/2014/main" id="{B5492910-93CF-F632-24C2-027A944467A9}"/>
              </a:ext>
            </a:extLst>
          </p:cNvPr>
          <p:cNvSpPr/>
          <p:nvPr/>
        </p:nvSpPr>
        <p:spPr>
          <a:xfrm>
            <a:off x="423458" y="2021089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250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8" name="Text 26">
            <a:extLst>
              <a:ext uri="{FF2B5EF4-FFF2-40B4-BE49-F238E27FC236}">
                <a16:creationId xmlns:a16="http://schemas.microsoft.com/office/drawing/2014/main" id="{6C8FFC6B-CB1A-806D-494F-C4B88CBEDB82}"/>
              </a:ext>
            </a:extLst>
          </p:cNvPr>
          <p:cNvSpPr/>
          <p:nvPr/>
        </p:nvSpPr>
        <p:spPr>
          <a:xfrm>
            <a:off x="-56358" y="3159728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30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6F714999-69CD-CC6F-5515-C2BA075B6AD8}"/>
              </a:ext>
            </a:extLst>
          </p:cNvPr>
          <p:cNvSpPr/>
          <p:nvPr/>
        </p:nvSpPr>
        <p:spPr>
          <a:xfrm>
            <a:off x="1142368" y="3156288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0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8" name="Shape 6">
            <a:extLst>
              <a:ext uri="{FF2B5EF4-FFF2-40B4-BE49-F238E27FC236}">
                <a16:creationId xmlns:a16="http://schemas.microsoft.com/office/drawing/2014/main" id="{6525DB75-6F15-86BA-01EC-0CC7CCE71B99}"/>
              </a:ext>
            </a:extLst>
          </p:cNvPr>
          <p:cNvSpPr/>
          <p:nvPr/>
        </p:nvSpPr>
        <p:spPr>
          <a:xfrm>
            <a:off x="91440" y="785704"/>
            <a:ext cx="2331720" cy="329184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0" name="Shape 7">
            <a:extLst>
              <a:ext uri="{FF2B5EF4-FFF2-40B4-BE49-F238E27FC236}">
                <a16:creationId xmlns:a16="http://schemas.microsoft.com/office/drawing/2014/main" id="{B0D3565D-B575-B585-CBF0-DBF1C2665CBB}"/>
              </a:ext>
            </a:extLst>
          </p:cNvPr>
          <p:cNvSpPr/>
          <p:nvPr/>
        </p:nvSpPr>
        <p:spPr>
          <a:xfrm>
            <a:off x="182880" y="858856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C595AA07-493D-DFF0-659C-44A50CAA82D3}"/>
              </a:ext>
            </a:extLst>
          </p:cNvPr>
          <p:cNvSpPr/>
          <p:nvPr/>
        </p:nvSpPr>
        <p:spPr>
          <a:xfrm>
            <a:off x="402336" y="785704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DC2626"/>
                </a:solidFill>
              </a:rPr>
              <a:t>EN OBSERVACIÓN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6675972B-9360-97AD-7259-6259A47289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88388" y="4889859"/>
            <a:ext cx="236904" cy="230781"/>
          </a:xfrm>
          <a:prstGeom prst="rect">
            <a:avLst/>
          </a:prstGeom>
        </p:spPr>
      </p:pic>
      <p:pic>
        <p:nvPicPr>
          <p:cNvPr id="11" name="Picture 76">
            <a:extLst>
              <a:ext uri="{FF2B5EF4-FFF2-40B4-BE49-F238E27FC236}">
                <a16:creationId xmlns:a16="http://schemas.microsoft.com/office/drawing/2014/main" id="{552743A1-1A5D-5F3D-5141-E4FE43CBAA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60019" y="-106317"/>
            <a:ext cx="948004" cy="9480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DINNERS  | DIAGNOSTICO Y SEGUIMIENTO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0" y="749808"/>
            <a:ext cx="4160520" cy="3108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91440" y="749808"/>
            <a:ext cx="4069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SEGUIMIENTO PLAN SEMANA ANTERIOR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0" y="1097280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097280"/>
            <a:ext cx="50292" cy="1191768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28016" y="1152144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Convocatorias y acciones de campo para completar dotacion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28016" y="1815023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En proceso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0" y="2334768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0" y="2334768"/>
            <a:ext cx="50292" cy="1191768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28016" y="2389632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Ampliar perfil de asesores para facilitar contratacion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28016" y="3052511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En proceso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0" y="3572256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Shape 17"/>
          <p:cNvSpPr/>
          <p:nvPr/>
        </p:nvSpPr>
        <p:spPr>
          <a:xfrm>
            <a:off x="0" y="3572256"/>
            <a:ext cx="50292" cy="1191768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/>
          <p:cNvSpPr/>
          <p:nvPr/>
        </p:nvSpPr>
        <p:spPr>
          <a:xfrm>
            <a:off x="128016" y="3627120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Talleres de tasa de cierre con equipo activo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28016" y="4289999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242816" y="749808"/>
            <a:ext cx="18288" cy="4059936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4343400" y="749808"/>
            <a:ext cx="4800600" cy="3108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4434840" y="749808"/>
            <a:ext cx="4709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DIAGNOSTICO — CAUSAS RAIZ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4343400" y="1097280"/>
            <a:ext cx="4800600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Shape 24"/>
          <p:cNvSpPr/>
          <p:nvPr/>
        </p:nvSpPr>
        <p:spPr>
          <a:xfrm>
            <a:off x="4343400" y="1097280"/>
            <a:ext cx="502920" cy="17922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4343400" y="1097280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4937760" y="1188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Headcount incompleto — causa raiz principal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937760" y="1444752"/>
            <a:ext cx="4114800" cy="7796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Solo 4 de 10 activos. 5 en seleccion + 1 en induccion. La tasa de cierre no compensa la brecha.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4937760" y="2615184"/>
            <a:ext cx="100584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4937760" y="261518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Impacto Alto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343400" y="2953512"/>
            <a:ext cx="4800600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Shape 31"/>
          <p:cNvSpPr/>
          <p:nvPr/>
        </p:nvSpPr>
        <p:spPr>
          <a:xfrm>
            <a:off x="4343400" y="2953512"/>
            <a:ext cx="502920" cy="17922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4343400" y="2953512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937760" y="30449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Estrategia de captacion sin resultados suficientes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4937760" y="3300984"/>
            <a:ext cx="4114800" cy="7796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Perfil ampliado pero sin resultado. Se necesita nuevos canales de reclutamiento urgente.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Impacto Alto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Shape 40"/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4" name="Text 41"/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DINERS  |  DIAGNOSTICO  |  Bruno Rivera  |  Cierre Julio 2026</a:t>
            </a:r>
            <a:endParaRPr lang="en-US" sz="750" dirty="0"/>
          </a:p>
        </p:txBody>
      </p:sp>
      <p:pic>
        <p:nvPicPr>
          <p:cNvPr id="4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4882896"/>
            <a:ext cx="310896" cy="219456"/>
          </a:xfrm>
          <a:prstGeom prst="rect">
            <a:avLst/>
          </a:prstGeom>
        </p:spPr>
      </p:pic>
      <p:pic>
        <p:nvPicPr>
          <p:cNvPr id="47" name="Picture 76">
            <a:extLst>
              <a:ext uri="{FF2B5EF4-FFF2-40B4-BE49-F238E27FC236}">
                <a16:creationId xmlns:a16="http://schemas.microsoft.com/office/drawing/2014/main" id="{A2B0674A-CA80-C3CC-246A-335EE6EED5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0019" y="-106317"/>
            <a:ext cx="948004" cy="9480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BANBIF PRESTAMOS: Información al 18 de Julio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5 / 5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29184"/>
          </a:xfrm>
          <a:prstGeom prst="rect">
            <a:avLst/>
          </a:prstGeom>
          <a:solidFill>
            <a:srgbClr val="EAF0D2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64592" cy="164592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12064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8CA61E"/>
                </a:solidFill>
              </a:rPr>
              <a:t>Meta alcanzada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A9189"/>
                </a:solidFill>
              </a:rPr>
              <a:t>Sub </a:t>
            </a:r>
            <a:r>
              <a:rPr lang="en-US" sz="850" i="1" dirty="0" err="1">
                <a:solidFill>
                  <a:srgbClr val="9A9189"/>
                </a:solidFill>
              </a:rPr>
              <a:t>Gerenta</a:t>
            </a:r>
            <a:r>
              <a:rPr lang="en-US" sz="850" i="1" dirty="0">
                <a:solidFill>
                  <a:srgbClr val="9A9189"/>
                </a:solidFill>
              </a:rPr>
              <a:t>: Monica Mogollon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72265" y="2053403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8CA61E"/>
                </a:solidFill>
              </a:rPr>
              <a:t>288%</a:t>
            </a:r>
            <a:endParaRPr lang="en-US" sz="6600" dirty="0"/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Shape 65"/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9" name="Text 66"/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BANBIF  |  PRESTAMOS  |  Monica Mogollon  |  Cierre Julio 2026</a:t>
            </a:r>
            <a:endParaRPr lang="en-US" sz="750" dirty="0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F186F93C-1212-7F73-C2A8-2563F7F30917}"/>
              </a:ext>
            </a:extLst>
          </p:cNvPr>
          <p:cNvSpPr/>
          <p:nvPr/>
        </p:nvSpPr>
        <p:spPr>
          <a:xfrm>
            <a:off x="419108" y="1961668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1.50M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08A8B44C-F582-631D-38D0-637D5E19CD9F}"/>
              </a:ext>
            </a:extLst>
          </p:cNvPr>
          <p:cNvSpPr/>
          <p:nvPr/>
        </p:nvSpPr>
        <p:spPr>
          <a:xfrm>
            <a:off x="-71830" y="3135107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2.09M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A6996A04-3402-7D3F-3903-6E1A341E0AD4}"/>
              </a:ext>
            </a:extLst>
          </p:cNvPr>
          <p:cNvSpPr/>
          <p:nvPr/>
        </p:nvSpPr>
        <p:spPr>
          <a:xfrm>
            <a:off x="1138018" y="3096867"/>
            <a:ext cx="1532030" cy="3647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726.2K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78" name="Picture 76">
            <a:extLst>
              <a:ext uri="{FF2B5EF4-FFF2-40B4-BE49-F238E27FC236}">
                <a16:creationId xmlns:a16="http://schemas.microsoft.com/office/drawing/2014/main" id="{190A273A-383B-1297-AB08-C55E36029D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0019" y="-106317"/>
            <a:ext cx="948004" cy="948004"/>
          </a:xfrm>
          <a:prstGeom prst="rect">
            <a:avLst/>
          </a:prstGeom>
        </p:spPr>
      </p:pic>
      <p:pic>
        <p:nvPicPr>
          <p:cNvPr id="80" name="Imagen 79">
            <a:extLst>
              <a:ext uri="{FF2B5EF4-FFF2-40B4-BE49-F238E27FC236}">
                <a16:creationId xmlns:a16="http://schemas.microsoft.com/office/drawing/2014/main" id="{1280531C-3C3E-CB62-2F78-D3C23B57EA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56552" y="4902997"/>
            <a:ext cx="236904" cy="230781"/>
          </a:xfrm>
          <a:prstGeom prst="rect">
            <a:avLst/>
          </a:prstGeom>
        </p:spPr>
      </p:pic>
      <p:pic>
        <p:nvPicPr>
          <p:cNvPr id="5" name="BARRAS_AVANCE__BANBIF" descr="image.png">
            <a:extLst>
              <a:ext uri="{FF2B5EF4-FFF2-40B4-BE49-F238E27FC236}">
                <a16:creationId xmlns:a16="http://schemas.microsoft.com/office/drawing/2014/main" id="{151AA825-F237-D26A-82DB-B030EF9A3C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42698" y="1696416"/>
            <a:ext cx="5147160" cy="188806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F9A33E-943C-1A33-DB39-81B8DA537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02E0E90-6741-E572-68E7-96CC7C531BEB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A4D09C4-4C3E-9044-AB32-9A1DF87B3D95}"/>
              </a:ext>
            </a:extLst>
          </p:cNvPr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92CF2C0-0393-0ADA-0B24-F1D49FAF11D2}"/>
              </a:ext>
            </a:extLst>
          </p:cNvPr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BANBIF|  DIAGNOSTICO Y SEGUIMIENTO</a:t>
            </a:r>
            <a:endParaRPr lang="en-US" sz="125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F861B3F3-B5EF-94F1-3C23-7FC115DCF533}"/>
              </a:ext>
            </a:extLst>
          </p:cNvPr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92EF0AA7-2563-082F-0007-632DABBEEFEC}"/>
              </a:ext>
            </a:extLst>
          </p:cNvPr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 / 3</a:t>
            </a:r>
            <a:endParaRPr lang="en-US" sz="8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AA3212B5-E73E-43DB-7AF6-D7C741ACC113}"/>
              </a:ext>
            </a:extLst>
          </p:cNvPr>
          <p:cNvSpPr/>
          <p:nvPr/>
        </p:nvSpPr>
        <p:spPr>
          <a:xfrm>
            <a:off x="0" y="749808"/>
            <a:ext cx="4160520" cy="3108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A68090B3-0CBE-EB02-AD9E-6173F78C6F2A}"/>
              </a:ext>
            </a:extLst>
          </p:cNvPr>
          <p:cNvSpPr/>
          <p:nvPr/>
        </p:nvSpPr>
        <p:spPr>
          <a:xfrm>
            <a:off x="91440" y="749808"/>
            <a:ext cx="4069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SEGUIMIENTO PLAN SEMANA ANTERIOR</a:t>
            </a:r>
            <a:endParaRPr lang="en-US" sz="800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DD2685E1-96B7-71EC-9E7B-85026B4A8F8A}"/>
              </a:ext>
            </a:extLst>
          </p:cNvPr>
          <p:cNvSpPr/>
          <p:nvPr/>
        </p:nvSpPr>
        <p:spPr>
          <a:xfrm>
            <a:off x="0" y="1097280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9E3263F-8FDA-F29E-9987-FB0AFC9A2F6C}"/>
              </a:ext>
            </a:extLst>
          </p:cNvPr>
          <p:cNvSpPr/>
          <p:nvPr/>
        </p:nvSpPr>
        <p:spPr>
          <a:xfrm>
            <a:off x="0" y="1097280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BFCDD34-F68C-AA1F-14CC-31E7E294D12B}"/>
              </a:ext>
            </a:extLst>
          </p:cNvPr>
          <p:cNvSpPr/>
          <p:nvPr/>
        </p:nvSpPr>
        <p:spPr>
          <a:xfrm>
            <a:off x="128016" y="1152144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Operacion Fenix Tarjetas + mejora tabla de comision</a:t>
            </a:r>
            <a:endParaRPr lang="en-US" sz="95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753E0E26-3E58-FB3D-615E-008F2E5613EE}"/>
              </a:ext>
            </a:extLst>
          </p:cNvPr>
          <p:cNvSpPr/>
          <p:nvPr/>
        </p:nvSpPr>
        <p:spPr>
          <a:xfrm>
            <a:off x="128016" y="1635587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65002715-A955-999D-0C4D-5F639183C007}"/>
              </a:ext>
            </a:extLst>
          </p:cNvPr>
          <p:cNvSpPr/>
          <p:nvPr/>
        </p:nvSpPr>
        <p:spPr>
          <a:xfrm>
            <a:off x="0" y="2025396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91C15D7D-4D52-0CFF-ED13-977664B7980A}"/>
              </a:ext>
            </a:extLst>
          </p:cNvPr>
          <p:cNvSpPr/>
          <p:nvPr/>
        </p:nvSpPr>
        <p:spPr>
          <a:xfrm>
            <a:off x="0" y="2025396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939B208B-7563-C777-3918-A448A5F8B5E8}"/>
              </a:ext>
            </a:extLst>
          </p:cNvPr>
          <p:cNvSpPr/>
          <p:nvPr/>
        </p:nvSpPr>
        <p:spPr>
          <a:xfrm>
            <a:off x="128016" y="2080260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Seguimiento base reciclada + cupones Fonocompras</a:t>
            </a:r>
            <a:endParaRPr lang="en-US" sz="95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D6B3174E-7E17-45D3-0E60-C73F27F6E33C}"/>
              </a:ext>
            </a:extLst>
          </p:cNvPr>
          <p:cNvSpPr/>
          <p:nvPr/>
        </p:nvSpPr>
        <p:spPr>
          <a:xfrm>
            <a:off x="128016" y="2563703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8B61C0A3-B571-4A3C-E8B6-585D9F875C57}"/>
              </a:ext>
            </a:extLst>
          </p:cNvPr>
          <p:cNvSpPr/>
          <p:nvPr/>
        </p:nvSpPr>
        <p:spPr>
          <a:xfrm>
            <a:off x="0" y="2953512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2311B2FA-E84C-2B63-0080-7C87B6AC4664}"/>
              </a:ext>
            </a:extLst>
          </p:cNvPr>
          <p:cNvSpPr/>
          <p:nvPr/>
        </p:nvSpPr>
        <p:spPr>
          <a:xfrm>
            <a:off x="0" y="2953512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E9BA3EEE-0B97-A4C3-45F9-C02820ABA7C6}"/>
              </a:ext>
            </a:extLst>
          </p:cNvPr>
          <p:cNvSpPr/>
          <p:nvPr/>
        </p:nvSpPr>
        <p:spPr>
          <a:xfrm>
            <a:off x="128016" y="3008376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Intensidad x5 base Efectivo — Dormidos RECORD 145%</a:t>
            </a:r>
            <a:endParaRPr lang="en-US" sz="950" dirty="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39B66926-6B9B-D6E6-B16D-F374FA337EB8}"/>
              </a:ext>
            </a:extLst>
          </p:cNvPr>
          <p:cNvSpPr/>
          <p:nvPr/>
        </p:nvSpPr>
        <p:spPr>
          <a:xfrm>
            <a:off x="128016" y="3491819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CD601FA8-E8EB-0A13-477C-C9FCFE5B19AC}"/>
              </a:ext>
            </a:extLst>
          </p:cNvPr>
          <p:cNvSpPr/>
          <p:nvPr/>
        </p:nvSpPr>
        <p:spPr>
          <a:xfrm>
            <a:off x="0" y="3881628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B8E5ECCF-AF55-16F1-7E70-35F2B6BDB2E7}"/>
              </a:ext>
            </a:extLst>
          </p:cNvPr>
          <p:cNvSpPr/>
          <p:nvPr/>
        </p:nvSpPr>
        <p:spPr>
          <a:xfrm>
            <a:off x="0" y="3881628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2C814E69-20DA-332F-C04F-9755E76EDABF}"/>
              </a:ext>
            </a:extLst>
          </p:cNvPr>
          <p:cNvSpPr/>
          <p:nvPr/>
        </p:nvSpPr>
        <p:spPr>
          <a:xfrm>
            <a:off x="128016" y="3936492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Full agendamiento BanBif + desembolso en linea</a:t>
            </a:r>
            <a:endParaRPr lang="en-US" sz="950" dirty="0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8501EB6D-8ACA-596D-CF28-BB593E1F159C}"/>
              </a:ext>
            </a:extLst>
          </p:cNvPr>
          <p:cNvSpPr/>
          <p:nvPr/>
        </p:nvSpPr>
        <p:spPr>
          <a:xfrm>
            <a:off x="128016" y="4419935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E8DB68C3-57DA-189B-B1E6-763F21AC8A2D}"/>
              </a:ext>
            </a:extLst>
          </p:cNvPr>
          <p:cNvSpPr/>
          <p:nvPr/>
        </p:nvSpPr>
        <p:spPr>
          <a:xfrm>
            <a:off x="4242816" y="749808"/>
            <a:ext cx="18288" cy="4059936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4B19A855-E79D-3C01-ED8E-850D646D6084}"/>
              </a:ext>
            </a:extLst>
          </p:cNvPr>
          <p:cNvSpPr/>
          <p:nvPr/>
        </p:nvSpPr>
        <p:spPr>
          <a:xfrm>
            <a:off x="4343400" y="749808"/>
            <a:ext cx="4800600" cy="3108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801AFBB4-787D-965B-D0FE-8264F144A533}"/>
              </a:ext>
            </a:extLst>
          </p:cNvPr>
          <p:cNvSpPr/>
          <p:nvPr/>
        </p:nvSpPr>
        <p:spPr>
          <a:xfrm>
            <a:off x="4434840" y="749808"/>
            <a:ext cx="4709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DIAGNOSTICO MES ACTUAL — CAUSAS RAIZ</a:t>
            </a:r>
            <a:endParaRPr lang="en-US" sz="800" dirty="0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DC67E2BD-DEBA-CE12-4BD8-00E19043CACE}"/>
              </a:ext>
            </a:extLst>
          </p:cNvPr>
          <p:cNvSpPr/>
          <p:nvPr/>
        </p:nvSpPr>
        <p:spPr>
          <a:xfrm>
            <a:off x="4343400" y="1097280"/>
            <a:ext cx="4800600" cy="1173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EEE82AAA-AC76-F72C-D192-A0961C0C5EDE}"/>
              </a:ext>
            </a:extLst>
          </p:cNvPr>
          <p:cNvSpPr/>
          <p:nvPr/>
        </p:nvSpPr>
        <p:spPr>
          <a:xfrm>
            <a:off x="4343400" y="1097280"/>
            <a:ext cx="502920" cy="117348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9E9EE858-06E5-D9C6-1C99-A34F1BA63075}"/>
              </a:ext>
            </a:extLst>
          </p:cNvPr>
          <p:cNvSpPr/>
          <p:nvPr/>
        </p:nvSpPr>
        <p:spPr>
          <a:xfrm>
            <a:off x="4343400" y="1097280"/>
            <a:ext cx="50292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0788E9B5-FC08-5244-BDDC-306397964C65}"/>
              </a:ext>
            </a:extLst>
          </p:cNvPr>
          <p:cNvSpPr/>
          <p:nvPr/>
        </p:nvSpPr>
        <p:spPr>
          <a:xfrm>
            <a:off x="4937760" y="1188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Tarjetas: 8 asesores pendientes de induccion</a:t>
            </a:r>
            <a:endParaRPr lang="en-US" sz="1100" dirty="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8AA09C33-EFC1-226F-4ED9-5D75D5C1C1F9}"/>
              </a:ext>
            </a:extLst>
          </p:cNvPr>
          <p:cNvSpPr/>
          <p:nvPr/>
        </p:nvSpPr>
        <p:spPr>
          <a:xfrm>
            <a:off x="4937760" y="1444752"/>
            <a:ext cx="4114800" cy="519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16% del presupuesto sin productividad. Tasa CET por mejorar — brecha del 15%.</a:t>
            </a:r>
            <a:endParaRPr lang="en-US" sz="900" dirty="0"/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8C0DB8E5-12A4-6A6E-29CF-9FFC3F17B2A3}"/>
              </a:ext>
            </a:extLst>
          </p:cNvPr>
          <p:cNvSpPr/>
          <p:nvPr/>
        </p:nvSpPr>
        <p:spPr>
          <a:xfrm>
            <a:off x="4937760" y="1996440"/>
            <a:ext cx="100584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84440258-D0EC-0C77-18A7-2C947AAFC0A4}"/>
              </a:ext>
            </a:extLst>
          </p:cNvPr>
          <p:cNvSpPr/>
          <p:nvPr/>
        </p:nvSpPr>
        <p:spPr>
          <a:xfrm>
            <a:off x="4937760" y="199644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Impacto Alto</a:t>
            </a:r>
            <a:endParaRPr lang="en-US" sz="850" dirty="0"/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DA04810D-2459-4F4F-8E16-66016E09695E}"/>
              </a:ext>
            </a:extLst>
          </p:cNvPr>
          <p:cNvSpPr/>
          <p:nvPr/>
        </p:nvSpPr>
        <p:spPr>
          <a:xfrm>
            <a:off x="4343400" y="2334768"/>
            <a:ext cx="4800600" cy="1173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BA08F51D-1A45-1D7E-03D6-2DE193A66CBD}"/>
              </a:ext>
            </a:extLst>
          </p:cNvPr>
          <p:cNvSpPr/>
          <p:nvPr/>
        </p:nvSpPr>
        <p:spPr>
          <a:xfrm>
            <a:off x="4343400" y="2334768"/>
            <a:ext cx="502920" cy="117348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2D6829BC-8972-F1F2-3B01-10D9438877E9}"/>
              </a:ext>
            </a:extLst>
          </p:cNvPr>
          <p:cNvSpPr/>
          <p:nvPr/>
        </p:nvSpPr>
        <p:spPr>
          <a:xfrm>
            <a:off x="4343400" y="2334768"/>
            <a:ext cx="50292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40" name="Text 37">
            <a:extLst>
              <a:ext uri="{FF2B5EF4-FFF2-40B4-BE49-F238E27FC236}">
                <a16:creationId xmlns:a16="http://schemas.microsoft.com/office/drawing/2014/main" id="{097C9C0B-E3FD-7EB6-9BC7-B596D839BD09}"/>
              </a:ext>
            </a:extLst>
          </p:cNvPr>
          <p:cNvSpPr/>
          <p:nvPr/>
        </p:nvSpPr>
        <p:spPr>
          <a:xfrm>
            <a:off x="4937760" y="242620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Fonocompras: 2 pendientes OB + 2 pendientes IB</a:t>
            </a:r>
            <a:endParaRPr lang="en-US" sz="1100" dirty="0"/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2E98947F-F647-CDBF-906A-036C97C1F8C9}"/>
              </a:ext>
            </a:extLst>
          </p:cNvPr>
          <p:cNvSpPr/>
          <p:nvPr/>
        </p:nvSpPr>
        <p:spPr>
          <a:xfrm>
            <a:off x="4937760" y="2682240"/>
            <a:ext cx="4114800" cy="519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Brecha del 12% en ambos canales. Un asesor con menor productividad cada uno.</a:t>
            </a:r>
            <a:endParaRPr lang="en-US" sz="900" dirty="0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ECD67FAF-95B7-8D8E-3F5D-01F6AB604E70}"/>
              </a:ext>
            </a:extLst>
          </p:cNvPr>
          <p:cNvSpPr/>
          <p:nvPr/>
        </p:nvSpPr>
        <p:spPr>
          <a:xfrm>
            <a:off x="4937760" y="3233928"/>
            <a:ext cx="1005840" cy="219456"/>
          </a:xfrm>
          <a:prstGeom prst="rect">
            <a:avLst/>
          </a:prstGeom>
          <a:solidFill>
            <a:srgbClr val="FEECEE"/>
          </a:solidFill>
          <a:ln w="12700">
            <a:solidFill>
              <a:srgbClr val="FEECE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183AAAAE-10CA-C78F-DBF3-AA0FAC03EF68}"/>
              </a:ext>
            </a:extLst>
          </p:cNvPr>
          <p:cNvSpPr/>
          <p:nvPr/>
        </p:nvSpPr>
        <p:spPr>
          <a:xfrm>
            <a:off x="4937760" y="3233928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30713"/>
                </a:solidFill>
              </a:rPr>
              <a:t>Impacto Bajo</a:t>
            </a:r>
            <a:endParaRPr lang="en-US" sz="850" dirty="0"/>
          </a:p>
        </p:txBody>
      </p:sp>
      <p:sp>
        <p:nvSpPr>
          <p:cNvPr id="44" name="Shape 41">
            <a:extLst>
              <a:ext uri="{FF2B5EF4-FFF2-40B4-BE49-F238E27FC236}">
                <a16:creationId xmlns:a16="http://schemas.microsoft.com/office/drawing/2014/main" id="{E8B3F796-15CE-3542-0328-D6454EF07E57}"/>
              </a:ext>
            </a:extLst>
          </p:cNvPr>
          <p:cNvSpPr/>
          <p:nvPr/>
        </p:nvSpPr>
        <p:spPr>
          <a:xfrm>
            <a:off x="4343400" y="3572256"/>
            <a:ext cx="4800600" cy="1173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5" name="Shape 42">
            <a:extLst>
              <a:ext uri="{FF2B5EF4-FFF2-40B4-BE49-F238E27FC236}">
                <a16:creationId xmlns:a16="http://schemas.microsoft.com/office/drawing/2014/main" id="{5A61D975-9C35-59E7-42B5-D76783D28157}"/>
              </a:ext>
            </a:extLst>
          </p:cNvPr>
          <p:cNvSpPr/>
          <p:nvPr/>
        </p:nvSpPr>
        <p:spPr>
          <a:xfrm>
            <a:off x="4343400" y="3572256"/>
            <a:ext cx="502920" cy="117348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299BFD1B-17EE-97BD-697A-C3DA5C8F499D}"/>
              </a:ext>
            </a:extLst>
          </p:cNvPr>
          <p:cNvSpPr/>
          <p:nvPr/>
        </p:nvSpPr>
        <p:spPr>
          <a:xfrm>
            <a:off x="4343400" y="3572256"/>
            <a:ext cx="50292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47" name="Text 44">
            <a:extLst>
              <a:ext uri="{FF2B5EF4-FFF2-40B4-BE49-F238E27FC236}">
                <a16:creationId xmlns:a16="http://schemas.microsoft.com/office/drawing/2014/main" id="{B9B5A259-1BC0-3711-DD3C-9BEA73114869}"/>
              </a:ext>
            </a:extLst>
          </p:cNvPr>
          <p:cNvSpPr/>
          <p:nvPr/>
        </p:nvSpPr>
        <p:spPr>
          <a:xfrm>
            <a:off x="4937760" y="366369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Efectivo: Recurrentes al 65% en recuperacion</a:t>
            </a:r>
            <a:endParaRPr lang="en-US" sz="1100" dirty="0"/>
          </a:p>
        </p:txBody>
      </p:sp>
      <p:sp>
        <p:nvSpPr>
          <p:cNvPr id="48" name="Text 45">
            <a:extLst>
              <a:ext uri="{FF2B5EF4-FFF2-40B4-BE49-F238E27FC236}">
                <a16:creationId xmlns:a16="http://schemas.microsoft.com/office/drawing/2014/main" id="{BE66334E-1265-C800-B73B-79597AA386D3}"/>
              </a:ext>
            </a:extLst>
          </p:cNvPr>
          <p:cNvSpPr/>
          <p:nvPr/>
        </p:nvSpPr>
        <p:spPr>
          <a:xfrm>
            <a:off x="4937760" y="3919728"/>
            <a:ext cx="4114800" cy="519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Base parcialmente agotada. Dormidos 145% y Nuevos 171% compensan la brecha.</a:t>
            </a:r>
            <a:endParaRPr lang="en-US" sz="900" dirty="0"/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B78E90A2-AD03-1A65-CA73-DF9F0FF13E81}"/>
              </a:ext>
            </a:extLst>
          </p:cNvPr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solidFill>
            <a:srgbClr val="FEF9E7"/>
          </a:solidFill>
          <a:ln w="12700">
            <a:solidFill>
              <a:srgbClr val="FEF9E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0" name="Text 47">
            <a:extLst>
              <a:ext uri="{FF2B5EF4-FFF2-40B4-BE49-F238E27FC236}">
                <a16:creationId xmlns:a16="http://schemas.microsoft.com/office/drawing/2014/main" id="{3F36021C-BB35-A22E-F8E1-C1E979EFA7EA}"/>
              </a:ext>
            </a:extLst>
          </p:cNvPr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C97A0C"/>
                </a:solidFill>
              </a:rPr>
              <a:t>Impacto Medio</a:t>
            </a:r>
            <a:endParaRPr lang="en-US" sz="850" dirty="0"/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035939AE-DBC0-9C10-55E9-EFE99B88B421}"/>
              </a:ext>
            </a:extLst>
          </p:cNvPr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AF96A76C-120E-61AD-FB91-59708D06F98E}"/>
              </a:ext>
            </a:extLst>
          </p:cNvPr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5" name="Text 52">
            <a:extLst>
              <a:ext uri="{FF2B5EF4-FFF2-40B4-BE49-F238E27FC236}">
                <a16:creationId xmlns:a16="http://schemas.microsoft.com/office/drawing/2014/main" id="{5EDE63CF-D60A-65EB-5D98-005F53EF91A6}"/>
              </a:ext>
            </a:extLst>
          </p:cNvPr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GRUPO EFE  |  MONICA MOGOLLON  —  DIAGNOSTICO  |  Monica Mogollon  |  Cierre Julio 2026</a:t>
            </a:r>
            <a:endParaRPr lang="en-US" sz="750" dirty="0"/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A6CDCB05-50D5-3747-E797-42DA053DAD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0019" y="-106317"/>
            <a:ext cx="948004" cy="948004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655D3760-F71B-2EE8-CC7D-03E0CD8472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56552" y="4902997"/>
            <a:ext cx="236904" cy="230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211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507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E2CE8D-8354-4F43-EAA8-B6610A68F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5729CBC-1F4E-8F58-259E-C03E87A66838}"/>
              </a:ext>
            </a:extLst>
          </p:cNvPr>
          <p:cNvSpPr/>
          <p:nvPr/>
        </p:nvSpPr>
        <p:spPr>
          <a:xfrm>
            <a:off x="0" y="0"/>
            <a:ext cx="502920" cy="5143500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4DAD03E-82AC-BABC-4120-D02A397FB671}"/>
              </a:ext>
            </a:extLst>
          </p:cNvPr>
          <p:cNvSpPr/>
          <p:nvPr/>
        </p:nvSpPr>
        <p:spPr>
          <a:xfrm>
            <a:off x="685800" y="2148840"/>
            <a:ext cx="8275320" cy="2286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AEB98B8-CBE7-FAF7-31CB-1ACD3C1EE72C}"/>
              </a:ext>
            </a:extLst>
          </p:cNvPr>
          <p:cNvSpPr/>
          <p:nvPr/>
        </p:nvSpPr>
        <p:spPr>
          <a:xfrm>
            <a:off x="576072" y="1043940"/>
            <a:ext cx="8732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Jose Jesus San Martin: UNICEF RETENCIONES Y DIGITAL</a:t>
            </a:r>
            <a:endParaRPr lang="en-US" sz="32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66935EE-70D7-8EC8-6A9A-F08E34CD2780}"/>
              </a:ext>
            </a:extLst>
          </p:cNvPr>
          <p:cNvSpPr/>
          <p:nvPr/>
        </p:nvSpPr>
        <p:spPr>
          <a:xfrm>
            <a:off x="685800" y="2215515"/>
            <a:ext cx="8732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Jose Jesus San Martin ·  Jefe de Ventas UNICEF</a:t>
            </a:r>
            <a:endParaRPr lang="en-US" sz="14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BC42A01D-1FC0-CED3-B862-5B9A74B11FAD}"/>
              </a:ext>
            </a:extLst>
          </p:cNvPr>
          <p:cNvSpPr/>
          <p:nvPr/>
        </p:nvSpPr>
        <p:spPr>
          <a:xfrm>
            <a:off x="685800" y="2700147"/>
            <a:ext cx="8732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FFFFFF"/>
                </a:solidFill>
              </a:rPr>
              <a:t>Julio 2026</a:t>
            </a:r>
            <a:endParaRPr lang="en-US" sz="1200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A0B98298-CD5E-E2B5-4381-ECFF1A901A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3240003"/>
            <a:ext cx="3657600" cy="2082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12617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73F51C-5E62-7778-FE5E-6DAA9526F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A7BB383-8507-82EC-ADE1-A82310382101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7F0DA0D-327D-768B-91E9-16B5156307BA}"/>
              </a:ext>
            </a:extLst>
          </p:cNvPr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2575B21-F4A1-11B9-84F7-0A4D09F33FE5}"/>
              </a:ext>
            </a:extLst>
          </p:cNvPr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311BD564-4043-9A51-B3EA-2C96493D0864}"/>
              </a:ext>
            </a:extLst>
          </p:cNvPr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RESUMEN GENERAL|  FIDELIZACION · UPGRADE LINEA · SAVING · EXTRACASH · DIGITAL</a:t>
            </a:r>
            <a:endParaRPr lang="en-US" sz="125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BB530855-764C-AA63-F222-700CA8E7A751}"/>
              </a:ext>
            </a:extLst>
          </p:cNvPr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747880D5-0316-DEDA-C67F-0AD7ECD4DC85}"/>
              </a:ext>
            </a:extLst>
          </p:cNvPr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 / 3</a:t>
            </a:r>
            <a:endParaRPr lang="en-US" sz="80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3ADFBA8A-EF26-6583-CBA4-BD96CEBFBFFB}"/>
              </a:ext>
            </a:extLst>
          </p:cNvPr>
          <p:cNvSpPr/>
          <p:nvPr/>
        </p:nvSpPr>
        <p:spPr>
          <a:xfrm>
            <a:off x="201168" y="1152144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7085"/>
                </a:solidFill>
              </a:rPr>
              <a:t>Sub-Gerente: Jose Jesus San Martin</a:t>
            </a:r>
            <a:endParaRPr lang="en-US" sz="90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ED495DF1-EA6A-6C82-2171-76FB1C6C3255}"/>
              </a:ext>
            </a:extLst>
          </p:cNvPr>
          <p:cNvSpPr/>
          <p:nvPr/>
        </p:nvSpPr>
        <p:spPr>
          <a:xfrm>
            <a:off x="475488" y="1265791"/>
            <a:ext cx="3090672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19A075"/>
                </a:solidFill>
              </a:rPr>
              <a:t>90%</a:t>
            </a:r>
            <a:endParaRPr lang="en-US" sz="6000" dirty="0">
              <a:solidFill>
                <a:srgbClr val="19A075"/>
              </a:solidFill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5F787903-8B82-7250-2BE1-106AB1ED9084}"/>
              </a:ext>
            </a:extLst>
          </p:cNvPr>
          <p:cNvSpPr/>
          <p:nvPr/>
        </p:nvSpPr>
        <p:spPr>
          <a:xfrm>
            <a:off x="-65589" y="2697861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7085"/>
                </a:solidFill>
              </a:rPr>
              <a:t>Avance promedio</a:t>
            </a:r>
            <a:endParaRPr lang="en-US" sz="9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1D209B12-B79D-91BC-85C9-4E91F7DBE3D8}"/>
              </a:ext>
            </a:extLst>
          </p:cNvPr>
          <p:cNvSpPr/>
          <p:nvPr/>
        </p:nvSpPr>
        <p:spPr>
          <a:xfrm>
            <a:off x="2633472" y="749808"/>
            <a:ext cx="45719" cy="3773119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959E8BFD-E961-49F9-9403-AC13EC0499FC}"/>
              </a:ext>
            </a:extLst>
          </p:cNvPr>
          <p:cNvSpPr/>
          <p:nvPr/>
        </p:nvSpPr>
        <p:spPr>
          <a:xfrm>
            <a:off x="274320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182DC85-8FA1-3A83-113D-B1F08BD36788}"/>
              </a:ext>
            </a:extLst>
          </p:cNvPr>
          <p:cNvSpPr/>
          <p:nvPr/>
        </p:nvSpPr>
        <p:spPr>
          <a:xfrm>
            <a:off x="288036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CONECTADOS</a:t>
            </a:r>
            <a:endParaRPr lang="en-US" sz="78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C5606370-2D48-382B-500F-A9974F0206E8}"/>
              </a:ext>
            </a:extLst>
          </p:cNvPr>
          <p:cNvSpPr/>
          <p:nvPr/>
        </p:nvSpPr>
        <p:spPr>
          <a:xfrm>
            <a:off x="288036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70</a:t>
            </a:r>
            <a:endParaRPr lang="en-US" sz="220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F5B60288-0D6E-75E0-D6B5-96014B1A9078}"/>
              </a:ext>
            </a:extLst>
          </p:cNvPr>
          <p:cNvSpPr/>
          <p:nvPr/>
        </p:nvSpPr>
        <p:spPr>
          <a:xfrm>
            <a:off x="592074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8940B32C-AAF9-ED44-AB25-45CA90F80AA6}"/>
              </a:ext>
            </a:extLst>
          </p:cNvPr>
          <p:cNvSpPr/>
          <p:nvPr/>
        </p:nvSpPr>
        <p:spPr>
          <a:xfrm>
            <a:off x="605790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DOTACION</a:t>
            </a:r>
            <a:endParaRPr lang="en-US" sz="780" dirty="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81149AF9-F72C-4535-C173-4B180E54F6E2}"/>
              </a:ext>
            </a:extLst>
          </p:cNvPr>
          <p:cNvSpPr/>
          <p:nvPr/>
        </p:nvSpPr>
        <p:spPr>
          <a:xfrm>
            <a:off x="605790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50</a:t>
            </a:r>
            <a:endParaRPr lang="en-US" sz="2200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24B037B0-6918-C181-D0F8-656D9A62EFC3}"/>
              </a:ext>
            </a:extLst>
          </p:cNvPr>
          <p:cNvSpPr/>
          <p:nvPr/>
        </p:nvSpPr>
        <p:spPr>
          <a:xfrm>
            <a:off x="274320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BA42EB48-7AF5-F01D-4EA8-A897999B2D6A}"/>
              </a:ext>
            </a:extLst>
          </p:cNvPr>
          <p:cNvSpPr/>
          <p:nvPr/>
        </p:nvSpPr>
        <p:spPr>
          <a:xfrm>
            <a:off x="288036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PEND. SELECCION</a:t>
            </a:r>
            <a:endParaRPr lang="en-US" sz="780" dirty="0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2CBD7068-1E59-B148-5740-8629732D5132}"/>
              </a:ext>
            </a:extLst>
          </p:cNvPr>
          <p:cNvSpPr/>
          <p:nvPr/>
        </p:nvSpPr>
        <p:spPr>
          <a:xfrm>
            <a:off x="288036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2</a:t>
            </a:r>
            <a:endParaRPr lang="en-US" sz="2200" dirty="0"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3445DB68-2177-A6FE-AA00-3739C2CFACD0}"/>
              </a:ext>
            </a:extLst>
          </p:cNvPr>
          <p:cNvSpPr/>
          <p:nvPr/>
        </p:nvSpPr>
        <p:spPr>
          <a:xfrm>
            <a:off x="592074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67058E3D-F71F-1ACF-603D-D4C038338BBF}"/>
              </a:ext>
            </a:extLst>
          </p:cNvPr>
          <p:cNvSpPr/>
          <p:nvPr/>
        </p:nvSpPr>
        <p:spPr>
          <a:xfrm>
            <a:off x="605790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PEND. INDUCCION</a:t>
            </a:r>
            <a:endParaRPr lang="en-US" sz="780" dirty="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F90D19C5-1D3F-9635-4FC1-4F4C4939AECF}"/>
              </a:ext>
            </a:extLst>
          </p:cNvPr>
          <p:cNvSpPr/>
          <p:nvPr/>
        </p:nvSpPr>
        <p:spPr>
          <a:xfrm>
            <a:off x="605790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16</a:t>
            </a:r>
            <a:endParaRPr lang="en-US" sz="2200" dirty="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E27E0F00-A81E-9B7D-08FD-ECE8897B7971}"/>
              </a:ext>
            </a:extLst>
          </p:cNvPr>
          <p:cNvSpPr/>
          <p:nvPr/>
        </p:nvSpPr>
        <p:spPr>
          <a:xfrm>
            <a:off x="274320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D3E1AF3A-2468-7581-3374-D486A229E684}"/>
              </a:ext>
            </a:extLst>
          </p:cNvPr>
          <p:cNvSpPr/>
          <p:nvPr/>
        </p:nvSpPr>
        <p:spPr>
          <a:xfrm>
            <a:off x="288036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PRESUPUESTO</a:t>
            </a:r>
            <a:endParaRPr lang="en-US" sz="780" dirty="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7E2800A9-2A81-B045-17BE-DA3CE256D854}"/>
              </a:ext>
            </a:extLst>
          </p:cNvPr>
          <p:cNvSpPr/>
          <p:nvPr/>
        </p:nvSpPr>
        <p:spPr>
          <a:xfrm>
            <a:off x="288036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100</a:t>
            </a:r>
            <a:endParaRPr lang="en-US" sz="2200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433DFF1C-4000-CB60-4F68-B3EF029176A2}"/>
              </a:ext>
            </a:extLst>
          </p:cNvPr>
          <p:cNvSpPr/>
          <p:nvPr/>
        </p:nvSpPr>
        <p:spPr>
          <a:xfrm>
            <a:off x="592074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A391B216-82F6-1F27-7534-CA24333ED83E}"/>
              </a:ext>
            </a:extLst>
          </p:cNvPr>
          <p:cNvSpPr/>
          <p:nvPr/>
        </p:nvSpPr>
        <p:spPr>
          <a:xfrm>
            <a:off x="605790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SEMANA</a:t>
            </a:r>
            <a:endParaRPr lang="en-US" sz="780" dirty="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4C8E547E-643F-F800-FB9E-D633C0E01861}"/>
              </a:ext>
            </a:extLst>
          </p:cNvPr>
          <p:cNvSpPr/>
          <p:nvPr/>
        </p:nvSpPr>
        <p:spPr>
          <a:xfrm>
            <a:off x="605790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05</a:t>
            </a:r>
            <a:endParaRPr lang="en-US" sz="2200" dirty="0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AA0BBD82-F929-19AD-66B3-8C72A9478E61}"/>
              </a:ext>
            </a:extLst>
          </p:cNvPr>
          <p:cNvSpPr/>
          <p:nvPr/>
        </p:nvSpPr>
        <p:spPr>
          <a:xfrm>
            <a:off x="0" y="3419856"/>
            <a:ext cx="9144000" cy="234696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A8699A17-8BBF-A221-943F-38B5C913CF63}"/>
              </a:ext>
            </a:extLst>
          </p:cNvPr>
          <p:cNvSpPr/>
          <p:nvPr/>
        </p:nvSpPr>
        <p:spPr>
          <a:xfrm>
            <a:off x="182880" y="3419856"/>
            <a:ext cx="310896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Sub-campaña</a:t>
            </a:r>
            <a:endParaRPr lang="en-US" sz="850" dirty="0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1A25242D-C57A-4FBD-F2B7-4ADC2C6BD23E}"/>
              </a:ext>
            </a:extLst>
          </p:cNvPr>
          <p:cNvSpPr/>
          <p:nvPr/>
        </p:nvSpPr>
        <p:spPr>
          <a:xfrm>
            <a:off x="2561863" y="3419308"/>
            <a:ext cx="118872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Presupuesto</a:t>
            </a:r>
            <a:endParaRPr lang="en-US" sz="850" dirty="0"/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9199EF2B-B1E5-3D75-C6FA-B04E747EF41C}"/>
              </a:ext>
            </a:extLst>
          </p:cNvPr>
          <p:cNvSpPr/>
          <p:nvPr/>
        </p:nvSpPr>
        <p:spPr>
          <a:xfrm>
            <a:off x="4526280" y="3419856"/>
            <a:ext cx="210312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Avance</a:t>
            </a:r>
            <a:endParaRPr lang="en-US" sz="850" dirty="0"/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31BB62F6-4D9A-A4F7-4309-0773E84C30CA}"/>
              </a:ext>
            </a:extLst>
          </p:cNvPr>
          <p:cNvSpPr/>
          <p:nvPr/>
        </p:nvSpPr>
        <p:spPr>
          <a:xfrm>
            <a:off x="6656832" y="3419856"/>
            <a:ext cx="8686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% Logro</a:t>
            </a:r>
            <a:endParaRPr lang="en-US" sz="850" dirty="0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559A4649-1D90-ED4A-66CA-A03A5CF5B842}"/>
              </a:ext>
            </a:extLst>
          </p:cNvPr>
          <p:cNvSpPr/>
          <p:nvPr/>
        </p:nvSpPr>
        <p:spPr>
          <a:xfrm>
            <a:off x="7543800" y="3419856"/>
            <a:ext cx="146304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Proyeccion</a:t>
            </a:r>
            <a:endParaRPr lang="en-US" sz="850" dirty="0"/>
          </a:p>
        </p:txBody>
      </p:sp>
      <p:sp>
        <p:nvSpPr>
          <p:cNvPr id="40" name="Shape 37">
            <a:extLst>
              <a:ext uri="{FF2B5EF4-FFF2-40B4-BE49-F238E27FC236}">
                <a16:creationId xmlns:a16="http://schemas.microsoft.com/office/drawing/2014/main" id="{4F8DAD10-DD3F-9B2C-440D-E6DA297E030D}"/>
              </a:ext>
            </a:extLst>
          </p:cNvPr>
          <p:cNvSpPr/>
          <p:nvPr/>
        </p:nvSpPr>
        <p:spPr>
          <a:xfrm>
            <a:off x="0" y="3654552"/>
            <a:ext cx="9144000" cy="234696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AA2421F1-57F8-71C3-4F3F-25EC93E92D25}"/>
              </a:ext>
            </a:extLst>
          </p:cNvPr>
          <p:cNvSpPr/>
          <p:nvPr/>
        </p:nvSpPr>
        <p:spPr>
          <a:xfrm>
            <a:off x="182880" y="3654552"/>
            <a:ext cx="29260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5078"/>
                </a:solidFill>
              </a:rPr>
              <a:t>TC Telemarketing OUT</a:t>
            </a:r>
            <a:endParaRPr lang="en-US" sz="950" dirty="0"/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29BE4591-6316-F514-1DC5-74870C7DE732}"/>
              </a:ext>
            </a:extLst>
          </p:cNvPr>
          <p:cNvSpPr/>
          <p:nvPr/>
        </p:nvSpPr>
        <p:spPr>
          <a:xfrm>
            <a:off x="2695937" y="3654552"/>
            <a:ext cx="118872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50</a:t>
            </a:r>
            <a:endParaRPr lang="en-US" sz="950" dirty="0"/>
          </a:p>
        </p:txBody>
      </p:sp>
      <p:sp>
        <p:nvSpPr>
          <p:cNvPr id="43" name="Shape 40">
            <a:extLst>
              <a:ext uri="{FF2B5EF4-FFF2-40B4-BE49-F238E27FC236}">
                <a16:creationId xmlns:a16="http://schemas.microsoft.com/office/drawing/2014/main" id="{7312BD1F-2719-645F-D506-636A6B25194B}"/>
              </a:ext>
            </a:extLst>
          </p:cNvPr>
          <p:cNvSpPr/>
          <p:nvPr/>
        </p:nvSpPr>
        <p:spPr>
          <a:xfrm>
            <a:off x="4526280" y="3720267"/>
            <a:ext cx="1920240" cy="98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4" name="Shape 41">
            <a:extLst>
              <a:ext uri="{FF2B5EF4-FFF2-40B4-BE49-F238E27FC236}">
                <a16:creationId xmlns:a16="http://schemas.microsoft.com/office/drawing/2014/main" id="{350EE0EF-E6F5-6892-51A8-50644A25E7AC}"/>
              </a:ext>
            </a:extLst>
          </p:cNvPr>
          <p:cNvSpPr/>
          <p:nvPr/>
        </p:nvSpPr>
        <p:spPr>
          <a:xfrm>
            <a:off x="4526280" y="3720267"/>
            <a:ext cx="1728216" cy="9857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5" name="Text 42">
            <a:extLst>
              <a:ext uri="{FF2B5EF4-FFF2-40B4-BE49-F238E27FC236}">
                <a16:creationId xmlns:a16="http://schemas.microsoft.com/office/drawing/2014/main" id="{9B8F2238-3927-708A-1A76-816E811DAEBB}"/>
              </a:ext>
            </a:extLst>
          </p:cNvPr>
          <p:cNvSpPr/>
          <p:nvPr/>
        </p:nvSpPr>
        <p:spPr>
          <a:xfrm>
            <a:off x="6656832" y="3654552"/>
            <a:ext cx="8686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</a:rPr>
              <a:t>90%</a:t>
            </a:r>
            <a:endParaRPr lang="en-US" sz="1000" dirty="0"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430FDF3F-7127-1F0F-DFB0-C56B0EC8CECB}"/>
              </a:ext>
            </a:extLst>
          </p:cNvPr>
          <p:cNvSpPr/>
          <p:nvPr/>
        </p:nvSpPr>
        <p:spPr>
          <a:xfrm>
            <a:off x="7543800" y="3654552"/>
            <a:ext cx="146304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700</a:t>
            </a:r>
            <a:endParaRPr lang="en-US" sz="850" dirty="0"/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BAA2004E-5590-59BE-BA04-FB7CED4455B0}"/>
              </a:ext>
            </a:extLst>
          </p:cNvPr>
          <p:cNvSpPr/>
          <p:nvPr/>
        </p:nvSpPr>
        <p:spPr>
          <a:xfrm>
            <a:off x="0" y="3889248"/>
            <a:ext cx="9144000" cy="23469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8" name="Text 45">
            <a:extLst>
              <a:ext uri="{FF2B5EF4-FFF2-40B4-BE49-F238E27FC236}">
                <a16:creationId xmlns:a16="http://schemas.microsoft.com/office/drawing/2014/main" id="{A9379D37-5FB0-52FB-0EB0-101E498D47C0}"/>
              </a:ext>
            </a:extLst>
          </p:cNvPr>
          <p:cNvSpPr/>
          <p:nvPr/>
        </p:nvSpPr>
        <p:spPr>
          <a:xfrm>
            <a:off x="182880" y="3889248"/>
            <a:ext cx="29260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5078"/>
                </a:solidFill>
              </a:rPr>
              <a:t>PLD OUT (Prestamos)</a:t>
            </a:r>
            <a:endParaRPr lang="en-US" sz="950" dirty="0"/>
          </a:p>
        </p:txBody>
      </p:sp>
      <p:sp>
        <p:nvSpPr>
          <p:cNvPr id="49" name="Text 46">
            <a:extLst>
              <a:ext uri="{FF2B5EF4-FFF2-40B4-BE49-F238E27FC236}">
                <a16:creationId xmlns:a16="http://schemas.microsoft.com/office/drawing/2014/main" id="{00D71D73-F456-10C8-FFA2-2835EBF61458}"/>
              </a:ext>
            </a:extLst>
          </p:cNvPr>
          <p:cNvSpPr/>
          <p:nvPr/>
        </p:nvSpPr>
        <p:spPr>
          <a:xfrm>
            <a:off x="2695937" y="3889248"/>
            <a:ext cx="118872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16</a:t>
            </a:r>
            <a:endParaRPr lang="en-US" sz="950" dirty="0"/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964FEC3B-880E-C75D-449A-3B25B2C05C47}"/>
              </a:ext>
            </a:extLst>
          </p:cNvPr>
          <p:cNvSpPr/>
          <p:nvPr/>
        </p:nvSpPr>
        <p:spPr>
          <a:xfrm>
            <a:off x="4526280" y="3954963"/>
            <a:ext cx="1920240" cy="98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932138FB-B635-D59F-68A0-C94FA9B956D3}"/>
              </a:ext>
            </a:extLst>
          </p:cNvPr>
          <p:cNvSpPr/>
          <p:nvPr/>
        </p:nvSpPr>
        <p:spPr>
          <a:xfrm>
            <a:off x="4526280" y="3954963"/>
            <a:ext cx="1401775" cy="9857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Text 49">
            <a:extLst>
              <a:ext uri="{FF2B5EF4-FFF2-40B4-BE49-F238E27FC236}">
                <a16:creationId xmlns:a16="http://schemas.microsoft.com/office/drawing/2014/main" id="{21949775-450F-EAEB-3CC9-7B448E98376D}"/>
              </a:ext>
            </a:extLst>
          </p:cNvPr>
          <p:cNvSpPr/>
          <p:nvPr/>
        </p:nvSpPr>
        <p:spPr>
          <a:xfrm>
            <a:off x="6656832" y="3889248"/>
            <a:ext cx="8686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</a:rPr>
              <a:t>73%</a:t>
            </a:r>
            <a:endParaRPr lang="en-US" sz="1000" dirty="0"/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65BEC881-1673-C85C-9C5E-49D481706E79}"/>
              </a:ext>
            </a:extLst>
          </p:cNvPr>
          <p:cNvSpPr/>
          <p:nvPr/>
        </p:nvSpPr>
        <p:spPr>
          <a:xfrm>
            <a:off x="7543800" y="3889248"/>
            <a:ext cx="146304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700</a:t>
            </a:r>
            <a:endParaRPr lang="en-US" sz="850" dirty="0"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EBC15288-556B-E819-0C1C-8A16CDFBABEC}"/>
              </a:ext>
            </a:extLst>
          </p:cNvPr>
          <p:cNvSpPr/>
          <p:nvPr/>
        </p:nvSpPr>
        <p:spPr>
          <a:xfrm>
            <a:off x="0" y="4123944"/>
            <a:ext cx="9144000" cy="234696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5" name="Text 52">
            <a:extLst>
              <a:ext uri="{FF2B5EF4-FFF2-40B4-BE49-F238E27FC236}">
                <a16:creationId xmlns:a16="http://schemas.microsoft.com/office/drawing/2014/main" id="{798444E0-00ED-930B-7355-683384F4523B}"/>
              </a:ext>
            </a:extLst>
          </p:cNvPr>
          <p:cNvSpPr/>
          <p:nvPr/>
        </p:nvSpPr>
        <p:spPr>
          <a:xfrm>
            <a:off x="182880" y="4123944"/>
            <a:ext cx="29260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5078"/>
                </a:solidFill>
              </a:rPr>
              <a:t>Operaciones OUT</a:t>
            </a:r>
            <a:endParaRPr lang="en-US" sz="950" dirty="0"/>
          </a:p>
        </p:txBody>
      </p:sp>
      <p:sp>
        <p:nvSpPr>
          <p:cNvPr id="56" name="Text 53">
            <a:extLst>
              <a:ext uri="{FF2B5EF4-FFF2-40B4-BE49-F238E27FC236}">
                <a16:creationId xmlns:a16="http://schemas.microsoft.com/office/drawing/2014/main" id="{82F2C6BB-8B79-EA97-34BE-216430EF8B43}"/>
              </a:ext>
            </a:extLst>
          </p:cNvPr>
          <p:cNvSpPr/>
          <p:nvPr/>
        </p:nvSpPr>
        <p:spPr>
          <a:xfrm>
            <a:off x="2695937" y="4123944"/>
            <a:ext cx="118872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14</a:t>
            </a:r>
            <a:endParaRPr lang="en-US" sz="950" dirty="0"/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50A48560-92C1-CA70-4617-9616D3B1D9A8}"/>
              </a:ext>
            </a:extLst>
          </p:cNvPr>
          <p:cNvSpPr/>
          <p:nvPr/>
        </p:nvSpPr>
        <p:spPr>
          <a:xfrm>
            <a:off x="4526280" y="4189659"/>
            <a:ext cx="1920240" cy="98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D0E908CB-67DD-6EE0-5E61-ADE7FBC31D03}"/>
              </a:ext>
            </a:extLst>
          </p:cNvPr>
          <p:cNvSpPr/>
          <p:nvPr/>
        </p:nvSpPr>
        <p:spPr>
          <a:xfrm>
            <a:off x="4526280" y="4189659"/>
            <a:ext cx="1747418" cy="9857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9" name="Text 56">
            <a:extLst>
              <a:ext uri="{FF2B5EF4-FFF2-40B4-BE49-F238E27FC236}">
                <a16:creationId xmlns:a16="http://schemas.microsoft.com/office/drawing/2014/main" id="{6D4C827E-FF50-2174-B16E-E8F4077D4599}"/>
              </a:ext>
            </a:extLst>
          </p:cNvPr>
          <p:cNvSpPr/>
          <p:nvPr/>
        </p:nvSpPr>
        <p:spPr>
          <a:xfrm>
            <a:off x="6656832" y="4123944"/>
            <a:ext cx="8686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</a:rPr>
              <a:t>91%</a:t>
            </a:r>
            <a:endParaRPr lang="en-US" sz="1000" dirty="0"/>
          </a:p>
        </p:txBody>
      </p:sp>
      <p:sp>
        <p:nvSpPr>
          <p:cNvPr id="60" name="Text 57">
            <a:extLst>
              <a:ext uri="{FF2B5EF4-FFF2-40B4-BE49-F238E27FC236}">
                <a16:creationId xmlns:a16="http://schemas.microsoft.com/office/drawing/2014/main" id="{D086E8B5-20BE-F462-5A2C-272CE3D9F8F3}"/>
              </a:ext>
            </a:extLst>
          </p:cNvPr>
          <p:cNvSpPr/>
          <p:nvPr/>
        </p:nvSpPr>
        <p:spPr>
          <a:xfrm>
            <a:off x="7543800" y="4123944"/>
            <a:ext cx="146304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700</a:t>
            </a:r>
            <a:endParaRPr lang="en-US" sz="850" dirty="0"/>
          </a:p>
        </p:txBody>
      </p:sp>
      <p:sp>
        <p:nvSpPr>
          <p:cNvPr id="61" name="Shape 58">
            <a:extLst>
              <a:ext uri="{FF2B5EF4-FFF2-40B4-BE49-F238E27FC236}">
                <a16:creationId xmlns:a16="http://schemas.microsoft.com/office/drawing/2014/main" id="{87741144-2F79-4082-F3FE-F44EFC13A68D}"/>
              </a:ext>
            </a:extLst>
          </p:cNvPr>
          <p:cNvSpPr/>
          <p:nvPr/>
        </p:nvSpPr>
        <p:spPr>
          <a:xfrm>
            <a:off x="0" y="4358640"/>
            <a:ext cx="9144000" cy="23469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FFA76F16-4658-F291-0887-2F9542AD9A50}"/>
              </a:ext>
            </a:extLst>
          </p:cNvPr>
          <p:cNvSpPr/>
          <p:nvPr/>
        </p:nvSpPr>
        <p:spPr>
          <a:xfrm>
            <a:off x="182880" y="4358640"/>
            <a:ext cx="29260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 err="1">
                <a:solidFill>
                  <a:srgbClr val="145078"/>
                </a:solidFill>
              </a:rPr>
              <a:t>Portafolio</a:t>
            </a:r>
            <a:endParaRPr lang="en-US" sz="950" dirty="0"/>
          </a:p>
        </p:txBody>
      </p:sp>
      <p:sp>
        <p:nvSpPr>
          <p:cNvPr id="63" name="Text 60">
            <a:extLst>
              <a:ext uri="{FF2B5EF4-FFF2-40B4-BE49-F238E27FC236}">
                <a16:creationId xmlns:a16="http://schemas.microsoft.com/office/drawing/2014/main" id="{04C0FFB9-76DA-7560-F490-834FF2EC48ED}"/>
              </a:ext>
            </a:extLst>
          </p:cNvPr>
          <p:cNvSpPr/>
          <p:nvPr/>
        </p:nvSpPr>
        <p:spPr>
          <a:xfrm>
            <a:off x="2695937" y="4358640"/>
            <a:ext cx="118872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18</a:t>
            </a:r>
            <a:endParaRPr lang="en-US" sz="950" dirty="0"/>
          </a:p>
        </p:txBody>
      </p:sp>
      <p:sp>
        <p:nvSpPr>
          <p:cNvPr id="64" name="Shape 61">
            <a:extLst>
              <a:ext uri="{FF2B5EF4-FFF2-40B4-BE49-F238E27FC236}">
                <a16:creationId xmlns:a16="http://schemas.microsoft.com/office/drawing/2014/main" id="{177C11F4-1989-B48B-157F-FC95330891AC}"/>
              </a:ext>
            </a:extLst>
          </p:cNvPr>
          <p:cNvSpPr/>
          <p:nvPr/>
        </p:nvSpPr>
        <p:spPr>
          <a:xfrm>
            <a:off x="4526280" y="4424355"/>
            <a:ext cx="1920240" cy="98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5" name="Shape 62">
            <a:extLst>
              <a:ext uri="{FF2B5EF4-FFF2-40B4-BE49-F238E27FC236}">
                <a16:creationId xmlns:a16="http://schemas.microsoft.com/office/drawing/2014/main" id="{8FC8538A-19DE-4BEB-BCD3-06E329639793}"/>
              </a:ext>
            </a:extLst>
          </p:cNvPr>
          <p:cNvSpPr/>
          <p:nvPr/>
        </p:nvSpPr>
        <p:spPr>
          <a:xfrm>
            <a:off x="4526280" y="4424355"/>
            <a:ext cx="1728216" cy="9857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6" name="Text 63">
            <a:extLst>
              <a:ext uri="{FF2B5EF4-FFF2-40B4-BE49-F238E27FC236}">
                <a16:creationId xmlns:a16="http://schemas.microsoft.com/office/drawing/2014/main" id="{B991F6B9-454C-0FD5-6FEA-9D35EA643198}"/>
              </a:ext>
            </a:extLst>
          </p:cNvPr>
          <p:cNvSpPr/>
          <p:nvPr/>
        </p:nvSpPr>
        <p:spPr>
          <a:xfrm>
            <a:off x="6656832" y="4358640"/>
            <a:ext cx="8686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</a:rPr>
              <a:t>90%</a:t>
            </a:r>
            <a:endParaRPr lang="en-US" sz="1000" dirty="0"/>
          </a:p>
        </p:txBody>
      </p:sp>
      <p:sp>
        <p:nvSpPr>
          <p:cNvPr id="67" name="Text 64">
            <a:extLst>
              <a:ext uri="{FF2B5EF4-FFF2-40B4-BE49-F238E27FC236}">
                <a16:creationId xmlns:a16="http://schemas.microsoft.com/office/drawing/2014/main" id="{B3729534-24BE-16FB-8368-36FF6FAF47DC}"/>
              </a:ext>
            </a:extLst>
          </p:cNvPr>
          <p:cNvSpPr/>
          <p:nvPr/>
        </p:nvSpPr>
        <p:spPr>
          <a:xfrm>
            <a:off x="7543800" y="4358640"/>
            <a:ext cx="146304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700</a:t>
            </a:r>
            <a:endParaRPr lang="en-US" sz="850" dirty="0"/>
          </a:p>
        </p:txBody>
      </p:sp>
      <p:sp>
        <p:nvSpPr>
          <p:cNvPr id="75" name="Shape 72">
            <a:extLst>
              <a:ext uri="{FF2B5EF4-FFF2-40B4-BE49-F238E27FC236}">
                <a16:creationId xmlns:a16="http://schemas.microsoft.com/office/drawing/2014/main" id="{E146EBDD-1D06-215F-AC84-8AC07443C636}"/>
              </a:ext>
            </a:extLst>
          </p:cNvPr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6" name="Text 73">
            <a:extLst>
              <a:ext uri="{FF2B5EF4-FFF2-40B4-BE49-F238E27FC236}">
                <a16:creationId xmlns:a16="http://schemas.microsoft.com/office/drawing/2014/main" id="{0F518599-F5EB-D868-F8E9-974ED152C069}"/>
              </a:ext>
            </a:extLst>
          </p:cNvPr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UNICEF  |  JOSE JESUS SAN MARTIN  |  Jose Jesus San Martin  |  Cierre Julio 2026</a:t>
            </a:r>
            <a:endParaRPr lang="en-US" sz="750" dirty="0"/>
          </a:p>
        </p:txBody>
      </p:sp>
      <p:sp>
        <p:nvSpPr>
          <p:cNvPr id="78" name="Shape 6">
            <a:extLst>
              <a:ext uri="{FF2B5EF4-FFF2-40B4-BE49-F238E27FC236}">
                <a16:creationId xmlns:a16="http://schemas.microsoft.com/office/drawing/2014/main" id="{83D6FDB1-85E5-E916-E609-06EB10FDF9CF}"/>
              </a:ext>
            </a:extLst>
          </p:cNvPr>
          <p:cNvSpPr/>
          <p:nvPr/>
        </p:nvSpPr>
        <p:spPr>
          <a:xfrm>
            <a:off x="150876" y="785632"/>
            <a:ext cx="2331720" cy="329184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0" name="Shape 7">
            <a:extLst>
              <a:ext uri="{FF2B5EF4-FFF2-40B4-BE49-F238E27FC236}">
                <a16:creationId xmlns:a16="http://schemas.microsoft.com/office/drawing/2014/main" id="{0D36F9D2-E71E-1205-26D8-551C12D59FDB}"/>
              </a:ext>
            </a:extLst>
          </p:cNvPr>
          <p:cNvSpPr/>
          <p:nvPr/>
        </p:nvSpPr>
        <p:spPr>
          <a:xfrm>
            <a:off x="242316" y="858784"/>
            <a:ext cx="164592" cy="16459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2" name="Text 8">
            <a:extLst>
              <a:ext uri="{FF2B5EF4-FFF2-40B4-BE49-F238E27FC236}">
                <a16:creationId xmlns:a16="http://schemas.microsoft.com/office/drawing/2014/main" id="{813D47BE-2319-8211-B235-2BCFD14BD66F}"/>
              </a:ext>
            </a:extLst>
          </p:cNvPr>
          <p:cNvSpPr/>
          <p:nvPr/>
        </p:nvSpPr>
        <p:spPr>
          <a:xfrm>
            <a:off x="461772" y="785632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059669"/>
                </a:solidFill>
              </a:rPr>
              <a:t>EN AVANCE</a:t>
            </a:r>
          </a:p>
        </p:txBody>
      </p:sp>
      <p:sp>
        <p:nvSpPr>
          <p:cNvPr id="10" name="Text 39">
            <a:extLst>
              <a:ext uri="{FF2B5EF4-FFF2-40B4-BE49-F238E27FC236}">
                <a16:creationId xmlns:a16="http://schemas.microsoft.com/office/drawing/2014/main" id="{F065D574-8D43-D05A-68B1-E91D48672039}"/>
              </a:ext>
            </a:extLst>
          </p:cNvPr>
          <p:cNvSpPr/>
          <p:nvPr/>
        </p:nvSpPr>
        <p:spPr>
          <a:xfrm>
            <a:off x="5117268" y="3636752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FAB19E82-0C37-3CCD-B9D8-DE5B69AAB3BE}"/>
              </a:ext>
            </a:extLst>
          </p:cNvPr>
          <p:cNvSpPr/>
          <p:nvPr/>
        </p:nvSpPr>
        <p:spPr>
          <a:xfrm>
            <a:off x="5117268" y="3863431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320EC57E-FDA6-030A-B1F4-BD80608BAAA4}"/>
              </a:ext>
            </a:extLst>
          </p:cNvPr>
          <p:cNvSpPr/>
          <p:nvPr/>
        </p:nvSpPr>
        <p:spPr>
          <a:xfrm>
            <a:off x="5112083" y="4098127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86907E13-CFC9-0097-52F0-E9A05EF19825}"/>
              </a:ext>
            </a:extLst>
          </p:cNvPr>
          <p:cNvSpPr/>
          <p:nvPr/>
        </p:nvSpPr>
        <p:spPr>
          <a:xfrm>
            <a:off x="5134288" y="4332823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89" name="Text 33">
            <a:extLst>
              <a:ext uri="{FF2B5EF4-FFF2-40B4-BE49-F238E27FC236}">
                <a16:creationId xmlns:a16="http://schemas.microsoft.com/office/drawing/2014/main" id="{C2DA35FC-8862-DF88-655C-CF045DC934D6}"/>
              </a:ext>
            </a:extLst>
          </p:cNvPr>
          <p:cNvSpPr/>
          <p:nvPr/>
        </p:nvSpPr>
        <p:spPr>
          <a:xfrm>
            <a:off x="3426494" y="3395827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 err="1">
                <a:solidFill>
                  <a:srgbClr val="FFFFFF"/>
                </a:solidFill>
              </a:rPr>
              <a:t>Conectados</a:t>
            </a:r>
            <a:endParaRPr lang="en-US" sz="850" dirty="0"/>
          </a:p>
        </p:txBody>
      </p:sp>
      <p:sp>
        <p:nvSpPr>
          <p:cNvPr id="91" name="Text 39">
            <a:extLst>
              <a:ext uri="{FF2B5EF4-FFF2-40B4-BE49-F238E27FC236}">
                <a16:creationId xmlns:a16="http://schemas.microsoft.com/office/drawing/2014/main" id="{0337DEA4-6DD6-7869-C5BB-B99B675D781E}"/>
              </a:ext>
            </a:extLst>
          </p:cNvPr>
          <p:cNvSpPr/>
          <p:nvPr/>
        </p:nvSpPr>
        <p:spPr>
          <a:xfrm>
            <a:off x="3659544" y="3850854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40</a:t>
            </a:r>
            <a:endParaRPr lang="en-US" sz="950" dirty="0"/>
          </a:p>
        </p:txBody>
      </p:sp>
      <p:sp>
        <p:nvSpPr>
          <p:cNvPr id="93" name="Text 39">
            <a:extLst>
              <a:ext uri="{FF2B5EF4-FFF2-40B4-BE49-F238E27FC236}">
                <a16:creationId xmlns:a16="http://schemas.microsoft.com/office/drawing/2014/main" id="{4CD69733-C6DB-2A21-FDDE-F13D824CE05A}"/>
              </a:ext>
            </a:extLst>
          </p:cNvPr>
          <p:cNvSpPr/>
          <p:nvPr/>
        </p:nvSpPr>
        <p:spPr>
          <a:xfrm>
            <a:off x="3651295" y="4099851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20</a:t>
            </a:r>
            <a:endParaRPr lang="en-US" sz="950" dirty="0"/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363266AA-900D-239C-C84D-C700E71B9982}"/>
              </a:ext>
            </a:extLst>
          </p:cNvPr>
          <p:cNvSpPr/>
          <p:nvPr/>
        </p:nvSpPr>
        <p:spPr>
          <a:xfrm>
            <a:off x="3659544" y="4328690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28</a:t>
            </a:r>
            <a:endParaRPr lang="en-US" sz="950" dirty="0"/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76FDC28-44B1-8C1F-5C42-5F5C265E40F4}"/>
              </a:ext>
            </a:extLst>
          </p:cNvPr>
          <p:cNvSpPr/>
          <p:nvPr/>
        </p:nvSpPr>
        <p:spPr>
          <a:xfrm>
            <a:off x="3634505" y="3628735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40</a:t>
            </a:r>
            <a:endParaRPr lang="en-US" sz="950" dirty="0"/>
          </a:p>
        </p:txBody>
      </p:sp>
      <p:pic>
        <p:nvPicPr>
          <p:cNvPr id="100" name="Imagen 99">
            <a:extLst>
              <a:ext uri="{FF2B5EF4-FFF2-40B4-BE49-F238E27FC236}">
                <a16:creationId xmlns:a16="http://schemas.microsoft.com/office/drawing/2014/main" id="{721B0679-F29A-F0B4-756E-45AC031CE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4342" y="-144967"/>
            <a:ext cx="1773938" cy="1009802"/>
          </a:xfrm>
          <a:prstGeom prst="rect">
            <a:avLst/>
          </a:prstGeom>
        </p:spPr>
      </p:pic>
      <p:pic>
        <p:nvPicPr>
          <p:cNvPr id="101" name="Panel Resumen">
            <a:extLst>
              <a:ext uri="{FF2B5EF4-FFF2-40B4-BE49-F238E27FC236}">
                <a16:creationId xmlns:a16="http://schemas.microsoft.com/office/drawing/2014/main" id="{9D21D5AA-8466-4A17-DB71-42DECE5178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704088"/>
            <a:ext cx="9144000" cy="4146804"/>
          </a:xfrm>
          <a:prstGeom prst="rect">
            <a:avLst/>
          </a:prstGeom>
        </p:spPr>
      </p:pic>
      <p:sp>
        <p:nvSpPr>
          <p:cNvPr id="102" name="dato_manual">
            <a:extLst>
              <a:ext uri="{FF2B5EF4-FFF2-40B4-BE49-F238E27FC236}">
                <a16:creationId xmlns:a16="http://schemas.microsoft.com/office/drawing/2014/main" id="{7681BEB5-7710-8726-5A9D-28B33275E4E9}"/>
              </a:ext>
            </a:extLst>
          </p:cNvPr>
          <p:cNvSpPr>
            <a:spLocks noGrp="1"/>
          </p:cNvSpPr>
          <p:nvPr/>
        </p:nvSpPr>
        <p:spPr>
          <a:xfrm>
            <a:off x="2743200" y="1422732"/>
            <a:ext cx="1259586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1650" b="1" dirty="0">
                <a:solidFill>
                  <a:srgbClr val="103A5E"/>
                </a:solidFill>
                <a:latin typeface="Arial"/>
              </a:rPr>
              <a:t>70</a:t>
            </a:r>
          </a:p>
        </p:txBody>
      </p:sp>
      <p:sp>
        <p:nvSpPr>
          <p:cNvPr id="103" name="dato_manual">
            <a:extLst>
              <a:ext uri="{FF2B5EF4-FFF2-40B4-BE49-F238E27FC236}">
                <a16:creationId xmlns:a16="http://schemas.microsoft.com/office/drawing/2014/main" id="{BB7B5314-D43B-6D8A-33A3-13A25F4450D5}"/>
              </a:ext>
            </a:extLst>
          </p:cNvPr>
          <p:cNvSpPr>
            <a:spLocks noGrp="1"/>
          </p:cNvSpPr>
          <p:nvPr/>
        </p:nvSpPr>
        <p:spPr>
          <a:xfrm>
            <a:off x="4359401" y="1422732"/>
            <a:ext cx="1259586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1650" b="1" dirty="0">
                <a:solidFill>
                  <a:srgbClr val="103A5E"/>
                </a:solidFill>
                <a:latin typeface="Arial"/>
              </a:rPr>
              <a:t>18</a:t>
            </a:r>
          </a:p>
        </p:txBody>
      </p:sp>
      <p:sp>
        <p:nvSpPr>
          <p:cNvPr id="104" name="dato_manual">
            <a:extLst>
              <a:ext uri="{FF2B5EF4-FFF2-40B4-BE49-F238E27FC236}">
                <a16:creationId xmlns:a16="http://schemas.microsoft.com/office/drawing/2014/main" id="{6B059FDB-CAA8-3BA2-8C4D-C9CCC867F332}"/>
              </a:ext>
            </a:extLst>
          </p:cNvPr>
          <p:cNvSpPr>
            <a:spLocks noGrp="1"/>
          </p:cNvSpPr>
          <p:nvPr/>
        </p:nvSpPr>
        <p:spPr>
          <a:xfrm>
            <a:off x="2531059" y="3109696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50</a:t>
            </a:r>
          </a:p>
        </p:txBody>
      </p:sp>
      <p:sp>
        <p:nvSpPr>
          <p:cNvPr id="105" name="dato_manual">
            <a:extLst>
              <a:ext uri="{FF2B5EF4-FFF2-40B4-BE49-F238E27FC236}">
                <a16:creationId xmlns:a16="http://schemas.microsoft.com/office/drawing/2014/main" id="{B8B423AF-CB08-FDF6-3D1C-27D8A24B0E58}"/>
              </a:ext>
            </a:extLst>
          </p:cNvPr>
          <p:cNvSpPr>
            <a:spLocks noGrp="1"/>
          </p:cNvSpPr>
          <p:nvPr/>
        </p:nvSpPr>
        <p:spPr>
          <a:xfrm>
            <a:off x="3584448" y="3109696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40</a:t>
            </a:r>
          </a:p>
        </p:txBody>
      </p:sp>
      <p:sp>
        <p:nvSpPr>
          <p:cNvPr id="106" name="dato_manual">
            <a:extLst>
              <a:ext uri="{FF2B5EF4-FFF2-40B4-BE49-F238E27FC236}">
                <a16:creationId xmlns:a16="http://schemas.microsoft.com/office/drawing/2014/main" id="{347945F3-59ED-93D7-2C20-7B77BE70152F}"/>
              </a:ext>
            </a:extLst>
          </p:cNvPr>
          <p:cNvSpPr>
            <a:spLocks noGrp="1"/>
          </p:cNvSpPr>
          <p:nvPr/>
        </p:nvSpPr>
        <p:spPr>
          <a:xfrm>
            <a:off x="2531059" y="3455988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7" name="dato_manual">
            <a:extLst>
              <a:ext uri="{FF2B5EF4-FFF2-40B4-BE49-F238E27FC236}">
                <a16:creationId xmlns:a16="http://schemas.microsoft.com/office/drawing/2014/main" id="{0619D8FC-36C7-647D-7C4E-FEF436ED797C}"/>
              </a:ext>
            </a:extLst>
          </p:cNvPr>
          <p:cNvSpPr>
            <a:spLocks noGrp="1"/>
          </p:cNvSpPr>
          <p:nvPr/>
        </p:nvSpPr>
        <p:spPr>
          <a:xfrm>
            <a:off x="3584448" y="3455988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8" name="dato_manual">
            <a:extLst>
              <a:ext uri="{FF2B5EF4-FFF2-40B4-BE49-F238E27FC236}">
                <a16:creationId xmlns:a16="http://schemas.microsoft.com/office/drawing/2014/main" id="{7B4C6B93-8C2D-9326-02A5-EAC63815FC96}"/>
              </a:ext>
            </a:extLst>
          </p:cNvPr>
          <p:cNvSpPr>
            <a:spLocks noGrp="1"/>
          </p:cNvSpPr>
          <p:nvPr/>
        </p:nvSpPr>
        <p:spPr>
          <a:xfrm>
            <a:off x="2531059" y="3802280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14</a:t>
            </a:r>
          </a:p>
        </p:txBody>
      </p:sp>
      <p:sp>
        <p:nvSpPr>
          <p:cNvPr id="109" name="dato_manual">
            <a:extLst>
              <a:ext uri="{FF2B5EF4-FFF2-40B4-BE49-F238E27FC236}">
                <a16:creationId xmlns:a16="http://schemas.microsoft.com/office/drawing/2014/main" id="{8A840093-578D-626B-B1E6-2E73E58E183D}"/>
              </a:ext>
            </a:extLst>
          </p:cNvPr>
          <p:cNvSpPr>
            <a:spLocks noGrp="1"/>
          </p:cNvSpPr>
          <p:nvPr/>
        </p:nvSpPr>
        <p:spPr>
          <a:xfrm>
            <a:off x="3584448" y="3802280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110" name="dato_manual">
            <a:extLst>
              <a:ext uri="{FF2B5EF4-FFF2-40B4-BE49-F238E27FC236}">
                <a16:creationId xmlns:a16="http://schemas.microsoft.com/office/drawing/2014/main" id="{74D6D9E7-0917-3BDB-AC05-5EAA5F9F01C0}"/>
              </a:ext>
            </a:extLst>
          </p:cNvPr>
          <p:cNvSpPr>
            <a:spLocks noGrp="1"/>
          </p:cNvSpPr>
          <p:nvPr/>
        </p:nvSpPr>
        <p:spPr>
          <a:xfrm>
            <a:off x="2531059" y="4148573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18</a:t>
            </a:r>
          </a:p>
        </p:txBody>
      </p:sp>
      <p:sp>
        <p:nvSpPr>
          <p:cNvPr id="111" name="dato_manual">
            <a:extLst>
              <a:ext uri="{FF2B5EF4-FFF2-40B4-BE49-F238E27FC236}">
                <a16:creationId xmlns:a16="http://schemas.microsoft.com/office/drawing/2014/main" id="{80CEB776-95C0-71A2-73FC-4D00BF116E6C}"/>
              </a:ext>
            </a:extLst>
          </p:cNvPr>
          <p:cNvSpPr>
            <a:spLocks noGrp="1"/>
          </p:cNvSpPr>
          <p:nvPr/>
        </p:nvSpPr>
        <p:spPr>
          <a:xfrm>
            <a:off x="3584448" y="4148573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28</a:t>
            </a:r>
          </a:p>
        </p:txBody>
      </p:sp>
      <p:sp>
        <p:nvSpPr>
          <p:cNvPr id="112" name="dato_manual">
            <a:extLst>
              <a:ext uri="{FF2B5EF4-FFF2-40B4-BE49-F238E27FC236}">
                <a16:creationId xmlns:a16="http://schemas.microsoft.com/office/drawing/2014/main" id="{2BE15348-9616-38B8-80C2-FA4231FE17B4}"/>
              </a:ext>
            </a:extLst>
          </p:cNvPr>
          <p:cNvSpPr>
            <a:spLocks noGrp="1"/>
          </p:cNvSpPr>
          <p:nvPr/>
        </p:nvSpPr>
        <p:spPr>
          <a:xfrm>
            <a:off x="2531059" y="4494865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123A5E"/>
                </a:solidFill>
                <a:latin typeface="Arial"/>
              </a:rPr>
              <a:t>82</a:t>
            </a:r>
          </a:p>
        </p:txBody>
      </p:sp>
      <p:sp>
        <p:nvSpPr>
          <p:cNvPr id="113" name="dato_manual">
            <a:extLst>
              <a:ext uri="{FF2B5EF4-FFF2-40B4-BE49-F238E27FC236}">
                <a16:creationId xmlns:a16="http://schemas.microsoft.com/office/drawing/2014/main" id="{E68C327E-0E79-74F7-2464-5989A2D9E2EE}"/>
              </a:ext>
            </a:extLst>
          </p:cNvPr>
          <p:cNvSpPr>
            <a:spLocks noGrp="1"/>
          </p:cNvSpPr>
          <p:nvPr/>
        </p:nvSpPr>
        <p:spPr>
          <a:xfrm>
            <a:off x="3584448" y="4494865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123A5E"/>
                </a:solidFill>
                <a:latin typeface="Arial"/>
              </a:rPr>
              <a:t>88</a:t>
            </a:r>
          </a:p>
        </p:txBody>
      </p:sp>
    </p:spTree>
    <p:extLst>
      <p:ext uri="{BB962C8B-B14F-4D97-AF65-F5344CB8AC3E}">
        <p14:creationId xmlns:p14="http://schemas.microsoft.com/office/powerpoint/2010/main" val="16883715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FE234-C10B-C7EA-3402-87CBBBE78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0D2FFDC-C463-3682-6F6A-A434919E1409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AD8883E-2421-F1FC-671F-024B464DD1A3}"/>
              </a:ext>
            </a:extLst>
          </p:cNvPr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845873C-4E17-A84A-C27C-F55B6267945D}"/>
              </a:ext>
            </a:extLst>
          </p:cNvPr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927D361B-B23D-EDA9-1878-86B38ABE2620}"/>
              </a:ext>
            </a:extLst>
          </p:cNvPr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FIDELIZACION: Información al 18 de Julio</a:t>
            </a:r>
            <a:endParaRPr lang="en-US" sz="125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186AFA94-B4F1-3FBD-CB5D-C87E48229183}"/>
              </a:ext>
            </a:extLst>
          </p:cNvPr>
          <p:cNvSpPr/>
          <p:nvPr/>
        </p:nvSpPr>
        <p:spPr>
          <a:xfrm>
            <a:off x="201168" y="749808"/>
            <a:ext cx="2331720" cy="329184"/>
          </a:xfrm>
          <a:prstGeom prst="rect">
            <a:avLst/>
          </a:prstGeom>
          <a:solidFill>
            <a:srgbClr val="EAF0D2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E33C30D4-1201-D51B-0555-CC478C0C41E6}"/>
              </a:ext>
            </a:extLst>
          </p:cNvPr>
          <p:cNvSpPr/>
          <p:nvPr/>
        </p:nvSpPr>
        <p:spPr>
          <a:xfrm>
            <a:off x="292608" y="822960"/>
            <a:ext cx="164592" cy="164592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63FE7798-D4A9-408A-B2EA-388404C3A5C1}"/>
              </a:ext>
            </a:extLst>
          </p:cNvPr>
          <p:cNvSpPr/>
          <p:nvPr/>
        </p:nvSpPr>
        <p:spPr>
          <a:xfrm>
            <a:off x="512064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8CA61E"/>
                </a:solidFill>
              </a:rPr>
              <a:t>Meta alcanzada</a:t>
            </a:r>
            <a:endParaRPr lang="en-US" sz="95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231DCCAC-5F71-98C4-76C9-729D5D1FD40D}"/>
              </a:ext>
            </a:extLst>
          </p:cNvPr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Gerente: Jose Jesus San Martin</a:t>
            </a:r>
            <a:endParaRPr lang="en-US" sz="85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0B3BC00-2A15-60C1-3F17-104C9A2F6DEE}"/>
              </a:ext>
            </a:extLst>
          </p:cNvPr>
          <p:cNvSpPr/>
          <p:nvPr/>
        </p:nvSpPr>
        <p:spPr>
          <a:xfrm>
            <a:off x="47679" y="1939674"/>
            <a:ext cx="286489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8CA61E"/>
                </a:solidFill>
              </a:rPr>
              <a:t>102%</a:t>
            </a:r>
            <a:endParaRPr lang="en-US" sz="66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3A549112-C06F-6419-74E3-BBA8B31D9826}"/>
              </a:ext>
            </a:extLst>
          </p:cNvPr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7" name="Shape 74">
            <a:extLst>
              <a:ext uri="{FF2B5EF4-FFF2-40B4-BE49-F238E27FC236}">
                <a16:creationId xmlns:a16="http://schemas.microsoft.com/office/drawing/2014/main" id="{3DC45A36-AF37-B7EE-B4B5-68D24E3E401A}"/>
              </a:ext>
            </a:extLst>
          </p:cNvPr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8" name="Text 75">
            <a:extLst>
              <a:ext uri="{FF2B5EF4-FFF2-40B4-BE49-F238E27FC236}">
                <a16:creationId xmlns:a16="http://schemas.microsoft.com/office/drawing/2014/main" id="{55E8F661-D8ED-E0AB-9D8E-7C42603B14F9}"/>
              </a:ext>
            </a:extLst>
          </p:cNvPr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TLM  |  TC TELEMARKETING OUT  |  Jose Jesus San Martin  |  Cierre Julio 2026</a:t>
            </a:r>
            <a:endParaRPr lang="en-US" sz="750" dirty="0"/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677EF628-02FE-97BB-8E7B-B494F6DCA713}"/>
              </a:ext>
            </a:extLst>
          </p:cNvPr>
          <p:cNvSpPr/>
          <p:nvPr/>
        </p:nvSpPr>
        <p:spPr>
          <a:xfrm>
            <a:off x="317734" y="195961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2.90K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D85FEBAC-5F18-CCD5-1418-03A865233601}"/>
              </a:ext>
            </a:extLst>
          </p:cNvPr>
          <p:cNvSpPr/>
          <p:nvPr/>
        </p:nvSpPr>
        <p:spPr>
          <a:xfrm>
            <a:off x="-162082" y="309825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2.12K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9844D16A-C8FB-28B3-7BF4-2A885D4DF95C}"/>
              </a:ext>
            </a:extLst>
          </p:cNvPr>
          <p:cNvSpPr/>
          <p:nvPr/>
        </p:nvSpPr>
        <p:spPr>
          <a:xfrm>
            <a:off x="1036644" y="309481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2.08K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BDE768CE-10B1-7EFA-5E70-39232DDDDA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1449" y="1760062"/>
            <a:ext cx="5884498" cy="1844802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622C61AE-D359-72E8-BF9D-8E8F38966C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6909" y="-102845"/>
            <a:ext cx="1645923" cy="936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7893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01727-6A92-90C2-C167-5D31A2F25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92B8FD6-B373-C88A-B29F-4A99B1258597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1040F7B-3F97-8436-3DE4-340A1229277E}"/>
              </a:ext>
            </a:extLst>
          </p:cNvPr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0332294-037D-AF95-5776-C1399BD55CE5}"/>
              </a:ext>
            </a:extLst>
          </p:cNvPr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D00686F-11DE-117E-0C25-CB69660AEE2E}"/>
              </a:ext>
            </a:extLst>
          </p:cNvPr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UPGRADE LINEA: Información al 18 de Julio</a:t>
            </a:r>
            <a:endParaRPr lang="en-US" sz="125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C943E890-614B-7C3D-A508-220ED28D8E36}"/>
              </a:ext>
            </a:extLst>
          </p:cNvPr>
          <p:cNvSpPr/>
          <p:nvPr/>
        </p:nvSpPr>
        <p:spPr>
          <a:xfrm>
            <a:off x="201168" y="749808"/>
            <a:ext cx="2331720" cy="329184"/>
          </a:xfrm>
          <a:prstGeom prst="rect">
            <a:avLst/>
          </a:prstGeom>
          <a:solidFill>
            <a:srgbClr val="EAF0D2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190CE656-282F-7581-6413-AF7D6B3650A6}"/>
              </a:ext>
            </a:extLst>
          </p:cNvPr>
          <p:cNvSpPr/>
          <p:nvPr/>
        </p:nvSpPr>
        <p:spPr>
          <a:xfrm>
            <a:off x="292608" y="822960"/>
            <a:ext cx="164592" cy="164592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6C49CCDA-DDC8-96D2-F88A-DF8128FFC3EA}"/>
              </a:ext>
            </a:extLst>
          </p:cNvPr>
          <p:cNvSpPr/>
          <p:nvPr/>
        </p:nvSpPr>
        <p:spPr>
          <a:xfrm>
            <a:off x="512064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8CA61E"/>
                </a:solidFill>
              </a:rPr>
              <a:t>Meta alcanzada</a:t>
            </a:r>
            <a:endParaRPr lang="en-US" sz="95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E8A6537C-BB79-D359-C43F-01199A749227}"/>
              </a:ext>
            </a:extLst>
          </p:cNvPr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Gerente: Jose Jesus San Martin</a:t>
            </a:r>
            <a:endParaRPr lang="en-US" sz="85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186D64CF-C7A9-F775-C2F2-80EC5DFE8080}"/>
              </a:ext>
            </a:extLst>
          </p:cNvPr>
          <p:cNvSpPr/>
          <p:nvPr/>
        </p:nvSpPr>
        <p:spPr>
          <a:xfrm>
            <a:off x="47679" y="1939674"/>
            <a:ext cx="286489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8CA61E"/>
                </a:solidFill>
              </a:rPr>
              <a:t>102%</a:t>
            </a:r>
            <a:endParaRPr lang="en-US" sz="66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F7F015BE-0320-B077-59C0-C07FA0E2801D}"/>
              </a:ext>
            </a:extLst>
          </p:cNvPr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7" name="Shape 74">
            <a:extLst>
              <a:ext uri="{FF2B5EF4-FFF2-40B4-BE49-F238E27FC236}">
                <a16:creationId xmlns:a16="http://schemas.microsoft.com/office/drawing/2014/main" id="{3D61F761-9597-A488-92CA-85755CEE80A7}"/>
              </a:ext>
            </a:extLst>
          </p:cNvPr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8" name="Text 75">
            <a:extLst>
              <a:ext uri="{FF2B5EF4-FFF2-40B4-BE49-F238E27FC236}">
                <a16:creationId xmlns:a16="http://schemas.microsoft.com/office/drawing/2014/main" id="{06A00EEF-0C4F-2C40-9198-5D760688EEE8}"/>
              </a:ext>
            </a:extLst>
          </p:cNvPr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TLM  |  TC TELEMARKETING OUT  |  Jose Jesus San Martin  |  Cierre Julio 2026</a:t>
            </a:r>
            <a:endParaRPr lang="en-US" sz="750" dirty="0"/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C31E8D89-6F23-A1C5-3CE3-D5FB7F98A93C}"/>
              </a:ext>
            </a:extLst>
          </p:cNvPr>
          <p:cNvSpPr/>
          <p:nvPr/>
        </p:nvSpPr>
        <p:spPr>
          <a:xfrm>
            <a:off x="317734" y="195961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2.90K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83900041-3A68-7048-1720-7317179F3B77}"/>
              </a:ext>
            </a:extLst>
          </p:cNvPr>
          <p:cNvSpPr/>
          <p:nvPr/>
        </p:nvSpPr>
        <p:spPr>
          <a:xfrm>
            <a:off x="-162082" y="309825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2.12K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F8BB73D2-1980-B46E-59E7-B96C6D840F2A}"/>
              </a:ext>
            </a:extLst>
          </p:cNvPr>
          <p:cNvSpPr/>
          <p:nvPr/>
        </p:nvSpPr>
        <p:spPr>
          <a:xfrm>
            <a:off x="1036644" y="309481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2.08K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4F1DECBA-8BDD-7481-F0D3-7459259479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1449" y="1760062"/>
            <a:ext cx="5884498" cy="1844802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C911ABA5-0079-24A9-C166-C58415AFF8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6909" y="-102845"/>
            <a:ext cx="1645923" cy="936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9627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0ED80-BE5D-2947-34C1-3FE1D5256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293CBD0-A894-9BCC-5217-50C2211907D9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DE98232-6A90-9C7D-DF01-166894F8766E}"/>
              </a:ext>
            </a:extLst>
          </p:cNvPr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E5A9C44-CC43-3F68-C1C7-875A4C7962B5}"/>
              </a:ext>
            </a:extLst>
          </p:cNvPr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27AE940-B13E-2244-90AD-2C57053ABEC3}"/>
              </a:ext>
            </a:extLst>
          </p:cNvPr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SAVING: Información al 18 de Julio</a:t>
            </a:r>
            <a:endParaRPr lang="en-US" sz="125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D77F9931-88AD-FDF4-1E99-8505B1365C42}"/>
              </a:ext>
            </a:extLst>
          </p:cNvPr>
          <p:cNvSpPr/>
          <p:nvPr/>
        </p:nvSpPr>
        <p:spPr>
          <a:xfrm>
            <a:off x="201168" y="749808"/>
            <a:ext cx="2331720" cy="329184"/>
          </a:xfrm>
          <a:prstGeom prst="rect">
            <a:avLst/>
          </a:prstGeom>
          <a:solidFill>
            <a:srgbClr val="EAF0D2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D1D5004C-DA7D-6C00-E3AF-CE759862CD82}"/>
              </a:ext>
            </a:extLst>
          </p:cNvPr>
          <p:cNvSpPr/>
          <p:nvPr/>
        </p:nvSpPr>
        <p:spPr>
          <a:xfrm>
            <a:off x="292608" y="822960"/>
            <a:ext cx="164592" cy="164592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B961F994-4C47-EEDA-D1AB-AA8AD16FD910}"/>
              </a:ext>
            </a:extLst>
          </p:cNvPr>
          <p:cNvSpPr/>
          <p:nvPr/>
        </p:nvSpPr>
        <p:spPr>
          <a:xfrm>
            <a:off x="512064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8CA61E"/>
                </a:solidFill>
              </a:rPr>
              <a:t>Meta alcanzada</a:t>
            </a:r>
            <a:endParaRPr lang="en-US" sz="95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E00C238C-2C88-B159-CA14-0D2F166AFAB2}"/>
              </a:ext>
            </a:extLst>
          </p:cNvPr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Gerente: Jose Jesus San Martin</a:t>
            </a:r>
            <a:endParaRPr lang="en-US" sz="85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C67FFFF1-8B1D-3C90-E278-82F22747EBD6}"/>
              </a:ext>
            </a:extLst>
          </p:cNvPr>
          <p:cNvSpPr/>
          <p:nvPr/>
        </p:nvSpPr>
        <p:spPr>
          <a:xfrm>
            <a:off x="47679" y="1939674"/>
            <a:ext cx="286489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8CA61E"/>
                </a:solidFill>
              </a:rPr>
              <a:t>102%</a:t>
            </a:r>
            <a:endParaRPr lang="en-US" sz="66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62642501-DA34-BEBC-E69F-A1C67D5FDD92}"/>
              </a:ext>
            </a:extLst>
          </p:cNvPr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7" name="Shape 74">
            <a:extLst>
              <a:ext uri="{FF2B5EF4-FFF2-40B4-BE49-F238E27FC236}">
                <a16:creationId xmlns:a16="http://schemas.microsoft.com/office/drawing/2014/main" id="{71187CDF-7692-581B-9C18-6428574AEC61}"/>
              </a:ext>
            </a:extLst>
          </p:cNvPr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8" name="Text 75">
            <a:extLst>
              <a:ext uri="{FF2B5EF4-FFF2-40B4-BE49-F238E27FC236}">
                <a16:creationId xmlns:a16="http://schemas.microsoft.com/office/drawing/2014/main" id="{AFA46D24-0114-049A-B5EA-F8B84F0C899C}"/>
              </a:ext>
            </a:extLst>
          </p:cNvPr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TLM  |  TC TELEMARKETING OUT  |  Jose Jesus San Martin  |  Cierre Julio 2026</a:t>
            </a:r>
            <a:endParaRPr lang="en-US" sz="750" dirty="0"/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A6EC92E7-3AF3-D28B-83E2-C56B500F15DE}"/>
              </a:ext>
            </a:extLst>
          </p:cNvPr>
          <p:cNvSpPr/>
          <p:nvPr/>
        </p:nvSpPr>
        <p:spPr>
          <a:xfrm>
            <a:off x="317734" y="195961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2.90K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930F9745-379C-50D8-8B70-2E6345CFF29A}"/>
              </a:ext>
            </a:extLst>
          </p:cNvPr>
          <p:cNvSpPr/>
          <p:nvPr/>
        </p:nvSpPr>
        <p:spPr>
          <a:xfrm>
            <a:off x="-162082" y="309825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2.12K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DB60CEB0-01A5-74D1-0F4B-AD2F8BF43C2A}"/>
              </a:ext>
            </a:extLst>
          </p:cNvPr>
          <p:cNvSpPr/>
          <p:nvPr/>
        </p:nvSpPr>
        <p:spPr>
          <a:xfrm>
            <a:off x="1036644" y="309481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2.08K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AEC5EE60-F2FE-06A3-1698-ED4493F19A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1449" y="1760062"/>
            <a:ext cx="5884498" cy="1844802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8DE4C9C4-BB56-6BBB-C92C-AE6A74F82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6909" y="-102845"/>
            <a:ext cx="1645923" cy="936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5124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74AC5-3329-76D3-5FAE-C43BF9684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AAB4A93-D216-97A9-10B4-7BFF6D9D8085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A2B9356-B341-91B6-47F5-1BB9813745E3}"/>
              </a:ext>
            </a:extLst>
          </p:cNvPr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F7F726B-F482-D49B-4CDD-A4871BE5324B}"/>
              </a:ext>
            </a:extLst>
          </p:cNvPr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D7E59CE-D87B-CCB2-D958-A310AF3F311F}"/>
              </a:ext>
            </a:extLst>
          </p:cNvPr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EXTRACASH: Información al 18 de Julio</a:t>
            </a:r>
            <a:endParaRPr lang="en-US" sz="125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FEFB15FA-84DE-80C6-1325-BED80BDB0AC2}"/>
              </a:ext>
            </a:extLst>
          </p:cNvPr>
          <p:cNvSpPr/>
          <p:nvPr/>
        </p:nvSpPr>
        <p:spPr>
          <a:xfrm>
            <a:off x="201168" y="749808"/>
            <a:ext cx="2331720" cy="329184"/>
          </a:xfrm>
          <a:prstGeom prst="rect">
            <a:avLst/>
          </a:prstGeom>
          <a:solidFill>
            <a:srgbClr val="EAF0D2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13B6BCF7-0F7F-5EAE-DFD8-7137A8F73730}"/>
              </a:ext>
            </a:extLst>
          </p:cNvPr>
          <p:cNvSpPr/>
          <p:nvPr/>
        </p:nvSpPr>
        <p:spPr>
          <a:xfrm>
            <a:off x="292608" y="822960"/>
            <a:ext cx="164592" cy="164592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4587CD21-D496-B599-C26B-D26DB6211D23}"/>
              </a:ext>
            </a:extLst>
          </p:cNvPr>
          <p:cNvSpPr/>
          <p:nvPr/>
        </p:nvSpPr>
        <p:spPr>
          <a:xfrm>
            <a:off x="512064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8CA61E"/>
                </a:solidFill>
              </a:rPr>
              <a:t>Meta alcanzada</a:t>
            </a:r>
            <a:endParaRPr lang="en-US" sz="95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7870FEDF-3C81-7130-6476-CC1C3220DFFF}"/>
              </a:ext>
            </a:extLst>
          </p:cNvPr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Gerente: Jose Jesus San Martin</a:t>
            </a:r>
            <a:endParaRPr lang="en-US" sz="85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A223DDCC-EAAC-E1BA-F4A6-9EDBC9506EA4}"/>
              </a:ext>
            </a:extLst>
          </p:cNvPr>
          <p:cNvSpPr/>
          <p:nvPr/>
        </p:nvSpPr>
        <p:spPr>
          <a:xfrm>
            <a:off x="47679" y="1939674"/>
            <a:ext cx="286489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8CA61E"/>
                </a:solidFill>
              </a:rPr>
              <a:t>102%</a:t>
            </a:r>
            <a:endParaRPr lang="en-US" sz="66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A4212805-B8E0-A8C3-3928-DB1DBA858B87}"/>
              </a:ext>
            </a:extLst>
          </p:cNvPr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7" name="Shape 74">
            <a:extLst>
              <a:ext uri="{FF2B5EF4-FFF2-40B4-BE49-F238E27FC236}">
                <a16:creationId xmlns:a16="http://schemas.microsoft.com/office/drawing/2014/main" id="{AE6DBB8B-30C0-5DB9-FAEB-FD10AAFB6EFD}"/>
              </a:ext>
            </a:extLst>
          </p:cNvPr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8" name="Text 75">
            <a:extLst>
              <a:ext uri="{FF2B5EF4-FFF2-40B4-BE49-F238E27FC236}">
                <a16:creationId xmlns:a16="http://schemas.microsoft.com/office/drawing/2014/main" id="{F0B3CD1F-E34B-AE90-CA37-EE9305B78DB0}"/>
              </a:ext>
            </a:extLst>
          </p:cNvPr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TLM  |  TC TELEMARKETING OUT  |  Jose Jesus San Martin  |  Cierre Julio 2026</a:t>
            </a:r>
            <a:endParaRPr lang="en-US" sz="750" dirty="0"/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2058ACA4-30F8-802E-9FF4-BC9A1B5DE3E4}"/>
              </a:ext>
            </a:extLst>
          </p:cNvPr>
          <p:cNvSpPr/>
          <p:nvPr/>
        </p:nvSpPr>
        <p:spPr>
          <a:xfrm>
            <a:off x="317734" y="195961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2.90K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0E1FE9E3-A830-D02D-6B25-B9F1E554EEC4}"/>
              </a:ext>
            </a:extLst>
          </p:cNvPr>
          <p:cNvSpPr/>
          <p:nvPr/>
        </p:nvSpPr>
        <p:spPr>
          <a:xfrm>
            <a:off x="-162082" y="309825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2.12K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5410E37B-A237-0E18-FCD6-5BB57C83E805}"/>
              </a:ext>
            </a:extLst>
          </p:cNvPr>
          <p:cNvSpPr/>
          <p:nvPr/>
        </p:nvSpPr>
        <p:spPr>
          <a:xfrm>
            <a:off x="1036644" y="309481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2.08K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95B84A48-D019-43E6-70B6-BBE942062E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1449" y="1760062"/>
            <a:ext cx="5884498" cy="1844802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FFBC0E7D-6195-FAC3-A4EE-03551E5C29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6909" y="-102845"/>
            <a:ext cx="1645923" cy="936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8031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9E539-EA1E-29F8-E1EE-5FDED823D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3F8158E-749D-E526-85DF-E54EAE2B4374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490AEBA-F7DB-7615-F73E-25C957227BF8}"/>
              </a:ext>
            </a:extLst>
          </p:cNvPr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4B49187-F1D4-0478-F94D-24E9D3553E50}"/>
              </a:ext>
            </a:extLst>
          </p:cNvPr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24D0FB1-CF98-05F0-47BC-EFAC429A0B6F}"/>
              </a:ext>
            </a:extLst>
          </p:cNvPr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UNICEF  |  DIAGNOSTICO Y SEGUIMIENTO</a:t>
            </a:r>
            <a:endParaRPr lang="en-US" sz="125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AA1FC2EF-2D12-05D5-710A-35B4FB97F669}"/>
              </a:ext>
            </a:extLst>
          </p:cNvPr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4FF9265D-1367-B8F7-70DC-A763D916710C}"/>
              </a:ext>
            </a:extLst>
          </p:cNvPr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 / 3</a:t>
            </a:r>
            <a:endParaRPr lang="en-US" sz="8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369A7D52-88B3-F0B8-E39C-258AEF6F3BCC}"/>
              </a:ext>
            </a:extLst>
          </p:cNvPr>
          <p:cNvSpPr/>
          <p:nvPr/>
        </p:nvSpPr>
        <p:spPr>
          <a:xfrm>
            <a:off x="0" y="749808"/>
            <a:ext cx="4160520" cy="310896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2190EF2E-CBA8-5B18-7B3B-035D59CD5870}"/>
              </a:ext>
            </a:extLst>
          </p:cNvPr>
          <p:cNvSpPr/>
          <p:nvPr/>
        </p:nvSpPr>
        <p:spPr>
          <a:xfrm>
            <a:off x="91440" y="749808"/>
            <a:ext cx="4069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SEGUIMIENTO PLAN SEMANA ANTERIOR</a:t>
            </a:r>
            <a:endParaRPr lang="en-US" sz="800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777D1AB1-E5D5-04F0-D800-538FC4DA791E}"/>
              </a:ext>
            </a:extLst>
          </p:cNvPr>
          <p:cNvSpPr/>
          <p:nvPr/>
        </p:nvSpPr>
        <p:spPr>
          <a:xfrm>
            <a:off x="0" y="1097280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221A1495-2C18-BA50-AD25-C5D0E9C966E9}"/>
              </a:ext>
            </a:extLst>
          </p:cNvPr>
          <p:cNvSpPr/>
          <p:nvPr/>
        </p:nvSpPr>
        <p:spPr>
          <a:xfrm>
            <a:off x="0" y="1097280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56F6348A-41F5-B2B4-A677-06C89FB088C3}"/>
              </a:ext>
            </a:extLst>
          </p:cNvPr>
          <p:cNvSpPr/>
          <p:nvPr/>
        </p:nvSpPr>
        <p:spPr>
          <a:xfrm>
            <a:off x="128016" y="1152144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Calibracion de pitch + ajuste de guion y roleplay</a:t>
            </a:r>
            <a:endParaRPr lang="en-US" sz="95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8FEE629C-E8D9-A277-74E9-B64079F26ED4}"/>
              </a:ext>
            </a:extLst>
          </p:cNvPr>
          <p:cNvSpPr/>
          <p:nvPr/>
        </p:nvSpPr>
        <p:spPr>
          <a:xfrm>
            <a:off x="128016" y="1815023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B07"/>
                </a:solidFill>
              </a:rPr>
              <a:t>Ejecutado</a:t>
            </a:r>
            <a:endParaRPr lang="en-US" sz="9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A8105EAC-C474-9171-5E09-C95644DD206D}"/>
              </a:ext>
            </a:extLst>
          </p:cNvPr>
          <p:cNvSpPr/>
          <p:nvPr/>
        </p:nvSpPr>
        <p:spPr>
          <a:xfrm>
            <a:off x="0" y="2334768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19A03C9F-C5A0-63E2-CB20-9FF65B156118}"/>
              </a:ext>
            </a:extLst>
          </p:cNvPr>
          <p:cNvSpPr/>
          <p:nvPr/>
        </p:nvSpPr>
        <p:spPr>
          <a:xfrm>
            <a:off x="0" y="2334768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97D817F1-2084-1E4D-241F-018511048F25}"/>
              </a:ext>
            </a:extLst>
          </p:cNvPr>
          <p:cNvSpPr/>
          <p:nvPr/>
        </p:nvSpPr>
        <p:spPr>
          <a:xfrm>
            <a:off x="128016" y="2389632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Talleres conversion + dinamica Strategy_7</a:t>
            </a:r>
            <a:endParaRPr lang="en-US" sz="95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5F988CCB-3CBF-7C21-61EB-A7B3615050C3}"/>
              </a:ext>
            </a:extLst>
          </p:cNvPr>
          <p:cNvSpPr/>
          <p:nvPr/>
        </p:nvSpPr>
        <p:spPr>
          <a:xfrm>
            <a:off x="128016" y="3052511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B07"/>
                </a:solidFill>
              </a:rPr>
              <a:t>En proceso</a:t>
            </a:r>
            <a:endParaRPr lang="en-US" sz="90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6546D19F-0FDA-266A-86A8-CB86416FC6FA}"/>
              </a:ext>
            </a:extLst>
          </p:cNvPr>
          <p:cNvSpPr/>
          <p:nvPr/>
        </p:nvSpPr>
        <p:spPr>
          <a:xfrm>
            <a:off x="0" y="3572256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D4BF49F7-8E85-BED4-C7D8-FEA8AEEE53B3}"/>
              </a:ext>
            </a:extLst>
          </p:cNvPr>
          <p:cNvSpPr/>
          <p:nvPr/>
        </p:nvSpPr>
        <p:spPr>
          <a:xfrm>
            <a:off x="0" y="3572256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ECCB81E2-F059-E127-553B-D5C5350E94BD}"/>
              </a:ext>
            </a:extLst>
          </p:cNvPr>
          <p:cNvSpPr/>
          <p:nvPr/>
        </p:nvSpPr>
        <p:spPr>
          <a:xfrm>
            <a:off x="128016" y="3627120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Completar dotacion Portafolio Efectivo</a:t>
            </a:r>
            <a:endParaRPr lang="en-US" sz="950" dirty="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55C2A061-C0C9-7948-0FE2-814F4509AEBE}"/>
              </a:ext>
            </a:extLst>
          </p:cNvPr>
          <p:cNvSpPr/>
          <p:nvPr/>
        </p:nvSpPr>
        <p:spPr>
          <a:xfrm>
            <a:off x="128016" y="4289999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B07"/>
                </a:solidFill>
              </a:rPr>
              <a:t>En proceso</a:t>
            </a:r>
            <a:endParaRPr lang="en-US" sz="900" dirty="0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78632D91-B7F2-8F26-4673-FFE340204C67}"/>
              </a:ext>
            </a:extLst>
          </p:cNvPr>
          <p:cNvSpPr/>
          <p:nvPr/>
        </p:nvSpPr>
        <p:spPr>
          <a:xfrm>
            <a:off x="4242816" y="749808"/>
            <a:ext cx="18288" cy="4059936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D66B2FDF-9628-DC17-3FD8-5A9AFC889B59}"/>
              </a:ext>
            </a:extLst>
          </p:cNvPr>
          <p:cNvSpPr/>
          <p:nvPr/>
        </p:nvSpPr>
        <p:spPr>
          <a:xfrm>
            <a:off x="4343400" y="749808"/>
            <a:ext cx="4800600" cy="310896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AD09BD62-18C9-3AA2-8201-5B3E05D42976}"/>
              </a:ext>
            </a:extLst>
          </p:cNvPr>
          <p:cNvSpPr/>
          <p:nvPr/>
        </p:nvSpPr>
        <p:spPr>
          <a:xfrm>
            <a:off x="4434840" y="749808"/>
            <a:ext cx="4709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DIAGNOSTICO — CAUSAS RAIZ</a:t>
            </a:r>
            <a:endParaRPr lang="en-US" sz="800" dirty="0"/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D617A0B9-6B65-6DBB-D1BF-102AD481D338}"/>
              </a:ext>
            </a:extLst>
          </p:cNvPr>
          <p:cNvSpPr/>
          <p:nvPr/>
        </p:nvSpPr>
        <p:spPr>
          <a:xfrm>
            <a:off x="4343400" y="1097280"/>
            <a:ext cx="4800600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74A759BD-5949-EEE9-E9A7-01036B602F7C}"/>
              </a:ext>
            </a:extLst>
          </p:cNvPr>
          <p:cNvSpPr/>
          <p:nvPr/>
        </p:nvSpPr>
        <p:spPr>
          <a:xfrm>
            <a:off x="4343400" y="1097280"/>
            <a:ext cx="502920" cy="17922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A2720377-8EA0-15A6-444C-5AB864AFB9FF}"/>
              </a:ext>
            </a:extLst>
          </p:cNvPr>
          <p:cNvSpPr/>
          <p:nvPr/>
        </p:nvSpPr>
        <p:spPr>
          <a:xfrm>
            <a:off x="4343400" y="1097280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DC3659DF-96A2-C406-05C3-C35494F49761}"/>
              </a:ext>
            </a:extLst>
          </p:cNvPr>
          <p:cNvSpPr/>
          <p:nvPr/>
        </p:nvSpPr>
        <p:spPr>
          <a:xfrm>
            <a:off x="4937760" y="1188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5078"/>
                </a:solidFill>
              </a:rPr>
              <a:t>PLD OUT al 73% — conversion desembolso al 40%</a:t>
            </a:r>
            <a:endParaRPr lang="en-US" sz="1100" dirty="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9A3818AF-8744-E94A-FC1E-4BAA0705FF1F}"/>
              </a:ext>
            </a:extLst>
          </p:cNvPr>
          <p:cNvSpPr/>
          <p:nvPr/>
        </p:nvSpPr>
        <p:spPr>
          <a:xfrm>
            <a:off x="4937760" y="1444752"/>
            <a:ext cx="4114800" cy="7796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1828"/>
                </a:solidFill>
              </a:rPr>
              <a:t>Oferta maxima cliente ejecutada al 40%. Gap en pitch de cierre y seguimiento de promesas.</a:t>
            </a:r>
            <a:endParaRPr lang="en-US" sz="900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BEF27566-7BDD-AC33-CEA8-AD6517596075}"/>
              </a:ext>
            </a:extLst>
          </p:cNvPr>
          <p:cNvSpPr/>
          <p:nvPr/>
        </p:nvSpPr>
        <p:spPr>
          <a:xfrm>
            <a:off x="4937760" y="2615184"/>
            <a:ext cx="100584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E42FFA78-5226-3BB5-E9EA-3F2AB5D3F2F0}"/>
              </a:ext>
            </a:extLst>
          </p:cNvPr>
          <p:cNvSpPr/>
          <p:nvPr/>
        </p:nvSpPr>
        <p:spPr>
          <a:xfrm>
            <a:off x="4937760" y="261518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Impacto Alto</a:t>
            </a:r>
            <a:endParaRPr lang="en-US" sz="850" dirty="0"/>
          </a:p>
        </p:txBody>
      </p:sp>
      <p:sp>
        <p:nvSpPr>
          <p:cNvPr id="33" name="Shape 30">
            <a:extLst>
              <a:ext uri="{FF2B5EF4-FFF2-40B4-BE49-F238E27FC236}">
                <a16:creationId xmlns:a16="http://schemas.microsoft.com/office/drawing/2014/main" id="{BEC225B9-D88C-6637-207B-EC36FBC0340C}"/>
              </a:ext>
            </a:extLst>
          </p:cNvPr>
          <p:cNvSpPr/>
          <p:nvPr/>
        </p:nvSpPr>
        <p:spPr>
          <a:xfrm>
            <a:off x="4343400" y="2953512"/>
            <a:ext cx="4800600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1AA52ED7-C8D2-1D35-5E8D-D836582DD359}"/>
              </a:ext>
            </a:extLst>
          </p:cNvPr>
          <p:cNvSpPr/>
          <p:nvPr/>
        </p:nvSpPr>
        <p:spPr>
          <a:xfrm>
            <a:off x="4343400" y="2953512"/>
            <a:ext cx="502920" cy="17922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8FE961B8-22D3-3796-1D39-94CD10A571E7}"/>
              </a:ext>
            </a:extLst>
          </p:cNvPr>
          <p:cNvSpPr/>
          <p:nvPr/>
        </p:nvSpPr>
        <p:spPr>
          <a:xfrm>
            <a:off x="4343400" y="2953512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DBEA2F3A-AB83-979C-2429-61BA831A577E}"/>
              </a:ext>
            </a:extLst>
          </p:cNvPr>
          <p:cNvSpPr/>
          <p:nvPr/>
        </p:nvSpPr>
        <p:spPr>
          <a:xfrm>
            <a:off x="4937760" y="30449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5078"/>
                </a:solidFill>
              </a:rPr>
              <a:t>Portafolio Efectivo al 20% — solo 2 activos de 8</a:t>
            </a:r>
            <a:endParaRPr lang="en-US" sz="1100" dirty="0"/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8FD86D12-9F86-5E77-65F5-54A4BA7B8159}"/>
              </a:ext>
            </a:extLst>
          </p:cNvPr>
          <p:cNvSpPr/>
          <p:nvPr/>
        </p:nvSpPr>
        <p:spPr>
          <a:xfrm>
            <a:off x="4937760" y="3300984"/>
            <a:ext cx="4114800" cy="7796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1828"/>
                </a:solidFill>
              </a:rPr>
              <a:t>Plan de crecimiento escalonado sin completar. Sin dotacion no hay produccion.</a:t>
            </a:r>
            <a:endParaRPr lang="en-US" sz="900" dirty="0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551E0EDE-4842-2D2D-CBB2-AA34A4E21C56}"/>
              </a:ext>
            </a:extLst>
          </p:cNvPr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C411D48F-0587-983A-34C7-7492F70DDE85}"/>
              </a:ext>
            </a:extLst>
          </p:cNvPr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Impacto Alto</a:t>
            </a:r>
            <a:endParaRPr lang="en-US" sz="850" dirty="0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A0D737DA-6C4C-954F-215A-0E1D7125BB9F}"/>
              </a:ext>
            </a:extLst>
          </p:cNvPr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04F14925-C383-657B-9C85-5C09CAC15AE8}"/>
              </a:ext>
            </a:extLst>
          </p:cNvPr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UNICEF  |  DIAGNOSTICO  |  Jose Jesus San Martin  |  Cierre Julio 2026</a:t>
            </a:r>
            <a:endParaRPr lang="en-US" sz="750" dirty="0"/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11BA17C1-F315-D75F-1951-FCD0339BAE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4384" y="-11521"/>
            <a:ext cx="1298448" cy="739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5952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5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0" cy="5143500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685800" y="2148840"/>
            <a:ext cx="8275320" cy="2286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576072" y="1043940"/>
            <a:ext cx="8732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Ronny Aleman: TC TLM - PLD - Operaciones - </a:t>
            </a:r>
            <a:r>
              <a:rPr lang="en-US" sz="3200" b="1" dirty="0" err="1">
                <a:solidFill>
                  <a:srgbClr val="FFFFFF"/>
                </a:solidFill>
              </a:rPr>
              <a:t>Portafolio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85800" y="2215515"/>
            <a:ext cx="8732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Ronny Aleman  ·  Subgerente BBVA TLM OUT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85800" y="2700147"/>
            <a:ext cx="8732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FFFFFF"/>
                </a:solidFill>
              </a:rPr>
              <a:t>Julio 2026</a:t>
            </a:r>
            <a:endParaRPr lang="en-US" sz="1200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208247B6-0ABD-FF21-E0E7-BE74437F74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3240003"/>
            <a:ext cx="3657600" cy="2082063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RESUMEN GENERAL|  TC TLM · PLD OUT · OPERACIONES OUT · PORTAFOLIO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 / 3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201168" y="1152144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7085"/>
                </a:solidFill>
              </a:rPr>
              <a:t>Sub-Gerente: Ronny Aleman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5488" y="1265791"/>
            <a:ext cx="3090672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19A075"/>
                </a:solidFill>
              </a:rPr>
              <a:t>90%</a:t>
            </a:r>
            <a:endParaRPr lang="en-US" sz="6000" dirty="0">
              <a:solidFill>
                <a:srgbClr val="19A075"/>
              </a:solidFill>
            </a:endParaRPr>
          </a:p>
        </p:txBody>
      </p:sp>
      <p:sp>
        <p:nvSpPr>
          <p:cNvPr id="14" name="Text 11"/>
          <p:cNvSpPr/>
          <p:nvPr/>
        </p:nvSpPr>
        <p:spPr>
          <a:xfrm>
            <a:off x="-65589" y="2697861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7085"/>
                </a:solidFill>
              </a:rPr>
              <a:t>Avance promedio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633472" y="749808"/>
            <a:ext cx="45719" cy="3773119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274320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288036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CONECTADOS</a:t>
            </a:r>
            <a:endParaRPr lang="en-US" sz="780" dirty="0"/>
          </a:p>
        </p:txBody>
      </p:sp>
      <p:sp>
        <p:nvSpPr>
          <p:cNvPr id="18" name="Text 15"/>
          <p:cNvSpPr/>
          <p:nvPr/>
        </p:nvSpPr>
        <p:spPr>
          <a:xfrm>
            <a:off x="288036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70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92074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/>
          <p:nvPr/>
        </p:nvSpPr>
        <p:spPr>
          <a:xfrm>
            <a:off x="605790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DOTACION</a:t>
            </a:r>
            <a:endParaRPr lang="en-US" sz="780" dirty="0"/>
          </a:p>
        </p:txBody>
      </p:sp>
      <p:sp>
        <p:nvSpPr>
          <p:cNvPr id="21" name="Text 18"/>
          <p:cNvSpPr/>
          <p:nvPr/>
        </p:nvSpPr>
        <p:spPr>
          <a:xfrm>
            <a:off x="605790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50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274320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/>
          <p:cNvSpPr/>
          <p:nvPr/>
        </p:nvSpPr>
        <p:spPr>
          <a:xfrm>
            <a:off x="288036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PEND. SELECCION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288036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2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592074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/>
          <p:cNvSpPr/>
          <p:nvPr/>
        </p:nvSpPr>
        <p:spPr>
          <a:xfrm>
            <a:off x="605790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PEND. INDUCCION</a:t>
            </a:r>
            <a:endParaRPr lang="en-US" sz="780" dirty="0"/>
          </a:p>
        </p:txBody>
      </p:sp>
      <p:sp>
        <p:nvSpPr>
          <p:cNvPr id="27" name="Text 24"/>
          <p:cNvSpPr/>
          <p:nvPr/>
        </p:nvSpPr>
        <p:spPr>
          <a:xfrm>
            <a:off x="605790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16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274320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/>
          <p:nvPr/>
        </p:nvSpPr>
        <p:spPr>
          <a:xfrm>
            <a:off x="288036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PRESUPUESTO</a:t>
            </a:r>
            <a:endParaRPr lang="en-US" sz="780" dirty="0"/>
          </a:p>
        </p:txBody>
      </p:sp>
      <p:sp>
        <p:nvSpPr>
          <p:cNvPr id="30" name="Text 27"/>
          <p:cNvSpPr/>
          <p:nvPr/>
        </p:nvSpPr>
        <p:spPr>
          <a:xfrm>
            <a:off x="288036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100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92074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05790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SEMANA</a:t>
            </a:r>
            <a:endParaRPr lang="en-US" sz="780" dirty="0"/>
          </a:p>
        </p:txBody>
      </p:sp>
      <p:sp>
        <p:nvSpPr>
          <p:cNvPr id="33" name="Text 30"/>
          <p:cNvSpPr/>
          <p:nvPr/>
        </p:nvSpPr>
        <p:spPr>
          <a:xfrm>
            <a:off x="605790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05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0" y="3419856"/>
            <a:ext cx="9144000" cy="234696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182880" y="3419856"/>
            <a:ext cx="310896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Sub-campaña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2561863" y="3419308"/>
            <a:ext cx="118872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Presupuesto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4526280" y="3419856"/>
            <a:ext cx="210312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Avance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6656832" y="3419856"/>
            <a:ext cx="8686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% Logro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7543800" y="3419856"/>
            <a:ext cx="146304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Proyeccion</a:t>
            </a:r>
            <a:endParaRPr lang="en-US" sz="850" dirty="0"/>
          </a:p>
        </p:txBody>
      </p:sp>
      <p:sp>
        <p:nvSpPr>
          <p:cNvPr id="40" name="Shape 37"/>
          <p:cNvSpPr/>
          <p:nvPr/>
        </p:nvSpPr>
        <p:spPr>
          <a:xfrm>
            <a:off x="0" y="3654552"/>
            <a:ext cx="9144000" cy="234696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1" name="Text 38"/>
          <p:cNvSpPr/>
          <p:nvPr/>
        </p:nvSpPr>
        <p:spPr>
          <a:xfrm>
            <a:off x="182880" y="3654552"/>
            <a:ext cx="29260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5078"/>
                </a:solidFill>
              </a:rPr>
              <a:t>TC Telemarketing OUT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2695937" y="3654552"/>
            <a:ext cx="118872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50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4526280" y="3720267"/>
            <a:ext cx="1920240" cy="98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4" name="Shape 41"/>
          <p:cNvSpPr/>
          <p:nvPr/>
        </p:nvSpPr>
        <p:spPr>
          <a:xfrm>
            <a:off x="4526280" y="3720267"/>
            <a:ext cx="1728216" cy="9857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5" name="Text 42"/>
          <p:cNvSpPr/>
          <p:nvPr/>
        </p:nvSpPr>
        <p:spPr>
          <a:xfrm>
            <a:off x="6656832" y="3654552"/>
            <a:ext cx="8686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</a:rPr>
              <a:t>90%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7543800" y="3654552"/>
            <a:ext cx="146304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700</a:t>
            </a:r>
            <a:endParaRPr lang="en-US" sz="850" dirty="0"/>
          </a:p>
        </p:txBody>
      </p:sp>
      <p:sp>
        <p:nvSpPr>
          <p:cNvPr id="47" name="Shape 44"/>
          <p:cNvSpPr/>
          <p:nvPr/>
        </p:nvSpPr>
        <p:spPr>
          <a:xfrm>
            <a:off x="0" y="3889248"/>
            <a:ext cx="9144000" cy="23469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8" name="Text 45"/>
          <p:cNvSpPr/>
          <p:nvPr/>
        </p:nvSpPr>
        <p:spPr>
          <a:xfrm>
            <a:off x="182880" y="3889248"/>
            <a:ext cx="29260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5078"/>
                </a:solidFill>
              </a:rPr>
              <a:t>PLD OUT (Prestamos)</a:t>
            </a:r>
            <a:endParaRPr lang="en-US" sz="950" dirty="0"/>
          </a:p>
        </p:txBody>
      </p:sp>
      <p:sp>
        <p:nvSpPr>
          <p:cNvPr id="49" name="Text 46"/>
          <p:cNvSpPr/>
          <p:nvPr/>
        </p:nvSpPr>
        <p:spPr>
          <a:xfrm>
            <a:off x="2695937" y="3889248"/>
            <a:ext cx="118872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16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4526280" y="3954963"/>
            <a:ext cx="1920240" cy="98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1" name="Shape 48"/>
          <p:cNvSpPr/>
          <p:nvPr/>
        </p:nvSpPr>
        <p:spPr>
          <a:xfrm>
            <a:off x="4526280" y="3954963"/>
            <a:ext cx="1401775" cy="9857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Text 49"/>
          <p:cNvSpPr/>
          <p:nvPr/>
        </p:nvSpPr>
        <p:spPr>
          <a:xfrm>
            <a:off x="6656832" y="3889248"/>
            <a:ext cx="8686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</a:rPr>
              <a:t>73%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7543800" y="3889248"/>
            <a:ext cx="146304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700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0" y="4123944"/>
            <a:ext cx="9144000" cy="234696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5" name="Text 52"/>
          <p:cNvSpPr/>
          <p:nvPr/>
        </p:nvSpPr>
        <p:spPr>
          <a:xfrm>
            <a:off x="182880" y="4123944"/>
            <a:ext cx="29260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5078"/>
                </a:solidFill>
              </a:rPr>
              <a:t>Operaciones OUT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2695937" y="4123944"/>
            <a:ext cx="118872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14</a:t>
            </a:r>
            <a:endParaRPr lang="en-US" sz="950" dirty="0"/>
          </a:p>
        </p:txBody>
      </p:sp>
      <p:sp>
        <p:nvSpPr>
          <p:cNvPr id="57" name="Shape 54"/>
          <p:cNvSpPr/>
          <p:nvPr/>
        </p:nvSpPr>
        <p:spPr>
          <a:xfrm>
            <a:off x="4526280" y="4189659"/>
            <a:ext cx="1920240" cy="98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8" name="Shape 55"/>
          <p:cNvSpPr/>
          <p:nvPr/>
        </p:nvSpPr>
        <p:spPr>
          <a:xfrm>
            <a:off x="4526280" y="4189659"/>
            <a:ext cx="1747418" cy="9857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9" name="Text 56"/>
          <p:cNvSpPr/>
          <p:nvPr/>
        </p:nvSpPr>
        <p:spPr>
          <a:xfrm>
            <a:off x="6656832" y="4123944"/>
            <a:ext cx="8686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</a:rPr>
              <a:t>91%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7543800" y="4123944"/>
            <a:ext cx="146304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700</a:t>
            </a:r>
            <a:endParaRPr lang="en-US" sz="850" dirty="0"/>
          </a:p>
        </p:txBody>
      </p:sp>
      <p:sp>
        <p:nvSpPr>
          <p:cNvPr id="61" name="Shape 58"/>
          <p:cNvSpPr/>
          <p:nvPr/>
        </p:nvSpPr>
        <p:spPr>
          <a:xfrm>
            <a:off x="0" y="4358640"/>
            <a:ext cx="9144000" cy="23469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2" name="Text 59"/>
          <p:cNvSpPr/>
          <p:nvPr/>
        </p:nvSpPr>
        <p:spPr>
          <a:xfrm>
            <a:off x="182880" y="4358640"/>
            <a:ext cx="29260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 err="1">
                <a:solidFill>
                  <a:srgbClr val="145078"/>
                </a:solidFill>
              </a:rPr>
              <a:t>Portafolio</a:t>
            </a:r>
            <a:endParaRPr lang="en-US" sz="950" dirty="0"/>
          </a:p>
        </p:txBody>
      </p:sp>
      <p:sp>
        <p:nvSpPr>
          <p:cNvPr id="63" name="Text 60"/>
          <p:cNvSpPr/>
          <p:nvPr/>
        </p:nvSpPr>
        <p:spPr>
          <a:xfrm>
            <a:off x="2695937" y="4358640"/>
            <a:ext cx="118872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18</a:t>
            </a:r>
            <a:endParaRPr lang="en-US" sz="950" dirty="0"/>
          </a:p>
        </p:txBody>
      </p:sp>
      <p:sp>
        <p:nvSpPr>
          <p:cNvPr id="64" name="Shape 61"/>
          <p:cNvSpPr/>
          <p:nvPr/>
        </p:nvSpPr>
        <p:spPr>
          <a:xfrm>
            <a:off x="4526280" y="4424355"/>
            <a:ext cx="1920240" cy="98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5" name="Shape 62"/>
          <p:cNvSpPr/>
          <p:nvPr/>
        </p:nvSpPr>
        <p:spPr>
          <a:xfrm>
            <a:off x="4526280" y="4424355"/>
            <a:ext cx="1728216" cy="9857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6" name="Text 63"/>
          <p:cNvSpPr/>
          <p:nvPr/>
        </p:nvSpPr>
        <p:spPr>
          <a:xfrm>
            <a:off x="6656832" y="4358640"/>
            <a:ext cx="8686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</a:rPr>
              <a:t>90%</a:t>
            </a: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7543800" y="4358640"/>
            <a:ext cx="146304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700</a:t>
            </a:r>
            <a:endParaRPr lang="en-US" sz="850" dirty="0"/>
          </a:p>
        </p:txBody>
      </p:sp>
      <p:sp>
        <p:nvSpPr>
          <p:cNvPr id="75" name="Shape 72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6" name="Text 73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TLM OUT  |  RONNY ALEMAN  |  Ronny Aleman  |  Cierre Julio 2026</a:t>
            </a:r>
            <a:endParaRPr lang="en-US" sz="750" dirty="0"/>
          </a:p>
        </p:txBody>
      </p:sp>
      <p:sp>
        <p:nvSpPr>
          <p:cNvPr id="78" name="Shape 6">
            <a:extLst>
              <a:ext uri="{FF2B5EF4-FFF2-40B4-BE49-F238E27FC236}">
                <a16:creationId xmlns:a16="http://schemas.microsoft.com/office/drawing/2014/main" id="{1E55FB29-2C7A-3DF5-E1C1-495612494CC7}"/>
              </a:ext>
            </a:extLst>
          </p:cNvPr>
          <p:cNvSpPr/>
          <p:nvPr/>
        </p:nvSpPr>
        <p:spPr>
          <a:xfrm>
            <a:off x="150876" y="785632"/>
            <a:ext cx="2331720" cy="329184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0" name="Shape 7">
            <a:extLst>
              <a:ext uri="{FF2B5EF4-FFF2-40B4-BE49-F238E27FC236}">
                <a16:creationId xmlns:a16="http://schemas.microsoft.com/office/drawing/2014/main" id="{670DE5C5-466E-0434-E549-07443ECBCDEA}"/>
              </a:ext>
            </a:extLst>
          </p:cNvPr>
          <p:cNvSpPr/>
          <p:nvPr/>
        </p:nvSpPr>
        <p:spPr>
          <a:xfrm>
            <a:off x="242316" y="858784"/>
            <a:ext cx="164592" cy="16459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2" name="Text 8">
            <a:extLst>
              <a:ext uri="{FF2B5EF4-FFF2-40B4-BE49-F238E27FC236}">
                <a16:creationId xmlns:a16="http://schemas.microsoft.com/office/drawing/2014/main" id="{25D52E78-6D8B-03BB-4AC6-1C261FE7C63D}"/>
              </a:ext>
            </a:extLst>
          </p:cNvPr>
          <p:cNvSpPr/>
          <p:nvPr/>
        </p:nvSpPr>
        <p:spPr>
          <a:xfrm>
            <a:off x="461772" y="785632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059669"/>
                </a:solidFill>
              </a:rPr>
              <a:t>EN AVANCE</a:t>
            </a:r>
          </a:p>
        </p:txBody>
      </p:sp>
      <p:sp>
        <p:nvSpPr>
          <p:cNvPr id="10" name="Text 39">
            <a:extLst>
              <a:ext uri="{FF2B5EF4-FFF2-40B4-BE49-F238E27FC236}">
                <a16:creationId xmlns:a16="http://schemas.microsoft.com/office/drawing/2014/main" id="{5F92946E-1D69-F6E6-2C88-56D8E60AE516}"/>
              </a:ext>
            </a:extLst>
          </p:cNvPr>
          <p:cNvSpPr/>
          <p:nvPr/>
        </p:nvSpPr>
        <p:spPr>
          <a:xfrm>
            <a:off x="5117268" y="3636752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5B730E9C-AA80-E186-C853-2B5A3F158C92}"/>
              </a:ext>
            </a:extLst>
          </p:cNvPr>
          <p:cNvSpPr/>
          <p:nvPr/>
        </p:nvSpPr>
        <p:spPr>
          <a:xfrm>
            <a:off x="5117268" y="3863431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39C92EC7-43C5-93A3-ED45-17C5DD507E03}"/>
              </a:ext>
            </a:extLst>
          </p:cNvPr>
          <p:cNvSpPr/>
          <p:nvPr/>
        </p:nvSpPr>
        <p:spPr>
          <a:xfrm>
            <a:off x="5112083" y="4098127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290F34D1-83D5-6F68-33F7-F0CEEC135045}"/>
              </a:ext>
            </a:extLst>
          </p:cNvPr>
          <p:cNvSpPr/>
          <p:nvPr/>
        </p:nvSpPr>
        <p:spPr>
          <a:xfrm>
            <a:off x="5134288" y="4332823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89" name="Text 33">
            <a:extLst>
              <a:ext uri="{FF2B5EF4-FFF2-40B4-BE49-F238E27FC236}">
                <a16:creationId xmlns:a16="http://schemas.microsoft.com/office/drawing/2014/main" id="{51739359-080A-87AC-E263-2B1F7386CDC2}"/>
              </a:ext>
            </a:extLst>
          </p:cNvPr>
          <p:cNvSpPr/>
          <p:nvPr/>
        </p:nvSpPr>
        <p:spPr>
          <a:xfrm>
            <a:off x="3426494" y="3395827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 err="1">
                <a:solidFill>
                  <a:srgbClr val="FFFFFF"/>
                </a:solidFill>
              </a:rPr>
              <a:t>Conectados</a:t>
            </a:r>
            <a:endParaRPr lang="en-US" sz="850" dirty="0"/>
          </a:p>
        </p:txBody>
      </p:sp>
      <p:sp>
        <p:nvSpPr>
          <p:cNvPr id="91" name="Text 39">
            <a:extLst>
              <a:ext uri="{FF2B5EF4-FFF2-40B4-BE49-F238E27FC236}">
                <a16:creationId xmlns:a16="http://schemas.microsoft.com/office/drawing/2014/main" id="{A45C6784-DEFA-6A05-0C12-ACEB39062D5D}"/>
              </a:ext>
            </a:extLst>
          </p:cNvPr>
          <p:cNvSpPr/>
          <p:nvPr/>
        </p:nvSpPr>
        <p:spPr>
          <a:xfrm>
            <a:off x="3659544" y="3850854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40</a:t>
            </a:r>
            <a:endParaRPr lang="en-US" sz="950" dirty="0"/>
          </a:p>
        </p:txBody>
      </p:sp>
      <p:sp>
        <p:nvSpPr>
          <p:cNvPr id="93" name="Text 39">
            <a:extLst>
              <a:ext uri="{FF2B5EF4-FFF2-40B4-BE49-F238E27FC236}">
                <a16:creationId xmlns:a16="http://schemas.microsoft.com/office/drawing/2014/main" id="{B316B709-51A4-52D3-CA68-4E901C66D448}"/>
              </a:ext>
            </a:extLst>
          </p:cNvPr>
          <p:cNvSpPr/>
          <p:nvPr/>
        </p:nvSpPr>
        <p:spPr>
          <a:xfrm>
            <a:off x="3651295" y="4099851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20</a:t>
            </a:r>
            <a:endParaRPr lang="en-US" sz="950" dirty="0"/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DA737AF7-796F-F563-8F6E-7DE3DBA1BE14}"/>
              </a:ext>
            </a:extLst>
          </p:cNvPr>
          <p:cNvSpPr/>
          <p:nvPr/>
        </p:nvSpPr>
        <p:spPr>
          <a:xfrm>
            <a:off x="3659544" y="4328690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28</a:t>
            </a:r>
            <a:endParaRPr lang="en-US" sz="950" dirty="0"/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DD7FE2D-1574-A852-9D78-84797E63A60B}"/>
              </a:ext>
            </a:extLst>
          </p:cNvPr>
          <p:cNvSpPr/>
          <p:nvPr/>
        </p:nvSpPr>
        <p:spPr>
          <a:xfrm>
            <a:off x="3634505" y="3628735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40</a:t>
            </a:r>
            <a:endParaRPr lang="en-US" sz="950" dirty="0"/>
          </a:p>
        </p:txBody>
      </p:sp>
      <p:pic>
        <p:nvPicPr>
          <p:cNvPr id="100" name="Imagen 99">
            <a:extLst>
              <a:ext uri="{FF2B5EF4-FFF2-40B4-BE49-F238E27FC236}">
                <a16:creationId xmlns:a16="http://schemas.microsoft.com/office/drawing/2014/main" id="{7C9C3F1A-8CBE-17D2-6A39-C0A2FBC71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4342" y="-144967"/>
            <a:ext cx="1773938" cy="1009802"/>
          </a:xfrm>
          <a:prstGeom prst="rect">
            <a:avLst/>
          </a:prstGeom>
        </p:spPr>
      </p:pic>
      <p:pic>
        <p:nvPicPr>
          <p:cNvPr id="101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704088"/>
            <a:ext cx="9144000" cy="4146804"/>
          </a:xfrm>
          <a:prstGeom prst="rect">
            <a:avLst/>
          </a:prstGeom>
        </p:spPr>
      </p:pic>
      <p:sp>
        <p:nvSpPr>
          <p:cNvPr id="102" name="dato_manual"/>
          <p:cNvSpPr>
            <a:spLocks noGrp="1"/>
          </p:cNvSpPr>
          <p:nvPr/>
        </p:nvSpPr>
        <p:spPr>
          <a:xfrm>
            <a:off x="2743200" y="1422732"/>
            <a:ext cx="1259586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1650" b="1" dirty="0">
                <a:solidFill>
                  <a:srgbClr val="103A5E"/>
                </a:solidFill>
                <a:latin typeface="Arial"/>
              </a:rPr>
              <a:t>70</a:t>
            </a:r>
          </a:p>
        </p:txBody>
      </p:sp>
      <p:sp>
        <p:nvSpPr>
          <p:cNvPr id="103" name="dato_manual"/>
          <p:cNvSpPr>
            <a:spLocks noGrp="1"/>
          </p:cNvSpPr>
          <p:nvPr/>
        </p:nvSpPr>
        <p:spPr>
          <a:xfrm>
            <a:off x="4359401" y="1422732"/>
            <a:ext cx="1259586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1650" b="1" dirty="0">
                <a:solidFill>
                  <a:srgbClr val="103A5E"/>
                </a:solidFill>
                <a:latin typeface="Arial"/>
              </a:rPr>
              <a:t>18</a:t>
            </a:r>
          </a:p>
        </p:txBody>
      </p:sp>
      <p:sp>
        <p:nvSpPr>
          <p:cNvPr id="104" name="dato_manual"/>
          <p:cNvSpPr>
            <a:spLocks noGrp="1"/>
          </p:cNvSpPr>
          <p:nvPr/>
        </p:nvSpPr>
        <p:spPr>
          <a:xfrm>
            <a:off x="2531059" y="3109696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50</a:t>
            </a:r>
          </a:p>
        </p:txBody>
      </p:sp>
      <p:sp>
        <p:nvSpPr>
          <p:cNvPr id="105" name="dato_manual"/>
          <p:cNvSpPr>
            <a:spLocks noGrp="1"/>
          </p:cNvSpPr>
          <p:nvPr/>
        </p:nvSpPr>
        <p:spPr>
          <a:xfrm>
            <a:off x="3584448" y="3109696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40</a:t>
            </a:r>
          </a:p>
        </p:txBody>
      </p:sp>
      <p:sp>
        <p:nvSpPr>
          <p:cNvPr id="106" name="dato_manual"/>
          <p:cNvSpPr>
            <a:spLocks noGrp="1"/>
          </p:cNvSpPr>
          <p:nvPr/>
        </p:nvSpPr>
        <p:spPr>
          <a:xfrm>
            <a:off x="2531059" y="3455988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7" name="dato_manual"/>
          <p:cNvSpPr>
            <a:spLocks noGrp="1"/>
          </p:cNvSpPr>
          <p:nvPr/>
        </p:nvSpPr>
        <p:spPr>
          <a:xfrm>
            <a:off x="3584448" y="3455988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8" name="dato_manual"/>
          <p:cNvSpPr>
            <a:spLocks noGrp="1"/>
          </p:cNvSpPr>
          <p:nvPr/>
        </p:nvSpPr>
        <p:spPr>
          <a:xfrm>
            <a:off x="2531059" y="3802280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14</a:t>
            </a:r>
          </a:p>
        </p:txBody>
      </p:sp>
      <p:sp>
        <p:nvSpPr>
          <p:cNvPr id="109" name="dato_manual"/>
          <p:cNvSpPr>
            <a:spLocks noGrp="1"/>
          </p:cNvSpPr>
          <p:nvPr/>
        </p:nvSpPr>
        <p:spPr>
          <a:xfrm>
            <a:off x="3584448" y="3802280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2531059" y="4148573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18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3584448" y="4148573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28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2531059" y="4494865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123A5E"/>
                </a:solidFill>
                <a:latin typeface="Arial"/>
              </a:rPr>
              <a:t>82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3584448" y="4494865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123A5E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TC TELEMARKETING OUT: Información al 18 de Julio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29184"/>
          </a:xfrm>
          <a:prstGeom prst="rect">
            <a:avLst/>
          </a:prstGeom>
          <a:solidFill>
            <a:srgbClr val="EAF0D2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64592" cy="164592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12064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8CA61E"/>
                </a:solidFill>
              </a:rPr>
              <a:t>Meta alcanzada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Gerente: Ronny Aleman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7679" y="1939674"/>
            <a:ext cx="286489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8CA61E"/>
                </a:solidFill>
              </a:rPr>
              <a:t>102%</a:t>
            </a:r>
            <a:endParaRPr lang="en-US" sz="6600" dirty="0"/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7" name="Shape 7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8" name="Text 7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TLM  |  TC TELEMARKETING OUT  |  Ronny Aleman  |  Cierre Julio 2026</a:t>
            </a:r>
            <a:endParaRPr lang="en-US" sz="750" dirty="0"/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6A52EC1A-ECE5-7429-EB2B-53DDC576150A}"/>
              </a:ext>
            </a:extLst>
          </p:cNvPr>
          <p:cNvSpPr/>
          <p:nvPr/>
        </p:nvSpPr>
        <p:spPr>
          <a:xfrm>
            <a:off x="317734" y="195961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2.90K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19304F58-7AC2-FD96-3E5B-D3891140C0ED}"/>
              </a:ext>
            </a:extLst>
          </p:cNvPr>
          <p:cNvSpPr/>
          <p:nvPr/>
        </p:nvSpPr>
        <p:spPr>
          <a:xfrm>
            <a:off x="-162082" y="309825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2.12K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8DC758B8-8C77-33D6-72A9-856DE757EDDF}"/>
              </a:ext>
            </a:extLst>
          </p:cNvPr>
          <p:cNvSpPr/>
          <p:nvPr/>
        </p:nvSpPr>
        <p:spPr>
          <a:xfrm>
            <a:off x="1036644" y="309481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2.08K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42A79ACB-DCF5-C9C4-DE27-9C7BCD9389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1449" y="1760062"/>
            <a:ext cx="5884498" cy="1844802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FD118CC7-1577-BE8C-D36C-D9875A02B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6909" y="-102845"/>
            <a:ext cx="1645923" cy="93693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PLD OUT PRESTAMOS: Información al 18 de Julio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 / 5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29184"/>
          </a:xfrm>
          <a:prstGeom prst="rect">
            <a:avLst/>
          </a:prstGeom>
          <a:solidFill>
            <a:srgbClr val="F7DDDA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64592" cy="16459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12064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392B"/>
                </a:solidFill>
              </a:rPr>
              <a:t>Bajo la meta</a:t>
            </a:r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Lider: Ronny Aleman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01168" y="2080313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C0392B"/>
                </a:solidFill>
              </a:rPr>
              <a:t>71.0%</a:t>
            </a:r>
            <a:endParaRPr lang="en-US" sz="7200" dirty="0"/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Shape 69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3" name="Text 70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TLM  |  PLD OUT (PRESTAMOS)  |  Ronny Aleman  |  Cierre Julio 2026</a:t>
            </a:r>
            <a:endParaRPr lang="en-US" sz="750" dirty="0"/>
          </a:p>
        </p:txBody>
      </p:sp>
      <p:sp>
        <p:nvSpPr>
          <p:cNvPr id="75" name="Text 26">
            <a:extLst>
              <a:ext uri="{FF2B5EF4-FFF2-40B4-BE49-F238E27FC236}">
                <a16:creationId xmlns:a16="http://schemas.microsoft.com/office/drawing/2014/main" id="{A3CE5A69-2D8A-DEC3-224F-DC959E3CE084}"/>
              </a:ext>
            </a:extLst>
          </p:cNvPr>
          <p:cNvSpPr/>
          <p:nvPr/>
        </p:nvSpPr>
        <p:spPr>
          <a:xfrm>
            <a:off x="372071" y="2019018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360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00A0BCA2-1D05-DDB4-7B19-ACF1A687F615}"/>
              </a:ext>
            </a:extLst>
          </p:cNvPr>
          <p:cNvSpPr/>
          <p:nvPr/>
        </p:nvSpPr>
        <p:spPr>
          <a:xfrm>
            <a:off x="-107745" y="3157657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176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07A0A797-C2A0-0C0F-F1C9-7AB6F9DFA654}"/>
              </a:ext>
            </a:extLst>
          </p:cNvPr>
          <p:cNvSpPr/>
          <p:nvPr/>
        </p:nvSpPr>
        <p:spPr>
          <a:xfrm>
            <a:off x="1090981" y="3154217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248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8" name="BARRAS_AVANCE_PRESTAMOS_OUT" descr="image.png">
            <a:extLst>
              <a:ext uri="{FF2B5EF4-FFF2-40B4-BE49-F238E27FC236}">
                <a16:creationId xmlns:a16="http://schemas.microsoft.com/office/drawing/2014/main" id="{44F9A783-719F-6E0E-CB32-278EB6E24E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1576" y="1697652"/>
            <a:ext cx="5385290" cy="1819364"/>
          </a:xfrm>
          <a:prstGeom prst="rect">
            <a:avLst/>
          </a:prstGeom>
        </p:spPr>
      </p:pic>
      <p:pic>
        <p:nvPicPr>
          <p:cNvPr id="29" name="Imagen 28">
            <a:extLst>
              <a:ext uri="{FF2B5EF4-FFF2-40B4-BE49-F238E27FC236}">
                <a16:creationId xmlns:a16="http://schemas.microsoft.com/office/drawing/2014/main" id="{3632DD9D-BBCB-FF88-8097-E7A8691717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6909" y="-113970"/>
            <a:ext cx="1645923" cy="93693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OPERACIONES OUT: : Información al 18 de Julio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29184"/>
          </a:xfrm>
          <a:prstGeom prst="rect">
            <a:avLst/>
          </a:prstGeom>
          <a:solidFill>
            <a:srgbClr val="EAF0D2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64592" cy="164592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12064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8CA61E"/>
                </a:solidFill>
              </a:rPr>
              <a:t>Meta alcanzada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Gerente: Ronny Aleman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58782" y="2079549"/>
            <a:ext cx="282839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8CA61E"/>
                </a:solidFill>
              </a:rPr>
              <a:t>106%</a:t>
            </a:r>
            <a:endParaRPr lang="en-US" sz="6600" dirty="0"/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TLM  |  OPERACIONES OUT  |  Ronny Aleman  |  Cierre Julio 2026</a:t>
            </a:r>
            <a:endParaRPr lang="en-US" sz="750" dirty="0"/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19DC7FAC-F2C8-7C50-C52D-609D7BDC37C7}"/>
              </a:ext>
            </a:extLst>
          </p:cNvPr>
          <p:cNvSpPr/>
          <p:nvPr/>
        </p:nvSpPr>
        <p:spPr>
          <a:xfrm>
            <a:off x="317734" y="2048488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5.25K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8" name="Text 26">
            <a:extLst>
              <a:ext uri="{FF2B5EF4-FFF2-40B4-BE49-F238E27FC236}">
                <a16:creationId xmlns:a16="http://schemas.microsoft.com/office/drawing/2014/main" id="{8A18A742-CA04-9FB6-9013-10B872A82677}"/>
              </a:ext>
            </a:extLst>
          </p:cNvPr>
          <p:cNvSpPr/>
          <p:nvPr/>
        </p:nvSpPr>
        <p:spPr>
          <a:xfrm>
            <a:off x="-162082" y="3187127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4.07K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8A3E5AD3-EA77-5D27-6691-7BA2A6BCDDC2}"/>
              </a:ext>
            </a:extLst>
          </p:cNvPr>
          <p:cNvSpPr/>
          <p:nvPr/>
        </p:nvSpPr>
        <p:spPr>
          <a:xfrm>
            <a:off x="1036644" y="3183687"/>
            <a:ext cx="15236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3.82K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0" name="BARRAS_AVANCE_OPERACIONES" descr="image.png">
            <a:extLst>
              <a:ext uri="{FF2B5EF4-FFF2-40B4-BE49-F238E27FC236}">
                <a16:creationId xmlns:a16="http://schemas.microsoft.com/office/drawing/2014/main" id="{FBD52858-531C-6FF7-88EB-E80D74F86A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8182" y="1804481"/>
            <a:ext cx="4899760" cy="1671814"/>
          </a:xfrm>
          <a:prstGeom prst="rect">
            <a:avLst/>
          </a:prstGeom>
        </p:spPr>
      </p:pic>
      <p:pic>
        <p:nvPicPr>
          <p:cNvPr id="31" name="Imagen 30">
            <a:extLst>
              <a:ext uri="{FF2B5EF4-FFF2-40B4-BE49-F238E27FC236}">
                <a16:creationId xmlns:a16="http://schemas.microsoft.com/office/drawing/2014/main" id="{83EE3A7F-9640-B14C-05BA-B13F0401CF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0354" y="-107818"/>
            <a:ext cx="1645923" cy="93693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PORTAFOLIO: Información al 18 de Julio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Gerente: Ronny Aleman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1445" y="2192975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E08A1E"/>
                </a:solidFill>
              </a:rPr>
              <a:t>98.0%</a:t>
            </a:r>
            <a:endParaRPr lang="en-US" sz="6600" dirty="0">
              <a:solidFill>
                <a:srgbClr val="D97706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TLM  |  PORTAFOLIO EFECTIVO  |  Ronny Aleman  |  Cierre Julio 2026</a:t>
            </a:r>
            <a:endParaRPr lang="en-US" sz="750" dirty="0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47F183FE-CFFB-69E3-3EA0-0A139F9F9FBC}"/>
              </a:ext>
            </a:extLst>
          </p:cNvPr>
          <p:cNvSpPr/>
          <p:nvPr/>
        </p:nvSpPr>
        <p:spPr>
          <a:xfrm>
            <a:off x="403403" y="212066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12.50M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B2955AC3-DCA7-84EF-4488-32597A99A94B}"/>
              </a:ext>
            </a:extLst>
          </p:cNvPr>
          <p:cNvSpPr/>
          <p:nvPr/>
        </p:nvSpPr>
        <p:spPr>
          <a:xfrm>
            <a:off x="-92742" y="3275629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7.56M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4633EEC3-E4C1-EBE0-DE74-E75CC831C279}"/>
              </a:ext>
            </a:extLst>
          </p:cNvPr>
          <p:cNvSpPr/>
          <p:nvPr/>
        </p:nvSpPr>
        <p:spPr>
          <a:xfrm>
            <a:off x="1024339" y="3255860"/>
            <a:ext cx="1624998" cy="3543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7.72M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BARRAS_AVANCE_EFECTIVO" descr="image.png">
            <a:extLst>
              <a:ext uri="{FF2B5EF4-FFF2-40B4-BE49-F238E27FC236}">
                <a16:creationId xmlns:a16="http://schemas.microsoft.com/office/drawing/2014/main" id="{54B66F17-D06F-2B6B-E662-6755E700F0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4051" y="1500402"/>
            <a:ext cx="6160051" cy="2489957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21A3CA72-0301-57BA-CCEC-D057CA6B3B4E}"/>
              </a:ext>
            </a:extLst>
          </p:cNvPr>
          <p:cNvSpPr/>
          <p:nvPr/>
        </p:nvSpPr>
        <p:spPr>
          <a:xfrm>
            <a:off x="89154" y="775423"/>
            <a:ext cx="2331720" cy="329184"/>
          </a:xfrm>
          <a:prstGeom prst="rect">
            <a:avLst/>
          </a:prstGeom>
          <a:solidFill>
            <a:srgbClr val="FBEED6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4F653980-A1C1-A5E7-8548-D79EA748600E}"/>
              </a:ext>
            </a:extLst>
          </p:cNvPr>
          <p:cNvSpPr/>
          <p:nvPr/>
        </p:nvSpPr>
        <p:spPr>
          <a:xfrm>
            <a:off x="180594" y="848575"/>
            <a:ext cx="164592" cy="164592"/>
          </a:xfrm>
          <a:prstGeom prst="ellipse">
            <a:avLst/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B4BD7086-9E6A-7CBE-AA66-56550A90C3CA}"/>
              </a:ext>
            </a:extLst>
          </p:cNvPr>
          <p:cNvSpPr/>
          <p:nvPr/>
        </p:nvSpPr>
        <p:spPr>
          <a:xfrm>
            <a:off x="400050" y="775423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08A1E"/>
                </a:solidFill>
              </a:rPr>
              <a:t>Cerca de la meta</a:t>
            </a:r>
            <a:endParaRPr lang="en-US" sz="95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AEE3A5D-0727-E6DB-463A-AE28CC2B80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9248" y="-13311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BBVA TLM OUT  |  DIAGNOSTICO Y SEGUIMIENTO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 / 3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0" y="749808"/>
            <a:ext cx="4160520" cy="310896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91440" y="749808"/>
            <a:ext cx="4069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SEGUIMIENTO PLAN SEMANA ANTERIOR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0" y="1097280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097280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28016" y="1152144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Calibracion de pitch + ajuste de guion y roleplay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28016" y="1815023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B07"/>
                </a:solidFill>
              </a:rPr>
              <a:t>Ejecutado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0" y="2334768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0" y="2334768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28016" y="2389632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Talleres conversion + dinamica Strategy_7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28016" y="3052511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B07"/>
                </a:solidFill>
              </a:rPr>
              <a:t>En proceso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0" y="3572256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Shape 17"/>
          <p:cNvSpPr/>
          <p:nvPr/>
        </p:nvSpPr>
        <p:spPr>
          <a:xfrm>
            <a:off x="0" y="3572256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/>
          <p:cNvSpPr/>
          <p:nvPr/>
        </p:nvSpPr>
        <p:spPr>
          <a:xfrm>
            <a:off x="128016" y="3627120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Completar dotacion Portafolio Efectivo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28016" y="4289999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B07"/>
                </a:solidFill>
              </a:rPr>
              <a:t>En proceso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242816" y="749808"/>
            <a:ext cx="18288" cy="4059936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4343400" y="749808"/>
            <a:ext cx="4800600" cy="310896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4434840" y="749808"/>
            <a:ext cx="4709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DIAGNOSTICO — CAUSAS RAIZ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4343400" y="1097280"/>
            <a:ext cx="4800600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Shape 24"/>
          <p:cNvSpPr/>
          <p:nvPr/>
        </p:nvSpPr>
        <p:spPr>
          <a:xfrm>
            <a:off x="4343400" y="1097280"/>
            <a:ext cx="502920" cy="17922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4343400" y="1097280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4937760" y="1188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5078"/>
                </a:solidFill>
              </a:rPr>
              <a:t>PLD OUT al 73% — conversion desembolso al 40%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937760" y="1444752"/>
            <a:ext cx="4114800" cy="7796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1828"/>
                </a:solidFill>
              </a:rPr>
              <a:t>Oferta maxima cliente ejecutada al 40%. Gap en pitch de cierre y seguimiento de promesas.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4937760" y="2615184"/>
            <a:ext cx="100584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4937760" y="261518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Impacto Alto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343400" y="2953512"/>
            <a:ext cx="4800600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Shape 31"/>
          <p:cNvSpPr/>
          <p:nvPr/>
        </p:nvSpPr>
        <p:spPr>
          <a:xfrm>
            <a:off x="4343400" y="2953512"/>
            <a:ext cx="502920" cy="17922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4343400" y="2953512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937760" y="30449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5078"/>
                </a:solidFill>
              </a:rPr>
              <a:t>Portafolio Efectivo al 20% — solo 2 activos de 8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4937760" y="3300984"/>
            <a:ext cx="4114800" cy="7796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1828"/>
                </a:solidFill>
              </a:rPr>
              <a:t>Plan de crecimiento escalonado sin completar. Sin dotacion no hay produccion.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Impacto Alto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TLM OUT  |  DIAGNOSTICO  |  Ronny Aleman  |  Cierre Julio 2026</a:t>
            </a:r>
            <a:endParaRPr lang="en-US" sz="750" dirty="0"/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AF98D781-2B6A-88FB-F3D2-7A8EB5594F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4384" y="-11521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5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0" cy="5143500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685800" y="2148840"/>
            <a:ext cx="8275320" cy="2286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685800" y="1069848"/>
            <a:ext cx="8732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Norma Levano: TC </a:t>
            </a:r>
            <a:r>
              <a:rPr lang="en-US" sz="3200" b="1" dirty="0" err="1">
                <a:solidFill>
                  <a:srgbClr val="FFFFFF"/>
                </a:solidFill>
              </a:rPr>
              <a:t>Hibrido</a:t>
            </a:r>
            <a:r>
              <a:rPr lang="en-US" sz="3200" b="1" dirty="0">
                <a:solidFill>
                  <a:srgbClr val="FFFFFF"/>
                </a:solidFill>
              </a:rPr>
              <a:t> - PLD Digital - Operaciones - TC Respaldada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85800" y="2244852"/>
            <a:ext cx="8732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Norma Levano  ·  Sub-Gerente BBVA Digital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85800" y="2766822"/>
            <a:ext cx="8732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FFFFFF"/>
                </a:solidFill>
              </a:rPr>
              <a:t>Julio 2026</a:t>
            </a:r>
            <a:endParaRPr lang="en-US" sz="12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6F17E0B2-9198-3AF4-16E7-F636B621DC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5496" y="3197352"/>
            <a:ext cx="3785624" cy="215494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RESUMEN GENERAL|  TC HIBRIDO · PLD DIGITAL · OPERACIONES DIGITAL · TC RESPALDADA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 / 3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47472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82880" cy="1828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30352" y="749808"/>
            <a:ext cx="1984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D97706"/>
                </a:solidFill>
              </a:rPr>
              <a:t>EN SEGUIMIENTO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201168" y="1152144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7085"/>
                </a:solidFill>
              </a:rPr>
              <a:t>Sub-Gerente: Norma Levano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201168" y="1463040"/>
            <a:ext cx="233172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0" b="1" dirty="0">
                <a:solidFill>
                  <a:srgbClr val="D97706"/>
                </a:solidFill>
              </a:rPr>
              <a:t>82%</a:t>
            </a:r>
            <a:endParaRPr lang="en-US" sz="8000" dirty="0"/>
          </a:p>
        </p:txBody>
      </p:sp>
      <p:sp>
        <p:nvSpPr>
          <p:cNvPr id="14" name="Text 11"/>
          <p:cNvSpPr/>
          <p:nvPr/>
        </p:nvSpPr>
        <p:spPr>
          <a:xfrm>
            <a:off x="201168" y="2907792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7085"/>
                </a:solidFill>
              </a:rPr>
              <a:t>Avance promedio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633472" y="749808"/>
            <a:ext cx="20117" cy="406908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274320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288036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CONECTADOS</a:t>
            </a:r>
            <a:endParaRPr lang="en-US" sz="780" dirty="0"/>
          </a:p>
        </p:txBody>
      </p:sp>
      <p:sp>
        <p:nvSpPr>
          <p:cNvPr id="18" name="Text 15"/>
          <p:cNvSpPr/>
          <p:nvPr/>
        </p:nvSpPr>
        <p:spPr>
          <a:xfrm>
            <a:off x="288036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57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92074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/>
          <p:nvPr/>
        </p:nvSpPr>
        <p:spPr>
          <a:xfrm>
            <a:off x="605790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DOTACION</a:t>
            </a:r>
            <a:endParaRPr lang="en-US" sz="780" dirty="0"/>
          </a:p>
        </p:txBody>
      </p:sp>
      <p:sp>
        <p:nvSpPr>
          <p:cNvPr id="21" name="Text 18"/>
          <p:cNvSpPr/>
          <p:nvPr/>
        </p:nvSpPr>
        <p:spPr>
          <a:xfrm>
            <a:off x="605790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71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274320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/>
          <p:cNvSpPr/>
          <p:nvPr/>
        </p:nvSpPr>
        <p:spPr>
          <a:xfrm>
            <a:off x="288036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PEND. SELECCION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288036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1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592074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/>
          <p:cNvSpPr/>
          <p:nvPr/>
        </p:nvSpPr>
        <p:spPr>
          <a:xfrm>
            <a:off x="605790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PEND. INDUCCION</a:t>
            </a:r>
            <a:endParaRPr lang="en-US" sz="780" dirty="0"/>
          </a:p>
        </p:txBody>
      </p:sp>
      <p:sp>
        <p:nvSpPr>
          <p:cNvPr id="27" name="Text 24"/>
          <p:cNvSpPr/>
          <p:nvPr/>
        </p:nvSpPr>
        <p:spPr>
          <a:xfrm>
            <a:off x="605790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13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274320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/>
          <p:nvPr/>
        </p:nvSpPr>
        <p:spPr>
          <a:xfrm>
            <a:off x="288036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PRESUPUESTO</a:t>
            </a:r>
            <a:endParaRPr lang="en-US" sz="780" dirty="0"/>
          </a:p>
        </p:txBody>
      </p:sp>
      <p:sp>
        <p:nvSpPr>
          <p:cNvPr id="30" name="Text 27"/>
          <p:cNvSpPr/>
          <p:nvPr/>
        </p:nvSpPr>
        <p:spPr>
          <a:xfrm>
            <a:off x="288036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71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92074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05790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SEMANA</a:t>
            </a:r>
            <a:endParaRPr lang="en-US" sz="780" dirty="0"/>
          </a:p>
        </p:txBody>
      </p:sp>
      <p:sp>
        <p:nvSpPr>
          <p:cNvPr id="33" name="Text 30"/>
          <p:cNvSpPr/>
          <p:nvPr/>
        </p:nvSpPr>
        <p:spPr>
          <a:xfrm>
            <a:off x="605790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05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0" y="3419856"/>
            <a:ext cx="9144000" cy="281635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182880" y="3419856"/>
            <a:ext cx="310896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Sub-campaña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2351570" y="341985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Presupuesto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4526280" y="3419856"/>
            <a:ext cx="21031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Avance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6656832" y="3419856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% Logro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7543800" y="3419856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Proyeccion</a:t>
            </a:r>
            <a:endParaRPr lang="en-US" sz="850" dirty="0"/>
          </a:p>
        </p:txBody>
      </p:sp>
      <p:sp>
        <p:nvSpPr>
          <p:cNvPr id="40" name="Shape 37"/>
          <p:cNvSpPr/>
          <p:nvPr/>
        </p:nvSpPr>
        <p:spPr>
          <a:xfrm>
            <a:off x="0" y="3701491"/>
            <a:ext cx="9144000" cy="281635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1" name="Text 38"/>
          <p:cNvSpPr/>
          <p:nvPr/>
        </p:nvSpPr>
        <p:spPr>
          <a:xfrm>
            <a:off x="182880" y="3701491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5078"/>
                </a:solidFill>
              </a:rPr>
              <a:t>TC Hibrido (Tarjetas Digital)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2498212" y="3701491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25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4526280" y="3780349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4" name="Shape 41"/>
          <p:cNvSpPr/>
          <p:nvPr/>
        </p:nvSpPr>
        <p:spPr>
          <a:xfrm>
            <a:off x="4526280" y="3780349"/>
            <a:ext cx="1459382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5" name="Text 42"/>
          <p:cNvSpPr/>
          <p:nvPr/>
        </p:nvSpPr>
        <p:spPr>
          <a:xfrm>
            <a:off x="6656832" y="3701491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</a:rPr>
              <a:t>76%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7543800" y="3701491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700</a:t>
            </a:r>
            <a:endParaRPr lang="en-US" sz="850" dirty="0"/>
          </a:p>
        </p:txBody>
      </p:sp>
      <p:sp>
        <p:nvSpPr>
          <p:cNvPr id="47" name="Shape 44"/>
          <p:cNvSpPr/>
          <p:nvPr/>
        </p:nvSpPr>
        <p:spPr>
          <a:xfrm>
            <a:off x="0" y="3983126"/>
            <a:ext cx="9144000" cy="281635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8" name="Text 45"/>
          <p:cNvSpPr/>
          <p:nvPr/>
        </p:nvSpPr>
        <p:spPr>
          <a:xfrm>
            <a:off x="182880" y="3983126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5078"/>
                </a:solidFill>
              </a:rPr>
              <a:t>Operaciones Digital</a:t>
            </a:r>
            <a:endParaRPr lang="en-US" sz="950" dirty="0"/>
          </a:p>
        </p:txBody>
      </p:sp>
      <p:sp>
        <p:nvSpPr>
          <p:cNvPr id="49" name="Text 46"/>
          <p:cNvSpPr/>
          <p:nvPr/>
        </p:nvSpPr>
        <p:spPr>
          <a:xfrm>
            <a:off x="2498212" y="398312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20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4526280" y="4061984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1" name="Shape 48"/>
          <p:cNvSpPr/>
          <p:nvPr/>
        </p:nvSpPr>
        <p:spPr>
          <a:xfrm>
            <a:off x="4526280" y="4061984"/>
            <a:ext cx="1536192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Text 49"/>
          <p:cNvSpPr/>
          <p:nvPr/>
        </p:nvSpPr>
        <p:spPr>
          <a:xfrm>
            <a:off x="6656832" y="3983126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</a:rPr>
              <a:t>80%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7543800" y="3983126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700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0" y="4264762"/>
            <a:ext cx="9144000" cy="281635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5" name="Text 52"/>
          <p:cNvSpPr/>
          <p:nvPr/>
        </p:nvSpPr>
        <p:spPr>
          <a:xfrm>
            <a:off x="182880" y="4264762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5078"/>
                </a:solidFill>
              </a:rPr>
              <a:t>PLD Digital (Prestamos)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2498212" y="4264762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10</a:t>
            </a:r>
            <a:endParaRPr lang="en-US" sz="950" dirty="0"/>
          </a:p>
        </p:txBody>
      </p:sp>
      <p:sp>
        <p:nvSpPr>
          <p:cNvPr id="57" name="Shape 54"/>
          <p:cNvSpPr/>
          <p:nvPr/>
        </p:nvSpPr>
        <p:spPr>
          <a:xfrm>
            <a:off x="4526280" y="4343619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8" name="Shape 55"/>
          <p:cNvSpPr/>
          <p:nvPr/>
        </p:nvSpPr>
        <p:spPr>
          <a:xfrm>
            <a:off x="4526280" y="4343619"/>
            <a:ext cx="1920240" cy="118287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9" name="Text 56"/>
          <p:cNvSpPr/>
          <p:nvPr/>
        </p:nvSpPr>
        <p:spPr>
          <a:xfrm>
            <a:off x="6656832" y="4264762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</a:rPr>
              <a:t>103%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7543800" y="4264762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700</a:t>
            </a:r>
            <a:endParaRPr lang="en-US" sz="850" dirty="0"/>
          </a:p>
        </p:txBody>
      </p:sp>
      <p:sp>
        <p:nvSpPr>
          <p:cNvPr id="61" name="Shape 58"/>
          <p:cNvSpPr/>
          <p:nvPr/>
        </p:nvSpPr>
        <p:spPr>
          <a:xfrm>
            <a:off x="0" y="4546397"/>
            <a:ext cx="9144000" cy="281635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2" name="Text 59"/>
          <p:cNvSpPr/>
          <p:nvPr/>
        </p:nvSpPr>
        <p:spPr>
          <a:xfrm>
            <a:off x="182880" y="4546397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5078"/>
                </a:solidFill>
              </a:rPr>
              <a:t>TC Respaldada</a:t>
            </a:r>
            <a:endParaRPr lang="en-US" sz="950" dirty="0"/>
          </a:p>
        </p:txBody>
      </p:sp>
      <p:sp>
        <p:nvSpPr>
          <p:cNvPr id="63" name="Text 60"/>
          <p:cNvSpPr/>
          <p:nvPr/>
        </p:nvSpPr>
        <p:spPr>
          <a:xfrm>
            <a:off x="2498212" y="4546397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16</a:t>
            </a:r>
            <a:endParaRPr lang="en-US" sz="950" dirty="0"/>
          </a:p>
        </p:txBody>
      </p:sp>
      <p:sp>
        <p:nvSpPr>
          <p:cNvPr id="64" name="Shape 61"/>
          <p:cNvSpPr/>
          <p:nvPr/>
        </p:nvSpPr>
        <p:spPr>
          <a:xfrm>
            <a:off x="4526280" y="4625255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5" name="Shape 62"/>
          <p:cNvSpPr/>
          <p:nvPr/>
        </p:nvSpPr>
        <p:spPr>
          <a:xfrm>
            <a:off x="4526280" y="4625255"/>
            <a:ext cx="1555394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6" name="Text 63"/>
          <p:cNvSpPr/>
          <p:nvPr/>
        </p:nvSpPr>
        <p:spPr>
          <a:xfrm>
            <a:off x="6656832" y="4546397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</a:rPr>
              <a:t>81%</a:t>
            </a: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7543800" y="4546397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700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9" name="Text 66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DIGITAL  |  NORMA LEVANO  |  Norma Levano  |  Cierre Julio 2026</a:t>
            </a:r>
            <a:endParaRPr lang="en-US" sz="750" dirty="0"/>
          </a:p>
        </p:txBody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EDB46277-5DFE-41CA-1D0F-8607DDACB47C}"/>
              </a:ext>
            </a:extLst>
          </p:cNvPr>
          <p:cNvSpPr/>
          <p:nvPr/>
        </p:nvSpPr>
        <p:spPr>
          <a:xfrm>
            <a:off x="5060549" y="3710636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16D5521A-7387-FF67-F06A-F8B3DB17D9C2}"/>
              </a:ext>
            </a:extLst>
          </p:cNvPr>
          <p:cNvSpPr/>
          <p:nvPr/>
        </p:nvSpPr>
        <p:spPr>
          <a:xfrm>
            <a:off x="5134288" y="3988773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5E6D863A-D9F8-DABA-51E9-6A141B079082}"/>
              </a:ext>
            </a:extLst>
          </p:cNvPr>
          <p:cNvSpPr/>
          <p:nvPr/>
        </p:nvSpPr>
        <p:spPr>
          <a:xfrm>
            <a:off x="5224718" y="4261944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734381A0-16F3-499C-91FB-57637AE08174}"/>
              </a:ext>
            </a:extLst>
          </p:cNvPr>
          <p:cNvSpPr/>
          <p:nvPr/>
        </p:nvSpPr>
        <p:spPr>
          <a:xfrm>
            <a:off x="5084665" y="4546397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EE6159A9-E90D-225C-BE9F-3193D446CBFD}"/>
              </a:ext>
            </a:extLst>
          </p:cNvPr>
          <p:cNvSpPr/>
          <p:nvPr/>
        </p:nvSpPr>
        <p:spPr>
          <a:xfrm>
            <a:off x="3328305" y="3399699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 err="1">
                <a:solidFill>
                  <a:srgbClr val="FFFFFF"/>
                </a:solidFill>
              </a:rPr>
              <a:t>Conectados</a:t>
            </a:r>
            <a:endParaRPr lang="en-US" sz="850" dirty="0"/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65069EF4-EF82-2351-6446-1AD3FC907DB8}"/>
              </a:ext>
            </a:extLst>
          </p:cNvPr>
          <p:cNvSpPr/>
          <p:nvPr/>
        </p:nvSpPr>
        <p:spPr>
          <a:xfrm>
            <a:off x="3530781" y="365397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40</a:t>
            </a:r>
            <a:endParaRPr lang="en-US" sz="950" dirty="0"/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ED12223E-687F-9E78-F20F-888642B45EC3}"/>
              </a:ext>
            </a:extLst>
          </p:cNvPr>
          <p:cNvSpPr/>
          <p:nvPr/>
        </p:nvSpPr>
        <p:spPr>
          <a:xfrm>
            <a:off x="3544480" y="398295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20</a:t>
            </a:r>
            <a:endParaRPr lang="en-US" sz="950" dirty="0"/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744C982A-CC8C-5C69-CED9-0D2A261DFB08}"/>
              </a:ext>
            </a:extLst>
          </p:cNvPr>
          <p:cNvSpPr/>
          <p:nvPr/>
        </p:nvSpPr>
        <p:spPr>
          <a:xfrm>
            <a:off x="3561355" y="4263554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28</a:t>
            </a:r>
            <a:endParaRPr lang="en-US" sz="950" dirty="0"/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B5DFDEA4-93A8-540B-CE5F-627403DF028F}"/>
              </a:ext>
            </a:extLst>
          </p:cNvPr>
          <p:cNvSpPr/>
          <p:nvPr/>
        </p:nvSpPr>
        <p:spPr>
          <a:xfrm>
            <a:off x="3585612" y="4545189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4</a:t>
            </a:r>
            <a:endParaRPr lang="en-US" sz="950" dirty="0"/>
          </a:p>
        </p:txBody>
      </p:sp>
      <p:pic>
        <p:nvPicPr>
          <p:cNvPr id="89" name="Picture 8">
            <a:extLst>
              <a:ext uri="{FF2B5EF4-FFF2-40B4-BE49-F238E27FC236}">
                <a16:creationId xmlns:a16="http://schemas.microsoft.com/office/drawing/2014/main" id="{DB335D8E-DAD0-8DAF-3C94-76A1564C5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9248" y="-15232"/>
            <a:ext cx="1298448" cy="739132"/>
          </a:xfrm>
          <a:prstGeom prst="rect">
            <a:avLst/>
          </a:prstGeom>
        </p:spPr>
      </p:pic>
      <p:pic>
        <p:nvPicPr>
          <p:cNvPr id="90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704088"/>
            <a:ext cx="9144000" cy="4146804"/>
          </a:xfrm>
          <a:prstGeom prst="rect">
            <a:avLst/>
          </a:prstGeom>
        </p:spPr>
      </p:pic>
      <p:sp>
        <p:nvSpPr>
          <p:cNvPr id="91" name="dato_manual"/>
          <p:cNvSpPr>
            <a:spLocks noGrp="1"/>
          </p:cNvSpPr>
          <p:nvPr/>
        </p:nvSpPr>
        <p:spPr>
          <a:xfrm>
            <a:off x="2743200" y="1422732"/>
            <a:ext cx="1259586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1650" b="1" dirty="0">
                <a:solidFill>
                  <a:srgbClr val="103A5E"/>
                </a:solidFill>
                <a:latin typeface="Arial"/>
              </a:rPr>
              <a:t>57</a:t>
            </a:r>
          </a:p>
        </p:txBody>
      </p:sp>
      <p:sp>
        <p:nvSpPr>
          <p:cNvPr id="92" name="dato_manual"/>
          <p:cNvSpPr>
            <a:spLocks noGrp="1"/>
          </p:cNvSpPr>
          <p:nvPr/>
        </p:nvSpPr>
        <p:spPr>
          <a:xfrm>
            <a:off x="4359401" y="1422732"/>
            <a:ext cx="1259586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1650" b="1" dirty="0">
                <a:solidFill>
                  <a:srgbClr val="103A5E"/>
                </a:solidFill>
                <a:latin typeface="Arial"/>
              </a:rPr>
              <a:t>14</a:t>
            </a:r>
          </a:p>
        </p:txBody>
      </p:sp>
      <p:sp>
        <p:nvSpPr>
          <p:cNvPr id="93" name="dato_manual"/>
          <p:cNvSpPr>
            <a:spLocks noGrp="1"/>
          </p:cNvSpPr>
          <p:nvPr/>
        </p:nvSpPr>
        <p:spPr>
          <a:xfrm>
            <a:off x="2531059" y="3109696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4" name="dato_manual"/>
          <p:cNvSpPr>
            <a:spLocks noGrp="1"/>
          </p:cNvSpPr>
          <p:nvPr/>
        </p:nvSpPr>
        <p:spPr>
          <a:xfrm>
            <a:off x="3584448" y="3109696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5" name="dato_manual"/>
          <p:cNvSpPr>
            <a:spLocks noGrp="1"/>
          </p:cNvSpPr>
          <p:nvPr/>
        </p:nvSpPr>
        <p:spPr>
          <a:xfrm>
            <a:off x="2531059" y="3455988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96" name="dato_manual"/>
          <p:cNvSpPr>
            <a:spLocks noGrp="1"/>
          </p:cNvSpPr>
          <p:nvPr/>
        </p:nvSpPr>
        <p:spPr>
          <a:xfrm>
            <a:off x="3584448" y="3455988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97" name="dato_manual"/>
          <p:cNvSpPr>
            <a:spLocks noGrp="1"/>
          </p:cNvSpPr>
          <p:nvPr/>
        </p:nvSpPr>
        <p:spPr>
          <a:xfrm>
            <a:off x="2531059" y="3802280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8" name="dato_manual"/>
          <p:cNvSpPr>
            <a:spLocks noGrp="1"/>
          </p:cNvSpPr>
          <p:nvPr/>
        </p:nvSpPr>
        <p:spPr>
          <a:xfrm>
            <a:off x="3584448" y="3802280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9" name="dato_manual"/>
          <p:cNvSpPr>
            <a:spLocks noGrp="1"/>
          </p:cNvSpPr>
          <p:nvPr/>
        </p:nvSpPr>
        <p:spPr>
          <a:xfrm>
            <a:off x="2531059" y="4148573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16</a:t>
            </a:r>
          </a:p>
        </p:txBody>
      </p:sp>
      <p:sp>
        <p:nvSpPr>
          <p:cNvPr id="100" name="dato_manual"/>
          <p:cNvSpPr>
            <a:spLocks noGrp="1"/>
          </p:cNvSpPr>
          <p:nvPr/>
        </p:nvSpPr>
        <p:spPr>
          <a:xfrm>
            <a:off x="3584448" y="4148573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4</a:t>
            </a:r>
          </a:p>
        </p:txBody>
      </p:sp>
      <p:sp>
        <p:nvSpPr>
          <p:cNvPr id="101" name="dato_manual"/>
          <p:cNvSpPr>
            <a:spLocks noGrp="1"/>
          </p:cNvSpPr>
          <p:nvPr/>
        </p:nvSpPr>
        <p:spPr>
          <a:xfrm>
            <a:off x="2531059" y="4494865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123A5E"/>
                </a:solidFill>
                <a:latin typeface="Arial"/>
              </a:rPr>
              <a:t>36</a:t>
            </a:r>
          </a:p>
        </p:txBody>
      </p:sp>
      <p:sp>
        <p:nvSpPr>
          <p:cNvPr id="102" name="dato_manual"/>
          <p:cNvSpPr>
            <a:spLocks noGrp="1"/>
          </p:cNvSpPr>
          <p:nvPr/>
        </p:nvSpPr>
        <p:spPr>
          <a:xfrm>
            <a:off x="3584448" y="4494865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123A5E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TC HIBRIDO — TARJETAS DIGITAL: Información al 18 de Julio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 / 4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i="1" dirty="0">
                <a:solidFill>
                  <a:srgbClr val="667085"/>
                </a:solidFill>
              </a:rPr>
              <a:t>Sub-</a:t>
            </a:r>
            <a:r>
              <a:rPr lang="en-US" sz="800" i="1" dirty="0" err="1">
                <a:solidFill>
                  <a:srgbClr val="667085"/>
                </a:solidFill>
              </a:rPr>
              <a:t>Gerente</a:t>
            </a:r>
            <a:r>
              <a:rPr lang="en-US" sz="800" i="1" dirty="0">
                <a:solidFill>
                  <a:srgbClr val="667085"/>
                </a:solidFill>
              </a:rPr>
              <a:t> </a:t>
            </a:r>
            <a:r>
              <a:rPr lang="en-US" sz="850" i="1" dirty="0">
                <a:solidFill>
                  <a:srgbClr val="667085"/>
                </a:solidFill>
              </a:rPr>
              <a:t>: Norma Levano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23458" y="2049562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C0392B"/>
                </a:solidFill>
              </a:rPr>
              <a:t>0.0%</a:t>
            </a:r>
            <a:endParaRPr lang="en-US" sz="7200" dirty="0">
              <a:solidFill>
                <a:srgbClr val="19A075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7" name="Shape 7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8" name="Text 7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DIGITAL  |  TC HIBRIDO (TARJETAS)  |  Norma Levano  |  Cierre Julio 2026</a:t>
            </a:r>
            <a:endParaRPr lang="en-US" sz="750" dirty="0"/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CE342462-AEF5-27AF-9D0A-8C61BD68C57E}"/>
              </a:ext>
            </a:extLst>
          </p:cNvPr>
          <p:cNvSpPr/>
          <p:nvPr/>
        </p:nvSpPr>
        <p:spPr>
          <a:xfrm>
            <a:off x="423458" y="204525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2.80K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2" name="Text 26">
            <a:extLst>
              <a:ext uri="{FF2B5EF4-FFF2-40B4-BE49-F238E27FC236}">
                <a16:creationId xmlns:a16="http://schemas.microsoft.com/office/drawing/2014/main" id="{B6116E27-65FF-2E4A-FCED-FB340C6A370A}"/>
              </a:ext>
            </a:extLst>
          </p:cNvPr>
          <p:cNvSpPr/>
          <p:nvPr/>
        </p:nvSpPr>
        <p:spPr>
          <a:xfrm>
            <a:off x="-56358" y="318389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0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C26A8E09-D220-F7F0-8529-A345739179C5}"/>
              </a:ext>
            </a:extLst>
          </p:cNvPr>
          <p:cNvSpPr/>
          <p:nvPr/>
        </p:nvSpPr>
        <p:spPr>
          <a:xfrm>
            <a:off x="1142368" y="318045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1.79K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8" name="BARRAS_AVANCE_TARJETAS_DIGITAL" descr="image.png">
            <a:extLst>
              <a:ext uri="{FF2B5EF4-FFF2-40B4-BE49-F238E27FC236}">
                <a16:creationId xmlns:a16="http://schemas.microsoft.com/office/drawing/2014/main" id="{D06EBFBE-36CC-A076-403C-6D4F5F6E9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4982" y="1572768"/>
            <a:ext cx="5125159" cy="2071643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FB3879E5-13D0-7CAE-00D7-94114AFA0339}"/>
              </a:ext>
            </a:extLst>
          </p:cNvPr>
          <p:cNvSpPr/>
          <p:nvPr/>
        </p:nvSpPr>
        <p:spPr>
          <a:xfrm>
            <a:off x="91440" y="759213"/>
            <a:ext cx="2331720" cy="329184"/>
          </a:xfrm>
          <a:prstGeom prst="rect">
            <a:avLst/>
          </a:prstGeom>
          <a:solidFill>
            <a:srgbClr val="F7DDDA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10B6BD4F-7FA6-3688-AC63-DF3B989E6203}"/>
              </a:ext>
            </a:extLst>
          </p:cNvPr>
          <p:cNvSpPr/>
          <p:nvPr/>
        </p:nvSpPr>
        <p:spPr>
          <a:xfrm>
            <a:off x="182880" y="832365"/>
            <a:ext cx="164592" cy="16459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A1FF34D-0E5E-428F-A548-E95DA37926D9}"/>
              </a:ext>
            </a:extLst>
          </p:cNvPr>
          <p:cNvSpPr/>
          <p:nvPr/>
        </p:nvSpPr>
        <p:spPr>
          <a:xfrm>
            <a:off x="402336" y="759213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C0392B"/>
                </a:solidFill>
              </a:rPr>
              <a:t>Bajo la meta</a:t>
            </a:r>
            <a:endParaRPr lang="en-US" sz="950" dirty="0"/>
          </a:p>
        </p:txBody>
      </p:sp>
      <p:pic>
        <p:nvPicPr>
          <p:cNvPr id="11" name="Picture 8">
            <a:extLst>
              <a:ext uri="{FF2B5EF4-FFF2-40B4-BE49-F238E27FC236}">
                <a16:creationId xmlns:a16="http://schemas.microsoft.com/office/drawing/2014/main" id="{FC6A1E59-F2DC-0ABF-AC77-32F124B8BE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9248" y="-15232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OPERACIONES DIGITAL: </a:t>
            </a:r>
            <a:r>
              <a:rPr lang="en-US" sz="1250" b="1" kern="0" spc="30" dirty="0" err="1">
                <a:solidFill>
                  <a:srgbClr val="FFFFFF"/>
                </a:solidFill>
              </a:rPr>
              <a:t>Informacion</a:t>
            </a:r>
            <a:r>
              <a:rPr lang="en-US" sz="1250" b="1" kern="0" spc="30" dirty="0">
                <a:solidFill>
                  <a:srgbClr val="FFFFFF"/>
                </a:solidFill>
              </a:rPr>
              <a:t> al 18 de Julio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i="1" dirty="0">
                <a:solidFill>
                  <a:srgbClr val="667085"/>
                </a:solidFill>
              </a:rPr>
              <a:t>Sub-</a:t>
            </a:r>
            <a:r>
              <a:rPr lang="en-US" sz="800" i="1" dirty="0" err="1">
                <a:solidFill>
                  <a:srgbClr val="667085"/>
                </a:solidFill>
              </a:rPr>
              <a:t>Gerente</a:t>
            </a:r>
            <a:r>
              <a:rPr lang="en-US" sz="800" i="1" dirty="0">
                <a:solidFill>
                  <a:srgbClr val="667085"/>
                </a:solidFill>
              </a:rPr>
              <a:t> </a:t>
            </a:r>
            <a:r>
              <a:rPr lang="en-US" sz="850" i="1" dirty="0">
                <a:solidFill>
                  <a:srgbClr val="667085"/>
                </a:solidFill>
              </a:rPr>
              <a:t>: Norma Levano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78225" y="2070980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8CA61E"/>
                </a:solidFill>
              </a:rPr>
              <a:t>116%</a:t>
            </a:r>
            <a:endParaRPr lang="en-US" sz="72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7" name="Shape 7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8" name="Text 7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DIGITAL  |  OPERACIONES HIBRIDO  |  Norma Levano  |  Cierre Julio 2026</a:t>
            </a:r>
            <a:endParaRPr lang="en-US" sz="750" dirty="0"/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5D4F52AB-42F3-60EA-D4DD-893480880F78}"/>
              </a:ext>
            </a:extLst>
          </p:cNvPr>
          <p:cNvSpPr/>
          <p:nvPr/>
        </p:nvSpPr>
        <p:spPr>
          <a:xfrm>
            <a:off x="470518" y="2035375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3.00K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2" name="Text 26">
            <a:extLst>
              <a:ext uri="{FF2B5EF4-FFF2-40B4-BE49-F238E27FC236}">
                <a16:creationId xmlns:a16="http://schemas.microsoft.com/office/drawing/2014/main" id="{E2101963-994E-1919-D127-79AF54582F0F}"/>
              </a:ext>
            </a:extLst>
          </p:cNvPr>
          <p:cNvSpPr/>
          <p:nvPr/>
        </p:nvSpPr>
        <p:spPr>
          <a:xfrm>
            <a:off x="-9298" y="3174014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2.16K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E0134AAA-27D6-DE6B-A951-F2716CDCB379}"/>
              </a:ext>
            </a:extLst>
          </p:cNvPr>
          <p:cNvSpPr/>
          <p:nvPr/>
        </p:nvSpPr>
        <p:spPr>
          <a:xfrm>
            <a:off x="1189428" y="3170574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1.86K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1" name="BARRAS_AVANCE_OPERACIONES_DIGITAL" descr="image.png">
            <a:extLst>
              <a:ext uri="{FF2B5EF4-FFF2-40B4-BE49-F238E27FC236}">
                <a16:creationId xmlns:a16="http://schemas.microsoft.com/office/drawing/2014/main" id="{D45A250F-2AD2-C233-A518-D90AFE28AF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4781" y="1551395"/>
            <a:ext cx="5442291" cy="2695939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B26CD5DB-3AD5-DB03-D98B-2AC2E5B65F16}"/>
              </a:ext>
            </a:extLst>
          </p:cNvPr>
          <p:cNvSpPr/>
          <p:nvPr/>
        </p:nvSpPr>
        <p:spPr>
          <a:xfrm>
            <a:off x="91440" y="785704"/>
            <a:ext cx="2331720" cy="329184"/>
          </a:xfrm>
          <a:prstGeom prst="rect">
            <a:avLst/>
          </a:prstGeom>
          <a:solidFill>
            <a:srgbClr val="EAF0D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A1648BD7-9CB8-3964-45BA-22E0C0F32935}"/>
              </a:ext>
            </a:extLst>
          </p:cNvPr>
          <p:cNvSpPr/>
          <p:nvPr/>
        </p:nvSpPr>
        <p:spPr>
          <a:xfrm>
            <a:off x="182880" y="858856"/>
            <a:ext cx="164592" cy="164592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0D2FC64-771F-2BBE-BE27-D89178315431}"/>
              </a:ext>
            </a:extLst>
          </p:cNvPr>
          <p:cNvSpPr/>
          <p:nvPr/>
        </p:nvSpPr>
        <p:spPr>
          <a:xfrm>
            <a:off x="402336" y="785704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8CA61E"/>
                </a:solidFill>
              </a:rPr>
              <a:t>Meta alcanzada</a:t>
            </a: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1A0F12F0-DE73-A8A8-A8CE-76D0578052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PLD DIGITAL: </a:t>
            </a:r>
            <a:r>
              <a:rPr lang="en-US" sz="1250" b="1" kern="0" spc="30" dirty="0" err="1">
                <a:solidFill>
                  <a:srgbClr val="FFFFFF"/>
                </a:solidFill>
              </a:rPr>
              <a:t>Informacion</a:t>
            </a:r>
            <a:r>
              <a:rPr lang="en-US" sz="1250" b="1" kern="0" spc="30" dirty="0">
                <a:solidFill>
                  <a:srgbClr val="FFFFFF"/>
                </a:solidFill>
              </a:rPr>
              <a:t> al 18 de Julio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3 / 4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29184"/>
          </a:xfrm>
          <a:prstGeom prst="rect">
            <a:avLst/>
          </a:prstGeom>
          <a:solidFill>
            <a:srgbClr val="EAF0D2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64592" cy="164592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12064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8CA61E"/>
                </a:solidFill>
              </a:rPr>
              <a:t>Meta alcanzada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i="1" dirty="0">
                <a:solidFill>
                  <a:srgbClr val="667085"/>
                </a:solidFill>
              </a:rPr>
              <a:t>Sub-</a:t>
            </a:r>
            <a:r>
              <a:rPr lang="en-US" sz="800" i="1" dirty="0" err="1">
                <a:solidFill>
                  <a:srgbClr val="667085"/>
                </a:solidFill>
              </a:rPr>
              <a:t>Gerente</a:t>
            </a:r>
            <a:r>
              <a:rPr lang="en-US" sz="800" i="1" dirty="0">
                <a:solidFill>
                  <a:srgbClr val="667085"/>
                </a:solidFill>
              </a:rPr>
              <a:t> </a:t>
            </a:r>
            <a:r>
              <a:rPr lang="en-US" sz="850" i="1" dirty="0">
                <a:solidFill>
                  <a:srgbClr val="667085"/>
                </a:solidFill>
              </a:rPr>
              <a:t>: Norma Levano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60371" y="2135808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8CA61E"/>
                </a:solidFill>
              </a:rPr>
              <a:t>222%</a:t>
            </a:r>
            <a:endParaRPr lang="en-US" sz="7200" dirty="0"/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Shape 69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3" name="Text 70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DIGITAL  |  PLD DIGITAL (PRESTAMOS)  |  Norma Levano  |  Cierre Julio 2026</a:t>
            </a:r>
            <a:endParaRPr lang="en-US" sz="750" dirty="0"/>
          </a:p>
        </p:txBody>
      </p:sp>
      <p:sp>
        <p:nvSpPr>
          <p:cNvPr id="75" name="Text 26">
            <a:extLst>
              <a:ext uri="{FF2B5EF4-FFF2-40B4-BE49-F238E27FC236}">
                <a16:creationId xmlns:a16="http://schemas.microsoft.com/office/drawing/2014/main" id="{F3EBCCF7-7214-2130-1FA9-E31457629BA3}"/>
              </a:ext>
            </a:extLst>
          </p:cNvPr>
          <p:cNvSpPr/>
          <p:nvPr/>
        </p:nvSpPr>
        <p:spPr>
          <a:xfrm>
            <a:off x="434906" y="2088745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400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0737E61C-88FB-907B-E8F9-897CF8B11E72}"/>
              </a:ext>
            </a:extLst>
          </p:cNvPr>
          <p:cNvSpPr/>
          <p:nvPr/>
        </p:nvSpPr>
        <p:spPr>
          <a:xfrm>
            <a:off x="-44910" y="3227384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610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BFD4EF03-1C60-CA28-7777-90A8034C19F4}"/>
              </a:ext>
            </a:extLst>
          </p:cNvPr>
          <p:cNvSpPr/>
          <p:nvPr/>
        </p:nvSpPr>
        <p:spPr>
          <a:xfrm>
            <a:off x="1153816" y="3223944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275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76" name="Imagen 75">
            <a:extLst>
              <a:ext uri="{FF2B5EF4-FFF2-40B4-BE49-F238E27FC236}">
                <a16:creationId xmlns:a16="http://schemas.microsoft.com/office/drawing/2014/main" id="{9C1213A0-702B-B32F-1472-0CDB816CE8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8391" y="1800375"/>
            <a:ext cx="6019577" cy="2191154"/>
          </a:xfrm>
          <a:prstGeom prst="rect">
            <a:avLst/>
          </a:prstGeom>
        </p:spPr>
      </p:pic>
      <p:pic>
        <p:nvPicPr>
          <p:cNvPr id="28" name="Picture 8">
            <a:extLst>
              <a:ext uri="{FF2B5EF4-FFF2-40B4-BE49-F238E27FC236}">
                <a16:creationId xmlns:a16="http://schemas.microsoft.com/office/drawing/2014/main" id="{986FBAAE-887A-E83F-7775-2CFA293542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TC RESPALDADA: </a:t>
            </a:r>
            <a:r>
              <a:rPr lang="en-US" sz="1250" b="1" kern="0" spc="30" dirty="0" err="1">
                <a:solidFill>
                  <a:srgbClr val="FFFFFF"/>
                </a:solidFill>
              </a:rPr>
              <a:t>Informacion</a:t>
            </a:r>
            <a:r>
              <a:rPr lang="en-US" sz="1250" b="1" kern="0" spc="30" dirty="0">
                <a:solidFill>
                  <a:srgbClr val="FFFFFF"/>
                </a:solidFill>
              </a:rPr>
              <a:t> al 18 de Julio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195301" y="11584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i="1" dirty="0">
                <a:solidFill>
                  <a:srgbClr val="667085"/>
                </a:solidFill>
              </a:rPr>
              <a:t>Sub-</a:t>
            </a:r>
            <a:r>
              <a:rPr lang="en-US" sz="800" i="1" dirty="0" err="1">
                <a:solidFill>
                  <a:srgbClr val="667085"/>
                </a:solidFill>
              </a:rPr>
              <a:t>Gerente</a:t>
            </a:r>
            <a:r>
              <a:rPr lang="en-US" sz="800" i="1" dirty="0">
                <a:solidFill>
                  <a:srgbClr val="667085"/>
                </a:solidFill>
              </a:rPr>
              <a:t> </a:t>
            </a:r>
            <a:r>
              <a:rPr lang="en-US" sz="850" i="1" dirty="0">
                <a:solidFill>
                  <a:srgbClr val="667085"/>
                </a:solidFill>
              </a:rPr>
              <a:t>: Norma Levano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195743" y="2020256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C0392B"/>
                </a:solidFill>
              </a:rPr>
              <a:t>88.6%</a:t>
            </a:r>
            <a:endParaRPr lang="en-US" sz="7200" dirty="0">
              <a:solidFill>
                <a:srgbClr val="19A075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Shape 31"/>
          <p:cNvSpPr/>
          <p:nvPr/>
        </p:nvSpPr>
        <p:spPr>
          <a:xfrm>
            <a:off x="2999232" y="4645152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Shape 69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3" name="Text 70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DIGITAL  |  TC RESPALDADA  |  Norma Levano  |  Cierre Julio 2026</a:t>
            </a:r>
            <a:endParaRPr lang="en-US" sz="750" dirty="0"/>
          </a:p>
        </p:txBody>
      </p:sp>
      <p:sp>
        <p:nvSpPr>
          <p:cNvPr id="75" name="Text 26">
            <a:extLst>
              <a:ext uri="{FF2B5EF4-FFF2-40B4-BE49-F238E27FC236}">
                <a16:creationId xmlns:a16="http://schemas.microsoft.com/office/drawing/2014/main" id="{6E3927B6-2417-2C78-5D87-B31C9ED86135}"/>
              </a:ext>
            </a:extLst>
          </p:cNvPr>
          <p:cNvSpPr/>
          <p:nvPr/>
        </p:nvSpPr>
        <p:spPr>
          <a:xfrm>
            <a:off x="408671" y="2034222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650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CC5CD9B7-B5CD-51E4-B10B-5216F9AEA9F1}"/>
              </a:ext>
            </a:extLst>
          </p:cNvPr>
          <p:cNvSpPr/>
          <p:nvPr/>
        </p:nvSpPr>
        <p:spPr>
          <a:xfrm>
            <a:off x="-71145" y="317286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379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53C7C78C-13B4-3463-B3C3-3D0578367B1B}"/>
              </a:ext>
            </a:extLst>
          </p:cNvPr>
          <p:cNvSpPr/>
          <p:nvPr/>
        </p:nvSpPr>
        <p:spPr>
          <a:xfrm>
            <a:off x="1127581" y="316942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428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9" name="Imagen 28">
            <a:extLst>
              <a:ext uri="{FF2B5EF4-FFF2-40B4-BE49-F238E27FC236}">
                <a16:creationId xmlns:a16="http://schemas.microsoft.com/office/drawing/2014/main" id="{9E59611B-4DBF-56EB-CA01-09719364A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9104" y="1825824"/>
            <a:ext cx="6254896" cy="2073316"/>
          </a:xfrm>
          <a:prstGeom prst="rect">
            <a:avLst/>
          </a:prstGeom>
        </p:spPr>
      </p:pic>
      <p:sp>
        <p:nvSpPr>
          <p:cNvPr id="31" name="Shape 6">
            <a:extLst>
              <a:ext uri="{FF2B5EF4-FFF2-40B4-BE49-F238E27FC236}">
                <a16:creationId xmlns:a16="http://schemas.microsoft.com/office/drawing/2014/main" id="{51A25C9F-58FE-AA95-32C6-0839F97D73A4}"/>
              </a:ext>
            </a:extLst>
          </p:cNvPr>
          <p:cNvSpPr/>
          <p:nvPr/>
        </p:nvSpPr>
        <p:spPr>
          <a:xfrm>
            <a:off x="195301" y="777008"/>
            <a:ext cx="2331720" cy="329184"/>
          </a:xfrm>
          <a:prstGeom prst="rect">
            <a:avLst/>
          </a:prstGeom>
          <a:solidFill>
            <a:srgbClr val="F7DDDA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3D5D5F47-C893-B137-447B-D16F78E33F7B}"/>
              </a:ext>
            </a:extLst>
          </p:cNvPr>
          <p:cNvSpPr/>
          <p:nvPr/>
        </p:nvSpPr>
        <p:spPr>
          <a:xfrm>
            <a:off x="286741" y="850160"/>
            <a:ext cx="164592" cy="16459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D607C4E0-CFB8-3DB1-6E3A-D9661C2D97A8}"/>
              </a:ext>
            </a:extLst>
          </p:cNvPr>
          <p:cNvSpPr/>
          <p:nvPr/>
        </p:nvSpPr>
        <p:spPr>
          <a:xfrm>
            <a:off x="506197" y="7770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C0392B"/>
                </a:solidFill>
              </a:rPr>
              <a:t>Bajo la meta</a:t>
            </a:r>
            <a:endParaRPr lang="en-US" sz="950" dirty="0"/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67708AED-FBF2-EF2D-185D-801DB0DE02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BBVA DIGITAL |  DIAGNOSTICO Y SEGUIMIENTO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 / 3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0" y="749808"/>
            <a:ext cx="4160520" cy="310896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91440" y="749808"/>
            <a:ext cx="4069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SEGUIMIENTO PLAN SEMANA ANTERIOR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0" y="1097280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097280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28016" y="1152144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Segmentacion y analisis de base de datos para focalizar esfuerzos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28016" y="1815023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B07"/>
                </a:solidFill>
              </a:rPr>
              <a:t>Ejecutado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0" y="2334768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0" y="2334768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28016" y="2389632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Entrenamiento continuo: script y manejo de objeciones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28016" y="3052511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B07"/>
                </a:solidFill>
              </a:rPr>
              <a:t>Ejecutado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0" y="3572256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Shape 17"/>
          <p:cNvSpPr/>
          <p:nvPr/>
        </p:nvSpPr>
        <p:spPr>
          <a:xfrm>
            <a:off x="0" y="3572256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/>
          <p:cNvSpPr/>
          <p:nvPr/>
        </p:nvSpPr>
        <p:spPr>
          <a:xfrm>
            <a:off x="128016" y="3627120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Fortalecimiento de convenios estrategicos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09728" y="4174236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B07"/>
                </a:solidFill>
              </a:rPr>
              <a:t>Ejecutado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242816" y="749808"/>
            <a:ext cx="18288" cy="4059936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4343400" y="749808"/>
            <a:ext cx="4800600" cy="310896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4434840" y="749808"/>
            <a:ext cx="4709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DIAGNOSTICO — CAUSAS RAIZ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4343400" y="1097280"/>
            <a:ext cx="4800600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Shape 24"/>
          <p:cNvSpPr/>
          <p:nvPr/>
        </p:nvSpPr>
        <p:spPr>
          <a:xfrm>
            <a:off x="4343400" y="1097280"/>
            <a:ext cx="502920" cy="17922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4343400" y="1097280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4937760" y="1188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5078"/>
                </a:solidFill>
              </a:rPr>
              <a:t>TC Hibrido al 76% — caida del CET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937760" y="1444752"/>
            <a:ext cx="4114800" cy="7796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1828"/>
                </a:solidFill>
              </a:rPr>
              <a:t>CET cayo -5.7pp vs abril. Incremento cierre sin formaliz. equivalente. Cliente no concreta deposito.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4937760" y="2615184"/>
            <a:ext cx="1005840" cy="219456"/>
          </a:xfrm>
          <a:prstGeom prst="rect">
            <a:avLst/>
          </a:prstGeom>
          <a:solidFill>
            <a:srgbClr val="FBEDD0"/>
          </a:solidFill>
          <a:ln w="12700">
            <a:solidFill>
              <a:srgbClr val="FBEDD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4937760" y="261518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0A024"/>
                </a:solidFill>
              </a:rPr>
              <a:t>Impacto Medio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343400" y="2953512"/>
            <a:ext cx="4800600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Shape 31"/>
          <p:cNvSpPr/>
          <p:nvPr/>
        </p:nvSpPr>
        <p:spPr>
          <a:xfrm>
            <a:off x="4343400" y="2953512"/>
            <a:ext cx="502920" cy="17922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4343400" y="2953512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937760" y="30449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5078"/>
                </a:solidFill>
              </a:rPr>
              <a:t>TC Respaldada al 81% — 3 pendientes de formalizacion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4937760" y="3300984"/>
            <a:ext cx="4114800" cy="7796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1828"/>
                </a:solidFill>
              </a:rPr>
              <a:t>Falta de seguimiento &lt;24h. Desistimiento posterior a la aceptacion.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solidFill>
            <a:srgbClr val="FBEDD0"/>
          </a:solidFill>
          <a:ln w="12700">
            <a:solidFill>
              <a:srgbClr val="FBEDD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0A024"/>
                </a:solidFill>
              </a:rPr>
              <a:t>Impacto Medio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DIGITAL  |  DIAGNOSTICO Y SEGUIMIENTO  |  Norma Levano  |  Cierre Julio 2026</a:t>
            </a:r>
            <a:endParaRPr lang="en-US" sz="750" dirty="0"/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6AC55FDF-5738-EA47-B4F2-68596CE6A6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5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0" cy="5143500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685800" y="2148840"/>
            <a:ext cx="8275320" cy="2286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502920" y="1027938"/>
            <a:ext cx="8732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Sheyla: BBVA Convenios Lima - Call - Norte - Oriente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10743" y="2313432"/>
            <a:ext cx="8732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Sheyla  ·  Sub </a:t>
            </a:r>
            <a:r>
              <a:rPr lang="en-US" sz="1400" dirty="0" err="1">
                <a:solidFill>
                  <a:srgbClr val="FFFFFF"/>
                </a:solidFill>
              </a:rPr>
              <a:t>Gerenta</a:t>
            </a:r>
            <a:r>
              <a:rPr lang="en-US" sz="1400" dirty="0">
                <a:solidFill>
                  <a:srgbClr val="FFFFFF"/>
                </a:solidFill>
              </a:rPr>
              <a:t> de BBVA Convenios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10743" y="2844546"/>
            <a:ext cx="8732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FFFFFF"/>
                </a:solidFill>
              </a:rPr>
              <a:t>Julio 2026</a:t>
            </a:r>
            <a:endParaRPr lang="en-US" sz="12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BF594D15-71DC-6787-371E-F6DCF0BA36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8376" y="3164586"/>
            <a:ext cx="3785624" cy="215494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RESUMEN GENERAL: BBVA CONVENIOS  |LIMA · TELECAMPO +PROV. · NORTE · SUR · ORIENTE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 / 3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47472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82880" cy="1828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30352" y="749808"/>
            <a:ext cx="1984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D97706"/>
                </a:solidFill>
              </a:rPr>
              <a:t>EN SEGUIMIENTO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201168" y="1152144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7085"/>
                </a:solidFill>
              </a:rPr>
              <a:t>Sub-Gerente: Sheyla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201168" y="1463040"/>
            <a:ext cx="233172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0" b="1" dirty="0">
                <a:solidFill>
                  <a:srgbClr val="D97706"/>
                </a:solidFill>
              </a:rPr>
              <a:t>87%</a:t>
            </a:r>
            <a:endParaRPr lang="en-US" sz="8000" dirty="0"/>
          </a:p>
        </p:txBody>
      </p:sp>
      <p:sp>
        <p:nvSpPr>
          <p:cNvPr id="14" name="Text 11"/>
          <p:cNvSpPr/>
          <p:nvPr/>
        </p:nvSpPr>
        <p:spPr>
          <a:xfrm>
            <a:off x="201168" y="2907792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7085"/>
                </a:solidFill>
              </a:rPr>
              <a:t>Avance promedio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633472" y="749808"/>
            <a:ext cx="20117" cy="406908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274320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288036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ACTIVOS TOTAL</a:t>
            </a:r>
            <a:endParaRPr lang="en-US" sz="780" dirty="0"/>
          </a:p>
        </p:txBody>
      </p:sp>
      <p:sp>
        <p:nvSpPr>
          <p:cNvPr id="18" name="Text 15"/>
          <p:cNvSpPr/>
          <p:nvPr/>
        </p:nvSpPr>
        <p:spPr>
          <a:xfrm>
            <a:off x="288036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69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92074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/>
          <p:nvPr/>
        </p:nvSpPr>
        <p:spPr>
          <a:xfrm>
            <a:off x="605790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DOTACION</a:t>
            </a:r>
            <a:endParaRPr lang="en-US" sz="780" dirty="0"/>
          </a:p>
        </p:txBody>
      </p:sp>
      <p:sp>
        <p:nvSpPr>
          <p:cNvPr id="21" name="Text 18"/>
          <p:cNvSpPr/>
          <p:nvPr/>
        </p:nvSpPr>
        <p:spPr>
          <a:xfrm>
            <a:off x="605790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79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274320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/>
          <p:cNvSpPr/>
          <p:nvPr/>
        </p:nvSpPr>
        <p:spPr>
          <a:xfrm>
            <a:off x="288036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PEND. SELECCION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288036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5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592074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/>
          <p:cNvSpPr/>
          <p:nvPr/>
        </p:nvSpPr>
        <p:spPr>
          <a:xfrm>
            <a:off x="605790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PEND. INDUCCION</a:t>
            </a:r>
            <a:endParaRPr lang="en-US" sz="780" dirty="0"/>
          </a:p>
        </p:txBody>
      </p:sp>
      <p:sp>
        <p:nvSpPr>
          <p:cNvPr id="27" name="Text 24"/>
          <p:cNvSpPr/>
          <p:nvPr/>
        </p:nvSpPr>
        <p:spPr>
          <a:xfrm>
            <a:off x="605790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10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274320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/>
          <p:nvPr/>
        </p:nvSpPr>
        <p:spPr>
          <a:xfrm>
            <a:off x="288036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PRESUPUESTO</a:t>
            </a:r>
            <a:endParaRPr lang="en-US" sz="780" dirty="0"/>
          </a:p>
        </p:txBody>
      </p:sp>
      <p:sp>
        <p:nvSpPr>
          <p:cNvPr id="30" name="Text 27"/>
          <p:cNvSpPr/>
          <p:nvPr/>
        </p:nvSpPr>
        <p:spPr>
          <a:xfrm>
            <a:off x="288036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79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92074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05790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SEMANA</a:t>
            </a:r>
            <a:endParaRPr lang="en-US" sz="780" dirty="0"/>
          </a:p>
        </p:txBody>
      </p:sp>
      <p:sp>
        <p:nvSpPr>
          <p:cNvPr id="33" name="Text 30"/>
          <p:cNvSpPr/>
          <p:nvPr/>
        </p:nvSpPr>
        <p:spPr>
          <a:xfrm>
            <a:off x="605790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05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0" y="3273214"/>
            <a:ext cx="9144000" cy="281635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182880" y="3273214"/>
            <a:ext cx="310896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Sub-campaña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2257450" y="3262518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Presupuesto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4526280" y="3273214"/>
            <a:ext cx="21031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Avance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6656832" y="3273214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% Logro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7543800" y="3273214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Proyeccion</a:t>
            </a:r>
            <a:endParaRPr lang="en-US" sz="850" dirty="0"/>
          </a:p>
        </p:txBody>
      </p:sp>
      <p:sp>
        <p:nvSpPr>
          <p:cNvPr id="40" name="Shape 37"/>
          <p:cNvSpPr/>
          <p:nvPr/>
        </p:nvSpPr>
        <p:spPr>
          <a:xfrm>
            <a:off x="0" y="3606605"/>
            <a:ext cx="9144000" cy="281635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41" name="Text 38"/>
          <p:cNvSpPr/>
          <p:nvPr/>
        </p:nvSpPr>
        <p:spPr>
          <a:xfrm>
            <a:off x="182880" y="3606605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45078"/>
                </a:solidFill>
              </a:rPr>
              <a:t>BBVA Conv. Lima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2455856" y="3604535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01828"/>
                </a:solidFill>
              </a:rPr>
              <a:t>12</a:t>
            </a:r>
            <a:endParaRPr lang="en-US" sz="800" dirty="0"/>
          </a:p>
        </p:txBody>
      </p:sp>
      <p:sp>
        <p:nvSpPr>
          <p:cNvPr id="43" name="Shape 40"/>
          <p:cNvSpPr/>
          <p:nvPr/>
        </p:nvSpPr>
        <p:spPr>
          <a:xfrm>
            <a:off x="4526280" y="3685463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44" name="Shape 41"/>
          <p:cNvSpPr/>
          <p:nvPr/>
        </p:nvSpPr>
        <p:spPr>
          <a:xfrm>
            <a:off x="4526280" y="3685463"/>
            <a:ext cx="1593799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45" name="Text 42"/>
          <p:cNvSpPr/>
          <p:nvPr/>
        </p:nvSpPr>
        <p:spPr>
          <a:xfrm>
            <a:off x="6656832" y="3606605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</a:rPr>
              <a:t>83%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7543800" y="3606605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67085"/>
                </a:solidFill>
              </a:rPr>
              <a:t>700</a:t>
            </a:r>
            <a:endParaRPr lang="en-US" sz="700" dirty="0"/>
          </a:p>
        </p:txBody>
      </p:sp>
      <p:sp>
        <p:nvSpPr>
          <p:cNvPr id="47" name="Shape 44"/>
          <p:cNvSpPr/>
          <p:nvPr/>
        </p:nvSpPr>
        <p:spPr>
          <a:xfrm>
            <a:off x="0" y="3888240"/>
            <a:ext cx="9144000" cy="281635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48" name="Text 45"/>
          <p:cNvSpPr/>
          <p:nvPr/>
        </p:nvSpPr>
        <p:spPr>
          <a:xfrm>
            <a:off x="182880" y="3888240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45078"/>
                </a:solidFill>
              </a:rPr>
              <a:t>BBVA Conv. Telecampo</a:t>
            </a:r>
            <a:endParaRPr lang="en-US" sz="800" dirty="0"/>
          </a:p>
        </p:txBody>
      </p:sp>
      <p:sp>
        <p:nvSpPr>
          <p:cNvPr id="49" name="Text 46"/>
          <p:cNvSpPr/>
          <p:nvPr/>
        </p:nvSpPr>
        <p:spPr>
          <a:xfrm>
            <a:off x="2455856" y="3886170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01828"/>
                </a:solidFill>
              </a:rPr>
              <a:t>20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4526280" y="3967098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51" name="Shape 48"/>
          <p:cNvSpPr/>
          <p:nvPr/>
        </p:nvSpPr>
        <p:spPr>
          <a:xfrm>
            <a:off x="4526280" y="3967098"/>
            <a:ext cx="1728216" cy="118287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52" name="Text 49"/>
          <p:cNvSpPr/>
          <p:nvPr/>
        </p:nvSpPr>
        <p:spPr>
          <a:xfrm>
            <a:off x="6656832" y="3888240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59669"/>
                </a:solidFill>
              </a:rPr>
              <a:t>90%</a:t>
            </a:r>
            <a:endParaRPr lang="en-US" sz="800" dirty="0"/>
          </a:p>
        </p:txBody>
      </p:sp>
      <p:sp>
        <p:nvSpPr>
          <p:cNvPr id="53" name="Text 50"/>
          <p:cNvSpPr/>
          <p:nvPr/>
        </p:nvSpPr>
        <p:spPr>
          <a:xfrm>
            <a:off x="7543800" y="3888240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67085"/>
                </a:solidFill>
              </a:rPr>
              <a:t>700</a:t>
            </a:r>
            <a:endParaRPr lang="en-US" sz="700" dirty="0"/>
          </a:p>
        </p:txBody>
      </p:sp>
      <p:sp>
        <p:nvSpPr>
          <p:cNvPr id="54" name="Shape 51"/>
          <p:cNvSpPr/>
          <p:nvPr/>
        </p:nvSpPr>
        <p:spPr>
          <a:xfrm>
            <a:off x="0" y="4169876"/>
            <a:ext cx="9144000" cy="281635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400" dirty="0"/>
          </a:p>
        </p:txBody>
      </p:sp>
      <p:sp>
        <p:nvSpPr>
          <p:cNvPr id="55" name="Text 52"/>
          <p:cNvSpPr/>
          <p:nvPr/>
        </p:nvSpPr>
        <p:spPr>
          <a:xfrm>
            <a:off x="182880" y="4169876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45078"/>
                </a:solidFill>
              </a:rPr>
              <a:t>BBVA Conv. Norte</a:t>
            </a:r>
            <a:endParaRPr lang="en-US" sz="800" dirty="0"/>
          </a:p>
        </p:txBody>
      </p:sp>
      <p:sp>
        <p:nvSpPr>
          <p:cNvPr id="56" name="Text 53"/>
          <p:cNvSpPr/>
          <p:nvPr/>
        </p:nvSpPr>
        <p:spPr>
          <a:xfrm>
            <a:off x="2455856" y="416780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01828"/>
                </a:solidFill>
              </a:rPr>
              <a:t>25</a:t>
            </a:r>
            <a:endParaRPr lang="en-US" sz="800" dirty="0"/>
          </a:p>
        </p:txBody>
      </p:sp>
      <p:sp>
        <p:nvSpPr>
          <p:cNvPr id="57" name="Shape 54"/>
          <p:cNvSpPr/>
          <p:nvPr/>
        </p:nvSpPr>
        <p:spPr>
          <a:xfrm>
            <a:off x="4526280" y="4248733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58" name="Shape 55"/>
          <p:cNvSpPr/>
          <p:nvPr/>
        </p:nvSpPr>
        <p:spPr>
          <a:xfrm>
            <a:off x="4526280" y="4248733"/>
            <a:ext cx="1689811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59" name="Text 56"/>
          <p:cNvSpPr/>
          <p:nvPr/>
        </p:nvSpPr>
        <p:spPr>
          <a:xfrm>
            <a:off x="6656832" y="4169876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</a:rPr>
              <a:t>88%</a:t>
            </a:r>
            <a:endParaRPr lang="en-US" sz="800" dirty="0"/>
          </a:p>
        </p:txBody>
      </p:sp>
      <p:sp>
        <p:nvSpPr>
          <p:cNvPr id="60" name="Text 57"/>
          <p:cNvSpPr/>
          <p:nvPr/>
        </p:nvSpPr>
        <p:spPr>
          <a:xfrm>
            <a:off x="7543800" y="4169876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67085"/>
                </a:solidFill>
              </a:rPr>
              <a:t>700</a:t>
            </a:r>
            <a:endParaRPr lang="en-US" sz="700" dirty="0"/>
          </a:p>
        </p:txBody>
      </p:sp>
      <p:sp>
        <p:nvSpPr>
          <p:cNvPr id="62" name="Text 59"/>
          <p:cNvSpPr/>
          <p:nvPr/>
        </p:nvSpPr>
        <p:spPr>
          <a:xfrm>
            <a:off x="190025" y="4657046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45078"/>
                </a:solidFill>
              </a:rPr>
              <a:t>BBVA Conv. Oriente</a:t>
            </a:r>
            <a:endParaRPr lang="en-US" sz="800" dirty="0"/>
          </a:p>
        </p:txBody>
      </p:sp>
      <p:sp>
        <p:nvSpPr>
          <p:cNvPr id="63" name="Text 60"/>
          <p:cNvSpPr/>
          <p:nvPr/>
        </p:nvSpPr>
        <p:spPr>
          <a:xfrm>
            <a:off x="2455856" y="4449441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01828"/>
                </a:solidFill>
              </a:rPr>
              <a:t>22</a:t>
            </a:r>
            <a:endParaRPr lang="en-US" sz="800" dirty="0"/>
          </a:p>
        </p:txBody>
      </p:sp>
      <p:sp>
        <p:nvSpPr>
          <p:cNvPr id="64" name="Shape 61"/>
          <p:cNvSpPr/>
          <p:nvPr/>
        </p:nvSpPr>
        <p:spPr>
          <a:xfrm>
            <a:off x="4526280" y="4530369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65" name="Shape 62"/>
          <p:cNvSpPr/>
          <p:nvPr/>
        </p:nvSpPr>
        <p:spPr>
          <a:xfrm>
            <a:off x="4526280" y="4530369"/>
            <a:ext cx="1651406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66" name="Text 63"/>
          <p:cNvSpPr/>
          <p:nvPr/>
        </p:nvSpPr>
        <p:spPr>
          <a:xfrm>
            <a:off x="6656832" y="4451511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</a:rPr>
              <a:t>86%</a:t>
            </a:r>
            <a:endParaRPr lang="en-US" sz="800" dirty="0"/>
          </a:p>
        </p:txBody>
      </p:sp>
      <p:sp>
        <p:nvSpPr>
          <p:cNvPr id="67" name="Text 64"/>
          <p:cNvSpPr/>
          <p:nvPr/>
        </p:nvSpPr>
        <p:spPr>
          <a:xfrm>
            <a:off x="7543800" y="4451511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67085"/>
                </a:solidFill>
              </a:rPr>
              <a:t>700</a:t>
            </a:r>
            <a:endParaRPr lang="en-US" sz="700" dirty="0"/>
          </a:p>
        </p:txBody>
      </p:sp>
      <p:sp>
        <p:nvSpPr>
          <p:cNvPr id="69" name="Text 66"/>
          <p:cNvSpPr/>
          <p:nvPr/>
        </p:nvSpPr>
        <p:spPr>
          <a:xfrm>
            <a:off x="-11430" y="4950611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i="1" dirty="0">
                <a:solidFill>
                  <a:srgbClr val="667085"/>
                </a:solidFill>
              </a:rPr>
              <a:t>TU META ES NUESTRA META  ·  BBVA CONVENIOS  |  SHEYLA  |  Sheyla  |  Cierre Julio 2026</a:t>
            </a:r>
            <a:endParaRPr lang="en-US" sz="600" dirty="0"/>
          </a:p>
        </p:txBody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BBE9F211-45A5-BA17-A407-5C3D2D5E01C0}"/>
              </a:ext>
            </a:extLst>
          </p:cNvPr>
          <p:cNvSpPr/>
          <p:nvPr/>
        </p:nvSpPr>
        <p:spPr>
          <a:xfrm>
            <a:off x="5090775" y="3608382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900</a:t>
            </a:r>
            <a:endParaRPr lang="en-US" sz="800" dirty="0"/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9739C4FB-C6F0-5718-92AC-168903A98407}"/>
              </a:ext>
            </a:extLst>
          </p:cNvPr>
          <p:cNvSpPr/>
          <p:nvPr/>
        </p:nvSpPr>
        <p:spPr>
          <a:xfrm>
            <a:off x="5134288" y="3893887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900</a:t>
            </a:r>
            <a:endParaRPr lang="en-US" sz="800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DA8907C7-B650-7E80-A036-E2338D79CEBF}"/>
              </a:ext>
            </a:extLst>
          </p:cNvPr>
          <p:cNvSpPr/>
          <p:nvPr/>
        </p:nvSpPr>
        <p:spPr>
          <a:xfrm>
            <a:off x="5116000" y="4167058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900</a:t>
            </a:r>
            <a:endParaRPr lang="en-US" sz="800" dirty="0"/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893EA4AE-ED9B-6CA2-CFEC-AF368EFA86EE}"/>
              </a:ext>
            </a:extLst>
          </p:cNvPr>
          <p:cNvSpPr/>
          <p:nvPr/>
        </p:nvSpPr>
        <p:spPr>
          <a:xfrm>
            <a:off x="5116000" y="4442367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900</a:t>
            </a:r>
            <a:endParaRPr lang="en-US" sz="800" dirty="0"/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0CACAE7C-1921-24FD-B255-786D9F421FB3}"/>
              </a:ext>
            </a:extLst>
          </p:cNvPr>
          <p:cNvSpPr/>
          <p:nvPr/>
        </p:nvSpPr>
        <p:spPr>
          <a:xfrm>
            <a:off x="3103612" y="3275124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 err="1">
                <a:solidFill>
                  <a:srgbClr val="FFFFFF"/>
                </a:solidFill>
              </a:rPr>
              <a:t>Conectados</a:t>
            </a:r>
            <a:endParaRPr lang="en-US" sz="850" dirty="0"/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6BF71203-C7EC-7F9E-8B17-7BB746571FE6}"/>
              </a:ext>
            </a:extLst>
          </p:cNvPr>
          <p:cNvSpPr/>
          <p:nvPr/>
        </p:nvSpPr>
        <p:spPr>
          <a:xfrm>
            <a:off x="3306088" y="3676043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40</a:t>
            </a:r>
            <a:endParaRPr lang="en-US" sz="950" dirty="0"/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0041979E-326E-63A7-480C-145660A93053}"/>
              </a:ext>
            </a:extLst>
          </p:cNvPr>
          <p:cNvSpPr/>
          <p:nvPr/>
        </p:nvSpPr>
        <p:spPr>
          <a:xfrm>
            <a:off x="3319787" y="3910137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20</a:t>
            </a:r>
            <a:endParaRPr lang="en-US" sz="800" dirty="0"/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6CA350C2-4943-0699-47E4-98BF833841D6}"/>
              </a:ext>
            </a:extLst>
          </p:cNvPr>
          <p:cNvSpPr/>
          <p:nvPr/>
        </p:nvSpPr>
        <p:spPr>
          <a:xfrm>
            <a:off x="3336662" y="4190735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28</a:t>
            </a:r>
            <a:endParaRPr lang="en-US" sz="800" dirty="0"/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44DFD12E-CDA2-118E-71A3-9CA5686F69E4}"/>
              </a:ext>
            </a:extLst>
          </p:cNvPr>
          <p:cNvSpPr/>
          <p:nvPr/>
        </p:nvSpPr>
        <p:spPr>
          <a:xfrm>
            <a:off x="3360919" y="4446492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4</a:t>
            </a:r>
            <a:endParaRPr lang="en-US" sz="800" dirty="0"/>
          </a:p>
        </p:txBody>
      </p:sp>
      <p:sp>
        <p:nvSpPr>
          <p:cNvPr id="91" name="Text 59">
            <a:extLst>
              <a:ext uri="{FF2B5EF4-FFF2-40B4-BE49-F238E27FC236}">
                <a16:creationId xmlns:a16="http://schemas.microsoft.com/office/drawing/2014/main" id="{DFC632F1-521C-5FA9-948D-98F5C8218648}"/>
              </a:ext>
            </a:extLst>
          </p:cNvPr>
          <p:cNvSpPr/>
          <p:nvPr/>
        </p:nvSpPr>
        <p:spPr>
          <a:xfrm>
            <a:off x="185537" y="4420771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45078"/>
                </a:solidFill>
              </a:rPr>
              <a:t>BBVA Conv. Sur</a:t>
            </a:r>
            <a:endParaRPr lang="en-US" sz="800" dirty="0"/>
          </a:p>
        </p:txBody>
      </p:sp>
      <p:sp>
        <p:nvSpPr>
          <p:cNvPr id="93" name="Text 60">
            <a:extLst>
              <a:ext uri="{FF2B5EF4-FFF2-40B4-BE49-F238E27FC236}">
                <a16:creationId xmlns:a16="http://schemas.microsoft.com/office/drawing/2014/main" id="{57F6436D-E93C-A866-2C0A-72558B67DCBE}"/>
              </a:ext>
            </a:extLst>
          </p:cNvPr>
          <p:cNvSpPr/>
          <p:nvPr/>
        </p:nvSpPr>
        <p:spPr>
          <a:xfrm>
            <a:off x="2462624" y="4662343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01828"/>
                </a:solidFill>
              </a:rPr>
              <a:t>22</a:t>
            </a:r>
            <a:endParaRPr lang="en-US" sz="800" dirty="0"/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0717CE86-AB76-1918-6623-C813E72FFD7D}"/>
              </a:ext>
            </a:extLst>
          </p:cNvPr>
          <p:cNvSpPr/>
          <p:nvPr/>
        </p:nvSpPr>
        <p:spPr>
          <a:xfrm>
            <a:off x="3366672" y="4685152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4</a:t>
            </a:r>
            <a:endParaRPr lang="en-US" sz="800" dirty="0"/>
          </a:p>
        </p:txBody>
      </p:sp>
      <p:sp>
        <p:nvSpPr>
          <p:cNvPr id="101" name="Shape 61">
            <a:extLst>
              <a:ext uri="{FF2B5EF4-FFF2-40B4-BE49-F238E27FC236}">
                <a16:creationId xmlns:a16="http://schemas.microsoft.com/office/drawing/2014/main" id="{AA0CA985-77A4-1BD8-33D2-D5D819E47FA4}"/>
              </a:ext>
            </a:extLst>
          </p:cNvPr>
          <p:cNvSpPr/>
          <p:nvPr/>
        </p:nvSpPr>
        <p:spPr>
          <a:xfrm>
            <a:off x="4566542" y="4760403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97" name="Shape 62">
            <a:extLst>
              <a:ext uri="{FF2B5EF4-FFF2-40B4-BE49-F238E27FC236}">
                <a16:creationId xmlns:a16="http://schemas.microsoft.com/office/drawing/2014/main" id="{D5E6F4F4-4BB3-96CB-AF80-07B00F5CC9E2}"/>
              </a:ext>
            </a:extLst>
          </p:cNvPr>
          <p:cNvSpPr/>
          <p:nvPr/>
        </p:nvSpPr>
        <p:spPr>
          <a:xfrm>
            <a:off x="4552434" y="4761089"/>
            <a:ext cx="1651406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2D1BBE0-41F8-3157-1A79-F802C038E87A}"/>
              </a:ext>
            </a:extLst>
          </p:cNvPr>
          <p:cNvSpPr/>
          <p:nvPr/>
        </p:nvSpPr>
        <p:spPr>
          <a:xfrm>
            <a:off x="5142154" y="4673087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900</a:t>
            </a:r>
            <a:endParaRPr lang="en-US" sz="800" dirty="0"/>
          </a:p>
        </p:txBody>
      </p:sp>
      <p:sp>
        <p:nvSpPr>
          <p:cNvPr id="103" name="Text 63">
            <a:extLst>
              <a:ext uri="{FF2B5EF4-FFF2-40B4-BE49-F238E27FC236}">
                <a16:creationId xmlns:a16="http://schemas.microsoft.com/office/drawing/2014/main" id="{D73B47FE-74EB-55D4-B959-CFC3A28C71A1}"/>
              </a:ext>
            </a:extLst>
          </p:cNvPr>
          <p:cNvSpPr/>
          <p:nvPr/>
        </p:nvSpPr>
        <p:spPr>
          <a:xfrm>
            <a:off x="6671213" y="4672921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</a:rPr>
              <a:t>86%</a:t>
            </a:r>
            <a:endParaRPr lang="en-US" sz="800" dirty="0"/>
          </a:p>
        </p:txBody>
      </p:sp>
      <p:sp>
        <p:nvSpPr>
          <p:cNvPr id="105" name="Text 64">
            <a:extLst>
              <a:ext uri="{FF2B5EF4-FFF2-40B4-BE49-F238E27FC236}">
                <a16:creationId xmlns:a16="http://schemas.microsoft.com/office/drawing/2014/main" id="{916BD683-1652-98CD-4EF9-2457640F25DD}"/>
              </a:ext>
            </a:extLst>
          </p:cNvPr>
          <p:cNvSpPr/>
          <p:nvPr/>
        </p:nvSpPr>
        <p:spPr>
          <a:xfrm>
            <a:off x="7558181" y="4672921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67085"/>
                </a:solidFill>
              </a:rPr>
              <a:t>700</a:t>
            </a:r>
            <a:endParaRPr lang="en-US" sz="700" dirty="0"/>
          </a:p>
        </p:txBody>
      </p:sp>
      <p:pic>
        <p:nvPicPr>
          <p:cNvPr id="107" name="Picture 8">
            <a:extLst>
              <a:ext uri="{FF2B5EF4-FFF2-40B4-BE49-F238E27FC236}">
                <a16:creationId xmlns:a16="http://schemas.microsoft.com/office/drawing/2014/main" id="{0AFA0D32-5A0E-A7FC-9D89-11C05C1E7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  <p:pic>
        <p:nvPicPr>
          <p:cNvPr id="108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704088"/>
            <a:ext cx="9144000" cy="4232807"/>
          </a:xfrm>
          <a:prstGeom prst="rect">
            <a:avLst/>
          </a:prstGeom>
        </p:spPr>
      </p:pic>
      <p:sp>
        <p:nvSpPr>
          <p:cNvPr id="109" name="dato_manual"/>
          <p:cNvSpPr>
            <a:spLocks noGrp="1"/>
          </p:cNvSpPr>
          <p:nvPr/>
        </p:nvSpPr>
        <p:spPr>
          <a:xfrm>
            <a:off x="2743200" y="1438205"/>
            <a:ext cx="1259586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1650" b="1" dirty="0">
                <a:solidFill>
                  <a:srgbClr val="103A5E"/>
                </a:solidFill>
                <a:latin typeface="Arial"/>
              </a:rPr>
              <a:t>69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4359401" y="1438205"/>
            <a:ext cx="1259586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1650" b="1" dirty="0">
                <a:solidFill>
                  <a:srgbClr val="103A5E"/>
                </a:solidFill>
                <a:latin typeface="Arial"/>
              </a:rPr>
              <a:t>15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2531059" y="3125058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12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3584448" y="3125058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40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2531059" y="3421232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114" name="dato_manual"/>
          <p:cNvSpPr>
            <a:spLocks noGrp="1"/>
          </p:cNvSpPr>
          <p:nvPr/>
        </p:nvSpPr>
        <p:spPr>
          <a:xfrm>
            <a:off x="3584448" y="3421232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115" name="dato_manual"/>
          <p:cNvSpPr>
            <a:spLocks noGrp="1"/>
          </p:cNvSpPr>
          <p:nvPr/>
        </p:nvSpPr>
        <p:spPr>
          <a:xfrm>
            <a:off x="2531059" y="3717406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25</a:t>
            </a:r>
          </a:p>
        </p:txBody>
      </p:sp>
      <p:sp>
        <p:nvSpPr>
          <p:cNvPr id="116" name="dato_manual"/>
          <p:cNvSpPr>
            <a:spLocks noGrp="1"/>
          </p:cNvSpPr>
          <p:nvPr/>
        </p:nvSpPr>
        <p:spPr>
          <a:xfrm>
            <a:off x="3584448" y="3717406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28</a:t>
            </a:r>
          </a:p>
        </p:txBody>
      </p:sp>
      <p:sp>
        <p:nvSpPr>
          <p:cNvPr id="117" name="dato_manual"/>
          <p:cNvSpPr>
            <a:spLocks noGrp="1"/>
          </p:cNvSpPr>
          <p:nvPr/>
        </p:nvSpPr>
        <p:spPr>
          <a:xfrm>
            <a:off x="2531059" y="4013580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22</a:t>
            </a:r>
          </a:p>
        </p:txBody>
      </p:sp>
      <p:sp>
        <p:nvSpPr>
          <p:cNvPr id="118" name="dato_manual"/>
          <p:cNvSpPr>
            <a:spLocks noGrp="1"/>
          </p:cNvSpPr>
          <p:nvPr/>
        </p:nvSpPr>
        <p:spPr>
          <a:xfrm>
            <a:off x="3584448" y="4013580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4</a:t>
            </a:r>
          </a:p>
        </p:txBody>
      </p:sp>
      <p:sp>
        <p:nvSpPr>
          <p:cNvPr id="119" name="dato_manual"/>
          <p:cNvSpPr>
            <a:spLocks noGrp="1"/>
          </p:cNvSpPr>
          <p:nvPr/>
        </p:nvSpPr>
        <p:spPr>
          <a:xfrm>
            <a:off x="2531059" y="4309754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22</a:t>
            </a:r>
          </a:p>
        </p:txBody>
      </p:sp>
      <p:sp>
        <p:nvSpPr>
          <p:cNvPr id="120" name="dato_manual"/>
          <p:cNvSpPr>
            <a:spLocks noGrp="1"/>
          </p:cNvSpPr>
          <p:nvPr/>
        </p:nvSpPr>
        <p:spPr>
          <a:xfrm>
            <a:off x="3584448" y="4309754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4</a:t>
            </a:r>
          </a:p>
        </p:txBody>
      </p:sp>
      <p:sp>
        <p:nvSpPr>
          <p:cNvPr id="121" name="dato_manual"/>
          <p:cNvSpPr>
            <a:spLocks noGrp="1"/>
          </p:cNvSpPr>
          <p:nvPr/>
        </p:nvSpPr>
        <p:spPr>
          <a:xfrm>
            <a:off x="2531059" y="4605928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123A5E"/>
                </a:solidFill>
                <a:latin typeface="Arial"/>
              </a:rPr>
              <a:t>101</a:t>
            </a:r>
          </a:p>
        </p:txBody>
      </p:sp>
      <p:sp>
        <p:nvSpPr>
          <p:cNvPr id="122" name="dato_manual"/>
          <p:cNvSpPr>
            <a:spLocks noGrp="1"/>
          </p:cNvSpPr>
          <p:nvPr/>
        </p:nvSpPr>
        <p:spPr>
          <a:xfrm>
            <a:off x="3584448" y="4605928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123A5E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BBVA CONVENIOS  | TELECAMPO: Información al 18 de Julio 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 / 4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50" i="1" dirty="0">
                <a:solidFill>
                  <a:srgbClr val="667085"/>
                </a:solidFill>
              </a:rPr>
              <a:t>Sub Gerente : Sheyla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74904" y="2019776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8CA61E"/>
                </a:solidFill>
              </a:rPr>
              <a:t>115%</a:t>
            </a:r>
            <a:endParaRPr lang="en-US" sz="72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CONVENIOS  |  CALL LIMA + PROVINCIA  |  Sheyla  |  Cierre Julio 2026</a:t>
            </a:r>
            <a:endParaRPr lang="en-US" sz="750" dirty="0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423458" y="202566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7.00M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-56358" y="316430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4.25M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142368" y="316086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3.71M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5496" y="925928"/>
            <a:ext cx="5878102" cy="2434069"/>
          </a:xfrm>
          <a:prstGeom prst="rect">
            <a:avLst/>
          </a:prstGeom>
        </p:spPr>
      </p:pic>
      <p:pic>
        <p:nvPicPr>
          <p:cNvPr id="37" name="Picture 34" descr="image.png">
            <a:extLst>
              <a:ext uri="{FF2B5EF4-FFF2-40B4-BE49-F238E27FC236}">
                <a16:creationId xmlns:a16="http://schemas.microsoft.com/office/drawing/2014/main" id="{EA6B5B9D-BF35-B4BC-E75A-C33D4566E6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3775" y="3532237"/>
            <a:ext cx="1967304" cy="1314083"/>
          </a:xfrm>
          <a:prstGeom prst="rect">
            <a:avLst/>
          </a:prstGeom>
        </p:spPr>
      </p:pic>
      <p:pic>
        <p:nvPicPr>
          <p:cNvPr id="39" name="Asesor" descr="image.png">
            <a:extLst>
              <a:ext uri="{FF2B5EF4-FFF2-40B4-BE49-F238E27FC236}">
                <a16:creationId xmlns:a16="http://schemas.microsoft.com/office/drawing/2014/main" id="{34D6065A-9504-0D23-92D5-C9D916EA6F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8033" y="3487048"/>
            <a:ext cx="2355565" cy="1461047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91440" y="785704"/>
            <a:ext cx="2331720" cy="329184"/>
          </a:xfrm>
          <a:prstGeom prst="rect">
            <a:avLst/>
          </a:prstGeom>
          <a:solidFill>
            <a:srgbClr val="EAF0D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182880" y="858856"/>
            <a:ext cx="164592" cy="164592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402336" y="785704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8CA61E"/>
                </a:solidFill>
              </a:rPr>
              <a:t>Meta alcanzada</a:t>
            </a: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BBVA CONVENIOS  | LIMA CAMPO: </a:t>
            </a:r>
            <a:r>
              <a:rPr lang="en-US" sz="1250" b="1" kern="0" spc="30" dirty="0" err="1">
                <a:solidFill>
                  <a:srgbClr val="FFFFFF"/>
                </a:solidFill>
              </a:rPr>
              <a:t>Informacion</a:t>
            </a:r>
            <a:r>
              <a:rPr lang="en-US" sz="1250" b="1" kern="0" spc="30" dirty="0">
                <a:solidFill>
                  <a:srgbClr val="FFFFFF"/>
                </a:solidFill>
              </a:rPr>
              <a:t> al 18 de Julio  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137160" y="125272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Gerente: Sheyla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41240" y="2214602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C0392B"/>
                </a:solidFill>
              </a:rPr>
              <a:t>79.1%</a:t>
            </a:r>
            <a:endParaRPr lang="en-US" sz="72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CONVENIOS  |  LIMA CAMPO  |  Sheyla  |  Cierre Julio 2026</a:t>
            </a:r>
            <a:endParaRPr lang="en-US" sz="750" dirty="0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457964" y="213199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7.51M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-73611" y="3287882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3.47M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142368" y="3301695"/>
            <a:ext cx="1527680" cy="2644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4.38M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2156" y="759705"/>
            <a:ext cx="4741132" cy="2170809"/>
          </a:xfrm>
          <a:prstGeom prst="rect">
            <a:avLst/>
          </a:prstGeom>
        </p:spPr>
      </p:pic>
      <p:pic>
        <p:nvPicPr>
          <p:cNvPr id="29" name="Picture 34" descr="image.png">
            <a:extLst>
              <a:ext uri="{FF2B5EF4-FFF2-40B4-BE49-F238E27FC236}">
                <a16:creationId xmlns:a16="http://schemas.microsoft.com/office/drawing/2014/main" id="{9C77F8C9-766E-27C3-C891-996AEC5E07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662" y="3063856"/>
            <a:ext cx="2719034" cy="1816210"/>
          </a:xfrm>
          <a:prstGeom prst="rect">
            <a:avLst/>
          </a:prstGeom>
        </p:spPr>
      </p:pic>
      <p:pic>
        <p:nvPicPr>
          <p:cNvPr id="31" name="Asesor" descr="image.png">
            <a:extLst>
              <a:ext uri="{FF2B5EF4-FFF2-40B4-BE49-F238E27FC236}">
                <a16:creationId xmlns:a16="http://schemas.microsoft.com/office/drawing/2014/main" id="{D6059DDA-6B4F-BA7A-BC24-D63B5754BD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65339" y="3063856"/>
            <a:ext cx="2844284" cy="1764176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91440" y="785704"/>
            <a:ext cx="2331720" cy="329184"/>
          </a:xfrm>
          <a:prstGeom prst="rect">
            <a:avLst/>
          </a:prstGeom>
          <a:solidFill>
            <a:srgbClr val="F7DDDA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182880" y="858856"/>
            <a:ext cx="164592" cy="16459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402336" y="785704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C0392B"/>
                </a:solidFill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BBVA CONVENIOS  | PROVINCIA NORTE:  Información al 18 de Julio 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3 / 4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</a:t>
            </a:r>
            <a:r>
              <a:rPr lang="en-US" sz="850" i="1" dirty="0" err="1">
                <a:solidFill>
                  <a:srgbClr val="667085"/>
                </a:solidFill>
              </a:rPr>
              <a:t>Gerenta</a:t>
            </a:r>
            <a:r>
              <a:rPr lang="en-US" sz="850" i="1" dirty="0">
                <a:solidFill>
                  <a:srgbClr val="667085"/>
                </a:solidFill>
              </a:rPr>
              <a:t>: Sheyla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71541" y="2107333"/>
            <a:ext cx="27706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8CA61E"/>
                </a:solidFill>
              </a:rPr>
              <a:t>148%</a:t>
            </a:r>
            <a:endParaRPr lang="en-US" sz="6600" dirty="0">
              <a:solidFill>
                <a:srgbClr val="19A075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670048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CONVENIOS  |  NORTE  |  Sheyla  |  Cierre Julio 2026</a:t>
            </a:r>
            <a:endParaRPr lang="en-US" sz="750" dirty="0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AB0575AD-6901-AE80-E45C-78AB50A743C4}"/>
              </a:ext>
            </a:extLst>
          </p:cNvPr>
          <p:cNvSpPr/>
          <p:nvPr/>
        </p:nvSpPr>
        <p:spPr>
          <a:xfrm>
            <a:off x="497069" y="2093696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7.50M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E5C7218A-B099-E1DA-6E16-6D61BC90CC79}"/>
              </a:ext>
            </a:extLst>
          </p:cNvPr>
          <p:cNvSpPr/>
          <p:nvPr/>
        </p:nvSpPr>
        <p:spPr>
          <a:xfrm>
            <a:off x="0" y="326684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5.89M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26DF5C35-EDFA-E398-100F-070596FE01B8}"/>
              </a:ext>
            </a:extLst>
          </p:cNvPr>
          <p:cNvSpPr/>
          <p:nvPr/>
        </p:nvSpPr>
        <p:spPr>
          <a:xfrm>
            <a:off x="1215979" y="3228894"/>
            <a:ext cx="1491104" cy="3562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3.99M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8" name="Imagen_barras" descr="image.png">
            <a:extLst>
              <a:ext uri="{FF2B5EF4-FFF2-40B4-BE49-F238E27FC236}">
                <a16:creationId xmlns:a16="http://schemas.microsoft.com/office/drawing/2014/main" id="{31068695-F214-6276-68B8-7D2ABCF414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1742" y="801048"/>
            <a:ext cx="5376730" cy="2205819"/>
          </a:xfrm>
          <a:prstGeom prst="rect">
            <a:avLst/>
          </a:prstGeom>
        </p:spPr>
      </p:pic>
      <p:pic>
        <p:nvPicPr>
          <p:cNvPr id="30" name="Picture 34" descr="image.png">
            <a:extLst>
              <a:ext uri="{FF2B5EF4-FFF2-40B4-BE49-F238E27FC236}">
                <a16:creationId xmlns:a16="http://schemas.microsoft.com/office/drawing/2014/main" id="{DDF3AF98-EA43-292D-C0C6-C587FE9B11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3613" y="3324441"/>
            <a:ext cx="2331720" cy="1557499"/>
          </a:xfrm>
          <a:prstGeom prst="rect">
            <a:avLst/>
          </a:prstGeom>
        </p:spPr>
      </p:pic>
      <p:pic>
        <p:nvPicPr>
          <p:cNvPr id="32" name="Asesor" descr="image.png">
            <a:extLst>
              <a:ext uri="{FF2B5EF4-FFF2-40B4-BE49-F238E27FC236}">
                <a16:creationId xmlns:a16="http://schemas.microsoft.com/office/drawing/2014/main" id="{832C5A12-1555-7F3C-7B6D-16C6CEF4C7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3488" y="3228894"/>
            <a:ext cx="2651639" cy="1644688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CB8CFC5B-1408-6000-A44E-099F69EE743E}"/>
              </a:ext>
            </a:extLst>
          </p:cNvPr>
          <p:cNvSpPr/>
          <p:nvPr/>
        </p:nvSpPr>
        <p:spPr>
          <a:xfrm>
            <a:off x="195301" y="777008"/>
            <a:ext cx="2331720" cy="329184"/>
          </a:xfrm>
          <a:prstGeom prst="rect">
            <a:avLst/>
          </a:prstGeom>
          <a:solidFill>
            <a:srgbClr val="EAF0D2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C40E32A9-5A7B-27DE-A226-0A0B45572163}"/>
              </a:ext>
            </a:extLst>
          </p:cNvPr>
          <p:cNvSpPr/>
          <p:nvPr/>
        </p:nvSpPr>
        <p:spPr>
          <a:xfrm>
            <a:off x="286741" y="850160"/>
            <a:ext cx="164592" cy="164592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9C213A1C-5EED-46B3-2B49-A48C45517E04}"/>
              </a:ext>
            </a:extLst>
          </p:cNvPr>
          <p:cNvSpPr/>
          <p:nvPr/>
        </p:nvSpPr>
        <p:spPr>
          <a:xfrm>
            <a:off x="506197" y="7770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8CA61E"/>
                </a:solidFill>
              </a:rPr>
              <a:t>Meta alcanzada</a:t>
            </a:r>
            <a:endParaRPr lang="en-US" sz="95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2578C4-1704-7C62-F49A-7680D8193F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E835FE-2760-7CDA-4AE8-A8AECFB46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475BB5-1838-23F5-BC27-F66ABAF9E0BE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FE5DC8-FD0C-EDDA-5A42-1C2AB6DB6564}"/>
              </a:ext>
            </a:extLst>
          </p:cNvPr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9847520-2E56-03F3-2E50-96F3ED1A2F16}"/>
              </a:ext>
            </a:extLst>
          </p:cNvPr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53C71BA-4DAD-AAEE-21BC-8562D6B53F99}"/>
              </a:ext>
            </a:extLst>
          </p:cNvPr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BBVA CONVENIOS  | PROVINCIA SUR:  Información al 18 de Julio </a:t>
            </a:r>
            <a:endParaRPr lang="en-US" sz="125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F65A6FD-1970-5084-751D-33FFFBFC7B97}"/>
              </a:ext>
            </a:extLst>
          </p:cNvPr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3 / 4</a:t>
            </a:r>
            <a:endParaRPr lang="en-US" sz="80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9BC58CE-F762-59E8-9E5E-7681E8357ADB}"/>
              </a:ext>
            </a:extLst>
          </p:cNvPr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</a:t>
            </a:r>
            <a:r>
              <a:rPr lang="en-US" sz="850" i="1" dirty="0" err="1">
                <a:solidFill>
                  <a:srgbClr val="667085"/>
                </a:solidFill>
              </a:rPr>
              <a:t>Gerenta</a:t>
            </a:r>
            <a:r>
              <a:rPr lang="en-US" sz="850" i="1" dirty="0">
                <a:solidFill>
                  <a:srgbClr val="667085"/>
                </a:solidFill>
              </a:rPr>
              <a:t>: Sheyla</a:t>
            </a:r>
            <a:endParaRPr lang="en-US" sz="85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D61EE82-98A1-05BF-8668-B98D7AC2ECCA}"/>
              </a:ext>
            </a:extLst>
          </p:cNvPr>
          <p:cNvSpPr/>
          <p:nvPr/>
        </p:nvSpPr>
        <p:spPr>
          <a:xfrm>
            <a:off x="249457" y="2144374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C0392B"/>
                </a:solidFill>
              </a:rPr>
              <a:t>73.0%</a:t>
            </a:r>
            <a:endParaRPr lang="en-US" sz="7200" dirty="0">
              <a:solidFill>
                <a:srgbClr val="C00000"/>
              </a:solidFill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397DE739-B7E3-CCAE-DD3D-ECA8DE8AB222}"/>
              </a:ext>
            </a:extLst>
          </p:cNvPr>
          <p:cNvSpPr/>
          <p:nvPr/>
        </p:nvSpPr>
        <p:spPr>
          <a:xfrm>
            <a:off x="2670048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>
            <a:extLst>
              <a:ext uri="{FF2B5EF4-FFF2-40B4-BE49-F238E27FC236}">
                <a16:creationId xmlns:a16="http://schemas.microsoft.com/office/drawing/2014/main" id="{6341AA6A-C53D-503F-7A4A-73156A0D98E4}"/>
              </a:ext>
            </a:extLst>
          </p:cNvPr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>
            <a:extLst>
              <a:ext uri="{FF2B5EF4-FFF2-40B4-BE49-F238E27FC236}">
                <a16:creationId xmlns:a16="http://schemas.microsoft.com/office/drawing/2014/main" id="{DE704FB0-D0CE-88BD-0085-EE00C688AB4F}"/>
              </a:ext>
            </a:extLst>
          </p:cNvPr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CONVENIOS  |  NORTE  |  Sheyla  |  Cierre Julio 2026</a:t>
            </a:r>
            <a:endParaRPr lang="en-US" sz="750" dirty="0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9A13ABEF-76D2-249B-8311-FA6523DB245A}"/>
              </a:ext>
            </a:extLst>
          </p:cNvPr>
          <p:cNvSpPr/>
          <p:nvPr/>
        </p:nvSpPr>
        <p:spPr>
          <a:xfrm>
            <a:off x="391350" y="2113484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3.00M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9556D5C2-2C1E-5EF6-480E-DE83DE4C4BD1}"/>
              </a:ext>
            </a:extLst>
          </p:cNvPr>
          <p:cNvSpPr/>
          <p:nvPr/>
        </p:nvSpPr>
        <p:spPr>
          <a:xfrm>
            <a:off x="-105719" y="3286629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1.20M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A40E2505-6C6E-8ABA-320D-DC4C2FA463B7}"/>
              </a:ext>
            </a:extLst>
          </p:cNvPr>
          <p:cNvSpPr/>
          <p:nvPr/>
        </p:nvSpPr>
        <p:spPr>
          <a:xfrm>
            <a:off x="1075754" y="3248682"/>
            <a:ext cx="1536824" cy="3431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1.65M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9" name="Imagen_barras" descr="image.png">
            <a:extLst>
              <a:ext uri="{FF2B5EF4-FFF2-40B4-BE49-F238E27FC236}">
                <a16:creationId xmlns:a16="http://schemas.microsoft.com/office/drawing/2014/main" id="{8B767D98-EB03-7419-18B2-57A83A5F41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4973" y="897372"/>
            <a:ext cx="5441049" cy="2034856"/>
          </a:xfrm>
          <a:prstGeom prst="rect">
            <a:avLst/>
          </a:prstGeom>
        </p:spPr>
      </p:pic>
      <p:pic>
        <p:nvPicPr>
          <p:cNvPr id="33" name="Picture 34" descr="image.png">
            <a:extLst>
              <a:ext uri="{FF2B5EF4-FFF2-40B4-BE49-F238E27FC236}">
                <a16:creationId xmlns:a16="http://schemas.microsoft.com/office/drawing/2014/main" id="{97F770EF-071A-49EF-8237-192FEFACB8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7333" y="3248682"/>
            <a:ext cx="2198689" cy="1468639"/>
          </a:xfrm>
          <a:prstGeom prst="rect">
            <a:avLst/>
          </a:prstGeom>
        </p:spPr>
      </p:pic>
      <p:pic>
        <p:nvPicPr>
          <p:cNvPr id="35" name="Asesor" descr="image.png">
            <a:extLst>
              <a:ext uri="{FF2B5EF4-FFF2-40B4-BE49-F238E27FC236}">
                <a16:creationId xmlns:a16="http://schemas.microsoft.com/office/drawing/2014/main" id="{0E2AC5AE-AECF-CF06-1065-323DA7FB19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77754" y="3248682"/>
            <a:ext cx="2361203" cy="1464544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6E892E2C-3830-D938-95BF-83C884706599}"/>
              </a:ext>
            </a:extLst>
          </p:cNvPr>
          <p:cNvSpPr/>
          <p:nvPr/>
        </p:nvSpPr>
        <p:spPr>
          <a:xfrm>
            <a:off x="91440" y="785704"/>
            <a:ext cx="2331720" cy="329184"/>
          </a:xfrm>
          <a:prstGeom prst="rect">
            <a:avLst/>
          </a:prstGeom>
          <a:solidFill>
            <a:srgbClr val="F7DDDA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2970F1A6-4A82-60F7-3100-2BB6CC472735}"/>
              </a:ext>
            </a:extLst>
          </p:cNvPr>
          <p:cNvSpPr/>
          <p:nvPr/>
        </p:nvSpPr>
        <p:spPr>
          <a:xfrm>
            <a:off x="182880" y="858856"/>
            <a:ext cx="164592" cy="16459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1B340E67-2F21-D7C4-DB0E-4E58739E8512}"/>
              </a:ext>
            </a:extLst>
          </p:cNvPr>
          <p:cNvSpPr/>
          <p:nvPr/>
        </p:nvSpPr>
        <p:spPr>
          <a:xfrm>
            <a:off x="402336" y="785704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C0392B"/>
                </a:solidFill>
              </a:rPr>
              <a:t>Bajo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0C85C88-D079-8F91-1A9D-9B8A145E20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41297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BBVA CONVENIOS  |  PROVINCIA ORIENTE: Información al 18 de Julio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Gerente: Sheyla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166347" y="1968850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E08A1E"/>
                </a:solidFill>
              </a:rPr>
              <a:t>96.2%</a:t>
            </a:r>
            <a:endParaRPr lang="en-US" sz="72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CONVENIOS  |  COA  |  Sheyla  |  Cierre Julio 2026</a:t>
            </a:r>
            <a:endParaRPr lang="en-US" sz="750" dirty="0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E0C2926-0DB6-DEE8-581C-3B85250E44BC}"/>
              </a:ext>
            </a:extLst>
          </p:cNvPr>
          <p:cNvSpPr/>
          <p:nvPr/>
        </p:nvSpPr>
        <p:spPr>
          <a:xfrm>
            <a:off x="506544" y="1905476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5.00M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6FE172D7-36A3-67F1-79EA-6723B1D67A6B}"/>
              </a:ext>
            </a:extLst>
          </p:cNvPr>
          <p:cNvSpPr/>
          <p:nvPr/>
        </p:nvSpPr>
        <p:spPr>
          <a:xfrm>
            <a:off x="-5634" y="3124742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2.49M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520EAADD-646C-F993-7B08-8B352D62F52A}"/>
              </a:ext>
            </a:extLst>
          </p:cNvPr>
          <p:cNvSpPr/>
          <p:nvPr/>
        </p:nvSpPr>
        <p:spPr>
          <a:xfrm>
            <a:off x="1227598" y="3104049"/>
            <a:ext cx="1424162" cy="331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2.59M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3" name="Imagen_barras" descr="image.png">
            <a:extLst>
              <a:ext uri="{FF2B5EF4-FFF2-40B4-BE49-F238E27FC236}">
                <a16:creationId xmlns:a16="http://schemas.microsoft.com/office/drawing/2014/main" id="{22949D2E-2703-6298-2348-A66E0E8961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7424" y="956497"/>
            <a:ext cx="4946214" cy="1832423"/>
          </a:xfrm>
          <a:prstGeom prst="rect">
            <a:avLst/>
          </a:prstGeom>
        </p:spPr>
      </p:pic>
      <p:pic>
        <p:nvPicPr>
          <p:cNvPr id="35" name="Picture 34" descr="image.png">
            <a:extLst>
              <a:ext uri="{FF2B5EF4-FFF2-40B4-BE49-F238E27FC236}">
                <a16:creationId xmlns:a16="http://schemas.microsoft.com/office/drawing/2014/main" id="{9D11C918-8487-A1B2-8C4D-296717D1CD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8885" y="3124742"/>
            <a:ext cx="2211430" cy="1477150"/>
          </a:xfrm>
          <a:prstGeom prst="rect">
            <a:avLst/>
          </a:prstGeom>
        </p:spPr>
      </p:pic>
      <p:pic>
        <p:nvPicPr>
          <p:cNvPr id="37" name="Asesor" descr="image.png">
            <a:extLst>
              <a:ext uri="{FF2B5EF4-FFF2-40B4-BE49-F238E27FC236}">
                <a16:creationId xmlns:a16="http://schemas.microsoft.com/office/drawing/2014/main" id="{ABC338E2-1293-405F-134D-8882C6C43F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7434" y="3124742"/>
            <a:ext cx="2374886" cy="1473031"/>
          </a:xfrm>
          <a:prstGeom prst="rect">
            <a:avLst/>
          </a:prstGeom>
        </p:spPr>
      </p:pic>
      <p:sp>
        <p:nvSpPr>
          <p:cNvPr id="8" name="Shape 6">
            <a:extLst>
              <a:ext uri="{FF2B5EF4-FFF2-40B4-BE49-F238E27FC236}">
                <a16:creationId xmlns:a16="http://schemas.microsoft.com/office/drawing/2014/main" id="{E2BA164A-6A35-7335-C2B6-FC10BA27A74B}"/>
              </a:ext>
            </a:extLst>
          </p:cNvPr>
          <p:cNvSpPr/>
          <p:nvPr/>
        </p:nvSpPr>
        <p:spPr>
          <a:xfrm>
            <a:off x="91440" y="785704"/>
            <a:ext cx="2331720" cy="329184"/>
          </a:xfrm>
          <a:prstGeom prst="rect">
            <a:avLst/>
          </a:prstGeom>
          <a:solidFill>
            <a:srgbClr val="FBEED6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C0E632C6-671C-F739-6A56-745B8ED2CB72}"/>
              </a:ext>
            </a:extLst>
          </p:cNvPr>
          <p:cNvSpPr/>
          <p:nvPr/>
        </p:nvSpPr>
        <p:spPr>
          <a:xfrm>
            <a:off x="182880" y="858856"/>
            <a:ext cx="164592" cy="164592"/>
          </a:xfrm>
          <a:prstGeom prst="ellipse">
            <a:avLst/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Text 8">
            <a:extLst>
              <a:ext uri="{FF2B5EF4-FFF2-40B4-BE49-F238E27FC236}">
                <a16:creationId xmlns:a16="http://schemas.microsoft.com/office/drawing/2014/main" id="{51E0B2FB-D17F-A92A-ED55-670D6500C537}"/>
              </a:ext>
            </a:extLst>
          </p:cNvPr>
          <p:cNvSpPr/>
          <p:nvPr/>
        </p:nvSpPr>
        <p:spPr>
          <a:xfrm>
            <a:off x="402336" y="785704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E08A1E"/>
                </a:solidFill>
              </a:rPr>
              <a:t>Cerca de la meta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7354AB-69AC-6F65-C8D4-25F5E56292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BBVA CONVENIOS  |  DIAGNOSTICO Y SEGUIMIENTO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 / 3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0" y="749808"/>
            <a:ext cx="4160520" cy="310896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91440" y="749808"/>
            <a:ext cx="4069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SEGUIMIENTO PLAN SEMANA ANTERIOR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0" y="1097280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097280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28016" y="1152144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Segmentacion y analisis de base de datos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28016" y="1815023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B07"/>
                </a:solidFill>
              </a:rPr>
              <a:t>Ejecutado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0" y="2334768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0" y="2334768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28016" y="2389632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Entrenamiento continuo al equipo de ventas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28016" y="3052511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B07"/>
                </a:solidFill>
              </a:rPr>
              <a:t>Ejecutado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0" y="3572256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Shape 17"/>
          <p:cNvSpPr/>
          <p:nvPr/>
        </p:nvSpPr>
        <p:spPr>
          <a:xfrm>
            <a:off x="0" y="3572256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/>
          <p:cNvSpPr/>
          <p:nvPr/>
        </p:nvSpPr>
        <p:spPr>
          <a:xfrm>
            <a:off x="128016" y="3627120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Plan visitas presenciales + operativos por plaza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28016" y="4289999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B07"/>
                </a:solidFill>
              </a:rPr>
              <a:t>En proceso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242816" y="749808"/>
            <a:ext cx="18288" cy="4059936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4343400" y="749808"/>
            <a:ext cx="4800600" cy="310896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4434840" y="749808"/>
            <a:ext cx="4709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DIAGNOSTICO — CAUSAS RAIZ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4343400" y="1097280"/>
            <a:ext cx="4800600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Shape 24"/>
          <p:cNvSpPr/>
          <p:nvPr/>
        </p:nvSpPr>
        <p:spPr>
          <a:xfrm>
            <a:off x="4343400" y="1097280"/>
            <a:ext cx="502920" cy="17922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4343400" y="1097280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4937760" y="1188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5078"/>
                </a:solidFill>
              </a:rPr>
              <a:t>Impacto Ley 32561 — Rechazos PNP/FF.AA al 50.1%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937760" y="1444752"/>
            <a:ext cx="4114800" cy="7796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1828"/>
                </a:solidFill>
              </a:rPr>
              <a:t>3,422 leads retirados. Impacto S/ 488K neto. COA: renuncias TOP y desistimientos PNP.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4937760" y="2615184"/>
            <a:ext cx="100584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4937760" y="261518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Impacto Alto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343400" y="2953512"/>
            <a:ext cx="4800600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Shape 31"/>
          <p:cNvSpPr/>
          <p:nvPr/>
        </p:nvSpPr>
        <p:spPr>
          <a:xfrm>
            <a:off x="4343400" y="2953512"/>
            <a:ext cx="502920" cy="17922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4343400" y="2953512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937760" y="30449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5078"/>
                </a:solidFill>
              </a:rPr>
              <a:t>Lima Campo con 5 pendientes de seleccion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4937760" y="3300984"/>
            <a:ext cx="4114800" cy="7796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1828"/>
                </a:solidFill>
              </a:rPr>
              <a:t>La zona mas afectada. Sin completar dotacion Lima no cierra la brecha del 17%.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solidFill>
            <a:srgbClr val="FBEDD0"/>
          </a:solidFill>
          <a:ln w="12700">
            <a:solidFill>
              <a:srgbClr val="FBEDD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0A024"/>
                </a:solidFill>
              </a:rPr>
              <a:t>Impacto Medio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CONVENIOS  |  DIAGNOSTICO  |  Sheyla  |  Cierre Julio 2026</a:t>
            </a:r>
            <a:endParaRPr lang="en-US" sz="750" dirty="0"/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BE94AFF7-0D8A-F349-9403-6414FE5094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74AC5-3329-76D3-5FAE-C43BF9684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AAB4A93-D216-97A9-10B4-7BFF6D9D8085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A2B9356-B341-91B6-47F5-1BB9813745E3}"/>
              </a:ext>
            </a:extLst>
          </p:cNvPr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F7F726B-F482-D49B-4CDD-A4871BE5324B}"/>
              </a:ext>
            </a:extLst>
          </p:cNvPr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D7E59CE-D87B-CCB2-D958-A310AF3F311F}"/>
              </a:ext>
            </a:extLst>
          </p:cNvPr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DIGITAL: Información al 18 de Julio</a:t>
            </a:r>
            <a:endParaRPr lang="en-US" sz="125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FEFB15FA-84DE-80C6-1325-BED80BDB0AC2}"/>
              </a:ext>
            </a:extLst>
          </p:cNvPr>
          <p:cNvSpPr/>
          <p:nvPr/>
        </p:nvSpPr>
        <p:spPr>
          <a:xfrm>
            <a:off x="201168" y="749808"/>
            <a:ext cx="2331720" cy="329184"/>
          </a:xfrm>
          <a:prstGeom prst="rect">
            <a:avLst/>
          </a:prstGeom>
          <a:solidFill>
            <a:srgbClr val="EAF0D2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13B6BCF7-0F7F-5EAE-DFD8-7137A8F73730}"/>
              </a:ext>
            </a:extLst>
          </p:cNvPr>
          <p:cNvSpPr/>
          <p:nvPr/>
        </p:nvSpPr>
        <p:spPr>
          <a:xfrm>
            <a:off x="292608" y="822960"/>
            <a:ext cx="164592" cy="164592"/>
          </a:xfrm>
          <a:prstGeom prst="ellipse">
            <a:avLst/>
          </a:prstGeom>
          <a:solidFill>
            <a:srgbClr val="8CA61E"/>
          </a:solidFill>
          <a:ln w="12700">
            <a:solidFill>
              <a:srgbClr val="8CA61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4587CD21-D496-B599-C26B-D26DB6211D23}"/>
              </a:ext>
            </a:extLst>
          </p:cNvPr>
          <p:cNvSpPr/>
          <p:nvPr/>
        </p:nvSpPr>
        <p:spPr>
          <a:xfrm>
            <a:off x="512064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8CA61E"/>
                </a:solidFill>
              </a:rPr>
              <a:t>Meta alcanzada</a:t>
            </a:r>
            <a:endParaRPr lang="en-US" sz="95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7870FEDF-3C81-7130-6476-CC1C3220DFFF}"/>
              </a:ext>
            </a:extLst>
          </p:cNvPr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Gerente: Jose Jesus San Martin</a:t>
            </a:r>
            <a:endParaRPr lang="en-US" sz="85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A223DDCC-EAAC-E1BA-F4A6-9EDBC9506EA4}"/>
              </a:ext>
            </a:extLst>
          </p:cNvPr>
          <p:cNvSpPr/>
          <p:nvPr/>
        </p:nvSpPr>
        <p:spPr>
          <a:xfrm>
            <a:off x="47679" y="1939674"/>
            <a:ext cx="286489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8CA61E"/>
                </a:solidFill>
              </a:rPr>
              <a:t>102%</a:t>
            </a:r>
            <a:endParaRPr lang="en-US" sz="66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A4212805-B8E0-A8C3-3928-DB1DBA858B87}"/>
              </a:ext>
            </a:extLst>
          </p:cNvPr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7" name="Shape 74">
            <a:extLst>
              <a:ext uri="{FF2B5EF4-FFF2-40B4-BE49-F238E27FC236}">
                <a16:creationId xmlns:a16="http://schemas.microsoft.com/office/drawing/2014/main" id="{AE6DBB8B-30C0-5DB9-FAEB-FD10AAFB6EFD}"/>
              </a:ext>
            </a:extLst>
          </p:cNvPr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8" name="Text 75">
            <a:extLst>
              <a:ext uri="{FF2B5EF4-FFF2-40B4-BE49-F238E27FC236}">
                <a16:creationId xmlns:a16="http://schemas.microsoft.com/office/drawing/2014/main" id="{F0B3CD1F-E34B-AE90-CA37-EE9305B78DB0}"/>
              </a:ext>
            </a:extLst>
          </p:cNvPr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TLM  |  TC TELEMARKETING OUT  |  Jose Jesus San Martin  |  Cierre Julio 2026</a:t>
            </a:r>
            <a:endParaRPr lang="en-US" sz="750" dirty="0"/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2058ACA4-30F8-802E-9FF4-BC9A1B5DE3E4}"/>
              </a:ext>
            </a:extLst>
          </p:cNvPr>
          <p:cNvSpPr/>
          <p:nvPr/>
        </p:nvSpPr>
        <p:spPr>
          <a:xfrm>
            <a:off x="317734" y="195961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2.90K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0E1FE9E3-A830-D02D-6B25-B9F1E554EEC4}"/>
              </a:ext>
            </a:extLst>
          </p:cNvPr>
          <p:cNvSpPr/>
          <p:nvPr/>
        </p:nvSpPr>
        <p:spPr>
          <a:xfrm>
            <a:off x="-162082" y="309825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2.12K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5410E37B-A237-0E18-FCD6-5BB57C83E805}"/>
              </a:ext>
            </a:extLst>
          </p:cNvPr>
          <p:cNvSpPr/>
          <p:nvPr/>
        </p:nvSpPr>
        <p:spPr>
          <a:xfrm>
            <a:off x="1036644" y="309481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2.08K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95B84A48-D019-43E6-70B6-BBE942062E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1449" y="1760062"/>
            <a:ext cx="5884498" cy="1844802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FFBC0E7D-6195-FAC3-A4EE-03551E5C29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6909" y="-102845"/>
            <a:ext cx="1645923" cy="936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8031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51bec757-b8d9-4f0d-86eb-78a37ed8c863}" enabled="0" method="" siteId="{51bec757-b8d9-4f0d-86eb-78a37ed8c86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1948</TotalTime>
  <Words>2919</Words>
  <Application>Microsoft Office PowerPoint</Application>
  <PresentationFormat>Presentación en pantalla (16:9)</PresentationFormat>
  <Paragraphs>765</Paragraphs>
  <Slides>43</Slides>
  <Notes>43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43</vt:i4>
      </vt:variant>
    </vt:vector>
  </HeadingPairs>
  <TitlesOfParts>
    <vt:vector size="45" baseType="lpstr"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Comite Semanal de Campanas — Cierre Mayo 2026</dc:title>
  <dc:subject>PptxGenJS Presentation</dc:subject>
  <dc:creator>PptxGenJS</dc:creator>
  <cp:lastModifiedBy>Jeampiere Manuel Pocomucha Toribio</cp:lastModifiedBy>
  <cp:revision>18</cp:revision>
  <dcterms:created xsi:type="dcterms:W3CDTF">2026-06-10T17:53:50Z</dcterms:created>
  <dcterms:modified xsi:type="dcterms:W3CDTF">2026-08-07T17:44:52Z</dcterms:modified>
</cp:coreProperties>
</file>