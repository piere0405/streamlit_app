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2"/>
    <p:sldMasterId id="2147483650" r:id="rId3"/>
    <p:sldMasterId id="2147483651" r:id="rId4"/>
    <p:sldMasterId id="2147483652" r:id="rId5"/>
    <p:sldMasterId id="2147483653" r:id="rId6"/>
    <p:sldMasterId id="2147483654" r:id="rId7"/>
    <p:sldMasterId id="2147483655" r:id="rId8"/>
    <p:sldMasterId id="2147483656" r:id="rId9"/>
  </p:sldMasterIdLst>
  <p:notesMasterIdLst>
    <p:notesMasterId r:id="rId78"/>
  </p:notesMasterIdLst>
  <p:sldIdLst>
    <p:sldId id="256" r:id="rId10"/>
    <p:sldId id="343" r:id="rId11"/>
    <p:sldId id="344" r:id="rId12"/>
    <p:sldId id="409" r:id="rId13"/>
    <p:sldId id="346" r:id="rId14"/>
    <p:sldId id="345" r:id="rId15"/>
    <p:sldId id="347" r:id="rId16"/>
    <p:sldId id="349" r:id="rId17"/>
    <p:sldId id="348" r:id="rId18"/>
    <p:sldId id="350" r:id="rId19"/>
    <p:sldId id="351" r:id="rId20"/>
    <p:sldId id="352" r:id="rId21"/>
    <p:sldId id="407" r:id="rId22"/>
    <p:sldId id="353" r:id="rId23"/>
    <p:sldId id="354" r:id="rId24"/>
    <p:sldId id="355" r:id="rId25"/>
    <p:sldId id="356" r:id="rId26"/>
    <p:sldId id="357" r:id="rId27"/>
    <p:sldId id="358" r:id="rId28"/>
    <p:sldId id="359" r:id="rId29"/>
    <p:sldId id="360" r:id="rId30"/>
    <p:sldId id="361" r:id="rId31"/>
    <p:sldId id="362" r:id="rId32"/>
    <p:sldId id="363" r:id="rId33"/>
    <p:sldId id="364" r:id="rId34"/>
    <p:sldId id="365" r:id="rId35"/>
    <p:sldId id="408" r:id="rId36"/>
    <p:sldId id="366" r:id="rId37"/>
    <p:sldId id="367" r:id="rId38"/>
    <p:sldId id="368" r:id="rId39"/>
    <p:sldId id="369" r:id="rId40"/>
    <p:sldId id="370" r:id="rId41"/>
    <p:sldId id="371" r:id="rId42"/>
    <p:sldId id="372" r:id="rId43"/>
    <p:sldId id="373" r:id="rId44"/>
    <p:sldId id="374" r:id="rId45"/>
    <p:sldId id="375" r:id="rId46"/>
    <p:sldId id="376" r:id="rId47"/>
    <p:sldId id="377" r:id="rId48"/>
    <p:sldId id="378" r:id="rId49"/>
    <p:sldId id="379" r:id="rId50"/>
    <p:sldId id="380" r:id="rId51"/>
    <p:sldId id="381" r:id="rId52"/>
    <p:sldId id="382" r:id="rId53"/>
    <p:sldId id="383" r:id="rId54"/>
    <p:sldId id="384" r:id="rId55"/>
    <p:sldId id="385" r:id="rId56"/>
    <p:sldId id="386" r:id="rId57"/>
    <p:sldId id="387" r:id="rId58"/>
    <p:sldId id="388" r:id="rId59"/>
    <p:sldId id="389" r:id="rId60"/>
    <p:sldId id="390" r:id="rId61"/>
    <p:sldId id="391" r:id="rId62"/>
    <p:sldId id="392" r:id="rId63"/>
    <p:sldId id="393" r:id="rId64"/>
    <p:sldId id="394" r:id="rId65"/>
    <p:sldId id="395" r:id="rId66"/>
    <p:sldId id="396" r:id="rId67"/>
    <p:sldId id="397" r:id="rId68"/>
    <p:sldId id="398" r:id="rId69"/>
    <p:sldId id="399" r:id="rId70"/>
    <p:sldId id="400" r:id="rId71"/>
    <p:sldId id="401" r:id="rId72"/>
    <p:sldId id="402" r:id="rId73"/>
    <p:sldId id="403" r:id="rId74"/>
    <p:sldId id="404" r:id="rId75"/>
    <p:sldId id="405" r:id="rId76"/>
    <p:sldId id="406" r:id="rId77"/>
  </p:sldIdLst>
  <p:sldSz cx="12192000" cy="68580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A075"/>
    <a:srgbClr val="D97706"/>
    <a:srgbClr val="A8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00" autoAdjust="0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84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slide" Target="slides/slide17.xml"/><Relationship Id="rId39" Type="http://schemas.openxmlformats.org/officeDocument/2006/relationships/slide" Target="slides/slide30.xml"/><Relationship Id="rId21" Type="http://schemas.openxmlformats.org/officeDocument/2006/relationships/slide" Target="slides/slide12.xml"/><Relationship Id="rId34" Type="http://schemas.openxmlformats.org/officeDocument/2006/relationships/slide" Target="slides/slide25.xml"/><Relationship Id="rId42" Type="http://schemas.openxmlformats.org/officeDocument/2006/relationships/slide" Target="slides/slide33.xml"/><Relationship Id="rId47" Type="http://schemas.openxmlformats.org/officeDocument/2006/relationships/slide" Target="slides/slide38.xml"/><Relationship Id="rId50" Type="http://schemas.openxmlformats.org/officeDocument/2006/relationships/slide" Target="slides/slide41.xml"/><Relationship Id="rId55" Type="http://schemas.openxmlformats.org/officeDocument/2006/relationships/slide" Target="slides/slide46.xml"/><Relationship Id="rId63" Type="http://schemas.openxmlformats.org/officeDocument/2006/relationships/slide" Target="slides/slide54.xml"/><Relationship Id="rId68" Type="http://schemas.openxmlformats.org/officeDocument/2006/relationships/slide" Target="slides/slide59.xml"/><Relationship Id="rId76" Type="http://schemas.openxmlformats.org/officeDocument/2006/relationships/slide" Target="slides/slide67.xml"/><Relationship Id="rId7" Type="http://schemas.openxmlformats.org/officeDocument/2006/relationships/slideMaster" Target="slideMasters/slideMaster7.xml"/><Relationship Id="rId71" Type="http://schemas.openxmlformats.org/officeDocument/2006/relationships/slide" Target="slides/slide6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7.xml"/><Relationship Id="rId29" Type="http://schemas.openxmlformats.org/officeDocument/2006/relationships/slide" Target="slides/slide20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slide" Target="slides/slide23.xml"/><Relationship Id="rId37" Type="http://schemas.openxmlformats.org/officeDocument/2006/relationships/slide" Target="slides/slide28.xml"/><Relationship Id="rId40" Type="http://schemas.openxmlformats.org/officeDocument/2006/relationships/slide" Target="slides/slide31.xml"/><Relationship Id="rId45" Type="http://schemas.openxmlformats.org/officeDocument/2006/relationships/slide" Target="slides/slide36.xml"/><Relationship Id="rId53" Type="http://schemas.openxmlformats.org/officeDocument/2006/relationships/slide" Target="slides/slide44.xml"/><Relationship Id="rId58" Type="http://schemas.openxmlformats.org/officeDocument/2006/relationships/slide" Target="slides/slide49.xml"/><Relationship Id="rId66" Type="http://schemas.openxmlformats.org/officeDocument/2006/relationships/slide" Target="slides/slide57.xml"/><Relationship Id="rId74" Type="http://schemas.openxmlformats.org/officeDocument/2006/relationships/slide" Target="slides/slide65.xml"/><Relationship Id="rId79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52.xml"/><Relationship Id="rId82" Type="http://schemas.openxmlformats.org/officeDocument/2006/relationships/tableStyles" Target="tableStyles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31" Type="http://schemas.openxmlformats.org/officeDocument/2006/relationships/slide" Target="slides/slide22.xml"/><Relationship Id="rId44" Type="http://schemas.openxmlformats.org/officeDocument/2006/relationships/slide" Target="slides/slide35.xml"/><Relationship Id="rId52" Type="http://schemas.openxmlformats.org/officeDocument/2006/relationships/slide" Target="slides/slide43.xml"/><Relationship Id="rId60" Type="http://schemas.openxmlformats.org/officeDocument/2006/relationships/slide" Target="slides/slide51.xml"/><Relationship Id="rId65" Type="http://schemas.openxmlformats.org/officeDocument/2006/relationships/slide" Target="slides/slide56.xml"/><Relationship Id="rId73" Type="http://schemas.openxmlformats.org/officeDocument/2006/relationships/slide" Target="slides/slide64.xml"/><Relationship Id="rId78" Type="http://schemas.openxmlformats.org/officeDocument/2006/relationships/notesMaster" Target="notesMasters/notesMaster1.xml"/><Relationship Id="rId8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slide" Target="slides/slide26.xml"/><Relationship Id="rId43" Type="http://schemas.openxmlformats.org/officeDocument/2006/relationships/slide" Target="slides/slide34.xml"/><Relationship Id="rId48" Type="http://schemas.openxmlformats.org/officeDocument/2006/relationships/slide" Target="slides/slide39.xml"/><Relationship Id="rId56" Type="http://schemas.openxmlformats.org/officeDocument/2006/relationships/slide" Target="slides/slide47.xml"/><Relationship Id="rId64" Type="http://schemas.openxmlformats.org/officeDocument/2006/relationships/slide" Target="slides/slide55.xml"/><Relationship Id="rId69" Type="http://schemas.openxmlformats.org/officeDocument/2006/relationships/slide" Target="slides/slide60.xml"/><Relationship Id="rId77" Type="http://schemas.openxmlformats.org/officeDocument/2006/relationships/slide" Target="slides/slide68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42.xml"/><Relationship Id="rId72" Type="http://schemas.openxmlformats.org/officeDocument/2006/relationships/slide" Target="slides/slide63.xml"/><Relationship Id="rId80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slide" Target="slides/slide24.xml"/><Relationship Id="rId38" Type="http://schemas.openxmlformats.org/officeDocument/2006/relationships/slide" Target="slides/slide29.xml"/><Relationship Id="rId46" Type="http://schemas.openxmlformats.org/officeDocument/2006/relationships/slide" Target="slides/slide37.xml"/><Relationship Id="rId59" Type="http://schemas.openxmlformats.org/officeDocument/2006/relationships/slide" Target="slides/slide50.xml"/><Relationship Id="rId67" Type="http://schemas.openxmlformats.org/officeDocument/2006/relationships/slide" Target="slides/slide58.xml"/><Relationship Id="rId20" Type="http://schemas.openxmlformats.org/officeDocument/2006/relationships/slide" Target="slides/slide11.xml"/><Relationship Id="rId41" Type="http://schemas.openxmlformats.org/officeDocument/2006/relationships/slide" Target="slides/slide32.xml"/><Relationship Id="rId54" Type="http://schemas.openxmlformats.org/officeDocument/2006/relationships/slide" Target="slides/slide45.xml"/><Relationship Id="rId62" Type="http://schemas.openxmlformats.org/officeDocument/2006/relationships/slide" Target="slides/slide53.xml"/><Relationship Id="rId70" Type="http://schemas.openxmlformats.org/officeDocument/2006/relationships/slide" Target="slides/slide61.xml"/><Relationship Id="rId75" Type="http://schemas.openxmlformats.org/officeDocument/2006/relationships/slide" Target="slides/slide66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slide" Target="slides/slide27.xml"/><Relationship Id="rId49" Type="http://schemas.openxmlformats.org/officeDocument/2006/relationships/slide" Target="slides/slide40.xml"/><Relationship Id="rId57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0722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2596C-901E-BE66-BF58-E2B4B4BBB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177CE6-0A99-FF46-4152-5FD1B52D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538BED-B980-11E4-5A77-614E6D4D6E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D3A50-523E-AA94-1B3D-4A96E9BCFE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6064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549D2-720A-B44B-9E80-E06DFDFE1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B97268-F9AD-A27B-D5D4-4C58A9273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0BC3F-CA68-BFD5-CB62-81FB8073E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43A4C7-97E7-81BB-B14C-C42EB3CE7F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0429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C7CA5-C6B7-1EF2-0C40-7706E7728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37ED1-86E8-4732-6996-31F21533C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236FF-4DEB-268A-D161-F664F6DCB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FD2C9-F18A-5CEF-BA7A-5EAFB2ED1D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760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773D3-56E6-59CD-329B-9F0D2398D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3CBFA9-F4C1-F409-2823-0934E2C5F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9D587-D068-4C9A-8983-B5629ACB75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86900-3E23-47BE-CA79-E51C6BACED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5352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1DFF7-143D-5CAD-9A98-EDA383ED2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A9F77F-F449-C0BF-5F37-904BBA1BC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40B0A3-F5B5-2990-A87A-A2920A2E2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8D817-88E8-1500-D09E-F295A46CC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359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B6699-E119-FF9C-9666-53409F3AC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513FBA-652A-5ADC-22C8-61EF5126E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F91704-515A-0CBD-DCE4-E23B621AB0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7D0E7-15C6-713F-5D3D-6C8D26E2A1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24815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0536B-AD6E-C4E5-CE2E-1DF834462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BC1914-47E6-FB71-60A9-BBD0BD3AB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07A601-6FB7-089E-28FC-33F2D3A07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32A18E-443B-402D-E9C9-90C8AC7279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556011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0671F-669A-830E-B499-D081C4292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2B7E2E-3610-5E35-6B0D-6AABF7FF79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EA1A79-9E18-FE54-7811-4AABAD3B1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9DDF73-3B25-DD34-362F-4363D07166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591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E95F-EAF5-188C-0937-9F269BA39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E2AED5-D977-B564-B39E-0D95DBFE37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781C6B-5011-AD3B-4BFE-10FCD448E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2BF83-2CD1-8840-D75B-EAA48BAF30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012622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272A0-000C-4A1A-FBE7-ABA473388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BB2875-48BA-486E-0C26-0B8091A77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8A456-1256-E31F-D5C4-A45B5D23E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E65D1-64AA-FBAB-80DA-56F967A34C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016022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90539-FA09-E5E6-1C37-F3CD4FAFF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1C8C5-62B5-A15A-91B1-8A0048283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7C9D6E-7771-C539-4F12-AA03792AA5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216E4C-9F58-5994-E722-965AF91CCC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9823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4097C-C4FF-9036-4170-CA16C873B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0A574-7C0D-AB74-5BEF-A69E51A7A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3FFDE2-13A2-FCC7-6691-FB9AD0CD9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9834F3-867D-FF81-7B09-735801E944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452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6888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0841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496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4965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48864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5484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0687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402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215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215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206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7207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45.png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1.png"/><Relationship Id="rId4" Type="http://schemas.openxmlformats.org/officeDocument/2006/relationships/image" Target="../media/image5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1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1.png"/><Relationship Id="rId4" Type="http://schemas.openxmlformats.org/officeDocument/2006/relationships/image" Target="../media/image5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1.png"/><Relationship Id="rId4" Type="http://schemas.openxmlformats.org/officeDocument/2006/relationships/image" Target="../media/image6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1.png"/><Relationship Id="rId4" Type="http://schemas.openxmlformats.org/officeDocument/2006/relationships/image" Target="../media/image6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8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9.png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0.png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.png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2.png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7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7.png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7.png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7.png"/><Relationship Id="rId4" Type="http://schemas.openxmlformats.org/officeDocument/2006/relationships/image" Target="../media/image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7.png"/><Relationship Id="rId4" Type="http://schemas.openxmlformats.org/officeDocument/2006/relationships/image" Target="../media/image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6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93.png"/><Relationship Id="rId4" Type="http://schemas.openxmlformats.org/officeDocument/2006/relationships/image" Target="../media/image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2"/>
          <p:cNvSpPr/>
          <p:nvPr/>
        </p:nvSpPr>
        <p:spPr>
          <a:xfrm>
            <a:off x="76060" y="1804416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165463" y="2020516"/>
            <a:ext cx="11704320" cy="1950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5867" b="1" kern="0" spc="-67" dirty="0">
                <a:solidFill>
                  <a:srgbClr val="FFFFFF"/>
                </a:solidFill>
                <a:latin typeface="Calibri" panose="020F0502020204030204"/>
              </a:rPr>
              <a:t>COMITÉ SEMANAL DE CAMPAÑAS</a:t>
            </a:r>
            <a:endParaRPr lang="en-US" sz="5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243840" y="3971236"/>
            <a:ext cx="11704320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267" dirty="0">
                <a:solidFill>
                  <a:srgbClr val="FFFFFF"/>
                </a:solidFill>
                <a:latin typeface="Calibri" panose="020F0502020204030204"/>
              </a:rPr>
              <a:t>Consolidado · Agosto 2026</a:t>
            </a:r>
            <a:endParaRPr lang="en-US" sz="2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99767" y="4937760"/>
            <a:ext cx="117043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dirty="0">
                <a:solidFill>
                  <a:srgbClr val="FFFFFF"/>
                </a:solidFill>
                <a:latin typeface="Calibri" panose="020F0502020204030204"/>
              </a:rPr>
              <a:t>Agosto 2026  ·  MF Asesoría y Consultoría  &amp;  PlusMetas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85F19C7-3194-4AD2-FC53-73E90CB7E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463" y="-248411"/>
            <a:ext cx="2411404" cy="2411404"/>
          </a:xfrm>
          <a:prstGeom prst="rect">
            <a:avLst/>
          </a:prstGeom>
        </p:spPr>
      </p:pic>
      <p:pic>
        <p:nvPicPr>
          <p:cNvPr id="11" name="LogoPlusMetas"/>
          <p:cNvPicPr/>
          <p:nvPr/>
        </p:nvPicPr>
        <p:blipFill>
          <a:blip r:embed="rId4"/>
          <a:stretch>
            <a:fillRect/>
          </a:stretch>
        </p:blipFill>
        <p:spPr>
          <a:xfrm>
            <a:off x="8717280" y="341377"/>
            <a:ext cx="3169920" cy="18044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6933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0560" y="1370584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67" b="1" dirty="0">
                <a:solidFill>
                  <a:srgbClr val="FFFFFF"/>
                </a:solidFill>
              </a:rPr>
              <a:t>Scotiabank Convenios</a:t>
            </a:r>
            <a:endParaRPr lang="en-US" sz="4267" dirty="0"/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Iván Vilcapoma  ·  Gerente de SBP Convenios</a:t>
            </a:r>
            <a:endParaRPr lang="en-US" sz="1867" dirty="0"/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Picture 2" descr="Image result for scotiabank">
            <a:extLst>
              <a:ext uri="{FF2B5EF4-FFF2-40B4-BE49-F238E27FC236}">
                <a16:creationId xmlns:a16="http://schemas.microsoft.com/office/drawing/2014/main" id="{E947DDDF-F7B2-D8C9-A611-5C35853CF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8640" y="4937760"/>
            <a:ext cx="1239028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RESUMEN GENERAL: SBP CONVENIOS  |LIMA · TELECAMPO + PROV. · NORTE · COA· SUR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D97706"/>
                </a:solidFill>
              </a:rPr>
              <a:t>EN SEGUIMIENTO</a:t>
            </a:r>
            <a:endParaRPr lang="en-US" sz="1333" dirty="0"/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7085"/>
                </a:solidFill>
              </a:rPr>
              <a:t>Gerente: Ivan Vilcapoma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87%</a:t>
            </a:r>
            <a:endParaRPr lang="en-US" sz="10667" dirty="0"/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7085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ACTIVOS TOTAL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69</a:t>
            </a:r>
            <a:endParaRPr lang="en-US" sz="2933" dirty="0"/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79</a:t>
            </a:r>
            <a:endParaRPr lang="en-US" sz="2933" dirty="0"/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5</a:t>
            </a:r>
            <a:endParaRPr lang="en-US" sz="2933" dirty="0"/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10</a:t>
            </a:r>
            <a:endParaRPr lang="en-US" sz="2933" dirty="0"/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79</a:t>
            </a:r>
            <a:endParaRPr lang="en-US" sz="2933" dirty="0"/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/>
          <p:cNvSpPr/>
          <p:nvPr/>
        </p:nvSpPr>
        <p:spPr>
          <a:xfrm>
            <a:off x="0" y="4364285"/>
            <a:ext cx="12192000" cy="375513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243840" y="4364285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/>
          <p:cNvSpPr/>
          <p:nvPr/>
        </p:nvSpPr>
        <p:spPr>
          <a:xfrm>
            <a:off x="3009933" y="435002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/>
          <p:cNvSpPr/>
          <p:nvPr/>
        </p:nvSpPr>
        <p:spPr>
          <a:xfrm>
            <a:off x="6035040" y="4364285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/>
          <p:cNvSpPr/>
          <p:nvPr/>
        </p:nvSpPr>
        <p:spPr>
          <a:xfrm>
            <a:off x="8875776" y="436428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/>
          <p:cNvSpPr/>
          <p:nvPr/>
        </p:nvSpPr>
        <p:spPr>
          <a:xfrm>
            <a:off x="10058400" y="436428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0" name="Shape 37"/>
          <p:cNvSpPr/>
          <p:nvPr/>
        </p:nvSpPr>
        <p:spPr>
          <a:xfrm>
            <a:off x="0" y="4808807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1" name="Text 38"/>
          <p:cNvSpPr/>
          <p:nvPr/>
        </p:nvSpPr>
        <p:spPr>
          <a:xfrm>
            <a:off x="243840" y="4808807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Lima</a:t>
            </a:r>
            <a:endParaRPr lang="en-US" sz="1067" dirty="0"/>
          </a:p>
        </p:txBody>
      </p:sp>
      <p:sp>
        <p:nvSpPr>
          <p:cNvPr id="42" name="Text 39"/>
          <p:cNvSpPr/>
          <p:nvPr/>
        </p:nvSpPr>
        <p:spPr>
          <a:xfrm>
            <a:off x="3274475" y="48060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12</a:t>
            </a:r>
            <a:endParaRPr lang="en-US" sz="1067" dirty="0"/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4" name="Shape 41"/>
          <p:cNvSpPr/>
          <p:nvPr/>
        </p:nvSpPr>
        <p:spPr>
          <a:xfrm>
            <a:off x="6035040" y="4913951"/>
            <a:ext cx="212506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5" name="Text 42"/>
          <p:cNvSpPr/>
          <p:nvPr/>
        </p:nvSpPr>
        <p:spPr>
          <a:xfrm>
            <a:off x="8875776" y="4808807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83%</a:t>
            </a:r>
            <a:endParaRPr lang="en-US" sz="1067" dirty="0"/>
          </a:p>
        </p:txBody>
      </p:sp>
      <p:sp>
        <p:nvSpPr>
          <p:cNvPr id="46" name="Text 43"/>
          <p:cNvSpPr/>
          <p:nvPr/>
        </p:nvSpPr>
        <p:spPr>
          <a:xfrm>
            <a:off x="10058400" y="4808807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47" name="Shape 44"/>
          <p:cNvSpPr/>
          <p:nvPr/>
        </p:nvSpPr>
        <p:spPr>
          <a:xfrm>
            <a:off x="0" y="5184320"/>
            <a:ext cx="12192000" cy="375513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8" name="Text 45"/>
          <p:cNvSpPr/>
          <p:nvPr/>
        </p:nvSpPr>
        <p:spPr>
          <a:xfrm>
            <a:off x="243840" y="518432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Telecampo</a:t>
            </a:r>
            <a:endParaRPr lang="en-US" sz="1067" dirty="0"/>
          </a:p>
        </p:txBody>
      </p:sp>
      <p:sp>
        <p:nvSpPr>
          <p:cNvPr id="49" name="Text 46"/>
          <p:cNvSpPr/>
          <p:nvPr/>
        </p:nvSpPr>
        <p:spPr>
          <a:xfrm>
            <a:off x="3274475" y="51815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20</a:t>
            </a:r>
            <a:endParaRPr lang="en-US" sz="1067" dirty="0"/>
          </a:p>
        </p:txBody>
      </p:sp>
      <p:sp>
        <p:nvSpPr>
          <p:cNvPr id="50" name="Shape 47"/>
          <p:cNvSpPr/>
          <p:nvPr/>
        </p:nvSpPr>
        <p:spPr>
          <a:xfrm>
            <a:off x="6035040" y="528946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1" name="Shape 48"/>
          <p:cNvSpPr/>
          <p:nvPr/>
        </p:nvSpPr>
        <p:spPr>
          <a:xfrm>
            <a:off x="6035040" y="5289464"/>
            <a:ext cx="2304288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2" name="Text 49"/>
          <p:cNvSpPr/>
          <p:nvPr/>
        </p:nvSpPr>
        <p:spPr>
          <a:xfrm>
            <a:off x="8875776" y="518432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059669"/>
                </a:solidFill>
              </a:rPr>
              <a:t>90%</a:t>
            </a:r>
            <a:endParaRPr lang="en-US" sz="1067" dirty="0"/>
          </a:p>
        </p:txBody>
      </p:sp>
      <p:sp>
        <p:nvSpPr>
          <p:cNvPr id="53" name="Text 50"/>
          <p:cNvSpPr/>
          <p:nvPr/>
        </p:nvSpPr>
        <p:spPr>
          <a:xfrm>
            <a:off x="10058400" y="518432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54" name="Shape 51"/>
          <p:cNvSpPr/>
          <p:nvPr/>
        </p:nvSpPr>
        <p:spPr>
          <a:xfrm>
            <a:off x="0" y="5559835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 dirty="0"/>
          </a:p>
        </p:txBody>
      </p:sp>
      <p:sp>
        <p:nvSpPr>
          <p:cNvPr id="55" name="Text 52"/>
          <p:cNvSpPr/>
          <p:nvPr/>
        </p:nvSpPr>
        <p:spPr>
          <a:xfrm>
            <a:off x="243840" y="5559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Norte</a:t>
            </a:r>
            <a:endParaRPr lang="en-US" sz="1067" dirty="0"/>
          </a:p>
        </p:txBody>
      </p:sp>
      <p:sp>
        <p:nvSpPr>
          <p:cNvPr id="56" name="Text 53"/>
          <p:cNvSpPr/>
          <p:nvPr/>
        </p:nvSpPr>
        <p:spPr>
          <a:xfrm>
            <a:off x="3274475" y="555707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25</a:t>
            </a:r>
            <a:endParaRPr lang="en-US" sz="1067" dirty="0"/>
          </a:p>
        </p:txBody>
      </p:sp>
      <p:sp>
        <p:nvSpPr>
          <p:cNvPr id="57" name="Shape 54"/>
          <p:cNvSpPr/>
          <p:nvPr/>
        </p:nvSpPr>
        <p:spPr>
          <a:xfrm>
            <a:off x="6035040" y="566497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8" name="Shape 55"/>
          <p:cNvSpPr/>
          <p:nvPr/>
        </p:nvSpPr>
        <p:spPr>
          <a:xfrm>
            <a:off x="6035040" y="5664977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9" name="Text 56"/>
          <p:cNvSpPr/>
          <p:nvPr/>
        </p:nvSpPr>
        <p:spPr>
          <a:xfrm>
            <a:off x="8875776" y="5559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88%</a:t>
            </a:r>
            <a:endParaRPr lang="en-US" sz="1067" dirty="0"/>
          </a:p>
        </p:txBody>
      </p:sp>
      <p:sp>
        <p:nvSpPr>
          <p:cNvPr id="60" name="Text 57"/>
          <p:cNvSpPr/>
          <p:nvPr/>
        </p:nvSpPr>
        <p:spPr>
          <a:xfrm>
            <a:off x="10058400" y="5559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2" name="Text 59"/>
          <p:cNvSpPr/>
          <p:nvPr/>
        </p:nvSpPr>
        <p:spPr>
          <a:xfrm>
            <a:off x="253367" y="620939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Oriente</a:t>
            </a:r>
            <a:endParaRPr lang="en-US" sz="1067" dirty="0"/>
          </a:p>
        </p:txBody>
      </p:sp>
      <p:sp>
        <p:nvSpPr>
          <p:cNvPr id="63" name="Text 60"/>
          <p:cNvSpPr/>
          <p:nvPr/>
        </p:nvSpPr>
        <p:spPr>
          <a:xfrm>
            <a:off x="3274475" y="5932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64" name="Shape 61"/>
          <p:cNvSpPr/>
          <p:nvPr/>
        </p:nvSpPr>
        <p:spPr>
          <a:xfrm>
            <a:off x="6035040" y="6040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5" name="Shape 62"/>
          <p:cNvSpPr/>
          <p:nvPr/>
        </p:nvSpPr>
        <p:spPr>
          <a:xfrm>
            <a:off x="6035040" y="6040492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6" name="Text 63"/>
          <p:cNvSpPr/>
          <p:nvPr/>
        </p:nvSpPr>
        <p:spPr>
          <a:xfrm>
            <a:off x="8875776" y="593534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67" name="Text 64"/>
          <p:cNvSpPr/>
          <p:nvPr/>
        </p:nvSpPr>
        <p:spPr>
          <a:xfrm>
            <a:off x="10058400" y="593534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67085"/>
                </a:solidFill>
              </a:rPr>
              <a:t>·  SBP CONVENIOS  |  Iván Vilcapoma  | Agosto 2026</a:t>
            </a:r>
            <a:endParaRPr lang="en-US" sz="8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49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40</a:t>
            </a:r>
            <a:endParaRPr lang="en-US" sz="1267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20</a:t>
            </a:r>
            <a:endParaRPr lang="en-US" sz="1067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28</a:t>
            </a:r>
            <a:endParaRPr lang="en-US" sz="1067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Sur</a:t>
            </a:r>
            <a:endParaRPr lang="en-US" sz="1067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473" y="921985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GENERAL: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29.8%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73.51K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246.4K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C0392B"/>
                </a:solidFill>
              </a:rPr>
              <a:t>META: 1.80M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LIMA: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29.8%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73.51K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246.4K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C0392B"/>
                </a:solidFill>
              </a:rPr>
              <a:t>META: 1.80M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TELECAMPO: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Gerente 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83.9%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767.9K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914.9K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 err="1">
                <a:solidFill>
                  <a:srgbClr val="C0392B"/>
                </a:solidFill>
              </a:rPr>
              <a:t>Cerca</a:t>
            </a:r>
            <a:r>
              <a:rPr lang="en-US" sz="1267" b="1" dirty="0">
                <a:solidFill>
                  <a:srgbClr val="C0392B"/>
                </a:solidFill>
              </a:rPr>
              <a:t> de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NORTE: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 err="1">
                <a:solidFill>
                  <a:srgbClr val="667085"/>
                </a:solidFill>
              </a:rPr>
              <a:t>Gerente</a:t>
            </a:r>
            <a:r>
              <a:rPr lang="en-US" sz="1133" i="1" dirty="0">
                <a:solidFill>
                  <a:srgbClr val="667085"/>
                </a:solidFill>
              </a:rPr>
              <a:t> 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55.1%</a:t>
            </a:r>
            <a:endParaRPr lang="en-US" sz="88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6.20M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584.9K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1.06M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SBP CONVENIOS  |  COA: Información al 8 de Agosto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Gerente: Ivan Vilcapoma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35.6%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4.70M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370.5K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1.04M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SUR:  Información al 8 de Agosto </a:t>
            </a:r>
            <a:endParaRPr lang="en-US" sz="1667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 err="1">
                <a:solidFill>
                  <a:srgbClr val="667085"/>
                </a:solidFill>
              </a:rPr>
              <a:t>Gerente</a:t>
            </a:r>
            <a:r>
              <a:rPr lang="en-US" sz="1133" i="1" dirty="0">
                <a:solidFill>
                  <a:srgbClr val="667085"/>
                </a:solidFill>
              </a:rPr>
              <a:t> : Ivan Vilcapoma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0.0%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500.0K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0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129.0K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SBP CONVENIOS  |  DIAGNÓSTICO Y SEGUIMIENTO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ES" sz="1267" dirty="0"/>
              <a:t>Rescatar la plaza de Trujillo</a:t>
            </a: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ES" sz="1267" dirty="0">
                <a:solidFill>
                  <a:srgbClr val="101828"/>
                </a:solidFill>
              </a:rPr>
              <a:t>Completar la dotación del COA</a:t>
            </a: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7" b="1" dirty="0">
                <a:solidFill>
                  <a:srgbClr val="6B150B"/>
                </a:solidFill>
              </a:rPr>
              <a:t>Recuperar plaza Trujillo en Norte</a:t>
            </a:r>
            <a:endParaRPr lang="en-US" sz="1467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/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7" b="1" dirty="0">
                <a:solidFill>
                  <a:srgbClr val="6B150B"/>
                </a:solidFill>
              </a:rPr>
              <a:t>Dotación al 100% en COA</a:t>
            </a:r>
            <a:endParaRPr lang="en-US" sz="1467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200" dirty="0">
                <a:solidFill>
                  <a:srgbClr val="101828"/>
                </a:solidFill>
              </a:rPr>
              <a:t>Completar la dotación del COA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6933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0A024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  SBP CONVENIOS  / Iván Vilcapoma  | Agosto 2026</a:t>
            </a:r>
            <a:endParaRPr lang="en-US" sz="933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sp>
        <p:nvSpPr>
          <p:cNvPr id="40" name="Text 34">
            <a:extLst>
              <a:ext uri="{FF2B5EF4-FFF2-40B4-BE49-F238E27FC236}">
                <a16:creationId xmlns:a16="http://schemas.microsoft.com/office/drawing/2014/main" id="{C42B5418-EDDE-7005-E049-24FF2A3FA716}"/>
              </a:ext>
            </a:extLst>
          </p:cNvPr>
          <p:cNvSpPr/>
          <p:nvPr/>
        </p:nvSpPr>
        <p:spPr>
          <a:xfrm>
            <a:off x="6583680" y="182315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200" dirty="0" err="1">
                <a:solidFill>
                  <a:srgbClr val="101828"/>
                </a:solidFill>
              </a:rPr>
              <a:t>Re-prospectar</a:t>
            </a:r>
            <a:r>
              <a:rPr lang="es-ES" sz="1200" dirty="0">
                <a:solidFill>
                  <a:srgbClr val="101828"/>
                </a:solidFill>
              </a:rPr>
              <a:t> (maduración ~10 días); nueva política: luchar cada rechazo.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70560" y="2487492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6933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0560" y="158960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67" b="1" dirty="0">
                <a:solidFill>
                  <a:srgbClr val="FFFFFF"/>
                </a:solidFill>
              </a:rPr>
              <a:t>BBVA Convenios</a:t>
            </a:r>
            <a:endParaRPr lang="en-US" sz="4267" dirty="0"/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Sheyla Ramos  ·  Sub Gerenta de BBVA Convenios</a:t>
            </a:r>
            <a:endParaRPr lang="en-US" sz="1867" dirty="0"/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2B900F1C-9A00-42F4-8F13-6C3836BD9D8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>
          <a:xfrm>
            <a:off x="548640" y="5166360"/>
            <a:ext cx="3630622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RESUMEN GENERAL: BBVA CONVENIOS  |LIMA · TELECAMPO +PROV. · NORTE · SUR · ORIENTE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D97706"/>
                </a:solidFill>
              </a:rPr>
              <a:t>EN SEGUIMIENTO</a:t>
            </a:r>
            <a:endParaRPr lang="en-US" sz="1333" dirty="0"/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7085"/>
                </a:solidFill>
              </a:rPr>
              <a:t>Sub-Gerente: Sheyla Ramos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87%</a:t>
            </a:r>
            <a:endParaRPr lang="en-US" sz="10667" dirty="0"/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7085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ACTIVOS TOTAL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69</a:t>
            </a:r>
            <a:endParaRPr lang="en-US" sz="2933" dirty="0"/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79</a:t>
            </a:r>
            <a:endParaRPr lang="en-US" sz="2933" dirty="0"/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5</a:t>
            </a:r>
            <a:endParaRPr lang="en-US" sz="2933" dirty="0"/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10</a:t>
            </a:r>
            <a:endParaRPr lang="en-US" sz="2933" dirty="0"/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79</a:t>
            </a:r>
            <a:endParaRPr lang="en-US" sz="2933" dirty="0"/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/>
          <p:cNvSpPr/>
          <p:nvPr/>
        </p:nvSpPr>
        <p:spPr>
          <a:xfrm>
            <a:off x="0" y="4364285"/>
            <a:ext cx="12192000" cy="375513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243840" y="4364285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/>
          <p:cNvSpPr/>
          <p:nvPr/>
        </p:nvSpPr>
        <p:spPr>
          <a:xfrm>
            <a:off x="3009933" y="435002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/>
          <p:cNvSpPr/>
          <p:nvPr/>
        </p:nvSpPr>
        <p:spPr>
          <a:xfrm>
            <a:off x="6035040" y="4364285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/>
          <p:cNvSpPr/>
          <p:nvPr/>
        </p:nvSpPr>
        <p:spPr>
          <a:xfrm>
            <a:off x="8875776" y="436428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/>
          <p:cNvSpPr/>
          <p:nvPr/>
        </p:nvSpPr>
        <p:spPr>
          <a:xfrm>
            <a:off x="10058400" y="436428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0" name="Shape 37"/>
          <p:cNvSpPr/>
          <p:nvPr/>
        </p:nvSpPr>
        <p:spPr>
          <a:xfrm>
            <a:off x="0" y="4808807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1" name="Text 38"/>
          <p:cNvSpPr/>
          <p:nvPr/>
        </p:nvSpPr>
        <p:spPr>
          <a:xfrm>
            <a:off x="243840" y="4808807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Lima</a:t>
            </a:r>
            <a:endParaRPr lang="en-US" sz="1067" dirty="0"/>
          </a:p>
        </p:txBody>
      </p:sp>
      <p:sp>
        <p:nvSpPr>
          <p:cNvPr id="42" name="Text 39"/>
          <p:cNvSpPr/>
          <p:nvPr/>
        </p:nvSpPr>
        <p:spPr>
          <a:xfrm>
            <a:off x="3274475" y="48060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12</a:t>
            </a:r>
            <a:endParaRPr lang="en-US" sz="1067" dirty="0"/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4" name="Shape 41"/>
          <p:cNvSpPr/>
          <p:nvPr/>
        </p:nvSpPr>
        <p:spPr>
          <a:xfrm>
            <a:off x="6035040" y="4913951"/>
            <a:ext cx="212506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5" name="Text 42"/>
          <p:cNvSpPr/>
          <p:nvPr/>
        </p:nvSpPr>
        <p:spPr>
          <a:xfrm>
            <a:off x="8875776" y="4808807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83%</a:t>
            </a:r>
            <a:endParaRPr lang="en-US" sz="1067" dirty="0"/>
          </a:p>
        </p:txBody>
      </p:sp>
      <p:sp>
        <p:nvSpPr>
          <p:cNvPr id="46" name="Text 43"/>
          <p:cNvSpPr/>
          <p:nvPr/>
        </p:nvSpPr>
        <p:spPr>
          <a:xfrm>
            <a:off x="10058400" y="4808807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47" name="Shape 44"/>
          <p:cNvSpPr/>
          <p:nvPr/>
        </p:nvSpPr>
        <p:spPr>
          <a:xfrm>
            <a:off x="0" y="5184320"/>
            <a:ext cx="12192000" cy="375513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8" name="Text 45"/>
          <p:cNvSpPr/>
          <p:nvPr/>
        </p:nvSpPr>
        <p:spPr>
          <a:xfrm>
            <a:off x="243840" y="518432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Telecampo</a:t>
            </a:r>
            <a:endParaRPr lang="en-US" sz="1067" dirty="0"/>
          </a:p>
        </p:txBody>
      </p:sp>
      <p:sp>
        <p:nvSpPr>
          <p:cNvPr id="49" name="Text 46"/>
          <p:cNvSpPr/>
          <p:nvPr/>
        </p:nvSpPr>
        <p:spPr>
          <a:xfrm>
            <a:off x="3274475" y="51815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20</a:t>
            </a:r>
            <a:endParaRPr lang="en-US" sz="1067" dirty="0"/>
          </a:p>
        </p:txBody>
      </p:sp>
      <p:sp>
        <p:nvSpPr>
          <p:cNvPr id="50" name="Shape 47"/>
          <p:cNvSpPr/>
          <p:nvPr/>
        </p:nvSpPr>
        <p:spPr>
          <a:xfrm>
            <a:off x="6035040" y="528946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1" name="Shape 48"/>
          <p:cNvSpPr/>
          <p:nvPr/>
        </p:nvSpPr>
        <p:spPr>
          <a:xfrm>
            <a:off x="6035040" y="5289464"/>
            <a:ext cx="2304288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2" name="Text 49"/>
          <p:cNvSpPr/>
          <p:nvPr/>
        </p:nvSpPr>
        <p:spPr>
          <a:xfrm>
            <a:off x="8875776" y="518432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059669"/>
                </a:solidFill>
              </a:rPr>
              <a:t>90%</a:t>
            </a:r>
            <a:endParaRPr lang="en-US" sz="1067" dirty="0"/>
          </a:p>
        </p:txBody>
      </p:sp>
      <p:sp>
        <p:nvSpPr>
          <p:cNvPr id="53" name="Text 50"/>
          <p:cNvSpPr/>
          <p:nvPr/>
        </p:nvSpPr>
        <p:spPr>
          <a:xfrm>
            <a:off x="10058400" y="518432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54" name="Shape 51"/>
          <p:cNvSpPr/>
          <p:nvPr/>
        </p:nvSpPr>
        <p:spPr>
          <a:xfrm>
            <a:off x="0" y="5559835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 dirty="0"/>
          </a:p>
        </p:txBody>
      </p:sp>
      <p:sp>
        <p:nvSpPr>
          <p:cNvPr id="55" name="Text 52"/>
          <p:cNvSpPr/>
          <p:nvPr/>
        </p:nvSpPr>
        <p:spPr>
          <a:xfrm>
            <a:off x="243840" y="5559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Norte</a:t>
            </a:r>
            <a:endParaRPr lang="en-US" sz="1067" dirty="0"/>
          </a:p>
        </p:txBody>
      </p:sp>
      <p:sp>
        <p:nvSpPr>
          <p:cNvPr id="56" name="Text 53"/>
          <p:cNvSpPr/>
          <p:nvPr/>
        </p:nvSpPr>
        <p:spPr>
          <a:xfrm>
            <a:off x="3274475" y="555707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25</a:t>
            </a:r>
            <a:endParaRPr lang="en-US" sz="1067" dirty="0"/>
          </a:p>
        </p:txBody>
      </p:sp>
      <p:sp>
        <p:nvSpPr>
          <p:cNvPr id="57" name="Shape 54"/>
          <p:cNvSpPr/>
          <p:nvPr/>
        </p:nvSpPr>
        <p:spPr>
          <a:xfrm>
            <a:off x="6035040" y="566497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8" name="Shape 55"/>
          <p:cNvSpPr/>
          <p:nvPr/>
        </p:nvSpPr>
        <p:spPr>
          <a:xfrm>
            <a:off x="6035040" y="5664977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9" name="Text 56"/>
          <p:cNvSpPr/>
          <p:nvPr/>
        </p:nvSpPr>
        <p:spPr>
          <a:xfrm>
            <a:off x="8875776" y="5559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88%</a:t>
            </a:r>
            <a:endParaRPr lang="en-US" sz="1067" dirty="0"/>
          </a:p>
        </p:txBody>
      </p:sp>
      <p:sp>
        <p:nvSpPr>
          <p:cNvPr id="60" name="Text 57"/>
          <p:cNvSpPr/>
          <p:nvPr/>
        </p:nvSpPr>
        <p:spPr>
          <a:xfrm>
            <a:off x="10058400" y="5559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2" name="Text 59"/>
          <p:cNvSpPr/>
          <p:nvPr/>
        </p:nvSpPr>
        <p:spPr>
          <a:xfrm>
            <a:off x="253367" y="620939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Oriente</a:t>
            </a:r>
            <a:endParaRPr lang="en-US" sz="1067" dirty="0"/>
          </a:p>
        </p:txBody>
      </p:sp>
      <p:sp>
        <p:nvSpPr>
          <p:cNvPr id="63" name="Text 60"/>
          <p:cNvSpPr/>
          <p:nvPr/>
        </p:nvSpPr>
        <p:spPr>
          <a:xfrm>
            <a:off x="3274475" y="5932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64" name="Shape 61"/>
          <p:cNvSpPr/>
          <p:nvPr/>
        </p:nvSpPr>
        <p:spPr>
          <a:xfrm>
            <a:off x="6035040" y="6040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5" name="Shape 62"/>
          <p:cNvSpPr/>
          <p:nvPr/>
        </p:nvSpPr>
        <p:spPr>
          <a:xfrm>
            <a:off x="6035040" y="6040492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6" name="Text 63"/>
          <p:cNvSpPr/>
          <p:nvPr/>
        </p:nvSpPr>
        <p:spPr>
          <a:xfrm>
            <a:off x="8875776" y="593534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67" name="Text 64"/>
          <p:cNvSpPr/>
          <p:nvPr/>
        </p:nvSpPr>
        <p:spPr>
          <a:xfrm>
            <a:off x="10058400" y="593534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67085"/>
                </a:solidFill>
              </a:rPr>
              <a:t>TU META ES NUESTRA META  ·  BBVA CONVENIOS  |   Sheyla Ramos  |   Agosto 2026</a:t>
            </a:r>
            <a:endParaRPr lang="en-US" sz="8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49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40</a:t>
            </a:r>
            <a:endParaRPr lang="en-US" sz="1267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20</a:t>
            </a:r>
            <a:endParaRPr lang="en-US" sz="1067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28</a:t>
            </a:r>
            <a:endParaRPr lang="en-US" sz="1067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Sur</a:t>
            </a:r>
            <a:endParaRPr lang="en-US" sz="1067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3853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3853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47702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47702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81550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81550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15399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15399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49247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49247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583095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583095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3" name="dato_manual"/>
          <p:cNvSpPr>
            <a:spLocks noGrp="1"/>
          </p:cNvSpPr>
          <p:nvPr/>
        </p:nvSpPr>
        <p:spPr>
          <a:xfrm>
            <a:off x="3374745" y="61694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4" name="dato_manual"/>
          <p:cNvSpPr>
            <a:spLocks noGrp="1"/>
          </p:cNvSpPr>
          <p:nvPr/>
        </p:nvSpPr>
        <p:spPr>
          <a:xfrm>
            <a:off x="4779264" y="61694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GENERAL: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63.2%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500.9K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792.1K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TELECAMPO: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63.2%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500.9K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792.1K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CENTRO: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Gerente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0.0%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0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387.1K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LIMA CAMPO: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>Sub Gerente: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8CA61E"/>
                </a:solidFill>
              </a:rPr>
              <a:t>104%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950.5K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918.1K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EAF0D2"/>
          </a:solidFill>
          <a:ln w="16933">
            <a:solidFill>
              <a:srgbClr val="EAF0D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8CA61E"/>
          </a:solidFill>
          <a:ln w="16933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PROVINCIA NORTE: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76.2%</a:t>
            </a:r>
            <a:endParaRPr lang="en-US" sz="88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TU META ES NUESTRA META  ·  BBVA CONVENIOS  |  SHEYLA RAMOS  |  Sheyla Ramos  |   Agosto 2026</a:t>
            </a:r>
            <a:endParaRPr lang="en-US" sz="933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825.8K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1.08M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PROVINCIA SUR:  Información al 8 de Agosto </a:t>
            </a:r>
            <a:endParaRPr lang="en-US" sz="1667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 : Sheyla Ramos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16.0%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>
            <a:extLst>
              <a:ext uri="{FF2B5EF4-FFF2-40B4-BE49-F238E27FC236}">
                <a16:creationId xmlns:a16="http://schemas.microsoft.com/office/drawing/2014/main" id="{6341AA6A-C53D-503F-7A4A-73156A0D98E4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3.80M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106.5K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667.5K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BBVA CONVENIOS  |  PROVINCIA ORIENTE: Información al 8 de Agosto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Sub </a:t>
            </a:r>
            <a:r>
              <a:rPr lang="en-US" sz="1133" i="1" dirty="0" err="1">
                <a:solidFill>
                  <a:srgbClr val="667085"/>
                </a:solidFill>
              </a:rPr>
              <a:t>Gerenta</a:t>
            </a:r>
            <a:r>
              <a:rPr lang="en-US" sz="1133" i="1" dirty="0">
                <a:solidFill>
                  <a:srgbClr val="667085"/>
                </a:solidFill>
              </a:rPr>
              <a:t> : Sheyla Ramos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8CA61E"/>
                </a:solidFill>
              </a:rPr>
              <a:t>157%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80491" y="1048512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5.00M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886.2K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565.7K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EAF0D2"/>
          </a:solidFill>
          <a:ln w="16933">
            <a:solidFill>
              <a:srgbClr val="EAF0D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8CA61E"/>
          </a:solidFill>
          <a:ln w="16933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BBVA CONVENIOS  |  DIAGNOSTICO Y SEGUIMIENTO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/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6933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0A024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·  BBVA CONVENIOS  |  Sheyla Ramos  |   Agosto 2026</a:t>
            </a:r>
            <a:endParaRPr lang="en-US" sz="933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176784" y="1605443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Scotiabank Tarjetas de Crédito</a:t>
            </a:r>
            <a:endParaRPr lang="en-US" sz="4267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Christian Passara : Sub Gerente de Ventas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6"/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5105" y="4894385"/>
            <a:ext cx="2411404" cy="2411404"/>
          </a:xfrm>
          <a:prstGeom prst="rect">
            <a:avLst/>
          </a:prstGeom>
        </p:spPr>
      </p:pic>
      <p:pic>
        <p:nvPicPr>
          <p:cNvPr id="4" name="Picture 2" descr="Image result for scotiabank">
            <a:extLst>
              <a:ext uri="{FF2B5EF4-FFF2-40B4-BE49-F238E27FC236}">
                <a16:creationId xmlns:a16="http://schemas.microsoft.com/office/drawing/2014/main" id="{A00C97D8-5704-2398-DCDF-3C515195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8640" y="4937760"/>
            <a:ext cx="1239028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SCOTIABANK TARJETAS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9A9189"/>
                </a:solidFill>
                <a:latin typeface="Calibri" panose="020F0502020204030204"/>
              </a:rPr>
              <a:t>Sub-Gerente: Monica Mogollon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89%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9A9189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130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140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562503" y="455371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6B150B"/>
                </a:solidFill>
                <a:latin typeface="Calibri" panose="020F0502020204030204"/>
              </a:rPr>
              <a:t>Scotiabank Tarjetas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866608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2176272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85%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820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866608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866608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866608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Shape 66"/>
          <p:cNvSpPr/>
          <p:nvPr/>
        </p:nvSpPr>
        <p:spPr>
          <a:xfrm flipV="1">
            <a:off x="0" y="6365962"/>
            <a:ext cx="12192000" cy="12018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</a:rPr>
              <a:t>SCOTIABANK TC |  CHRISTIAN PASSARA—  DIAGNOSTICO  |  Agosto 2026</a:t>
            </a:r>
            <a:endParaRPr lang="en-US" sz="1000" dirty="0">
              <a:solidFill>
                <a:prstClr val="black"/>
              </a:solidFill>
            </a:endParaRPr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4507036" y="45560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4777004" y="48950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6709604" y="494285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700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4795269" y="533372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4817769" y="57078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4850112" y="60833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2122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7011965" y="56938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7064232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30250"/>
            <a:ext cx="12192000" cy="5592471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50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40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DB73DF2-1531-786C-804D-6E358661C57B}"/>
              </a:ext>
            </a:extLst>
          </p:cNvPr>
          <p:cNvSpPr/>
          <p:nvPr/>
        </p:nvSpPr>
        <p:spPr>
          <a:xfrm>
            <a:off x="390144" y="3413761"/>
            <a:ext cx="2152235" cy="129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/>
            <a:endParaRPr lang="es-PE" sz="2400">
              <a:solidFill>
                <a:prstClr val="whit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SCOTIABANK TARJETAS: 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88.0%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343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390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8281" y="6508090"/>
            <a:ext cx="335673" cy="326997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1926" y="-217956"/>
            <a:ext cx="1264005" cy="1264005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78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SCOTIABANK TARJETAS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17652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Superar las 1,000 tarjetas aprobadas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2773680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Sostener la productividad y completar al equipo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MES ACTUAL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s-ES" sz="1467" b="1" dirty="0">
                <a:solidFill>
                  <a:srgbClr val="6B150B"/>
                </a:solidFill>
                <a:latin typeface="Calibri" panose="020F0502020204030204"/>
              </a:rPr>
              <a:t>Meta 1,000 tarjetas en agosto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6583680" y="1926337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Superar la meta de 1000 tarjetas aprobadas.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Completar la dotación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583680" y="3576321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Dotación 100% completa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30713"/>
                </a:solidFill>
                <a:latin typeface="Calibri" panose="020F0502020204030204"/>
              </a:rPr>
              <a:t>Impacto Bajo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3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C97A0C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  <a:latin typeface="Calibri" panose="020F0502020204030204"/>
              </a:rPr>
              <a:t>SCOTIABANK TC |  CHRISTIAN PASSARA—  DIAGNOSTICO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6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36690" y="251788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86931" y="15180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BCP Convenios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Jhonny Vega  ·  Sub Gerente de BCP Convenios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8C003E7-D288-9D3B-BB30-D56C0BF913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5166360"/>
            <a:ext cx="3325897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GENERAL: BCP CONVENIOS  |LIMA · TELECAMPO +PROV. · NORTE · SUR · ORIENTE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87%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ACTIVOS TOTAL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69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79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79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364286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364286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009933" y="435002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364286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36428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36428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808808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808808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Lima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274475" y="480604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12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1" y="4913951"/>
            <a:ext cx="212506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80880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83%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80880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184321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18432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Telecampo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274475" y="518156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289465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0" y="5289465"/>
            <a:ext cx="2304288" cy="15771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18432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18432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559836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559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Norte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274475" y="555707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664978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1" y="5664978"/>
            <a:ext cx="2253081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559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88%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559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53367" y="620939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Oriente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274475" y="59325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6040493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6040493"/>
            <a:ext cx="220187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593534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86%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593534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800" i="1" dirty="0">
                <a:solidFill>
                  <a:srgbClr val="667085"/>
                </a:solidFill>
                <a:latin typeface="Calibri" panose="020F0502020204030204"/>
              </a:rPr>
              <a:t>TU META ES NUESTRA META  ·  BCP CONVENIOS  |  JHONNY VEGA  |  Jhonny Vega  |  Cierre Agosto 2026</a:t>
            </a:r>
            <a:endParaRPr lang="en-US" sz="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5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Sur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5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86%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8785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GENERAL: Informacion al 8 de Agosto 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21920" y="1452471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40.7%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893.4K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2.19M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LIMA: Informacion al 8 de Agosto 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21920" y="1452471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40.7%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893.4K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2.19M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TELECAMPO: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 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28.4%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219.8K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774.2K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NORTE I: 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23.9%</a:t>
            </a:r>
            <a:endParaRPr lang="en-US" sz="88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370.7K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1.55M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NORTE II: 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36.9%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571.5K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1.55M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 SUR/ORIENTE: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Jhonny Vega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23.6%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395.7K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1.68M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79008" y="983179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6583680" y="1926337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0A024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2DF0E-F57E-C9F5-5336-EC7F1A443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915AA25-F72D-5150-08F5-60206D9963EC}"/>
              </a:ext>
            </a:extLst>
          </p:cNvPr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693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C3F819-DF0B-D7CE-1797-1A717578BDB3}"/>
              </a:ext>
            </a:extLst>
          </p:cNvPr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693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C98D3B3-47F7-5380-6388-7F3ADB9A971B}"/>
              </a:ext>
            </a:extLst>
          </p:cNvPr>
          <p:cNvSpPr/>
          <p:nvPr/>
        </p:nvSpPr>
        <p:spPr>
          <a:xfrm>
            <a:off x="207264" y="1458672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4267" b="1" dirty="0">
                <a:solidFill>
                  <a:srgbClr val="FFFFFF"/>
                </a:solidFill>
              </a:rPr>
              <a:t>Efectiva - Fonocompras - Diners - BanBif</a:t>
            </a:r>
            <a:endParaRPr lang="en-US" sz="4267" b="1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9B1D3E3-BDE8-D2DF-8421-095E522E08C5}"/>
              </a:ext>
            </a:extLst>
          </p:cNvPr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Monica Mogollon: Subgerenta de Ventas</a:t>
            </a:r>
            <a:endParaRPr lang="en-US" sz="1867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F31DB3B-0AAF-D39E-DA27-EF09E04142F3}"/>
              </a:ext>
            </a:extLst>
          </p:cNvPr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7F75E1CB-250B-D3FA-C0A2-A428CB7C1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5104" y="4894384"/>
            <a:ext cx="2411404" cy="2411404"/>
          </a:xfrm>
          <a:prstGeom prst="rect">
            <a:avLst/>
          </a:prstGeom>
        </p:spPr>
      </p:pic>
      <p:pic>
        <p:nvPicPr>
          <p:cNvPr id="14" name="Cli_ef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623560"/>
            <a:ext cx="640080" cy="640080"/>
          </a:xfrm>
          <a:prstGeom prst="rect">
            <a:avLst/>
          </a:prstGeom>
        </p:spPr>
      </p:pic>
      <p:sp>
        <p:nvSpPr>
          <p:cNvPr id="15" name="Cli_card"/>
          <p:cNvSpPr/>
          <p:nvPr/>
        </p:nvSpPr>
        <p:spPr>
          <a:xfrm>
            <a:off x="1874519" y="5623560"/>
            <a:ext cx="1463039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pic>
        <p:nvPicPr>
          <p:cNvPr id="16" name="Cli_efectiv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7400" y="5742432"/>
            <a:ext cx="1097279" cy="402335"/>
          </a:xfrm>
          <a:prstGeom prst="rect">
            <a:avLst/>
          </a:prstGeom>
        </p:spPr>
      </p:pic>
      <p:sp>
        <p:nvSpPr>
          <p:cNvPr id="17" name="Cli_card"/>
          <p:cNvSpPr/>
          <p:nvPr/>
        </p:nvSpPr>
        <p:spPr>
          <a:xfrm>
            <a:off x="3794760" y="5623560"/>
            <a:ext cx="1837553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pic>
        <p:nvPicPr>
          <p:cNvPr id="18" name="Cli_banbi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7640" y="5742432"/>
            <a:ext cx="1471793" cy="402335"/>
          </a:xfrm>
          <a:prstGeom prst="rect">
            <a:avLst/>
          </a:prstGeom>
        </p:spPr>
      </p:pic>
      <p:sp>
        <p:nvSpPr>
          <p:cNvPr id="19" name="Cli_card"/>
          <p:cNvSpPr/>
          <p:nvPr/>
        </p:nvSpPr>
        <p:spPr>
          <a:xfrm>
            <a:off x="5897880" y="5623560"/>
            <a:ext cx="1937931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pic>
        <p:nvPicPr>
          <p:cNvPr id="20" name="Cli_diner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0760" y="5742432"/>
            <a:ext cx="1572171" cy="402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9496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10D6E-CDC0-B010-1957-79A16B615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CCE81A-8ABE-3701-8137-51C5ED130897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BEB4725-6E02-DF02-2C70-3C387342A309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2FBDCCF-F583-3F8B-F7AA-61E2DE71CD11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RESUMEN GENERAL|  EFECTIVA· FONOCOMPRAS · DINERS TC · BANBIF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001581A-1597-B21E-CC08-74613789B7BE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B1E7B4F-AC39-9147-1F67-144B643701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4A1433E-2E0C-2287-D03C-302FE6412BA9}"/>
              </a:ext>
            </a:extLst>
          </p:cNvPr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37EDC5BA-DF03-4B47-2C55-8FB8B04921DA}"/>
              </a:ext>
            </a:extLst>
          </p:cNvPr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2BE60F1-9D2F-C70F-F468-2DD5F6E9EDD4}"/>
              </a:ext>
            </a:extLst>
          </p:cNvPr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D97706"/>
                </a:solidFill>
              </a:rPr>
              <a:t>EN SEGUIMIENTO</a:t>
            </a: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1D0D5E7-FFF3-ADDF-C606-5081A9BF09F3}"/>
              </a:ext>
            </a:extLst>
          </p:cNvPr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A9189"/>
                </a:solidFill>
              </a:rPr>
              <a:t>Sub-Gerente: Monica Mogollon</a:t>
            </a:r>
            <a:endParaRPr lang="en-US" sz="12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19ACD99-17D0-0CC4-8240-C861561E9FAC}"/>
              </a:ext>
            </a:extLst>
          </p:cNvPr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89%</a:t>
            </a:r>
            <a:endParaRPr lang="en-US" sz="106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3AC7FE0B-6F20-7A96-032C-E948703C4D39}"/>
              </a:ext>
            </a:extLst>
          </p:cNvPr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9189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FE2ABED9-7BBD-AC16-1B41-EEA551C14D8F}"/>
              </a:ext>
            </a:extLst>
          </p:cNvPr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8439B5A9-638D-09CB-96D0-2EEC542FF4A5}"/>
              </a:ext>
            </a:extLst>
          </p:cNvPr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2C1C8EE-5340-D80A-715F-0940F4561C73}"/>
              </a:ext>
            </a:extLst>
          </p:cNvPr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CONECTADOS</a:t>
            </a:r>
            <a:endParaRPr lang="en-US" sz="104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D56DF93-BBFD-03CA-09BF-31E4BE953885}"/>
              </a:ext>
            </a:extLst>
          </p:cNvPr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120</a:t>
            </a:r>
            <a:endParaRPr lang="en-US" sz="2933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BBDDEDC0-65A6-97BE-E585-F66AD6DD0266}"/>
              </a:ext>
            </a:extLst>
          </p:cNvPr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EAC6006-29A3-6B19-31B3-18022430D149}"/>
              </a:ext>
            </a:extLst>
          </p:cNvPr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82A72C2-5DCC-9A69-72E8-8B572758520F}"/>
              </a:ext>
            </a:extLst>
          </p:cNvPr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130</a:t>
            </a:r>
            <a:endParaRPr lang="en-US" sz="2933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095B4EFC-A42E-238F-D52B-700D3A99032C}"/>
              </a:ext>
            </a:extLst>
          </p:cNvPr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295839A0-00D2-C004-B75A-9AFAD5E7EAC6}"/>
              </a:ext>
            </a:extLst>
          </p:cNvPr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719FCB19-1C60-B7E1-0FBE-6CBC6E3805EE}"/>
              </a:ext>
            </a:extLst>
          </p:cNvPr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2</a:t>
            </a:r>
            <a:endParaRPr lang="en-US" sz="2933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264EF2FD-7AB7-B80D-BD48-E0C019820995}"/>
              </a:ext>
            </a:extLst>
          </p:cNvPr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BEA6659A-F4CD-BF60-2061-C64534DC1383}"/>
              </a:ext>
            </a:extLst>
          </p:cNvPr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6AAEC47-14FC-B1F5-E8DB-23E6DBB87C3C}"/>
              </a:ext>
            </a:extLst>
          </p:cNvPr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12</a:t>
            </a:r>
            <a:endParaRPr lang="en-US" sz="2933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56FF5F1-2656-2F0B-5AB3-5C0EE6259747}"/>
              </a:ext>
            </a:extLst>
          </p:cNvPr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7AF54009-81D3-7F4C-DCAB-0BCEA399F554}"/>
              </a:ext>
            </a:extLst>
          </p:cNvPr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38E0A71D-3E87-F4B3-E2C1-EF53E3D5BCB3}"/>
              </a:ext>
            </a:extLst>
          </p:cNvPr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140</a:t>
            </a:r>
            <a:endParaRPr lang="en-US" sz="2933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C3BE525-B666-DA21-7B84-E35F78F639B0}"/>
              </a:ext>
            </a:extLst>
          </p:cNvPr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3D9D8001-DD1A-43AA-C8DA-7C0835411281}"/>
              </a:ext>
            </a:extLst>
          </p:cNvPr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91284AA-06D8-AA08-B76F-519EC6991703}"/>
              </a:ext>
            </a:extLst>
          </p:cNvPr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0D6FFB7B-9BA5-CB8D-A859-03B11391AAC3}"/>
              </a:ext>
            </a:extLst>
          </p:cNvPr>
          <p:cNvSpPr/>
          <p:nvPr/>
        </p:nvSpPr>
        <p:spPr>
          <a:xfrm>
            <a:off x="0" y="4559808"/>
            <a:ext cx="12192000" cy="375513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7A6D6F65-528C-1C01-9FB3-6592403964C7}"/>
              </a:ext>
            </a:extLst>
          </p:cNvPr>
          <p:cNvSpPr/>
          <p:nvPr/>
        </p:nvSpPr>
        <p:spPr>
          <a:xfrm>
            <a:off x="243840" y="4559808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4AAC91FE-2CBB-C4E9-3D53-D491106C0A50}"/>
              </a:ext>
            </a:extLst>
          </p:cNvPr>
          <p:cNvSpPr/>
          <p:nvPr/>
        </p:nvSpPr>
        <p:spPr>
          <a:xfrm>
            <a:off x="3562503" y="455371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CE20C154-1282-EC30-5E2A-5FF0DC225872}"/>
              </a:ext>
            </a:extLst>
          </p:cNvPr>
          <p:cNvSpPr/>
          <p:nvPr/>
        </p:nvSpPr>
        <p:spPr>
          <a:xfrm>
            <a:off x="6035040" y="4559808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B2F2DF42-D16C-733A-9B64-A9CEA61D5B7F}"/>
              </a:ext>
            </a:extLst>
          </p:cNvPr>
          <p:cNvSpPr/>
          <p:nvPr/>
        </p:nvSpPr>
        <p:spPr>
          <a:xfrm>
            <a:off x="8875776" y="455980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B5B82CA9-B8B4-A7F4-9951-B896181BFD87}"/>
              </a:ext>
            </a:extLst>
          </p:cNvPr>
          <p:cNvSpPr/>
          <p:nvPr/>
        </p:nvSpPr>
        <p:spPr>
          <a:xfrm>
            <a:off x="10058400" y="455980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80A33226-54A2-AD63-283E-CBCFA7A19D1E}"/>
              </a:ext>
            </a:extLst>
          </p:cNvPr>
          <p:cNvSpPr/>
          <p:nvPr/>
        </p:nvSpPr>
        <p:spPr>
          <a:xfrm>
            <a:off x="3866608" y="493532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5476ECC9-FB70-F37F-7EC9-94FE7727F1FC}"/>
              </a:ext>
            </a:extLst>
          </p:cNvPr>
          <p:cNvSpPr/>
          <p:nvPr/>
        </p:nvSpPr>
        <p:spPr>
          <a:xfrm>
            <a:off x="10058400" y="493532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33" dirty="0"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71ED4455-B211-DE91-62FA-1F94D050764D}"/>
              </a:ext>
            </a:extLst>
          </p:cNvPr>
          <p:cNvSpPr/>
          <p:nvPr/>
        </p:nvSpPr>
        <p:spPr>
          <a:xfrm>
            <a:off x="0" y="5310835"/>
            <a:ext cx="12192000" cy="375513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3C6C54AB-AE0F-D427-10C5-8C4C25788172}"/>
              </a:ext>
            </a:extLst>
          </p:cNvPr>
          <p:cNvSpPr/>
          <p:nvPr/>
        </p:nvSpPr>
        <p:spPr>
          <a:xfrm>
            <a:off x="243840" y="5310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6B150B"/>
                </a:solidFill>
              </a:rPr>
              <a:t>Fonocompras </a:t>
            </a:r>
            <a:endParaRPr lang="en-US" sz="1267" dirty="0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84B6892D-25A4-36D2-4A64-D14E6258AC8F}"/>
              </a:ext>
            </a:extLst>
          </p:cNvPr>
          <p:cNvSpPr/>
          <p:nvPr/>
        </p:nvSpPr>
        <p:spPr>
          <a:xfrm>
            <a:off x="3866608" y="531083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24</a:t>
            </a:r>
            <a:endParaRPr lang="en-US" sz="1267" dirty="0"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BEBBB499-0356-6066-42F5-FA92CFC49464}"/>
              </a:ext>
            </a:extLst>
          </p:cNvPr>
          <p:cNvSpPr/>
          <p:nvPr/>
        </p:nvSpPr>
        <p:spPr>
          <a:xfrm>
            <a:off x="6035040" y="5415979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C8C1B586-EAAD-FB10-B970-91A4E1BA7378}"/>
              </a:ext>
            </a:extLst>
          </p:cNvPr>
          <p:cNvSpPr/>
          <p:nvPr/>
        </p:nvSpPr>
        <p:spPr>
          <a:xfrm>
            <a:off x="6035040" y="5415979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AB3CFE4-D2D1-22B4-4982-171AE33B1970}"/>
              </a:ext>
            </a:extLst>
          </p:cNvPr>
          <p:cNvSpPr/>
          <p:nvPr/>
        </p:nvSpPr>
        <p:spPr>
          <a:xfrm>
            <a:off x="8875776" y="5310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D97706"/>
                </a:solidFill>
              </a:rPr>
              <a:t>88%</a:t>
            </a:r>
            <a:endParaRPr lang="en-US" sz="1333" dirty="0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F89ADD6F-CC64-B9BB-B638-B802187AC70A}"/>
              </a:ext>
            </a:extLst>
          </p:cNvPr>
          <p:cNvSpPr/>
          <p:nvPr/>
        </p:nvSpPr>
        <p:spPr>
          <a:xfrm>
            <a:off x="10058400" y="5310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1´500,000</a:t>
            </a:r>
            <a:endParaRPr lang="en-US" sz="1133" dirty="0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CDF3E905-913C-1542-8CD1-99F847DAD56C}"/>
              </a:ext>
            </a:extLst>
          </p:cNvPr>
          <p:cNvSpPr/>
          <p:nvPr/>
        </p:nvSpPr>
        <p:spPr>
          <a:xfrm>
            <a:off x="0" y="5686349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F8E6F6BB-B31B-2B07-8B75-00EDEB51AE10}"/>
              </a:ext>
            </a:extLst>
          </p:cNvPr>
          <p:cNvSpPr/>
          <p:nvPr/>
        </p:nvSpPr>
        <p:spPr>
          <a:xfrm>
            <a:off x="243840" y="5686349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6B150B"/>
                </a:solidFill>
              </a:rPr>
              <a:t>Efectivo (</a:t>
            </a:r>
            <a:r>
              <a:rPr lang="en-US" sz="1267" b="1" dirty="0" err="1">
                <a:solidFill>
                  <a:srgbClr val="6B150B"/>
                </a:solidFill>
              </a:rPr>
              <a:t>Dormido+Recurrente+Nuevos</a:t>
            </a:r>
            <a:r>
              <a:rPr lang="en-US" sz="1267" b="1" dirty="0">
                <a:solidFill>
                  <a:srgbClr val="6B150B"/>
                </a:solidFill>
              </a:rPr>
              <a:t>)</a:t>
            </a:r>
            <a:endParaRPr lang="en-US" sz="1267" dirty="0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3DDF9BC2-80D1-07C2-7F3D-C00C56F94FD0}"/>
              </a:ext>
            </a:extLst>
          </p:cNvPr>
          <p:cNvSpPr/>
          <p:nvPr/>
        </p:nvSpPr>
        <p:spPr>
          <a:xfrm>
            <a:off x="3866608" y="568634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39</a:t>
            </a:r>
            <a:endParaRPr lang="en-US" sz="1267" dirty="0"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FACBA088-81BF-329F-45AD-A5A7B759E401}"/>
              </a:ext>
            </a:extLst>
          </p:cNvPr>
          <p:cNvSpPr/>
          <p:nvPr/>
        </p:nvSpPr>
        <p:spPr>
          <a:xfrm>
            <a:off x="6035040" y="5791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CB7C41B7-2919-7A2E-BD13-4F31A0326188}"/>
              </a:ext>
            </a:extLst>
          </p:cNvPr>
          <p:cNvSpPr/>
          <p:nvPr/>
        </p:nvSpPr>
        <p:spPr>
          <a:xfrm>
            <a:off x="6035040" y="5791492"/>
            <a:ext cx="2381097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BF4EB3FC-E023-26C9-CF96-93D58600C3D4}"/>
              </a:ext>
            </a:extLst>
          </p:cNvPr>
          <p:cNvSpPr/>
          <p:nvPr/>
        </p:nvSpPr>
        <p:spPr>
          <a:xfrm>
            <a:off x="8875776" y="568634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059669"/>
                </a:solidFill>
              </a:rPr>
              <a:t>93%</a:t>
            </a:r>
            <a:endParaRPr lang="en-US" sz="1333" dirty="0"/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2F855612-6949-39D7-7AD5-26108E836141}"/>
              </a:ext>
            </a:extLst>
          </p:cNvPr>
          <p:cNvSpPr/>
          <p:nvPr/>
        </p:nvSpPr>
        <p:spPr>
          <a:xfrm>
            <a:off x="10058400" y="568634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8’200,000</a:t>
            </a:r>
            <a:endParaRPr lang="en-US" sz="1133" dirty="0"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FAC7CF1D-024C-A048-48FB-DC899F89EC5C}"/>
              </a:ext>
            </a:extLst>
          </p:cNvPr>
          <p:cNvSpPr/>
          <p:nvPr/>
        </p:nvSpPr>
        <p:spPr>
          <a:xfrm>
            <a:off x="0" y="6061863"/>
            <a:ext cx="12192000" cy="375513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BF94E060-62D9-9A03-3F5F-84D965914F36}"/>
              </a:ext>
            </a:extLst>
          </p:cNvPr>
          <p:cNvSpPr/>
          <p:nvPr/>
        </p:nvSpPr>
        <p:spPr>
          <a:xfrm>
            <a:off x="243840" y="6061863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 err="1">
                <a:solidFill>
                  <a:srgbClr val="6B150B"/>
                </a:solidFill>
              </a:rPr>
              <a:t>BanBif</a:t>
            </a:r>
            <a:r>
              <a:rPr lang="en-US" sz="1267" b="1" dirty="0">
                <a:solidFill>
                  <a:srgbClr val="6B150B"/>
                </a:solidFill>
              </a:rPr>
              <a:t> </a:t>
            </a:r>
            <a:endParaRPr lang="en-US" sz="1267" dirty="0"/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A5508137-5DA9-809A-6792-F7BC7355AAAA}"/>
              </a:ext>
            </a:extLst>
          </p:cNvPr>
          <p:cNvSpPr/>
          <p:nvPr/>
        </p:nvSpPr>
        <p:spPr>
          <a:xfrm>
            <a:off x="3866608" y="606186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5</a:t>
            </a:r>
            <a:endParaRPr lang="en-US" sz="1267" dirty="0"/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99FEB9E4-99A7-25DC-8A89-AC898CFA1F12}"/>
              </a:ext>
            </a:extLst>
          </p:cNvPr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94FE5A07-C44C-13F0-1AF7-A40B2FE0FED1}"/>
              </a:ext>
            </a:extLst>
          </p:cNvPr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69CDC250-7C88-8A78-E621-1D86B605D8CB}"/>
              </a:ext>
            </a:extLst>
          </p:cNvPr>
          <p:cNvSpPr/>
          <p:nvPr/>
        </p:nvSpPr>
        <p:spPr>
          <a:xfrm>
            <a:off x="8875776" y="6061863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059669"/>
                </a:solidFill>
              </a:rPr>
              <a:t>100%</a:t>
            </a:r>
            <a:endParaRPr lang="en-US" sz="1333" dirty="0"/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9A00ADDB-30A1-8E25-D9D3-C322483C1B52}"/>
              </a:ext>
            </a:extLst>
          </p:cNvPr>
          <p:cNvSpPr/>
          <p:nvPr/>
        </p:nvSpPr>
        <p:spPr>
          <a:xfrm>
            <a:off x="10058400" y="6061863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1,500,000</a:t>
            </a:r>
            <a:endParaRPr lang="en-US" sz="1133" dirty="0"/>
          </a:p>
        </p:txBody>
      </p:sp>
      <p:sp>
        <p:nvSpPr>
          <p:cNvPr id="68" name="Shape 65">
            <a:extLst>
              <a:ext uri="{FF2B5EF4-FFF2-40B4-BE49-F238E27FC236}">
                <a16:creationId xmlns:a16="http://schemas.microsoft.com/office/drawing/2014/main" id="{8E92A864-F541-F475-14F3-B6661E319641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C35B0139-422C-FA77-5966-889C7E2A5A80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67">
            <a:extLst>
              <a:ext uri="{FF2B5EF4-FFF2-40B4-BE49-F238E27FC236}">
                <a16:creationId xmlns:a16="http://schemas.microsoft.com/office/drawing/2014/main" id="{F98E7C80-8943-1281-F4E5-6027635CA71E}"/>
              </a:ext>
            </a:extLst>
          </p:cNvPr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9189"/>
                </a:solidFill>
              </a:rPr>
              <a:t>GRUPO EFE  | Monica Mogollon  |  Agosto 2026</a:t>
            </a:r>
            <a:endParaRPr lang="en-US" sz="1000" dirty="0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7B599B23-6EE0-470D-F55D-CD0911175A26}"/>
              </a:ext>
            </a:extLst>
          </p:cNvPr>
          <p:cNvSpPr/>
          <p:nvPr/>
        </p:nvSpPr>
        <p:spPr>
          <a:xfrm>
            <a:off x="4507036" y="455605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81C1BA1C-65D2-03D7-5D18-AB47CE5CA46F}"/>
              </a:ext>
            </a:extLst>
          </p:cNvPr>
          <p:cNvSpPr/>
          <p:nvPr/>
        </p:nvSpPr>
        <p:spPr>
          <a:xfrm>
            <a:off x="4795269" y="533372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20</a:t>
            </a:r>
            <a:endParaRPr lang="en-US" sz="1267" dirty="0"/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50400527-0269-9043-E6D5-59A22005A22D}"/>
              </a:ext>
            </a:extLst>
          </p:cNvPr>
          <p:cNvSpPr/>
          <p:nvPr/>
        </p:nvSpPr>
        <p:spPr>
          <a:xfrm>
            <a:off x="4817769" y="570785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28</a:t>
            </a:r>
            <a:endParaRPr lang="en-US" sz="1267" dirty="0"/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D1961235-D9D5-DDBC-C4A1-99352DC453F6}"/>
              </a:ext>
            </a:extLst>
          </p:cNvPr>
          <p:cNvSpPr/>
          <p:nvPr/>
        </p:nvSpPr>
        <p:spPr>
          <a:xfrm>
            <a:off x="4850112" y="608337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</a:t>
            </a:r>
            <a:endParaRPr lang="en-US" sz="1267" dirty="0"/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7AFECDBC-9AD2-9B6D-DFEE-C18C4CFC30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01D3C902-A22F-0D12-B901-358A6D8A3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2121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E55A6494-0B09-85A0-338D-5910F49BD43B}"/>
              </a:ext>
            </a:extLst>
          </p:cNvPr>
          <p:cNvSpPr/>
          <p:nvPr/>
        </p:nvSpPr>
        <p:spPr>
          <a:xfrm>
            <a:off x="6845717" y="53183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08342046-0DFA-3BF2-006C-DF3C6C34468C}"/>
              </a:ext>
            </a:extLst>
          </p:cNvPr>
          <p:cNvSpPr/>
          <p:nvPr/>
        </p:nvSpPr>
        <p:spPr>
          <a:xfrm>
            <a:off x="7011965" y="56938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AB25939E-CEAF-978E-361A-9D8434D4DC4B}"/>
              </a:ext>
            </a:extLst>
          </p:cNvPr>
          <p:cNvSpPr/>
          <p:nvPr/>
        </p:nvSpPr>
        <p:spPr>
          <a:xfrm>
            <a:off x="7064232" y="606186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57072"/>
            <a:ext cx="12192000" cy="5565648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1836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1836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46492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24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46492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3374745" y="511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4779264" y="511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3374745" y="55804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4779264" y="55804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60460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60460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797127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EFECTIVA (DORMIDOS + NUEVOS + RECURRENTES): Información al 8 de Agosto</a:t>
            </a:r>
            <a:endParaRPr lang="en-US" sz="16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58.8%</a:t>
            </a:r>
            <a:endParaRPr lang="en-US" sz="88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5A95A43B-8C1B-E7A9-3F8A-F8832210E4E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7.20M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78515AE-5431-E16A-0558-6D3EBE41CA32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1.45M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D22012C6-8E82-1724-8567-32DAD424347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2.46M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94" name="Picture 76">
            <a:extLst>
              <a:ext uri="{FF2B5EF4-FFF2-40B4-BE49-F238E27FC236}">
                <a16:creationId xmlns:a16="http://schemas.microsoft.com/office/drawing/2014/main" id="{C378C096-3B27-1ACC-5814-70E7AD988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2121" y="-193091"/>
            <a:ext cx="1264005" cy="1264005"/>
          </a:xfrm>
          <a:prstGeom prst="rect">
            <a:avLst/>
          </a:prstGeom>
        </p:spPr>
      </p:pic>
      <p:pic>
        <p:nvPicPr>
          <p:cNvPr id="96" name="Imagen 95">
            <a:extLst>
              <a:ext uri="{FF2B5EF4-FFF2-40B4-BE49-F238E27FC236}">
                <a16:creationId xmlns:a16="http://schemas.microsoft.com/office/drawing/2014/main" id="{BD613C91-CE49-A213-6746-E2942781BF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30" name="BARRAS_AVANCE_GENE" descr="image.png">
            <a:extLst>
              <a:ext uri="{FF2B5EF4-FFF2-40B4-BE49-F238E27FC236}">
                <a16:creationId xmlns:a16="http://schemas.microsoft.com/office/drawing/2014/main" id="{B684F4F9-EA71-8A8C-AC5E-31362EE95C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97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18760"/>
            <a:ext cx="22860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5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55.9%</a:t>
            </a:r>
            <a:endParaRPr lang="en-US" sz="88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31628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DEACF6FC-D8B2-D9B1-CDCF-B1A1D7239020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1.57M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3BEF903F-6E02-B677-1B0E-518C48BECC56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161.7K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98CBD1BF-558A-CE57-7DB7-54E38E9C9EDF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289.5K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2CA298DF-18B6-7A10-9BA2-E676AA00C02D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FONOCOMPRAS (</a:t>
            </a:r>
            <a:r>
              <a:rPr lang="es-ES" sz="1867" b="1" dirty="0">
                <a:solidFill>
                  <a:schemeClr val="bg1"/>
                </a:solidFill>
              </a:rPr>
              <a:t>OUTBOUND  + INBOUD)</a:t>
            </a:r>
            <a:r>
              <a:rPr lang="en-US" sz="1667" b="1" kern="0" spc="40" dirty="0">
                <a:solidFill>
                  <a:srgbClr val="FFFFFF"/>
                </a:solidFill>
              </a:rPr>
              <a:t>: Información al 8 de Agosto</a:t>
            </a:r>
            <a:endParaRPr lang="en-US" sz="1667" dirty="0"/>
          </a:p>
        </p:txBody>
      </p:sp>
      <p:pic>
        <p:nvPicPr>
          <p:cNvPr id="87" name="Picture 76">
            <a:extLst>
              <a:ext uri="{FF2B5EF4-FFF2-40B4-BE49-F238E27FC236}">
                <a16:creationId xmlns:a16="http://schemas.microsoft.com/office/drawing/2014/main" id="{864F06DD-164B-E44A-CA51-240D32214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1925" y="-217956"/>
            <a:ext cx="1264005" cy="1264005"/>
          </a:xfrm>
          <a:prstGeom prst="rect">
            <a:avLst/>
          </a:prstGeom>
        </p:spPr>
      </p:pic>
      <p:pic>
        <p:nvPicPr>
          <p:cNvPr id="89" name="Imagen 88">
            <a:extLst>
              <a:ext uri="{FF2B5EF4-FFF2-40B4-BE49-F238E27FC236}">
                <a16:creationId xmlns:a16="http://schemas.microsoft.com/office/drawing/2014/main" id="{E88D4D88-E14E-C376-CAA4-B52DB5C5FE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93403B95-B57B-CBC4-FF41-9350A87126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6D6FFEC3-9CDC-ACCC-09D5-E64DD649870D}"/>
              </a:ext>
            </a:extLst>
          </p:cNvPr>
          <p:cNvSpPr/>
          <p:nvPr/>
        </p:nvSpPr>
        <p:spPr>
          <a:xfrm>
            <a:off x="178892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18EB2B28-7F64-66E3-37D2-62DF37DD5C5D}"/>
              </a:ext>
            </a:extLst>
          </p:cNvPr>
          <p:cNvSpPr/>
          <p:nvPr/>
        </p:nvSpPr>
        <p:spPr>
          <a:xfrm>
            <a:off x="300812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07BC38A4-FB55-131C-E699-D860CE9B25B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0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7572" y="5120640"/>
            <a:ext cx="123444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DINERS  |  TARJETAS DE CREDITO: 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1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Gerente: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3.1%</a:t>
            </a:r>
            <a:endParaRPr lang="en-US" sz="96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74" name="BARRAS_AVANCE__DINERS" descr="image.png">
            <a:extLst>
              <a:ext uri="{FF2B5EF4-FFF2-40B4-BE49-F238E27FC236}">
                <a16:creationId xmlns:a16="http://schemas.microsoft.com/office/drawing/2014/main" id="{D29437BB-A5F9-4BE0-FACC-4950DFF7F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76" name="Text 26">
            <a:extLst>
              <a:ext uri="{FF2B5EF4-FFF2-40B4-BE49-F238E27FC236}">
                <a16:creationId xmlns:a16="http://schemas.microsoft.com/office/drawing/2014/main" id="{B5492910-93CF-F632-24C2-027A944467A9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250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6C8FFC6B-CB1A-806D-494F-C4B88CBEDB82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2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6F714999-69CD-CC6F-5515-C2BA075B6AD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65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8" name="Shape 6">
            <a:extLst>
              <a:ext uri="{FF2B5EF4-FFF2-40B4-BE49-F238E27FC236}">
                <a16:creationId xmlns:a16="http://schemas.microsoft.com/office/drawing/2014/main" id="{6525DB75-6F15-86BA-01EC-0CC7CCE71B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B0D3565D-B575-B585-CBF0-DBF1C2665CBB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C595AA07-493D-DFF0-659C-44A50CAA82D3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675972B-9360-97AD-7259-6259A47289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51184" y="6519812"/>
            <a:ext cx="315872" cy="307708"/>
          </a:xfrm>
          <a:prstGeom prst="rect">
            <a:avLst/>
          </a:prstGeom>
        </p:spPr>
      </p:pic>
      <p:pic>
        <p:nvPicPr>
          <p:cNvPr id="11" name="Picture 76">
            <a:extLst>
              <a:ext uri="{FF2B5EF4-FFF2-40B4-BE49-F238E27FC236}">
                <a16:creationId xmlns:a16="http://schemas.microsoft.com/office/drawing/2014/main" id="{552743A1-1A5D-5F3D-5141-E4FE43CBAA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81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445354"/>
            <a:ext cx="2286000" cy="58501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BANBIF PRESTAMOS: Información al 8 de Agosto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5 / 5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 err="1">
                <a:solidFill>
                  <a:srgbClr val="C0392B"/>
                </a:solidFill>
              </a:rPr>
              <a:t>Cerca</a:t>
            </a:r>
            <a:r>
              <a:rPr lang="en-US" sz="1267" b="1" dirty="0">
                <a:solidFill>
                  <a:srgbClr val="C0392B"/>
                </a:solidFill>
              </a:rPr>
              <a:t> de la meta</a:t>
            </a:r>
            <a:endParaRPr lang="en-US" sz="12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Sub Gerenta: Monica Mogollon</a:t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80.1%</a:t>
            </a:r>
            <a:endParaRPr lang="en-US" sz="88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F186F93C-1212-7F73-C2A8-2563F7F30917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2.10M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08A8B44C-F582-631D-38D0-637D5E19CD9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647.8K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A6996A04-3402-7D3F-3903-6E1A341E0AD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809.0K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8" name="Picture 76">
            <a:extLst>
              <a:ext uri="{FF2B5EF4-FFF2-40B4-BE49-F238E27FC236}">
                <a16:creationId xmlns:a16="http://schemas.microsoft.com/office/drawing/2014/main" id="{190A273A-383B-1297-AB08-C55E36029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1280531C-3C3E-CB62-2F78-D3C23B57EA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5" name="BARRAS_AVANCE__BANBIF" descr="image.png">
            <a:extLst>
              <a:ext uri="{FF2B5EF4-FFF2-40B4-BE49-F238E27FC236}">
                <a16:creationId xmlns:a16="http://schemas.microsoft.com/office/drawing/2014/main" id="{151AA825-F237-D26A-82DB-B030EF9A3C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81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425405"/>
            <a:ext cx="2286000" cy="62491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383087-F7EB-E87E-DFA9-A1CF06056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A025FA-FA9F-2133-4A58-73FA393A2F0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2791697-C660-94E5-A1A8-8D7064ADA38E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34F1300-59BF-0049-9F17-BA4D369FC8EA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EFECTIVA Y FONOCOMPRAS|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816C696-95AD-DA1B-134C-E3A4800C965D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CD059E5-1C48-D24C-B419-8AEE66358A2B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3D63F7-589C-60E2-A21B-CF1A5715C5E8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7CCD22F-0A25-CDF8-CB54-BF6262B0B6BE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3856A065-A66C-2B42-CDAB-189153046711}"/>
              </a:ext>
            </a:extLst>
          </p:cNvPr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84C78BF-265C-30F0-4BE3-627D52D43AAE}"/>
              </a:ext>
            </a:extLst>
          </p:cNvPr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5A594C9B-0196-DB65-98AE-E71150BDE06A}"/>
              </a:ext>
            </a:extLst>
          </p:cNvPr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4A2494AF-B537-B7E1-9E74-EB666F03B22F}"/>
              </a:ext>
            </a:extLst>
          </p:cNvPr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2372521-86CE-2170-113B-B33F6A5B2CC3}"/>
              </a:ext>
            </a:extLst>
          </p:cNvPr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760219C-0161-E58B-5CFE-279CBC8C274A}"/>
              </a:ext>
            </a:extLst>
          </p:cNvPr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CCF7376A-8F8F-F922-2F9F-D25055D6D126}"/>
              </a:ext>
            </a:extLst>
          </p:cNvPr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708FD6D9-4757-E19F-D152-068E6EFC0A16}"/>
              </a:ext>
            </a:extLst>
          </p:cNvPr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B0B5EB40-F0D7-B967-CFB7-772ACB59FA13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0577D150-F49B-748B-5D45-A30360722C4A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29DFD249-DDF3-B911-7FA0-4305845D93D6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MES ACTUAL — CAUSAS RAIZ</a:t>
            </a:r>
            <a:endParaRPr lang="en-US" sz="1067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37E15F6C-015B-6E2A-6194-2DE36D1E62CB}"/>
              </a:ext>
            </a:extLst>
          </p:cNvPr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B2A5AFD-F91F-53BC-6E62-9C998831936A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444F2494-C489-B8FA-F2DF-9F965817934F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F04686CE-0131-1663-A01E-B067BFC67CDF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D8B06C0-AF82-B732-D748-109ED55DB9D6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5D800B76-E9C5-AF6C-B1C5-50ED04C3F451}"/>
              </a:ext>
            </a:extLst>
          </p:cNvPr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28470CA-FDF8-BB32-928C-4B6C14A82AD3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00176589-B3C1-100A-8FC9-D85F49E50111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656D53DE-05ED-88F9-0F6F-AA5A6CF4B98C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6933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3251122E-37E0-170B-0E31-F7B146C60385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30713"/>
                </a:solidFill>
              </a:rPr>
              <a:t>Impacto Bajo</a:t>
            </a:r>
            <a:endParaRPr lang="en-US" sz="1133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503A433-9E4C-5943-610A-10357D48B3AE}"/>
              </a:ext>
            </a:extLst>
          </p:cNvPr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5570C27-A0D8-E4B0-10CD-443173FAA70C}"/>
              </a:ext>
            </a:extLst>
          </p:cNvPr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6933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F81A0FE7-527F-2FEC-CDC6-2C0ABCFC444E}"/>
              </a:ext>
            </a:extLst>
          </p:cNvPr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C97A0C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476394A6-3F4C-1465-F509-08187E957C5F}"/>
              </a:ext>
            </a:extLst>
          </p:cNvPr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8467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FCDC0EAA-717F-5140-4D8E-41B76DDEA1EC}"/>
              </a:ext>
            </a:extLst>
          </p:cNvPr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33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2C9D7E13-64E1-D4AB-8D67-F0C7E6D5E33C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8EE25665-97A4-9A3E-BFC3-100B15E1C673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BD549FAA-CC46-D6F4-9FC9-C85F40C25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C66F6BA0-751F-A43D-0C8B-47DF27B1F1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6761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DINNERS  | DIAGNOSTICO Y SEGUIMIENTO</a:t>
            </a:r>
            <a:endParaRPr lang="en-US" sz="16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Shape 4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Text 41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9189"/>
                </a:solidFill>
              </a:rPr>
              <a:t>DINERS  |  DIAGNOSTICO  | Agosto 2026</a:t>
            </a:r>
            <a:endParaRPr lang="en-US" sz="1000" dirty="0"/>
          </a:p>
        </p:txBody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9936" y="6510528"/>
            <a:ext cx="414528" cy="292608"/>
          </a:xfrm>
          <a:prstGeom prst="rect">
            <a:avLst/>
          </a:prstGeom>
        </p:spPr>
      </p:pic>
      <p:pic>
        <p:nvPicPr>
          <p:cNvPr id="47" name="Picture 76">
            <a:extLst>
              <a:ext uri="{FF2B5EF4-FFF2-40B4-BE49-F238E27FC236}">
                <a16:creationId xmlns:a16="http://schemas.microsoft.com/office/drawing/2014/main" id="{A2B0674A-CA80-C3CC-246A-335EE6EED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F9A33E-943C-1A33-DB39-81B8DA537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02E0E90-6741-E572-68E7-96CC7C531BEB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A4D09C4-4C3E-9044-AB32-9A1DF87B3D95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92CF2C0-0393-0ADA-0B24-F1D49FAF11D2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BANBIF|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861B3F3-B5EF-94F1-3C23-7FC115DCF533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2EF0AA7-2563-082F-0007-632DABBEEFEC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A3212B5-E73E-43DB-7AF6-D7C741ACC113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68090B3-0CBE-EB02-AD9E-6173F78C6F2A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DD2685E1-96B7-71EC-9E7B-85026B4A8F8A}"/>
              </a:ext>
            </a:extLst>
          </p:cNvPr>
          <p:cNvSpPr/>
          <p:nvPr/>
        </p:nvSpPr>
        <p:spPr>
          <a:xfrm>
            <a:off x="0" y="1463040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9E3263F-8FDA-F29E-9987-FB0AFC9A2F6C}"/>
              </a:ext>
            </a:extLst>
          </p:cNvPr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BFCDD34-F68C-AA1F-14CC-31E7E294D12B}"/>
              </a:ext>
            </a:extLst>
          </p:cNvPr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753E0E26-3E58-FB3D-615E-008F2E5613EE}"/>
              </a:ext>
            </a:extLst>
          </p:cNvPr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65002715-A955-999D-0C4D-5F639183C007}"/>
              </a:ext>
            </a:extLst>
          </p:cNvPr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1C15D7D-4D52-0CFF-ED13-977664B7980A}"/>
              </a:ext>
            </a:extLst>
          </p:cNvPr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39B208B-7563-C777-3918-A448A5F8B5E8}"/>
              </a:ext>
            </a:extLst>
          </p:cNvPr>
          <p:cNvSpPr/>
          <p:nvPr/>
        </p:nvSpPr>
        <p:spPr>
          <a:xfrm>
            <a:off x="170688" y="2773680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6B3174E-7E17-45D3-0E60-C73F27F6E33C}"/>
              </a:ext>
            </a:extLst>
          </p:cNvPr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2311B2FA-E84C-2B63-0080-7C87B6AC4664}"/>
              </a:ext>
            </a:extLst>
          </p:cNvPr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B8E5ECCF-AF55-16F1-7E70-35F2B6BDB2E7}"/>
              </a:ext>
            </a:extLst>
          </p:cNvPr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E8DB68C3-57DA-189B-B1E6-763F21AC8A2D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4B19A855-E79D-3C01-ED8E-850D646D6084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801AFBB4-787D-965B-D0FE-8264F144A533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DIAGNOSTICO MES ACTUAL — CAUSAS RAIZ</a:t>
            </a:r>
            <a:endParaRPr lang="en-US" sz="1067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DC67E2BD-DEBA-CE12-4BD8-00E19043CACE}"/>
              </a:ext>
            </a:extLst>
          </p:cNvPr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EE82AAA-AC76-F72C-D192-A0961C0C5EDE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9E9EE858-06E5-D9C6-1C99-A34F1BA63075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0788E9B5-FC08-5244-BDDC-306397964C65}"/>
              </a:ext>
            </a:extLst>
          </p:cNvPr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8AA09C33-EFC1-226F-4ED9-5D75D5C1C1F9}"/>
              </a:ext>
            </a:extLst>
          </p:cNvPr>
          <p:cNvSpPr/>
          <p:nvPr/>
        </p:nvSpPr>
        <p:spPr>
          <a:xfrm>
            <a:off x="6583680" y="1926336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8C0DB8E5-12A4-6A6E-29CF-9FFC3F17B2A3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4440258-D0EC-0C77-18A7-2C947AAFC0A4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DA04810D-2459-4F4F-8E16-66016E09695E}"/>
              </a:ext>
            </a:extLst>
          </p:cNvPr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A08F51D-1A45-1D7E-03D6-2DE193A66CBD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2D6829BC-8972-F1F2-3B01-10D9438877E9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097C9C0B-E3FD-7EB6-9BC7-B596D839BD09}"/>
              </a:ext>
            </a:extLst>
          </p:cNvPr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2E98947F-F647-CDBF-906A-036C97C1F8C9}"/>
              </a:ext>
            </a:extLst>
          </p:cNvPr>
          <p:cNvSpPr/>
          <p:nvPr/>
        </p:nvSpPr>
        <p:spPr>
          <a:xfrm>
            <a:off x="6583680" y="3576320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ECD67FAF-95B7-8D8E-3F5D-01F6AB604E70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6933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183AAAAE-10CA-C78F-DBF3-AA0FAC03EF68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30713"/>
                </a:solidFill>
              </a:rPr>
              <a:t>Impacto Bajo</a:t>
            </a:r>
            <a:endParaRPr lang="en-US" sz="1133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99BFD1B-17EE-97BD-697A-C3DA5C8F499D}"/>
              </a:ext>
            </a:extLst>
          </p:cNvPr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035939AE-DBC0-9C10-55E9-EFE99B88B421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AF96A76C-120E-61AD-FB91-59708D06F98E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A6CDCB05-50D5-3747-E797-42DA053DA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655D3760-F71B-2EE8-CC7D-03E0CD8472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211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8096" y="2367409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8096" y="13919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BBVA TELEMARKETING DIGITAL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>
                <a:solidFill>
                  <a:srgbClr val="FFFFFF"/>
                </a:solidFill>
              </a:rPr>
              <a:t>Norma Lévano  ·  Sub </a:t>
            </a:r>
            <a:r>
              <a:rPr lang="en-US" sz="2000" dirty="0" err="1">
                <a:solidFill>
                  <a:srgbClr val="FFFFFF"/>
                </a:solidFill>
              </a:rPr>
              <a:t>Gerente</a:t>
            </a:r>
            <a:r>
              <a:rPr lang="en-US" sz="2000" dirty="0">
                <a:solidFill>
                  <a:srgbClr val="FFFFFF"/>
                </a:solidFill>
              </a:rPr>
              <a:t> BBVA Digital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3600196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531E523-0285-0125-57E7-1555DB0E2A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>
          <a:xfrm>
            <a:off x="548640" y="5166360"/>
            <a:ext cx="3630623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TC HIBRIDO · PLD DIGITAL · OPERACIONES DIGITAL · TARJETA START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Sub-Gerente: Norma Levano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82%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57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13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135427" y="455980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Hibrido (Tarjetas Digital)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330949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25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1945843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76%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310836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Digital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330949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415979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0" y="5415979"/>
            <a:ext cx="2048256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686350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Digital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330949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791493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0" y="5791493"/>
            <a:ext cx="2560320" cy="15771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103%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0" y="6061864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TARJETA START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330949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6167007"/>
            <a:ext cx="2073859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DIGITAL  |  NORMA LEVANO  |  Norma Levano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EDB46277-5DFE-41CA-1D0F-8607DDACB47C}"/>
              </a:ext>
            </a:extLst>
          </p:cNvPr>
          <p:cNvSpPr/>
          <p:nvPr/>
        </p:nvSpPr>
        <p:spPr>
          <a:xfrm>
            <a:off x="6747399" y="494751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16D5521A-7387-FF67-F06A-F8B3DB17D9C2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5E6D863A-D9F8-DABA-51E9-6A141B079082}"/>
              </a:ext>
            </a:extLst>
          </p:cNvPr>
          <p:cNvSpPr/>
          <p:nvPr/>
        </p:nvSpPr>
        <p:spPr>
          <a:xfrm>
            <a:off x="6966291" y="568259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734381A0-16F3-499C-91FB-57637AE08174}"/>
              </a:ext>
            </a:extLst>
          </p:cNvPr>
          <p:cNvSpPr/>
          <p:nvPr/>
        </p:nvSpPr>
        <p:spPr>
          <a:xfrm>
            <a:off x="6779553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EE6159A9-E90D-225C-BE9F-3193D446CBFD}"/>
              </a:ext>
            </a:extLst>
          </p:cNvPr>
          <p:cNvSpPr/>
          <p:nvPr/>
        </p:nvSpPr>
        <p:spPr>
          <a:xfrm>
            <a:off x="4437740" y="453293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5069EF4-EF82-2351-6446-1AD3FC907DB8}"/>
              </a:ext>
            </a:extLst>
          </p:cNvPr>
          <p:cNvSpPr/>
          <p:nvPr/>
        </p:nvSpPr>
        <p:spPr>
          <a:xfrm>
            <a:off x="4707708" y="48719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ED12223E-687F-9E78-F20F-888642B45EC3}"/>
              </a:ext>
            </a:extLst>
          </p:cNvPr>
          <p:cNvSpPr/>
          <p:nvPr/>
        </p:nvSpPr>
        <p:spPr>
          <a:xfrm>
            <a:off x="4725973" y="531060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744C982A-CC8C-5C69-CED9-0D2A261DFB08}"/>
              </a:ext>
            </a:extLst>
          </p:cNvPr>
          <p:cNvSpPr/>
          <p:nvPr/>
        </p:nvSpPr>
        <p:spPr>
          <a:xfrm>
            <a:off x="4748473" y="568474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B5DFDEA4-93A8-540B-CE5F-627403DF028F}"/>
              </a:ext>
            </a:extLst>
          </p:cNvPr>
          <p:cNvSpPr/>
          <p:nvPr/>
        </p:nvSpPr>
        <p:spPr>
          <a:xfrm>
            <a:off x="4780816" y="60602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89" name="Picture 8">
            <a:extLst>
              <a:ext uri="{FF2B5EF4-FFF2-40B4-BE49-F238E27FC236}">
                <a16:creationId xmlns:a16="http://schemas.microsoft.com/office/drawing/2014/main" id="{DB335D8E-DAD0-8DAF-3C94-76A1564C5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5664" y="-20309"/>
            <a:ext cx="1731264" cy="985509"/>
          </a:xfrm>
          <a:prstGeom prst="rect">
            <a:avLst/>
          </a:prstGeom>
        </p:spPr>
      </p:pic>
      <p:pic>
        <p:nvPicPr>
          <p:cNvPr id="90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529072"/>
          </a:xfrm>
          <a:prstGeom prst="rect">
            <a:avLst/>
          </a:prstGeom>
        </p:spPr>
      </p:pic>
      <p:sp>
        <p:nvSpPr>
          <p:cNvPr id="91" name="dato_manual"/>
          <p:cNvSpPr>
            <a:spLocks noGrp="1"/>
          </p:cNvSpPr>
          <p:nvPr/>
        </p:nvSpPr>
        <p:spPr>
          <a:xfrm>
            <a:off x="3657600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57</a:t>
            </a:r>
          </a:p>
        </p:txBody>
      </p:sp>
      <p:sp>
        <p:nvSpPr>
          <p:cNvPr id="92" name="dato_manual"/>
          <p:cNvSpPr>
            <a:spLocks noGrp="1"/>
          </p:cNvSpPr>
          <p:nvPr/>
        </p:nvSpPr>
        <p:spPr>
          <a:xfrm>
            <a:off x="5812535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3" name="dato_manual"/>
          <p:cNvSpPr>
            <a:spLocks noGrp="1"/>
          </p:cNvSpPr>
          <p:nvPr/>
        </p:nvSpPr>
        <p:spPr>
          <a:xfrm>
            <a:off x="3374745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4" name="dato_manual"/>
          <p:cNvSpPr>
            <a:spLocks noGrp="1"/>
          </p:cNvSpPr>
          <p:nvPr/>
        </p:nvSpPr>
        <p:spPr>
          <a:xfrm>
            <a:off x="4779264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3374745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4779264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3374745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4779264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3374745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16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4779264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3374745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36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4779264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PLD 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400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8CA61E"/>
                </a:solidFill>
                <a:latin typeface="Calibri" panose="020F0502020204030204"/>
              </a:rPr>
              <a:t>188%</a:t>
            </a:r>
            <a:endParaRPr lang="en-US" sz="9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F3EBCCF7-7214-2130-1FA9-E31457629BA3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400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737E61C-88FB-907B-E8F9-897CF8B11E72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229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FD4EF03-1C60-CA28-7777-90A8034C19F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122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6" name="Imagen 75">
            <a:extLst>
              <a:ext uri="{FF2B5EF4-FFF2-40B4-BE49-F238E27FC236}">
                <a16:creationId xmlns:a16="http://schemas.microsoft.com/office/drawing/2014/main" id="{9C1213A0-702B-B32F-1472-0CDB816CE8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Picture 8">
            <a:extLst>
              <a:ext uri="{FF2B5EF4-FFF2-40B4-BE49-F238E27FC236}">
                <a16:creationId xmlns:a16="http://schemas.microsoft.com/office/drawing/2014/main" id="{986FBAAE-887A-E83F-7775-2CFA29354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80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TARJETA START: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0401" y="15446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i="1" dirty="0">
                <a:solidFill>
                  <a:srgbClr val="667085"/>
                </a:solidFill>
                <a:latin typeface="Calibri" panose="020F0502020204030204"/>
              </a:rPr>
              <a:t>Sub-</a:t>
            </a:r>
            <a:r>
              <a:rPr lang="en-US" sz="1067" i="1" dirty="0" err="1">
                <a:solidFill>
                  <a:srgbClr val="667085"/>
                </a:solidFill>
                <a:latin typeface="Calibri" panose="020F0502020204030204"/>
              </a:rPr>
              <a:t>Gerente</a:t>
            </a:r>
            <a:r>
              <a:rPr lang="en-US" sz="1067" i="1" dirty="0">
                <a:solidFill>
                  <a:srgbClr val="667085"/>
                </a:solidFill>
                <a:latin typeface="Calibri" panose="020F0502020204030204"/>
              </a:rPr>
              <a:t> </a:t>
            </a:r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: Norma Levano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65.1%</a:t>
            </a:r>
            <a:endParaRPr lang="en-US" sz="96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6E3927B6-2417-2C78-5D87-B31C9ED86135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650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CC5CD9B7-B5CD-51E4-B10B-5216F9AEA9F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123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53C7C78C-13B4-3463-B3C3-3D0578367B1B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189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9E59611B-4DBF-56EB-CA01-09719364A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51A25C9F-58FE-AA95-32C6-0839F97D73A4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3D5D5F47-C893-B137-447B-D16F78E33F7B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D607C4E0-CFB8-3DB1-6E3A-D9661C2D97A8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650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67708AED-FBF2-EF2D-185D-801DB0DE02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80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HIBRIDO — TARJETAS 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52.2%</a:t>
            </a:r>
            <a:endParaRPr lang="en-US" sz="96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55902" y="1048512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CE342462-AEF5-27AF-9D0A-8C61BD68C57E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2.80K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B6116E27-65FF-2E4A-FCED-FB340C6A370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374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26A8E09-D220-F7F0-8529-A345739179C5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716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BARRAS_AVANCE_TARJETAS_DIGITAL" descr="image.png">
            <a:extLst>
              <a:ext uri="{FF2B5EF4-FFF2-40B4-BE49-F238E27FC236}">
                <a16:creationId xmlns:a16="http://schemas.microsoft.com/office/drawing/2014/main" id="{D06EBFBE-36CC-A076-403C-6D4F5F6E9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FB3879E5-13D0-7CAE-00D7-94114AFA0339}"/>
              </a:ext>
            </a:extLst>
          </p:cNvPr>
          <p:cNvSpPr/>
          <p:nvPr/>
        </p:nvSpPr>
        <p:spPr>
          <a:xfrm>
            <a:off x="121920" y="101228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10B6BD4F-7FA6-3688-AC63-DF3B989E6203}"/>
              </a:ext>
            </a:extLst>
          </p:cNvPr>
          <p:cNvSpPr/>
          <p:nvPr/>
        </p:nvSpPr>
        <p:spPr>
          <a:xfrm>
            <a:off x="243840" y="110982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A1FF34D-0E5E-428F-A548-E95DA37926D9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2800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1" name="Picture 8">
            <a:extLst>
              <a:ext uri="{FF2B5EF4-FFF2-40B4-BE49-F238E27FC236}">
                <a16:creationId xmlns:a16="http://schemas.microsoft.com/office/drawing/2014/main" id="{FC6A1E59-F2DC-0ABF-AC77-32F124B8BE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5664" y="-20309"/>
            <a:ext cx="1731264" cy="985509"/>
          </a:xfrm>
          <a:prstGeom prst="rect">
            <a:avLst/>
          </a:prstGeom>
        </p:spPr>
      </p:pic>
      <p:pic>
        <p:nvPicPr>
          <p:cNvPr id="85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OPERACIONES DIGITALES: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56.7%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5D4F52AB-42F3-60EA-D4DD-893480880F78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3.00K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E2101963-994E-1919-D127-79AF54582F0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346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E0134AAA-27D6-DE6B-A951-F2716CDCB379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610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1" name="BARRAS_AVANCE_OPERACIONES_DIGITAL" descr="image.png">
            <a:extLst>
              <a:ext uri="{FF2B5EF4-FFF2-40B4-BE49-F238E27FC236}">
                <a16:creationId xmlns:a16="http://schemas.microsoft.com/office/drawing/2014/main" id="{D45A250F-2AD2-C233-A518-D90AFE28A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B26CD5DB-3AD5-DB03-D98B-2AC2E5B65F16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A1648BD7-9CB8-3964-45BA-22E0C0F329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0D2FC64-771F-2BBE-BE27-D89178315431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3.000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1A0F12F0-DE73-A8A8-A8CE-76D057805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85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BBVA TLM DIGITAL  |  DIAGNÓSTICO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DIGITAL  |  DIAGNOSTICO  |  Norma Lévano|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8096" y="13919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BBVA TELEMARKETING OUT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Ronny Aleman  ·  Subgerente BBVA TLM OUT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3600196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531E523-0285-0125-57E7-1555DB0E2A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>
          <a:xfrm>
            <a:off x="548640" y="5166360"/>
            <a:ext cx="3630623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TC TLM · PLD OUT · OPERACIONES OUT · PORTAFOLIO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Sub-Gerente: Ronny Aleman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33984" y="1687721"/>
            <a:ext cx="4120896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0" b="1" dirty="0">
                <a:solidFill>
                  <a:srgbClr val="19A075"/>
                </a:solidFill>
                <a:latin typeface="Calibri" panose="020F0502020204030204"/>
              </a:rPr>
              <a:t>90%</a:t>
            </a:r>
            <a:endParaRPr lang="en-US" sz="80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87452" y="35971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5"/>
            <a:ext cx="60959" cy="5030825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16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100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8"/>
            <a:ext cx="12192000" cy="3129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8"/>
            <a:ext cx="414528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415817" y="4559077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8"/>
            <a:ext cx="28041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8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8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872736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872736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Telemarketing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594583" y="4872736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4960356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4960356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872736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872736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185664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185664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OUT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594583" y="5185664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273284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1" y="5273284"/>
            <a:ext cx="1869033" cy="131429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185664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C2626"/>
                </a:solidFill>
                <a:latin typeface="Calibri" panose="020F0502020204030204"/>
              </a:rPr>
              <a:t>73%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185664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498592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498592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594583" y="5498592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586212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0" y="5586212"/>
            <a:ext cx="2329891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498592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498592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0" y="5811520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5811520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 err="1">
                <a:solidFill>
                  <a:srgbClr val="145078"/>
                </a:solidFill>
                <a:latin typeface="Calibri" panose="020F0502020204030204"/>
              </a:rPr>
              <a:t>Portafolio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594583" y="5811520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5899140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5899140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5811520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5811520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Shape 72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73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OUT  |  RONNY ALEMAN  |  Ronny Aleman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1E55FB29-2C7A-3DF5-E1C1-495612494CC7}"/>
              </a:ext>
            </a:extLst>
          </p:cNvPr>
          <p:cNvSpPr/>
          <p:nvPr/>
        </p:nvSpPr>
        <p:spPr>
          <a:xfrm>
            <a:off x="201168" y="1047509"/>
            <a:ext cx="310896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670DE5C5-466E-0434-E549-07443ECBCDEA}"/>
              </a:ext>
            </a:extLst>
          </p:cNvPr>
          <p:cNvSpPr/>
          <p:nvPr/>
        </p:nvSpPr>
        <p:spPr>
          <a:xfrm>
            <a:off x="323088" y="1145045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25D52E78-6D8B-03BB-4AC6-1C261FE7C63D}"/>
              </a:ext>
            </a:extLst>
          </p:cNvPr>
          <p:cNvSpPr/>
          <p:nvPr/>
        </p:nvSpPr>
        <p:spPr>
          <a:xfrm>
            <a:off x="615696" y="1047509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059669"/>
                </a:solidFill>
                <a:latin typeface="Calibri" panose="020F0502020204030204"/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5F92946E-1D69-F6E6-2C88-56D8E60AE516}"/>
              </a:ext>
            </a:extLst>
          </p:cNvPr>
          <p:cNvSpPr/>
          <p:nvPr/>
        </p:nvSpPr>
        <p:spPr>
          <a:xfrm>
            <a:off x="6823024" y="484900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5B730E9C-AA80-E186-C853-2B5A3F158C92}"/>
              </a:ext>
            </a:extLst>
          </p:cNvPr>
          <p:cNvSpPr/>
          <p:nvPr/>
        </p:nvSpPr>
        <p:spPr>
          <a:xfrm>
            <a:off x="6823024" y="515124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9C92EC7-43C5-93A3-ED45-17C5DD507E03}"/>
              </a:ext>
            </a:extLst>
          </p:cNvPr>
          <p:cNvSpPr/>
          <p:nvPr/>
        </p:nvSpPr>
        <p:spPr>
          <a:xfrm>
            <a:off x="6816111" y="546417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290F34D1-83D5-6F68-33F7-F0CEEC135045}"/>
              </a:ext>
            </a:extLst>
          </p:cNvPr>
          <p:cNvSpPr/>
          <p:nvPr/>
        </p:nvSpPr>
        <p:spPr>
          <a:xfrm>
            <a:off x="6845717" y="577709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51739359-080A-87AC-E263-2B1F7386CDC2}"/>
              </a:ext>
            </a:extLst>
          </p:cNvPr>
          <p:cNvSpPr/>
          <p:nvPr/>
        </p:nvSpPr>
        <p:spPr>
          <a:xfrm>
            <a:off x="4568659" y="45277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A45C6784-DEFA-6A05-0C12-ACEB39062D5D}"/>
              </a:ext>
            </a:extLst>
          </p:cNvPr>
          <p:cNvSpPr/>
          <p:nvPr/>
        </p:nvSpPr>
        <p:spPr>
          <a:xfrm>
            <a:off x="4879392" y="51344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B316B709-51A4-52D3-CA68-4E901C66D448}"/>
              </a:ext>
            </a:extLst>
          </p:cNvPr>
          <p:cNvSpPr/>
          <p:nvPr/>
        </p:nvSpPr>
        <p:spPr>
          <a:xfrm>
            <a:off x="4868393" y="54664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DA737AF7-796F-F563-8F6E-7DE3DBA1BE14}"/>
              </a:ext>
            </a:extLst>
          </p:cNvPr>
          <p:cNvSpPr/>
          <p:nvPr/>
        </p:nvSpPr>
        <p:spPr>
          <a:xfrm>
            <a:off x="4879392" y="5771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DD7FE2D-1574-A852-9D78-84797E63A60B}"/>
              </a:ext>
            </a:extLst>
          </p:cNvPr>
          <p:cNvSpPr/>
          <p:nvPr/>
        </p:nvSpPr>
        <p:spPr>
          <a:xfrm>
            <a:off x="4846007" y="483831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C9C3F1A-8CBE-17D2-6A39-C0A2FBC71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89" y="-193290"/>
            <a:ext cx="2365251" cy="1346403"/>
          </a:xfrm>
          <a:prstGeom prst="rect">
            <a:avLst/>
          </a:prstGeom>
        </p:spPr>
      </p:pic>
      <p:pic>
        <p:nvPicPr>
          <p:cNvPr id="101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529072"/>
          </a:xfrm>
          <a:prstGeom prst="rect">
            <a:avLst/>
          </a:prstGeom>
        </p:spPr>
      </p:pic>
      <p:sp>
        <p:nvSpPr>
          <p:cNvPr id="102" name="dato_manual"/>
          <p:cNvSpPr>
            <a:spLocks noGrp="1"/>
          </p:cNvSpPr>
          <p:nvPr/>
        </p:nvSpPr>
        <p:spPr>
          <a:xfrm>
            <a:off x="3657600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5812535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106" name="dato_manual"/>
          <p:cNvSpPr>
            <a:spLocks noGrp="1"/>
          </p:cNvSpPr>
          <p:nvPr/>
        </p:nvSpPr>
        <p:spPr>
          <a:xfrm>
            <a:off x="3374745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/>
          <p:cNvSpPr>
            <a:spLocks noGrp="1"/>
          </p:cNvSpPr>
          <p:nvPr/>
        </p:nvSpPr>
        <p:spPr>
          <a:xfrm>
            <a:off x="4779264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/>
          <p:cNvSpPr>
            <a:spLocks noGrp="1"/>
          </p:cNvSpPr>
          <p:nvPr/>
        </p:nvSpPr>
        <p:spPr>
          <a:xfrm>
            <a:off x="3374745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14</a:t>
            </a:r>
          </a:p>
        </p:txBody>
      </p:sp>
      <p:sp>
        <p:nvSpPr>
          <p:cNvPr id="109" name="dato_manual"/>
          <p:cNvSpPr>
            <a:spLocks noGrp="1"/>
          </p:cNvSpPr>
          <p:nvPr/>
        </p:nvSpPr>
        <p:spPr>
          <a:xfrm>
            <a:off x="4779264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3374745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18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4779264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28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374745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82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4779264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TELEMARKETING OUT: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BEED6"/>
          </a:solidFill>
          <a:ln w="12700">
            <a:solidFill>
              <a:srgbClr val="FBEED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E08A1E"/>
                </a:solidFill>
                <a:latin typeface="Calibri" panose="020F0502020204030204"/>
              </a:rPr>
              <a:t>META: 2.90K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E08A1E"/>
                </a:solidFill>
                <a:latin typeface="Calibri" panose="020F0502020204030204"/>
              </a:rPr>
              <a:t>96.7%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A52EC1A-ECE5-7429-EB2B-53DDC576150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2.90K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19304F58-7AC2-FD96-3E5B-D3891140C0ED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989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8DC758B8-8C77-33D6-72A9-856DE757EDDF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1.02K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2A79ACB-DCF5-C9C4-DE27-9C7BCD9389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D118CC7-1577-BE8C-D36C-D9875A02B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PLD OUT PRESTAMOS: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Lider: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36.8%</a:t>
            </a:r>
            <a:endParaRPr lang="en-US" sz="9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A3CE5A69-2D8A-DEC3-224F-DC959E3CE08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360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0A0BCA2-1D05-DDB4-7B19-ACF1A687F615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43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07A0A797-C2A0-0C0F-F1C9-7AB6F9DFA65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117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BARRAS_AVANCE_PRESTAMOS_OUT" descr="image.png">
            <a:extLst>
              <a:ext uri="{FF2B5EF4-FFF2-40B4-BE49-F238E27FC236}">
                <a16:creationId xmlns:a16="http://schemas.microsoft.com/office/drawing/2014/main" id="{44F9A783-719F-6E0E-CB32-278EB6E24E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3632DD9D-BBCB-FF88-8097-E7A8691717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51960"/>
            <a:ext cx="2194564" cy="1249240"/>
          </a:xfrm>
          <a:prstGeom prst="rect">
            <a:avLst/>
          </a:prstGeom>
        </p:spPr>
      </p:pic>
      <p:pic>
        <p:nvPicPr>
          <p:cNvPr id="80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OPERACIONES OUT: 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5.25K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82.9%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19DC7FAC-F2C8-7C50-C52D-609D7BDC37C7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5.25K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8A18A742-CA04-9FB6-9013-10B872A82677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1.55K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8A3E5AD3-EA77-5D27-6691-7BA2A6BCDDC2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1.88K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0" name="BARRAS_AVANCE_OPERACIONES" descr="image.png">
            <a:extLst>
              <a:ext uri="{FF2B5EF4-FFF2-40B4-BE49-F238E27FC236}">
                <a16:creationId xmlns:a16="http://schemas.microsoft.com/office/drawing/2014/main" id="{FBD52858-531C-6FF7-88EB-E80D74F86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83EE3A7F-9640-B14C-05BA-B13F0401CF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7139" y="-143757"/>
            <a:ext cx="2194564" cy="1249240"/>
          </a:xfrm>
          <a:prstGeom prst="rect">
            <a:avLst/>
          </a:prstGeom>
        </p:spPr>
      </p:pic>
      <p:pic>
        <p:nvPicPr>
          <p:cNvPr id="81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PORTAFOLIO: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Sub Gerente: Ronny Aleman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89.7%</a:t>
            </a:r>
            <a:endParaRPr lang="en-US" sz="8800" dirty="0">
              <a:solidFill>
                <a:srgbClr val="D97706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47F183FE-CFFB-69E3-3EA0-0A139F9F9F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12.50M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B2955AC3-DCA7-84EF-4488-32597A99A94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2.95M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4633EEC3-E4C1-EBE0-DE74-E75CC831C279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3.28M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EFECTIVO" descr="image.png">
            <a:extLst>
              <a:ext uri="{FF2B5EF4-FFF2-40B4-BE49-F238E27FC236}">
                <a16:creationId xmlns:a16="http://schemas.microsoft.com/office/drawing/2014/main" id="{54B66F17-D06F-2B6B-E662-6755E700F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21A3CA72-0301-57BA-CCEC-D057CA6B3B4E}"/>
              </a:ext>
            </a:extLst>
          </p:cNvPr>
          <p:cNvSpPr/>
          <p:nvPr/>
        </p:nvSpPr>
        <p:spPr>
          <a:xfrm>
            <a:off x="118872" y="1033897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4F653980-A1C1-A5E7-8548-D79EA748600E}"/>
              </a:ext>
            </a:extLst>
          </p:cNvPr>
          <p:cNvSpPr/>
          <p:nvPr/>
        </p:nvSpPr>
        <p:spPr>
          <a:xfrm>
            <a:off x="240792" y="1131433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B4BD7086-9E6A-7CBE-AA66-56550A90C3CA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EE3A5D-0727-E6DB-463A-AE28CC2B8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5664" y="-17748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BBVA TLM OUT 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OUT  |  DIAGNOSTICO  |  Ronny Aleman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E2CE8D-8354-4F43-EAA8-B6610A68F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729CBC-1F4E-8F58-259E-C03E87A66838}"/>
              </a:ext>
            </a:extLst>
          </p:cNvPr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4DAD03E-82AC-BABC-4120-D02A397FB671}"/>
              </a:ext>
            </a:extLst>
          </p:cNvPr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AEB98B8-CBE7-FAF7-31CB-1ACD3C1EE72C}"/>
              </a:ext>
            </a:extLst>
          </p:cNvPr>
          <p:cNvSpPr/>
          <p:nvPr/>
        </p:nvSpPr>
        <p:spPr>
          <a:xfrm>
            <a:off x="757338" y="155481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UNICEF RETENCIONES Y DIGITAL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66935EE-70D7-8EC8-6A9A-F08E34CD2780}"/>
              </a:ext>
            </a:extLst>
          </p:cNvPr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José Jesus San Martin ·  Jefe de Ventas UNICEF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C42A01D-1FC0-CED3-B862-5B9A74B11FAD}"/>
              </a:ext>
            </a:extLst>
          </p:cNvPr>
          <p:cNvSpPr/>
          <p:nvPr/>
        </p:nvSpPr>
        <p:spPr>
          <a:xfrm>
            <a:off x="959224" y="367212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A0B98298-CD5E-E2B5-4381-ECFF1A901A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338" y="4608231"/>
            <a:ext cx="4090489" cy="2249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26179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73F51C-5E62-7778-FE5E-6DAA9526F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7BB383-8507-82EC-ADE1-A82310382101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7F0DA0D-327D-768B-91E9-16B5156307BA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2575B21-F4A1-11B9-84F7-0A4D09F33FE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11BD564-4043-9A51-B3EA-2C96493D0864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 |  FIDELIZACION · UPGRADE LINEA · SAVING · EXTRACASH · DIGITAL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B530855-764C-AA63-F222-700CA8E7A751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47880D5-0316-DEDA-C67F-0AD7ECD4DC85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3ADFBA8A-EF26-6583-CBA4-BD96CEBFBFFB}"/>
              </a:ext>
            </a:extLst>
          </p:cNvPr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>Jefe de Ventas: Jose Jesus San Martin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ED495DF1-EA6A-6C82-2171-76FB1C6C3255}"/>
              </a:ext>
            </a:extLst>
          </p:cNvPr>
          <p:cNvSpPr/>
          <p:nvPr/>
        </p:nvSpPr>
        <p:spPr>
          <a:xfrm>
            <a:off x="633984" y="1687721"/>
            <a:ext cx="4120896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0" b="1" dirty="0">
                <a:solidFill>
                  <a:srgbClr val="19A075"/>
                </a:solidFill>
                <a:latin typeface="Calibri" panose="020F0502020204030204"/>
              </a:rPr>
              <a:t>90%</a:t>
            </a:r>
            <a:endParaRPr lang="en-US" sz="80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5F787903-8B82-7250-2BE1-106AB1ED9084}"/>
              </a:ext>
            </a:extLst>
          </p:cNvPr>
          <p:cNvSpPr/>
          <p:nvPr/>
        </p:nvSpPr>
        <p:spPr>
          <a:xfrm>
            <a:off x="-87452" y="35971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D209B12-B79D-91BC-85C9-4E91F7DBE3D8}"/>
              </a:ext>
            </a:extLst>
          </p:cNvPr>
          <p:cNvSpPr/>
          <p:nvPr/>
        </p:nvSpPr>
        <p:spPr>
          <a:xfrm>
            <a:off x="3511297" y="999745"/>
            <a:ext cx="60959" cy="5030825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59E8BFD-E961-49F9-9403-AC13EC0499FC}"/>
              </a:ext>
            </a:extLst>
          </p:cNvPr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182DC85-8FA1-3A83-113D-B1F08BD36788}"/>
              </a:ext>
            </a:extLst>
          </p:cNvPr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5606370-2D48-382B-500F-A9974F0206E8}"/>
              </a:ext>
            </a:extLst>
          </p:cNvPr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5B60288-0D6E-75E0-D6B5-96014B1A9078}"/>
              </a:ext>
            </a:extLst>
          </p:cNvPr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940B32C-AAF9-ED44-AB25-45CA90F80AA6}"/>
              </a:ext>
            </a:extLst>
          </p:cNvPr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81149AF9-F72C-4535-C173-4B180E54F6E2}"/>
              </a:ext>
            </a:extLst>
          </p:cNvPr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4B037B0-6918-C181-D0F8-656D9A62EFC3}"/>
              </a:ext>
            </a:extLst>
          </p:cNvPr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A42EB48-7AF5-F01D-4EA8-A897999B2D6A}"/>
              </a:ext>
            </a:extLst>
          </p:cNvPr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CBD7068-1E59-B148-5740-8629732D5132}"/>
              </a:ext>
            </a:extLst>
          </p:cNvPr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3445DB68-2177-A6FE-AA00-3739C2CFACD0}"/>
              </a:ext>
            </a:extLst>
          </p:cNvPr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67058E3D-F71F-1ACF-603D-D4C038338BBF}"/>
              </a:ext>
            </a:extLst>
          </p:cNvPr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F90D19C5-1D3F-9635-4FC1-4F4C4939AECF}"/>
              </a:ext>
            </a:extLst>
          </p:cNvPr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16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27E0F00-A81E-9B7D-08FD-ECE8897B7971}"/>
              </a:ext>
            </a:extLst>
          </p:cNvPr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3E1AF3A-2468-7581-3374-D486A229E684}"/>
              </a:ext>
            </a:extLst>
          </p:cNvPr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7E2800A9-2A81-B045-17BE-DA3CE256D854}"/>
              </a:ext>
            </a:extLst>
          </p:cNvPr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100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33DFF1C-4000-CB60-4F68-B3EF029176A2}"/>
              </a:ext>
            </a:extLst>
          </p:cNvPr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A391B216-82F6-1F27-7534-CA24333ED83E}"/>
              </a:ext>
            </a:extLst>
          </p:cNvPr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4C8E547E-643F-F800-FB9E-D633C0E01861}"/>
              </a:ext>
            </a:extLst>
          </p:cNvPr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AA0BBD82-F929-19AD-66B3-8C72A9478E61}"/>
              </a:ext>
            </a:extLst>
          </p:cNvPr>
          <p:cNvSpPr/>
          <p:nvPr/>
        </p:nvSpPr>
        <p:spPr>
          <a:xfrm>
            <a:off x="0" y="4559808"/>
            <a:ext cx="12192000" cy="3129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A8699A17-8BBF-A221-943F-38B5C913CF63}"/>
              </a:ext>
            </a:extLst>
          </p:cNvPr>
          <p:cNvSpPr/>
          <p:nvPr/>
        </p:nvSpPr>
        <p:spPr>
          <a:xfrm>
            <a:off x="243840" y="4559808"/>
            <a:ext cx="414528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1A25242D-C57A-4FBD-F2B7-4ADC2C6BD23E}"/>
              </a:ext>
            </a:extLst>
          </p:cNvPr>
          <p:cNvSpPr/>
          <p:nvPr/>
        </p:nvSpPr>
        <p:spPr>
          <a:xfrm>
            <a:off x="3415817" y="4559077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9199EF2B-B1E5-3D75-C6FA-B04E747EF41C}"/>
              </a:ext>
            </a:extLst>
          </p:cNvPr>
          <p:cNvSpPr/>
          <p:nvPr/>
        </p:nvSpPr>
        <p:spPr>
          <a:xfrm>
            <a:off x="6035040" y="4559808"/>
            <a:ext cx="28041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31BB62F6-4D9A-A4F7-4309-0773E84C30CA}"/>
              </a:ext>
            </a:extLst>
          </p:cNvPr>
          <p:cNvSpPr/>
          <p:nvPr/>
        </p:nvSpPr>
        <p:spPr>
          <a:xfrm>
            <a:off x="8875776" y="4559808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559A4649-1D90-ED4A-66CA-A03A5CF5B842}"/>
              </a:ext>
            </a:extLst>
          </p:cNvPr>
          <p:cNvSpPr/>
          <p:nvPr/>
        </p:nvSpPr>
        <p:spPr>
          <a:xfrm>
            <a:off x="10058400" y="4559808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4F8DAD10-DD3F-9B2C-440D-E6DA297E030D}"/>
              </a:ext>
            </a:extLst>
          </p:cNvPr>
          <p:cNvSpPr/>
          <p:nvPr/>
        </p:nvSpPr>
        <p:spPr>
          <a:xfrm>
            <a:off x="0" y="4872736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AA2421F1-57F8-71C3-4F3F-25EC93E92D25}"/>
              </a:ext>
            </a:extLst>
          </p:cNvPr>
          <p:cNvSpPr/>
          <p:nvPr/>
        </p:nvSpPr>
        <p:spPr>
          <a:xfrm>
            <a:off x="243840" y="4872736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Telemarketing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29BE4591-6316-F514-1DC5-74870C7DE732}"/>
              </a:ext>
            </a:extLst>
          </p:cNvPr>
          <p:cNvSpPr/>
          <p:nvPr/>
        </p:nvSpPr>
        <p:spPr>
          <a:xfrm>
            <a:off x="3594583" y="4872736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7312BD1F-2719-645F-D506-636A6B25194B}"/>
              </a:ext>
            </a:extLst>
          </p:cNvPr>
          <p:cNvSpPr/>
          <p:nvPr/>
        </p:nvSpPr>
        <p:spPr>
          <a:xfrm>
            <a:off x="6035040" y="4960356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350EE0EF-E6F5-6892-51A8-50644A25E7AC}"/>
              </a:ext>
            </a:extLst>
          </p:cNvPr>
          <p:cNvSpPr/>
          <p:nvPr/>
        </p:nvSpPr>
        <p:spPr>
          <a:xfrm>
            <a:off x="6035040" y="4960356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9B8F2238-3927-708A-1A76-816E811DAEBB}"/>
              </a:ext>
            </a:extLst>
          </p:cNvPr>
          <p:cNvSpPr/>
          <p:nvPr/>
        </p:nvSpPr>
        <p:spPr>
          <a:xfrm>
            <a:off x="8875776" y="4872736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430FDF3F-7127-1F0F-DFB0-C56B0EC8CECB}"/>
              </a:ext>
            </a:extLst>
          </p:cNvPr>
          <p:cNvSpPr/>
          <p:nvPr/>
        </p:nvSpPr>
        <p:spPr>
          <a:xfrm>
            <a:off x="10058400" y="4872736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BAA2004E-5590-59BE-BA04-FB7CED4455B0}"/>
              </a:ext>
            </a:extLst>
          </p:cNvPr>
          <p:cNvSpPr/>
          <p:nvPr/>
        </p:nvSpPr>
        <p:spPr>
          <a:xfrm>
            <a:off x="0" y="5185664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A9379D37-5FB0-52FB-0EB0-101E498D47C0}"/>
              </a:ext>
            </a:extLst>
          </p:cNvPr>
          <p:cNvSpPr/>
          <p:nvPr/>
        </p:nvSpPr>
        <p:spPr>
          <a:xfrm>
            <a:off x="243840" y="5185664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OUT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00D71D73-F456-10C8-FFA2-2835EBF61458}"/>
              </a:ext>
            </a:extLst>
          </p:cNvPr>
          <p:cNvSpPr/>
          <p:nvPr/>
        </p:nvSpPr>
        <p:spPr>
          <a:xfrm>
            <a:off x="3594583" y="5185664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964FEC3B-880E-C75D-449A-3B25B2C05C47}"/>
              </a:ext>
            </a:extLst>
          </p:cNvPr>
          <p:cNvSpPr/>
          <p:nvPr/>
        </p:nvSpPr>
        <p:spPr>
          <a:xfrm>
            <a:off x="6035040" y="5273284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932138FB-B635-D59F-68A0-C94FA9B956D3}"/>
              </a:ext>
            </a:extLst>
          </p:cNvPr>
          <p:cNvSpPr/>
          <p:nvPr/>
        </p:nvSpPr>
        <p:spPr>
          <a:xfrm>
            <a:off x="6035041" y="5273284"/>
            <a:ext cx="1869033" cy="131429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1949775-450F-EAEB-3CC9-7B448E98376D}"/>
              </a:ext>
            </a:extLst>
          </p:cNvPr>
          <p:cNvSpPr/>
          <p:nvPr/>
        </p:nvSpPr>
        <p:spPr>
          <a:xfrm>
            <a:off x="8875776" y="5185664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C2626"/>
                </a:solidFill>
                <a:latin typeface="Calibri" panose="020F0502020204030204"/>
              </a:rPr>
              <a:t>73%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65BEC881-1673-C85C-9C5E-49D481706E79}"/>
              </a:ext>
            </a:extLst>
          </p:cNvPr>
          <p:cNvSpPr/>
          <p:nvPr/>
        </p:nvSpPr>
        <p:spPr>
          <a:xfrm>
            <a:off x="10058400" y="5185664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EBC15288-556B-E819-0C1C-8A16CDFBABEC}"/>
              </a:ext>
            </a:extLst>
          </p:cNvPr>
          <p:cNvSpPr/>
          <p:nvPr/>
        </p:nvSpPr>
        <p:spPr>
          <a:xfrm>
            <a:off x="0" y="5498592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798444E0-00ED-930B-7355-683384F4523B}"/>
              </a:ext>
            </a:extLst>
          </p:cNvPr>
          <p:cNvSpPr/>
          <p:nvPr/>
        </p:nvSpPr>
        <p:spPr>
          <a:xfrm>
            <a:off x="243840" y="5498592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82F2C6BB-8B79-EA97-34BE-216430EF8B43}"/>
              </a:ext>
            </a:extLst>
          </p:cNvPr>
          <p:cNvSpPr/>
          <p:nvPr/>
        </p:nvSpPr>
        <p:spPr>
          <a:xfrm>
            <a:off x="3594583" y="5498592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50A48560-92C1-CA70-4617-9616D3B1D9A8}"/>
              </a:ext>
            </a:extLst>
          </p:cNvPr>
          <p:cNvSpPr/>
          <p:nvPr/>
        </p:nvSpPr>
        <p:spPr>
          <a:xfrm>
            <a:off x="6035040" y="5586212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D0E908CB-67DD-6EE0-5E61-ADE7FBC31D03}"/>
              </a:ext>
            </a:extLst>
          </p:cNvPr>
          <p:cNvSpPr/>
          <p:nvPr/>
        </p:nvSpPr>
        <p:spPr>
          <a:xfrm>
            <a:off x="6035040" y="5586212"/>
            <a:ext cx="2329891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6D4C827E-FF50-2174-B16E-E8F4077D4599}"/>
              </a:ext>
            </a:extLst>
          </p:cNvPr>
          <p:cNvSpPr/>
          <p:nvPr/>
        </p:nvSpPr>
        <p:spPr>
          <a:xfrm>
            <a:off x="8875776" y="5498592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D086E8B5-20BE-F462-5A2C-272CE3D9F8F3}"/>
              </a:ext>
            </a:extLst>
          </p:cNvPr>
          <p:cNvSpPr/>
          <p:nvPr/>
        </p:nvSpPr>
        <p:spPr>
          <a:xfrm>
            <a:off x="10058400" y="5498592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87741144-2F79-4082-F3FE-F44EFC13A68D}"/>
              </a:ext>
            </a:extLst>
          </p:cNvPr>
          <p:cNvSpPr/>
          <p:nvPr/>
        </p:nvSpPr>
        <p:spPr>
          <a:xfrm>
            <a:off x="0" y="5811520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FFA76F16-4658-F291-0887-2F9542AD9A50}"/>
              </a:ext>
            </a:extLst>
          </p:cNvPr>
          <p:cNvSpPr/>
          <p:nvPr/>
        </p:nvSpPr>
        <p:spPr>
          <a:xfrm>
            <a:off x="243840" y="5811520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 err="1">
                <a:solidFill>
                  <a:srgbClr val="145078"/>
                </a:solidFill>
                <a:latin typeface="Calibri" panose="020F0502020204030204"/>
              </a:rPr>
              <a:t>Portafolio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04C0FFB9-76DA-7560-F490-834FF2EC48ED}"/>
              </a:ext>
            </a:extLst>
          </p:cNvPr>
          <p:cNvSpPr/>
          <p:nvPr/>
        </p:nvSpPr>
        <p:spPr>
          <a:xfrm>
            <a:off x="3594583" y="5811520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177C11F4-1989-B48B-157F-FC95330891AC}"/>
              </a:ext>
            </a:extLst>
          </p:cNvPr>
          <p:cNvSpPr/>
          <p:nvPr/>
        </p:nvSpPr>
        <p:spPr>
          <a:xfrm>
            <a:off x="6035040" y="5899140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8FC8538A-19DE-4BEB-BCD3-06E329639793}"/>
              </a:ext>
            </a:extLst>
          </p:cNvPr>
          <p:cNvSpPr/>
          <p:nvPr/>
        </p:nvSpPr>
        <p:spPr>
          <a:xfrm>
            <a:off x="6035040" y="5899140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B991F6B9-454C-0FD5-6FEA-9D35EA643198}"/>
              </a:ext>
            </a:extLst>
          </p:cNvPr>
          <p:cNvSpPr/>
          <p:nvPr/>
        </p:nvSpPr>
        <p:spPr>
          <a:xfrm>
            <a:off x="8875776" y="5811520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B3729534-24BE-16FB-8368-36FF6FAF47DC}"/>
              </a:ext>
            </a:extLst>
          </p:cNvPr>
          <p:cNvSpPr/>
          <p:nvPr/>
        </p:nvSpPr>
        <p:spPr>
          <a:xfrm>
            <a:off x="10058400" y="5811520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83D6FDB1-85E5-E916-E609-06EB10FDF9CF}"/>
              </a:ext>
            </a:extLst>
          </p:cNvPr>
          <p:cNvSpPr/>
          <p:nvPr/>
        </p:nvSpPr>
        <p:spPr>
          <a:xfrm>
            <a:off x="201168" y="1047509"/>
            <a:ext cx="310896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0D36F9D2-E71E-1205-26D8-551C12D59FDB}"/>
              </a:ext>
            </a:extLst>
          </p:cNvPr>
          <p:cNvSpPr/>
          <p:nvPr/>
        </p:nvSpPr>
        <p:spPr>
          <a:xfrm>
            <a:off x="323088" y="1145045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813D47BE-2319-8211-B235-2BCFD14BD66F}"/>
              </a:ext>
            </a:extLst>
          </p:cNvPr>
          <p:cNvSpPr/>
          <p:nvPr/>
        </p:nvSpPr>
        <p:spPr>
          <a:xfrm>
            <a:off x="615696" y="1047509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059669"/>
                </a:solidFill>
                <a:latin typeface="Calibri" panose="020F0502020204030204"/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F065D574-8D43-D05A-68B1-E91D48672039}"/>
              </a:ext>
            </a:extLst>
          </p:cNvPr>
          <p:cNvSpPr/>
          <p:nvPr/>
        </p:nvSpPr>
        <p:spPr>
          <a:xfrm>
            <a:off x="6823024" y="484900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FAB19E82-0C37-3CCD-B9D8-DE5B69AAB3BE}"/>
              </a:ext>
            </a:extLst>
          </p:cNvPr>
          <p:cNvSpPr/>
          <p:nvPr/>
        </p:nvSpPr>
        <p:spPr>
          <a:xfrm>
            <a:off x="6823024" y="515124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20EC57E-FDA6-030A-B1F4-BD80608BAAA4}"/>
              </a:ext>
            </a:extLst>
          </p:cNvPr>
          <p:cNvSpPr/>
          <p:nvPr/>
        </p:nvSpPr>
        <p:spPr>
          <a:xfrm>
            <a:off x="6816111" y="546417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86907E13-CFC9-0097-52F0-E9A05EF19825}"/>
              </a:ext>
            </a:extLst>
          </p:cNvPr>
          <p:cNvSpPr/>
          <p:nvPr/>
        </p:nvSpPr>
        <p:spPr>
          <a:xfrm>
            <a:off x="6845717" y="577709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C2DA35FC-8862-DF88-655C-CF045DC934D6}"/>
              </a:ext>
            </a:extLst>
          </p:cNvPr>
          <p:cNvSpPr/>
          <p:nvPr/>
        </p:nvSpPr>
        <p:spPr>
          <a:xfrm>
            <a:off x="4568659" y="45277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0337DEA4-6DD6-7869-C5BB-B99B675D781E}"/>
              </a:ext>
            </a:extLst>
          </p:cNvPr>
          <p:cNvSpPr/>
          <p:nvPr/>
        </p:nvSpPr>
        <p:spPr>
          <a:xfrm>
            <a:off x="4879392" y="51344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4CD69733-C6DB-2A21-FDDE-F13D824CE05A}"/>
              </a:ext>
            </a:extLst>
          </p:cNvPr>
          <p:cNvSpPr/>
          <p:nvPr/>
        </p:nvSpPr>
        <p:spPr>
          <a:xfrm>
            <a:off x="4868393" y="54664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363266AA-900D-239C-C84D-C700E71B9982}"/>
              </a:ext>
            </a:extLst>
          </p:cNvPr>
          <p:cNvSpPr/>
          <p:nvPr/>
        </p:nvSpPr>
        <p:spPr>
          <a:xfrm>
            <a:off x="4879392" y="5771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76FDC28-44B1-8C1F-5C42-5F5C265E40F4}"/>
              </a:ext>
            </a:extLst>
          </p:cNvPr>
          <p:cNvSpPr/>
          <p:nvPr/>
        </p:nvSpPr>
        <p:spPr>
          <a:xfrm>
            <a:off x="4846007" y="483831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21B0679-F29A-F0B4-756E-45AC031CE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89" y="-193290"/>
            <a:ext cx="2365251" cy="1346403"/>
          </a:xfrm>
          <a:prstGeom prst="rect">
            <a:avLst/>
          </a:prstGeom>
        </p:spPr>
      </p:pic>
      <p:pic>
        <p:nvPicPr>
          <p:cNvPr id="101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57072"/>
            <a:ext cx="12192000" cy="5565648"/>
          </a:xfrm>
          <a:prstGeom prst="rect">
            <a:avLst/>
          </a:prstGeom>
        </p:spPr>
      </p:pic>
      <p:sp>
        <p:nvSpPr>
          <p:cNvPr id="102" name="dato_manual"/>
          <p:cNvSpPr>
            <a:spLocks noGrp="1"/>
          </p:cNvSpPr>
          <p:nvPr/>
        </p:nvSpPr>
        <p:spPr>
          <a:xfrm>
            <a:off x="3657600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5812535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414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414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6" name="dato_manual"/>
          <p:cNvSpPr>
            <a:spLocks noGrp="1"/>
          </p:cNvSpPr>
          <p:nvPr/>
        </p:nvSpPr>
        <p:spPr>
          <a:xfrm>
            <a:off x="3374745" y="4532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/>
          <p:cNvSpPr>
            <a:spLocks noGrp="1"/>
          </p:cNvSpPr>
          <p:nvPr/>
        </p:nvSpPr>
        <p:spPr>
          <a:xfrm>
            <a:off x="4779264" y="4532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/>
          <p:cNvSpPr>
            <a:spLocks noGrp="1"/>
          </p:cNvSpPr>
          <p:nvPr/>
        </p:nvSpPr>
        <p:spPr>
          <a:xfrm>
            <a:off x="3374745" y="4920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9" name="dato_manual"/>
          <p:cNvSpPr>
            <a:spLocks noGrp="1"/>
          </p:cNvSpPr>
          <p:nvPr/>
        </p:nvSpPr>
        <p:spPr>
          <a:xfrm>
            <a:off x="4779264" y="4920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3374745" y="5308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4779264" y="5308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374745" y="5696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4779264" y="5696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3374745" y="608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4779264" y="608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68837157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240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Jefe de Ventas: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42.4%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240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25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59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4873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FE234-C10B-C7EA-3402-87CBBBE78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D2FFDC-C463-3682-6F6A-A434919E1409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AD8883E-2421-F1FC-671F-024B464DD1A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845873C-4E17-A84A-C27C-F55B6267945D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27D361B-B23D-EDA9-1878-86B38ABE2620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FIDELIZACION: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6AFA94-B4F1-3FBD-CB5D-C87E48229183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33C30D4-1201-D51B-0555-CC478C0C41E6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3FE7798-D4A9-408A-B2EA-388404C3A5C1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200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231DCCAC-5F71-98C4-76C9-729D5D1FD40D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Jefe de Ventas: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0B3BC00-2A15-60C1-3F17-104C9A2F6DEE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8CA61E"/>
                </a:solidFill>
                <a:latin typeface="Calibri" panose="020F0502020204030204"/>
              </a:rPr>
              <a:t>129%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A549112-C06F-6419-74E3-BBA8B31D9826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77EF628-02FE-97BB-8E7B-B494F6DCA713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D85FEBAC-5F18-CCD5-1418-03A86523360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62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9844D16A-C8FB-28B3-7BF4-2A885D4DF95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48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BDE768CE-10B1-7EFA-5E70-39232DDDD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622C61AE-D359-72E8-BF9D-8E8F38966C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78930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01727-6A92-90C2-C167-5D31A2F25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92B8FD6-B373-C88A-B29F-4A99B1258597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1040F7B-3F97-8436-3DE4-340A1229277E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0332294-037D-AF95-5776-C1399BD55CE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D00686F-11DE-117E-0C25-CB69660AEE2E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UPGRADE LINEA: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943E890-614B-7C3D-A508-220ED28D8E36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90CE656-282F-7581-6413-AF7D6B3650A6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C49CCDA-DDC8-96D2-F88A-DF8128FFC3EA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2.40K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8A6537C-BB79-D359-C43F-01199A749227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Jefe de Ventas: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186D64CF-C7A9-F775-C2F2-80EC5DFE8080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8CA61E"/>
                </a:solidFill>
                <a:latin typeface="Calibri" panose="020F0502020204030204"/>
              </a:rPr>
              <a:t>100%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F7F015BE-0320-B077-59C0-C07FA0E2801D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31E8D89-6F23-A1C5-3CE3-D5FB7F98A93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2.40K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83900041-3A68-7048-1720-7317179F3B77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460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F8BB73D2-1980-B46E-59E7-B96C6D840F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460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F1DECBA-8BDD-7481-F0D3-745925947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C911ABA5-0079-24A9-C166-C58415AFF8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96278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0ED80-BE5D-2947-34C1-3FE1D5256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293CBD0-A894-9BCC-5217-50C2211907D9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DE98232-6A90-9C7D-DF01-166894F8766E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E5A9C44-CC43-3F68-C1C7-875A4C7962B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7AE940-B13E-2244-90AD-2C57053ABEC3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SAVING: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77F9931-88AD-FDF4-1E99-8505B1365C4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D1D5004C-DA7D-6C00-E3AF-CE759862CD82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961F994-4C47-EEDA-D1AB-AA8AD16FD910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11.70K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00C238C-2C88-B159-CA14-0D2F166AFAB2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Jefe de Ventas: Jose Jesus San Martin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67FFFF1-8B1D-3C90-E278-82F22747EBD6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63.4%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62642501-DA34-BEBC-E69F-A1C67D5FDD92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A6EC92E7-3AF3-D28B-83E2-C56B500F15DE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11.70K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930F9745-379C-50D8-8B70-2E6345CFF29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1.56K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DB60CEB0-01A5-74D1-0F4B-AD2F8BF43C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2.46K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AEC5EE60-F2FE-06A3-1698-ED4493F19A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8DE4C9C4-BB56-6BBB-C92C-AE6A74F82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51241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EXTRACASH: Información al 8 de Agosto</a:t>
            </a:r>
            <a:endParaRPr lang="en-US" sz="16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META: 60.00K</a:t>
            </a:r>
            <a:endParaRPr lang="en-US" sz="12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>Jefe de Ventas: Jose Jesus San Martin</a:t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800" b="1" dirty="0">
                <a:solidFill>
                  <a:srgbClr val="C0392B"/>
                </a:solidFill>
              </a:rPr>
              <a:t>19.8%</a:t>
            </a:r>
            <a:endParaRPr lang="en-US" sz="88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60.00K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3.83K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19.33K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80314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9E539-EA1E-29F8-E1EE-5FDED823D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3F8158E-749D-E526-85DF-E54EAE2B4374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90AEBA-F7DB-7615-F73E-25C957227BF8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4B49187-F1D4-0478-F94D-24E9D3553E50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4D0FB1-CF98-05F0-47BC-EFAC429A0B6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UNICEF  |  DIAGNOSTICO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A1FC2EF-2D12-05D5-710A-35B4FB97F669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FF9265D-1367-B8F7-70DC-A763D916710C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369A7D52-88B3-F0B8-E39C-258AEF6F3BCC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190EF2E-CBA8-5B18-7B3B-035D59CD5870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77D1AB1-E5D5-04F0-D800-538FC4DA791E}"/>
              </a:ext>
            </a:extLst>
          </p:cNvPr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21A1495-2C18-BA50-AD25-C5D0E9C966E9}"/>
              </a:ext>
            </a:extLst>
          </p:cNvPr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6F6348A-41F5-B2B4-A677-06C89FB088C3}"/>
              </a:ext>
            </a:extLst>
          </p:cNvPr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FEE629C-E8D9-A277-74E9-B64079F26ED4}"/>
              </a:ext>
            </a:extLst>
          </p:cNvPr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A8105EAC-C474-9171-5E09-C95644DD206D}"/>
              </a:ext>
            </a:extLst>
          </p:cNvPr>
          <p:cNvSpPr/>
          <p:nvPr/>
        </p:nvSpPr>
        <p:spPr>
          <a:xfrm>
            <a:off x="33528" y="396240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fontAlgn="t"/>
            <a:r>
              <a:rPr lang="es-ES" sz="1400" dirty="0">
                <a:solidFill>
                  <a:srgbClr val="101828"/>
                </a:solidFill>
              </a:rPr>
              <a:t>Igualar/superar junio en Saving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19A03C9F-C5A0-63E2-CB20-9FF65B156118}"/>
              </a:ext>
            </a:extLst>
          </p:cNvPr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7D817F1-2084-1E4D-241F-018511048F25}"/>
              </a:ext>
            </a:extLst>
          </p:cNvPr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F988CCB-3CBF-7C21-61EB-A7B3615050C3}"/>
              </a:ext>
            </a:extLst>
          </p:cNvPr>
          <p:cNvSpPr/>
          <p:nvPr/>
        </p:nvSpPr>
        <p:spPr>
          <a:xfrm>
            <a:off x="195072" y="55973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AFCB07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4BF49F7-8E85-BED4-C7D8-FEA8AEEE53B3}"/>
              </a:ext>
            </a:extLst>
          </p:cNvPr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CCB81E2-F059-E127-553B-D5C5350E94BD}"/>
              </a:ext>
            </a:extLst>
          </p:cNvPr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78632D91-B7F2-8F26-4673-FFE340204C67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D66B2FDF-9628-DC17-3FD8-5A9AFC889B59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AD09BD62-18C9-3AA2-8201-5B3E05D42976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b="1" kern="0" spc="40" dirty="0">
                <a:solidFill>
                  <a:srgbClr val="FFFFFF"/>
                </a:solidFill>
              </a:rPr>
              <a:t>DIAGNOSTICO — CAUSAS RAIZ</a:t>
            </a:r>
            <a:endParaRPr lang="en-US" sz="1067" dirty="0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D617A0B9-6B65-6DBB-D1BF-102AD481D338}"/>
              </a:ext>
            </a:extLst>
          </p:cNvPr>
          <p:cNvSpPr/>
          <p:nvPr/>
        </p:nvSpPr>
        <p:spPr>
          <a:xfrm>
            <a:off x="6264537" y="1422700"/>
            <a:ext cx="5903079" cy="242997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74A759BD-5949-EEE9-E9A7-01036B602F7C}"/>
              </a:ext>
            </a:extLst>
          </p:cNvPr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A2720377-8EA0-15A6-444C-5AB864AFB9FF}"/>
              </a:ext>
            </a:extLst>
          </p:cNvPr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C3659DF-96A2-C406-05C3-C35494F49761}"/>
              </a:ext>
            </a:extLst>
          </p:cNvPr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9A3818AF-8744-E94A-FC1E-4BAA0705FF1F}"/>
              </a:ext>
            </a:extLst>
          </p:cNvPr>
          <p:cNvSpPr/>
          <p:nvPr/>
        </p:nvSpPr>
        <p:spPr>
          <a:xfrm>
            <a:off x="6583680" y="1926337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2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BEF27566-7BDD-AC33-CEA8-AD6517596075}"/>
              </a:ext>
            </a:extLst>
          </p:cNvPr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E42FFA78-5226-3BB5-E9EA-3F2AB5D3F2F0}"/>
              </a:ext>
            </a:extLst>
          </p:cNvPr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BEC225B9-D88C-6637-207B-EC36FBC0340C}"/>
              </a:ext>
            </a:extLst>
          </p:cNvPr>
          <p:cNvSpPr/>
          <p:nvPr/>
        </p:nvSpPr>
        <p:spPr>
          <a:xfrm>
            <a:off x="6583680" y="4324216"/>
            <a:ext cx="3937299" cy="10605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 sz="1400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1AA52ED7-C8D2-1D35-5E8D-D836582DD359}"/>
              </a:ext>
            </a:extLst>
          </p:cNvPr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8FE961B8-22D3-3796-1D39-94CD10A571E7}"/>
              </a:ext>
            </a:extLst>
          </p:cNvPr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DBEA2F3A-AB83-979C-2429-61BA831A577E}"/>
              </a:ext>
            </a:extLst>
          </p:cNvPr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8FD86D12-9F86-5E77-65F5-54A4BA7B8159}"/>
              </a:ext>
            </a:extLst>
          </p:cNvPr>
          <p:cNvSpPr/>
          <p:nvPr/>
        </p:nvSpPr>
        <p:spPr>
          <a:xfrm>
            <a:off x="6583680" y="4401313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200" dirty="0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551E0EDE-4842-2D2D-CBB2-AA34A4E21C56}"/>
              </a:ext>
            </a:extLst>
          </p:cNvPr>
          <p:cNvSpPr/>
          <p:nvPr/>
        </p:nvSpPr>
        <p:spPr>
          <a:xfrm>
            <a:off x="6571488" y="5670865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C411D48F-0587-983A-34C7-7492F70DDE85}"/>
              </a:ext>
            </a:extLst>
          </p:cNvPr>
          <p:cNvSpPr/>
          <p:nvPr/>
        </p:nvSpPr>
        <p:spPr>
          <a:xfrm>
            <a:off x="6583680" y="5670865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A0D737DA-6C4C-954F-215A-0E1D7125BB9F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04F14925-C383-657B-9C85-5C09CAC15AE8}"/>
              </a:ext>
            </a:extLst>
          </p:cNvPr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i="1" dirty="0">
                <a:solidFill>
                  <a:srgbClr val="667085"/>
                </a:solidFill>
              </a:rPr>
              <a:t>TU META ES NUESTRA META  ·  UNICEF  |  DIAGNOSTICO  |  Jose Jesus San Martin  |   Agosto 2026</a:t>
            </a:r>
            <a:endParaRPr lang="en-US" sz="100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11BA17C1-F315-D75F-1951-FCD0339BA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  <p:sp>
        <p:nvSpPr>
          <p:cNvPr id="40" name="Shape 12">
            <a:extLst>
              <a:ext uri="{FF2B5EF4-FFF2-40B4-BE49-F238E27FC236}">
                <a16:creationId xmlns:a16="http://schemas.microsoft.com/office/drawing/2014/main" id="{8A7481B4-F99B-DA41-3BFE-DF0D56448BC5}"/>
              </a:ext>
            </a:extLst>
          </p:cNvPr>
          <p:cNvSpPr/>
          <p:nvPr/>
        </p:nvSpPr>
        <p:spPr>
          <a:xfrm>
            <a:off x="121920" y="1524000"/>
            <a:ext cx="5230368" cy="871647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fontAlgn="t"/>
            <a:r>
              <a:rPr lang="es-ES" sz="1400" dirty="0">
                <a:solidFill>
                  <a:srgbClr val="101828"/>
                </a:solidFill>
              </a:rPr>
              <a:t>Cerrar Digital en la meta</a:t>
            </a:r>
          </a:p>
        </p:txBody>
      </p:sp>
      <p:sp>
        <p:nvSpPr>
          <p:cNvPr id="41" name="Text 33">
            <a:extLst>
              <a:ext uri="{FF2B5EF4-FFF2-40B4-BE49-F238E27FC236}">
                <a16:creationId xmlns:a16="http://schemas.microsoft.com/office/drawing/2014/main" id="{192FD573-9785-5141-DD6B-A8A02316E1DF}"/>
              </a:ext>
            </a:extLst>
          </p:cNvPr>
          <p:cNvSpPr/>
          <p:nvPr/>
        </p:nvSpPr>
        <p:spPr>
          <a:xfrm>
            <a:off x="6669741" y="403447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078"/>
                </a:solidFill>
              </a:rPr>
              <a:t>CERRAR SAVING CON + DE 8700</a:t>
            </a:r>
            <a:endParaRPr lang="en-US" sz="1400" dirty="0"/>
          </a:p>
        </p:txBody>
      </p:sp>
      <p:sp>
        <p:nvSpPr>
          <p:cNvPr id="44" name="Text 33">
            <a:extLst>
              <a:ext uri="{FF2B5EF4-FFF2-40B4-BE49-F238E27FC236}">
                <a16:creationId xmlns:a16="http://schemas.microsoft.com/office/drawing/2014/main" id="{60CEE97D-0182-911D-F2B0-841022589DAE}"/>
              </a:ext>
            </a:extLst>
          </p:cNvPr>
          <p:cNvSpPr/>
          <p:nvPr/>
        </p:nvSpPr>
        <p:spPr>
          <a:xfrm>
            <a:off x="6669741" y="1591057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600" b="1" dirty="0">
                <a:solidFill>
                  <a:srgbClr val="145078"/>
                </a:solidFill>
              </a:rPr>
              <a:t>Cerrar 240 en cantidad al 09/08.</a:t>
            </a:r>
            <a:endParaRPr lang="en-US" sz="1600" b="1" dirty="0">
              <a:solidFill>
                <a:srgbClr val="14507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15952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402336" y="1854002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SANNA SEGUROS</a:t>
            </a:r>
            <a:endParaRPr lang="en-US" sz="4267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Claudia Nuñez: Jefa de Ventas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6"/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5105" y="4894385"/>
            <a:ext cx="2411404" cy="2411404"/>
          </a:xfrm>
          <a:prstGeom prst="rect">
            <a:avLst/>
          </a:prstGeom>
        </p:spPr>
      </p:pic>
      <p:pic>
        <p:nvPicPr>
          <p:cNvPr id="4" name="Picture 2" descr="Busca trabajo en SANNA . Encuentra empleo en SANNA incluyendo sueldos,  ratings y reviews compartidos anónimanete por colaboradores de SANNA .">
            <a:extLst>
              <a:ext uri="{FF2B5EF4-FFF2-40B4-BE49-F238E27FC236}">
                <a16:creationId xmlns:a16="http://schemas.microsoft.com/office/drawing/2014/main" id="{1613AFE6-3234-365E-4BCC-B08FF8EBBB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8640" y="5193791"/>
            <a:ext cx="3657600" cy="1115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SANNA SEGUROS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9A9189"/>
                </a:solidFill>
                <a:latin typeface="Calibri" panose="020F0502020204030204"/>
              </a:rPr>
              <a:t>Jefa de Ventas: Claudia Nuñez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89%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9A9189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130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140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562503" y="455371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6B150B"/>
                </a:solidFill>
                <a:latin typeface="Calibri" panose="020F0502020204030204"/>
              </a:rPr>
              <a:t>SANNA Seguros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866608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2176272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85%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820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866608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866608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866608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Shape 66"/>
          <p:cNvSpPr/>
          <p:nvPr/>
        </p:nvSpPr>
        <p:spPr>
          <a:xfrm flipV="1">
            <a:off x="0" y="6365962"/>
            <a:ext cx="12192000" cy="12018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4507036" y="45560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4777004" y="48950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6709604" y="494285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700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4795269" y="533372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4817769" y="57078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4850112" y="60833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2122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7011965" y="56938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7064232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930250"/>
            <a:ext cx="12192000" cy="5592471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SANNA SEGUROS: 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Sub </a:t>
            </a:r>
            <a:r>
              <a:rPr lang="en-US" sz="1133" i="1" dirty="0" err="1">
                <a:solidFill>
                  <a:srgbClr val="9A9189"/>
                </a:solidFill>
                <a:latin typeface="Calibri" panose="020F0502020204030204"/>
              </a:rPr>
              <a:t>Gerenta</a:t>
            </a:r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: Claudia Nuñez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3.0%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140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8281" y="6508090"/>
            <a:ext cx="335673" cy="326997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1926" y="-217956"/>
            <a:ext cx="1264005" cy="1264005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78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2" y="5120640"/>
            <a:ext cx="150876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SANNA |  DIAGNOSTICO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23748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Incorporar ejecutivo(a) de relacionamiento </a:t>
            </a:r>
            <a:endParaRPr lang="en-US" sz="1267" dirty="0">
              <a:solidFill>
                <a:srgbClr val="111010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34112" y="2750624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 err="1">
                <a:solidFill>
                  <a:srgbClr val="E30713"/>
                </a:solidFill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8392" y="3123083"/>
            <a:ext cx="5547360" cy="1554581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Replicar mejores prácticas y resolver bienvenida 48 h</a:t>
            </a:r>
            <a:endParaRPr lang="es-PE" sz="1267" dirty="0">
              <a:solidFill>
                <a:srgbClr val="111010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219456" y="3750845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46304" y="4677664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 err="1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DIAGNOSTICO MES ACTUAL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Objetivo del mes: 140 pólizas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6583680" y="1926337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Buscar más empresas para colocar pólizas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Cumplir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la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bienvenida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en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48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hrs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con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los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referidos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583680" y="3576321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30713"/>
                </a:solidFill>
                <a:latin typeface="Calibri" panose="020F0502020204030204"/>
              </a:rPr>
              <a:t>Impacto Bajo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6583680" y="5226305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C97A0C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B150B"/>
                </a:solidFill>
                <a:latin typeface="Calibri" panose="020F0502020204030204"/>
              </a:rPr>
              <a:t>Nota: BanBif cumplido al 100% (S/ 1,503,083). Foco en Tarjetas e induccion pendiente.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  <a:latin typeface="Calibri" panose="020F0502020204030204"/>
              </a:rPr>
              <a:t>DIAGNOSTICO  |  Claudia Nuñez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0026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sp>
        <p:nvSpPr>
          <p:cNvPr id="4" name="Text 31">
            <a:extLst>
              <a:ext uri="{FF2B5EF4-FFF2-40B4-BE49-F238E27FC236}">
                <a16:creationId xmlns:a16="http://schemas.microsoft.com/office/drawing/2014/main" id="{7561DE02-26FD-2DBF-6E4C-F778270D9516}"/>
              </a:ext>
            </a:extLst>
          </p:cNvPr>
          <p:cNvSpPr/>
          <p:nvPr/>
        </p:nvSpPr>
        <p:spPr>
          <a:xfrm>
            <a:off x="6461760" y="3540320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s-ES" sz="1200" dirty="0">
                <a:solidFill>
                  <a:srgbClr val="111010"/>
                </a:solidFill>
                <a:latin typeface="Calibri" panose="020F0502020204030204"/>
              </a:rPr>
              <a:t>Asesora top (26 pólizas) comparta factores clave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51bec757-b8d9-4f0d-86eb-78a37ed8c863}" enabled="0" method="" siteId="{51bec757-b8d9-4f0d-86eb-78a37ed8c86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2018</TotalTime>
  <Words>2856</Words>
  <Application>Microsoft Office PowerPoint</Application>
  <PresentationFormat>Panorámica</PresentationFormat>
  <Paragraphs>1025</Paragraphs>
  <Slides>68</Slides>
  <Notes>43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9</vt:i4>
      </vt:variant>
      <vt:variant>
        <vt:lpstr>Títulos de diapositiva</vt:lpstr>
      </vt:variant>
      <vt:variant>
        <vt:i4>68</vt:i4>
      </vt:variant>
    </vt:vector>
  </HeadingPairs>
  <TitlesOfParts>
    <vt:vector size="79" baseType="lpstr">
      <vt:lpstr>Arial</vt:lpstr>
      <vt:lpstr>Calibri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Comité Agosto 2026 — Consolidado (todas las campañas)</dc:title>
  <dc:subject>SBP Convenios · BBVA Convenios · SBP TC · BCP Convenios · Efectiva-Diners-BanBif · BBVA TLM Digital · BBVA TLM Out · UNICEF · SANNA</dc:subject>
  <dc:creator>PptxGenJS</dc:creator>
  <cp:lastModifiedBy>Jeampiere Manuel Pocomucha Toribio</cp:lastModifiedBy>
  <cp:revision>24</cp:revision>
  <dcterms:created xsi:type="dcterms:W3CDTF">2026-06-10T17:53:50Z</dcterms:created>
  <dcterms:modified xsi:type="dcterms:W3CDTF">2026-09-01T20:59:42Z</dcterms:modified>
</cp:coreProperties>
</file>