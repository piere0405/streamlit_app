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</p:sldMasterIdLst>
  <p:notesMasterIdLst>
    <p:notesMasterId r:id="rId75"/>
  </p:notesMasterIdLst>
  <p:sldIdLst>
    <p:sldId id="256" r:id="rId10"/>
    <p:sldId id="343" r:id="rId11"/>
    <p:sldId id="344" r:id="rId12"/>
    <p:sldId id="409" r:id="rId82"/>
    <p:sldId id="346" r:id="rId13"/>
    <p:sldId id="345" r:id="rId14"/>
    <p:sldId id="347" r:id="rId15"/>
    <p:sldId id="349" r:id="rId16"/>
    <p:sldId id="348" r:id="rId17"/>
    <p:sldId id="350" r:id="rId18"/>
    <p:sldId id="351" r:id="rId19"/>
    <p:sldId id="352" r:id="rId20"/>
    <p:sldId id="407" r:id="rId8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  <p:sldId id="364" r:id="rId32"/>
    <p:sldId id="365" r:id="rId33"/>
    <p:sldId id="408" r:id="rId81"/>
    <p:sldId id="366" r:id="rId34"/>
    <p:sldId id="367" r:id="rId35"/>
    <p:sldId id="368" r:id="rId36"/>
    <p:sldId id="36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77" r:id="rId45"/>
    <p:sldId id="378" r:id="rId46"/>
    <p:sldId id="379" r:id="rId47"/>
    <p:sldId id="380" r:id="rId48"/>
    <p:sldId id="381" r:id="rId49"/>
    <p:sldId id="382" r:id="rId50"/>
    <p:sldId id="383" r:id="rId51"/>
    <p:sldId id="384" r:id="rId52"/>
    <p:sldId id="385" r:id="rId53"/>
    <p:sldId id="386" r:id="rId54"/>
    <p:sldId id="387" r:id="rId55"/>
    <p:sldId id="388" r:id="rId56"/>
    <p:sldId id="389" r:id="rId57"/>
    <p:sldId id="390" r:id="rId58"/>
    <p:sldId id="391" r:id="rId59"/>
    <p:sldId id="392" r:id="rId60"/>
    <p:sldId id="393" r:id="rId61"/>
    <p:sldId id="394" r:id="rId62"/>
    <p:sldId id="395" r:id="rId63"/>
    <p:sldId id="396" r:id="rId64"/>
    <p:sldId id="397" r:id="rId65"/>
    <p:sldId id="398" r:id="rId66"/>
    <p:sldId id="399" r:id="rId67"/>
    <p:sldId id="400" r:id="rId68"/>
    <p:sldId id="401" r:id="rId69"/>
    <p:sldId id="402" r:id="rId70"/>
    <p:sldId id="403" r:id="rId71"/>
    <p:sldId id="404" r:id="rId72"/>
    <p:sldId id="405" r:id="rId73"/>
    <p:sldId id="406" r:id="rId74"/>
  </p:sldIdLst>
  <p:sldSz cx="12192000" cy="6858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A075"/>
    <a:srgbClr val="D97706"/>
    <a:srgbClr val="A8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0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slide" Target="slides/slide57.xml"/><Relationship Id="rId74" Type="http://schemas.openxmlformats.org/officeDocument/2006/relationships/slide" Target="slides/slide65.xml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77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slide" Target="slides/slide64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722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2596C-901E-BE66-BF58-E2B4B4BBB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77CE6-0A99-FF46-4152-5FD1B52D6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38BED-B980-11E4-5A77-614E6D4D6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D3A50-523E-AA94-1B3D-4A96E9BCFE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06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549D2-720A-B44B-9E80-E06DFDFE1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97268-F9AD-A27B-D5D4-4C58A9273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0BC3F-CA68-BFD5-CB62-81FB8073E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3A4C7-97E7-81BB-B14C-C42EB3CE7F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042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C7CA5-C6B7-1EF2-0C40-7706E7728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A37ED1-86E8-4732-6996-31F21533C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236FF-4DEB-268A-D161-F664F6DCB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FD2C9-F18A-5CEF-BA7A-5EAFB2ED1D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760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773D3-56E6-59CD-329B-9F0D2398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3CBFA9-F4C1-F409-2823-0934E2C5F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9D587-D068-4C9A-8983-B5629ACB7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86900-3E23-47BE-CA79-E51C6BACED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352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DFF7-143D-5CAD-9A98-EDA383ED2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9F77F-F449-C0BF-5F37-904BBA1BC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0B0A3-F5B5-2990-A87A-A2920A2E2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8D817-88E8-1500-D09E-F295A46CC5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59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B6699-E119-FF9C-9666-53409F3AC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13FBA-652A-5ADC-22C8-61EF5126E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91704-515A-0CBD-DCE4-E23B621AB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7D0E7-15C6-713F-5D3D-6C8D26E2A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24815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0536B-AD6E-C4E5-CE2E-1DF834462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C1914-47E6-FB71-60A9-BBD0BD3AB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7A601-6FB7-089E-28FC-33F2D3A07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2A18E-443B-402D-E9C9-90C8AC7279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55601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0671F-669A-830E-B499-D081C4292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B7E2E-3610-5E35-6B0D-6AABF7FF7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A1A79-9E18-FE54-7811-4AABAD3B1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DDF73-3B25-DD34-362F-4363D07166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59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2E95F-EAF5-188C-0937-9F269BA39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2AED5-D977-B564-B39E-0D95DBFE3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81C6B-5011-AD3B-4BFE-10FCD448E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2BF83-2CD1-8840-D75B-EAA48BAF30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01262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72A0-000C-4A1A-FBE7-ABA47338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B2875-48BA-486E-0C26-0B8091A77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8A456-1256-E31F-D5C4-A45B5D23E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E65D1-64AA-FBAB-80DA-56F967A34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1602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90539-FA09-E5E6-1C37-F3CD4FAF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1C8C5-62B5-A15A-91B1-8A0048283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7C9D6E-7771-C539-4F12-AA03792AA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16E4C-9F58-5994-E722-965AF91CC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982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4097C-C4FF-9036-4170-CA16C873B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0A574-7C0D-AB74-5BEF-A69E51A7A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FFDE2-13A2-FCC7-6691-FB9AD0CD9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834F3-867D-FF81-7B09-735801E94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52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88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84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496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496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886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484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lvl1pPr algn="ctr" defTabSz="121920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lvl1pPr algn="ctr" defTabSz="121920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68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02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20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154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154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2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20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_scotia_white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Relationship Id="rId6" Type="http://schemas.openxmlformats.org/officeDocument/2006/relationships/image" Target="../media/logo_scotiabank.png"/><Relationship Id="rId7" Type="http://schemas.openxmlformats.org/officeDocument/2006/relationships/image" Target="../media/logo_scotiabank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0.png"/><Relationship Id="rId6" Type="http://schemas.openxmlformats.org/officeDocument/2006/relationships/image" Target="../media/logo_scotiabank.png"/><Relationship Id="rId7" Type="http://schemas.openxmlformats.org/officeDocument/2006/relationships/image" Target="../media/logo_scotiabank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3.png"/><Relationship Id="rId6" Type="http://schemas.openxmlformats.org/officeDocument/2006/relationships/image" Target="../media/logo_scotiabank.png"/><Relationship Id="rId7" Type="http://schemas.openxmlformats.org/officeDocument/2006/relationships/image" Target="../media/logo_scotiabank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6.png"/><Relationship Id="rId6" Type="http://schemas.openxmlformats.org/officeDocument/2006/relationships/image" Target="../media/logo_scotiabank.png"/><Relationship Id="rId7" Type="http://schemas.openxmlformats.org/officeDocument/2006/relationships/image" Target="../media/logo_scotiabank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9.png"/><Relationship Id="rId6" Type="http://schemas.openxmlformats.org/officeDocument/2006/relationships/image" Target="../media/logo_scotiabank.png"/><Relationship Id="rId7" Type="http://schemas.openxmlformats.org/officeDocument/2006/relationships/image" Target="../media/logo_scotiabank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7" Type="http://schemas.openxmlformats.org/officeDocument/2006/relationships/image" Target="../media/logo_bbva.png"/><Relationship Id="rId8" Type="http://schemas.openxmlformats.org/officeDocument/2006/relationships/image" Target="../media/logo_bbva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7.png"/><Relationship Id="rId6" Type="http://schemas.openxmlformats.org/officeDocument/2006/relationships/image" Target="../media/logo_bbva.png"/><Relationship Id="rId7" Type="http://schemas.openxmlformats.org/officeDocument/2006/relationships/image" Target="../media/logo_bbva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7" Type="http://schemas.openxmlformats.org/officeDocument/2006/relationships/image" Target="../media/logo_bbva.png"/><Relationship Id="rId8" Type="http://schemas.openxmlformats.org/officeDocument/2006/relationships/image" Target="../media/logo_bbva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7" Type="http://schemas.openxmlformats.org/officeDocument/2006/relationships/image" Target="../media/logo_bbva.png"/><Relationship Id="rId8" Type="http://schemas.openxmlformats.org/officeDocument/2006/relationships/image" Target="../media/logo_bbva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7" Type="http://schemas.openxmlformats.org/officeDocument/2006/relationships/image" Target="../media/logo_bbva.png"/><Relationship Id="rId8" Type="http://schemas.openxmlformats.org/officeDocument/2006/relationships/image" Target="../media/logo_bbva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7" Type="http://schemas.openxmlformats.org/officeDocument/2006/relationships/image" Target="../media/logo_bbva.png"/><Relationship Id="rId8" Type="http://schemas.openxmlformats.org/officeDocument/2006/relationships/image" Target="../media/logo_bbva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_scotia_white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1.png"/><Relationship Id="rId4" Type="http://schemas.microsoft.com/office/2007/relationships/hdphoto" Target="../media/hdphoto1.wdp"/><Relationship Id="rId7" Type="http://schemas.openxmlformats.org/officeDocument/2006/relationships/image" Target="../media/logo_scotiabank.png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1.png"/><Relationship Id="rId6" Type="http://schemas.openxmlformats.org/officeDocument/2006/relationships/image" Target="../media/logo_scotiabank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48.png"/><Relationship Id="rId6" Type="http://schemas.openxmlformats.org/officeDocument/2006/relationships/image" Target="../media/logo_bcp.png"/><Relationship Id="rId7" Type="http://schemas.openxmlformats.org/officeDocument/2006/relationships/image" Target="../media/logo_bcp.png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51.png"/><Relationship Id="rId6" Type="http://schemas.openxmlformats.org/officeDocument/2006/relationships/image" Target="../media/logo_bcp.png"/><Relationship Id="rId7" Type="http://schemas.openxmlformats.org/officeDocument/2006/relationships/image" Target="../media/logo_bcp.png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54.png"/><Relationship Id="rId6" Type="http://schemas.openxmlformats.org/officeDocument/2006/relationships/image" Target="../media/logo_bcp.png"/><Relationship Id="rId7" Type="http://schemas.openxmlformats.org/officeDocument/2006/relationships/image" Target="../media/logo_bcp.png"/></Relationships>
</file>

<file path=ppt/slides/_rels/slide28.xml.rels><?xml version="1.0" encoding="UTF-8" standalone="yes"?>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57.png"/><Relationship Id="rId6" Type="http://schemas.openxmlformats.org/officeDocument/2006/relationships/image" Target="../media/logo_bcp.png"/><Relationship Id="rId7" Type="http://schemas.openxmlformats.org/officeDocument/2006/relationships/image" Target="../media/logo_bcp.png"/></Relationships>
</file>

<file path=ppt/slides/_rels/slide29.xml.rels><?xml version="1.0" encoding="UTF-8" standalone="yes"?>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60.png"/><Relationship Id="rId6" Type="http://schemas.openxmlformats.org/officeDocument/2006/relationships/image" Target="../media/logo_bcp.png"/><Relationship Id="rId7" Type="http://schemas.openxmlformats.org/officeDocument/2006/relationships/image" Target="../media/logo_bcp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logo_efectiva.png"/><Relationship Id="rId5" Type="http://schemas.openxmlformats.org/officeDocument/2006/relationships/image" Target="../media/logo_efe.png"/><Relationship Id="rId6" Type="http://schemas.openxmlformats.org/officeDocument/2006/relationships/image" Target="../media/logo_diners.png"/><Relationship Id="rId7" Type="http://schemas.openxmlformats.org/officeDocument/2006/relationships/image" Target="../media/logo_banbif.png"/><Relationship Id="rId8" Type="http://schemas.openxmlformats.org/officeDocument/2006/relationships/image" Target="../media/logo_efe.png"/><Relationship Id="rId9" Type="http://schemas.openxmlformats.org/officeDocument/2006/relationships/image" Target="../media/logo_efectiva.png"/><Relationship Id="rId10" Type="http://schemas.openxmlformats.org/officeDocument/2006/relationships/image" Target="../media/logo_banbif.png"/><Relationship Id="rId11" Type="http://schemas.openxmlformats.org/officeDocument/2006/relationships/image" Target="../media/logo_diners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3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png"/><Relationship Id="rId5" Type="http://schemas.microsoft.com/office/2007/relationships/hdphoto" Target="../media/hdphoto1.wdp"/><Relationship Id="rId4" Type="http://schemas.openxmlformats.org/officeDocument/2006/relationships/image" Target="../media/image40.png"/><Relationship Id="rId7" Type="http://schemas.openxmlformats.org/officeDocument/2006/relationships/image" Target="../media/logo_efectiva.png"/><Relationship Id="rId8" Type="http://schemas.openxmlformats.org/officeDocument/2006/relationships/image" Target="../media/logo_efectiva.png"/></Relationships>
</file>

<file path=ppt/slides/_rels/slide34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5" Type="http://schemas.microsoft.com/office/2007/relationships/hdphoto" Target="../media/hdphoto1.wdp"/><Relationship Id="rId4" Type="http://schemas.openxmlformats.org/officeDocument/2006/relationships/image" Target="../media/image40.png"/><Relationship Id="rId7" Type="http://schemas.openxmlformats.org/officeDocument/2006/relationships/image" Target="../media/logo_efe.png"/><Relationship Id="rId8" Type="http://schemas.openxmlformats.org/officeDocument/2006/relationships/image" Target="../media/logo_efe.png"/></Relationships>
</file>

<file path=ppt/slides/_rels/slide35.xml.rels><?xml version="1.0" encoding="UTF-8" standalone="yes"?>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40.png"/><Relationship Id="rId7" Type="http://schemas.openxmlformats.org/officeDocument/2006/relationships/image" Target="../media/logo_diners.png"/><Relationship Id="rId8" Type="http://schemas.openxmlformats.org/officeDocument/2006/relationships/image" Target="../media/logo_diners.png"/></Relationships>
</file>

<file path=ppt/slides/_rels/slide36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5.png"/><Relationship Id="rId5" Type="http://schemas.microsoft.com/office/2007/relationships/hdphoto" Target="../media/hdphoto1.wdp"/><Relationship Id="rId4" Type="http://schemas.openxmlformats.org/officeDocument/2006/relationships/image" Target="../media/image40.png"/><Relationship Id="rId7" Type="http://schemas.openxmlformats.org/officeDocument/2006/relationships/image" Target="../media/logo_banbif.png"/><Relationship Id="rId8" Type="http://schemas.openxmlformats.org/officeDocument/2006/relationships/image" Target="../media/logo_banbif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.png"/></Relationships>
</file>

<file path=ppt/slides/_rels/slide42.xml.rels><?xml version="1.0" encoding="UTF-8" standalone="yes"?>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Relationship Id="rId5" Type="http://schemas.openxmlformats.org/officeDocument/2006/relationships/image" Target="../media/logo_bbva.png"/><Relationship Id="rId6" Type="http://schemas.openxmlformats.org/officeDocument/2006/relationships/image" Target="../media/logo_bbva.png"/></Relationships>
</file>

<file path=ppt/slides/_rels/slide43.xml.rels><?xml version="1.0" encoding="UTF-8" standalone="yes"?>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Relationship Id="rId5" Type="http://schemas.openxmlformats.org/officeDocument/2006/relationships/image" Target="../media/logo_bbva.png"/><Relationship Id="rId6" Type="http://schemas.openxmlformats.org/officeDocument/2006/relationships/image" Target="../media/logo_bbva.png"/></Relationships>
</file>

<file path=ppt/slides/_rels/slide44.xml.rels><?xml version="1.0" encoding="UTF-8" standalone="yes"?>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Relationship Id="rId5" Type="http://schemas.openxmlformats.org/officeDocument/2006/relationships/image" Target="../media/logo_bbva.png"/><Relationship Id="rId6" Type="http://schemas.openxmlformats.org/officeDocument/2006/relationships/image" Target="../media/logo_bbva.png"/></Relationships>
</file>

<file path=ppt/slides/_rels/slide45.xml.rels><?xml version="1.0" encoding="UTF-8" standalone="yes"?>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Relationship Id="rId5" Type="http://schemas.openxmlformats.org/officeDocument/2006/relationships/image" Target="../media/logo_bbva.png"/><Relationship Id="rId6" Type="http://schemas.openxmlformats.org/officeDocument/2006/relationships/image" Target="../media/logo_bbva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49.xml.rels><?xml version="1.0" encoding="UTF-8" standalone="yes"?>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logo_bbva.png"/><Relationship Id="rId6" Type="http://schemas.openxmlformats.org/officeDocument/2006/relationships/image" Target="../media/logo_bbva.png"/></Relationships>
</file>

<file path=ppt/slides/_rels/slide50.xml.rels><?xml version="1.0" encoding="UTF-8" standalone="yes"?>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logo_bbva.png"/><Relationship Id="rId6" Type="http://schemas.openxmlformats.org/officeDocument/2006/relationships/image" Target="../media/logo_bbva.png"/></Relationships>
</file>

<file path=ppt/slides/_rels/slide51.xml.rels><?xml version="1.0" encoding="UTF-8" standalone="yes"?>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logo_bbva.png"/><Relationship Id="rId6" Type="http://schemas.openxmlformats.org/officeDocument/2006/relationships/image" Target="../media/logo_bbva.png"/></Relationships>
</file>

<file path=ppt/slides/_rels/slide52.xml.rels><?xml version="1.0" encoding="UTF-8" standalone="yes"?>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logo_bbva.png"/><Relationship Id="rId6" Type="http://schemas.openxmlformats.org/officeDocument/2006/relationships/image" Target="../media/logo_bbva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_unicef_white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8.png"/></Relationships>
</file>

<file path=ppt/slides/_rels/slide5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logo_unicef.png"/><Relationship Id="rId5" Type="http://schemas.openxmlformats.org/officeDocument/2006/relationships/image" Target="../media/logo_unicef.png"/></Relationships>
</file>

<file path=ppt/slides/_rels/slide57.xml.rels><?xml version="1.0" encoding="UTF-8" standalone="yes"?>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Relationship Id="rId5" Type="http://schemas.openxmlformats.org/officeDocument/2006/relationships/image" Target="../media/logo_unicef.png"/><Relationship Id="rId6" Type="http://schemas.openxmlformats.org/officeDocument/2006/relationships/image" Target="../media/logo_unicef.png"/></Relationships>
</file>

<file path=ppt/slides/_rels/slide58.xml.rels><?xml version="1.0" encoding="UTF-8" standalone="yes"?>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Relationship Id="rId5" Type="http://schemas.openxmlformats.org/officeDocument/2006/relationships/image" Target="../media/logo_unicef.png"/><Relationship Id="rId6" Type="http://schemas.openxmlformats.org/officeDocument/2006/relationships/image" Target="../media/logo_unicef.png"/></Relationships>
</file>

<file path=ppt/slides/_rels/slide59.xml.rels><?xml version="1.0" encoding="UTF-8" standalone="yes"?>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Relationship Id="rId5" Type="http://schemas.openxmlformats.org/officeDocument/2006/relationships/image" Target="../media/logo_unicef.png"/><Relationship Id="rId6" Type="http://schemas.openxmlformats.org/officeDocument/2006/relationships/image" Target="../media/logo_unicef.png"/></Relationships>
</file>

<file path=ppt/slides/_rels/slide60.xml.rels><?xml version="1.0" encoding="UTF-8" standalone="yes"?>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Relationship Id="rId5" Type="http://schemas.openxmlformats.org/officeDocument/2006/relationships/image" Target="../media/logo_unicef.png"/><Relationship Id="rId6" Type="http://schemas.openxmlformats.org/officeDocument/2006/relationships/image" Target="../media/logo_unicef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
<Relationships xmlns="http://schemas.openxmlformats.org/package/2006/relationships"><Relationship Id="rId3" Type="http://schemas.openxmlformats.org/officeDocument/2006/relationships/image" Target="../media/image_sanna_w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5.png"/><Relationship Id="rId4" Type="http://schemas.openxmlformats.org/officeDocument/2006/relationships/image" Target="../media/image1.png"/></Relationships>
</file>

<file path=ppt/slides/_rels/slide64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6.png"/><Relationship Id="rId5" Type="http://schemas.openxmlformats.org/officeDocument/2006/relationships/image" Target="../media/logo_sanna.png"/><Relationship Id="rId6" Type="http://schemas.openxmlformats.org/officeDocument/2006/relationships/image" Target="../media/logo_sanna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66.xml.rels><?xml version="1.0" encoding="UTF-8" standalone="yes"?>
<Relationships xmlns="http://schemas.openxmlformats.org/package/2006/relationships"><Relationship Id="rId3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8.png"/><Relationship Id="rId4" Type="http://schemas.openxmlformats.org/officeDocument/2006/relationships/image" Target="../media/image89.png"/><Relationship Id="rId7" Type="http://schemas.openxmlformats.org/officeDocument/2006/relationships/image" Target="../media/logo_bbva.png"/><Relationship Id="rId8" Type="http://schemas.openxmlformats.org/officeDocument/2006/relationships/image" Target="../media/logo_bbva.png"/></Relationships>
</file>

<file path=ppt/slides/_rels/slide67.xml.rels><?xml version="1.0" encoding="UTF-8" standalone="yes"?>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92.png"/><Relationship Id="rId6" Type="http://schemas.openxmlformats.org/officeDocument/2006/relationships/image" Target="../media/logo_bcp.png"/><Relationship Id="rId7" Type="http://schemas.openxmlformats.org/officeDocument/2006/relationships/image" Target="../media/logo_bcp.png"/></Relationships>
</file>

<file path=ppt/slides/_rels/slide68.xml.rels><?xml version="1.0" encoding="UTF-8" standalone="yes"?>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5.png"/><Relationship Id="rId6" Type="http://schemas.openxmlformats.org/officeDocument/2006/relationships/image" Target="../media/logo_scotiabank.png"/><Relationship Id="rId7" Type="http://schemas.openxmlformats.org/officeDocument/2006/relationships/image" Target="../media/logo_scotiabank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15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6060" y="1804416"/>
            <a:ext cx="11704320" cy="304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165463" y="2020516"/>
            <a:ext cx="1170432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defTabSz="1219170"/>
            <a:r>
              <a:rPr lang="en-US" sz="5867" b="1" kern="0" spc="-67" dirty="0">
                <a:solidFill>
                  <a:srgbClr val="FFFFFF"/>
                </a:solidFill>
                <a:latin typeface="Calibri" panose="020F0502020204030204"/>
              </a:rPr>
              <a:t>COMITÉ SEMANAL DE CAMPAÑAS</a:t>
            </a:r>
            <a:endParaRPr lang="en-US" sz="5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243840" y="3971236"/>
            <a:ext cx="117043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267" dirty="0">
                <a:solidFill>
                  <a:srgbClr val="FFFFFF"/>
                </a:solidFill>
                <a:latin typeface="Calibri" panose="020F0502020204030204"/>
              </a:rPr>
              <a:t>Consolidado · Agosto 2026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299767" y="4937760"/>
            <a:ext cx="117043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Calibri" panose="020F0502020204030204"/>
              </a:rPr>
              <a:t>Agosto 2026  ·  MF Asesoría y Consultoría  &amp;  PlusMetas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5F19C7-3194-4AD2-FC53-73E90CB7E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63" y="-248411"/>
            <a:ext cx="2411404" cy="2411404"/>
          </a:xfrm>
          <a:prstGeom prst="rect">
            <a:avLst/>
          </a:prstGeom>
        </p:spPr>
      </p:pic>
      <p:pic>
        <p:nvPicPr>
          <p:cNvPr id="11" name="LogoPlusMetas"/>
          <p:cNvPicPr/>
          <p:nvPr/>
        </p:nvPicPr>
        <p:blipFill>
          <a:blip r:embed="rId4"/>
          <a:stretch>
            <a:fillRect/>
          </a:stretch>
        </p:blipFill>
        <p:spPr>
          <a:xfrm>
            <a:off x="8717280" y="341377"/>
            <a:ext cx="3169920" cy="1804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6B15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0" cy="6858000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914400" y="2865120"/>
            <a:ext cx="11033760" cy="30480"/>
          </a:xfrm>
          <a:prstGeom prst="rect">
            <a:avLst/>
          </a:prstGeom>
          <a:solidFill>
            <a:srgbClr val="FFFFFF">
              <a:alpha val="40000"/>
            </a:srgbClr>
          </a:solidFill>
          <a:ln w="16933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670560" y="1370584"/>
            <a:ext cx="116433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67" b="1" dirty="0">
                <a:solidFill>
                  <a:srgbClr val="FFFFFF"/>
                </a:solidFill>
              </a:rPr>
              <a:t>Scotiabank Convenios</a:t>
            </a:r>
            <a:endParaRPr lang="en-US" sz="4267" dirty="0"/>
          </a:p>
        </p:txBody>
      </p:sp>
      <p:sp>
        <p:nvSpPr>
          <p:cNvPr id="7" name="Text 4"/>
          <p:cNvSpPr/>
          <p:nvPr/>
        </p:nvSpPr>
        <p:spPr>
          <a:xfrm>
            <a:off x="814324" y="3084576"/>
            <a:ext cx="1164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67" dirty="0">
                <a:solidFill>
                  <a:srgbClr val="FFFFFF"/>
                </a:solidFill>
              </a:rPr>
              <a:t>Iván Vilcapoma  ·  Sub Gerente de SBP Convenios</a:t>
            </a:r>
            <a:endParaRPr lang="en-US" sz="1867" dirty="0"/>
          </a:p>
        </p:txBody>
      </p:sp>
      <p:sp>
        <p:nvSpPr>
          <p:cNvPr id="8" name="Text 5"/>
          <p:cNvSpPr/>
          <p:nvPr/>
        </p:nvSpPr>
        <p:spPr>
          <a:xfrm>
            <a:off x="814324" y="3792728"/>
            <a:ext cx="1164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Agosto 2026</a:t>
            </a:r>
            <a:endParaRPr lang="en-US" sz="16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F594D15-71DC-6787-371E-F6DCF0BA3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501" y="4219448"/>
            <a:ext cx="5047499" cy="2873253"/>
          </a:xfrm>
          <a:prstGeom prst="rect">
            <a:avLst/>
          </a:prstGeom>
        </p:spPr>
      </p:pic>
      <p:pic>
        <p:nvPicPr>
          <p:cNvPr id="4" name="Picture 2" descr="Image result for scotiabank">
            <a:extLst>
              <a:ext uri="{FF2B5EF4-FFF2-40B4-BE49-F238E27FC236}">
                <a16:creationId xmlns:a16="http://schemas.microsoft.com/office/drawing/2014/main" id="{E947DDDF-F7B2-D8C9-A611-5C35853CF2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8640" y="4937760"/>
            <a:ext cx="1239028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RESUMEN GENERAL: SBP CONVENIOS  |LIMA · TELECAMPO + PROV. · NORTE · COA· SUR</a:t>
            </a:r>
            <a:endParaRPr lang="en-US" sz="1667" dirty="0"/>
          </a:p>
        </p:txBody>
      </p:sp>
      <p:sp>
        <p:nvSpPr>
          <p:cNvPr id="7" name="Shape 4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0E3854"/>
          </a:solidFill>
          <a:ln w="16933">
            <a:solidFill>
              <a:srgbClr val="0E385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1 / 3</a:t>
            </a:r>
            <a:endParaRPr lang="en-US" sz="1067" dirty="0"/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63296"/>
          </a:xfrm>
          <a:prstGeom prst="rect">
            <a:avLst/>
          </a:prstGeom>
          <a:solidFill>
            <a:srgbClr val="FEF3C7"/>
          </a:solidFill>
          <a:ln w="16933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43840" cy="243840"/>
          </a:xfrm>
          <a:prstGeom prst="ellipse">
            <a:avLst/>
          </a:prstGeom>
          <a:solidFill>
            <a:srgbClr val="D97706"/>
          </a:solidFill>
          <a:ln w="16933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707136" y="999744"/>
            <a:ext cx="264566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D97706"/>
                </a:solidFill>
              </a:rPr>
              <a:t>EN SEGUIMIENTO</a:t>
            </a:r>
            <a:endParaRPr lang="en-US" sz="1333" dirty="0"/>
          </a:p>
        </p:txBody>
      </p:sp>
      <p:sp>
        <p:nvSpPr>
          <p:cNvPr id="12" name="Text 9"/>
          <p:cNvSpPr/>
          <p:nvPr/>
        </p:nvSpPr>
        <p:spPr>
          <a:xfrm>
            <a:off x="268224" y="1536192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7085"/>
                </a:solidFill>
              </a:rPr>
              <a:t>Gerente: Ivan Vilcapoma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68224" y="1950720"/>
            <a:ext cx="3108960" cy="1853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667" b="1" dirty="0">
                <a:solidFill>
                  <a:srgbClr val="D97706"/>
                </a:solidFill>
              </a:rPr>
              <a:t>87%</a:t>
            </a:r>
            <a:endParaRPr lang="en-US" sz="10667" dirty="0"/>
          </a:p>
        </p:txBody>
      </p:sp>
      <p:sp>
        <p:nvSpPr>
          <p:cNvPr id="14" name="Text 11"/>
          <p:cNvSpPr/>
          <p:nvPr/>
        </p:nvSpPr>
        <p:spPr>
          <a:xfrm>
            <a:off x="268224" y="3877056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Avance promedio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511296" y="999744"/>
            <a:ext cx="26823" cy="5425440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3657600" y="999744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384048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667085"/>
                </a:solidFill>
              </a:rPr>
              <a:t>ACTIVOS TOTAL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384048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6B150B"/>
                </a:solidFill>
              </a:rPr>
              <a:t>69</a:t>
            </a:r>
            <a:endParaRPr lang="en-US" sz="2933" dirty="0"/>
          </a:p>
        </p:txBody>
      </p:sp>
      <p:sp>
        <p:nvSpPr>
          <p:cNvPr id="19" name="Shape 16"/>
          <p:cNvSpPr/>
          <p:nvPr/>
        </p:nvSpPr>
        <p:spPr>
          <a:xfrm>
            <a:off x="7894320" y="999744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807720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667085"/>
                </a:solidFill>
              </a:rPr>
              <a:t>DOTACION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807720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6B150B"/>
                </a:solidFill>
              </a:rPr>
              <a:t>79</a:t>
            </a:r>
            <a:endParaRPr lang="en-US" sz="2933" dirty="0"/>
          </a:p>
        </p:txBody>
      </p:sp>
      <p:sp>
        <p:nvSpPr>
          <p:cNvPr id="22" name="Shape 19"/>
          <p:cNvSpPr/>
          <p:nvPr/>
        </p:nvSpPr>
        <p:spPr>
          <a:xfrm>
            <a:off x="3657600" y="2145792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384048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667085"/>
                </a:solidFill>
              </a:rPr>
              <a:t>PEND. SELECCION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384048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6B150B"/>
                </a:solidFill>
              </a:rPr>
              <a:t>5</a:t>
            </a:r>
            <a:endParaRPr lang="en-US" sz="2933" dirty="0"/>
          </a:p>
        </p:txBody>
      </p:sp>
      <p:sp>
        <p:nvSpPr>
          <p:cNvPr id="25" name="Shape 22"/>
          <p:cNvSpPr/>
          <p:nvPr/>
        </p:nvSpPr>
        <p:spPr>
          <a:xfrm>
            <a:off x="7894320" y="2145792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3"/>
          <p:cNvSpPr/>
          <p:nvPr/>
        </p:nvSpPr>
        <p:spPr>
          <a:xfrm>
            <a:off x="807720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667085"/>
                </a:solidFill>
              </a:rPr>
              <a:t>PEND. INDUCCION</a:t>
            </a:r>
            <a:endParaRPr lang="en-US" sz="1040" dirty="0"/>
          </a:p>
        </p:txBody>
      </p:sp>
      <p:sp>
        <p:nvSpPr>
          <p:cNvPr id="27" name="Text 24"/>
          <p:cNvSpPr/>
          <p:nvPr/>
        </p:nvSpPr>
        <p:spPr>
          <a:xfrm>
            <a:off x="807720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6B150B"/>
                </a:solidFill>
              </a:rPr>
              <a:t>10</a:t>
            </a:r>
            <a:endParaRPr lang="en-US" sz="2933" dirty="0"/>
          </a:p>
        </p:txBody>
      </p:sp>
      <p:sp>
        <p:nvSpPr>
          <p:cNvPr id="28" name="Shape 25"/>
          <p:cNvSpPr/>
          <p:nvPr/>
        </p:nvSpPr>
        <p:spPr>
          <a:xfrm>
            <a:off x="3657600" y="3291840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6"/>
          <p:cNvSpPr/>
          <p:nvPr/>
        </p:nvSpPr>
        <p:spPr>
          <a:xfrm>
            <a:off x="384048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667085"/>
                </a:solidFill>
              </a:rPr>
              <a:t>PRESUPUESTO</a:t>
            </a:r>
            <a:endParaRPr lang="en-US" sz="1040" dirty="0"/>
          </a:p>
        </p:txBody>
      </p:sp>
      <p:sp>
        <p:nvSpPr>
          <p:cNvPr id="30" name="Text 27"/>
          <p:cNvSpPr/>
          <p:nvPr/>
        </p:nvSpPr>
        <p:spPr>
          <a:xfrm>
            <a:off x="384048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6B150B"/>
                </a:solidFill>
              </a:rPr>
              <a:t>79</a:t>
            </a:r>
            <a:endParaRPr lang="en-US" sz="2933" dirty="0"/>
          </a:p>
        </p:txBody>
      </p:sp>
      <p:sp>
        <p:nvSpPr>
          <p:cNvPr id="31" name="Shape 28"/>
          <p:cNvSpPr/>
          <p:nvPr/>
        </p:nvSpPr>
        <p:spPr>
          <a:xfrm>
            <a:off x="7894320" y="3291840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807720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667085"/>
                </a:solidFill>
              </a:rPr>
              <a:t>SEMANA</a:t>
            </a:r>
            <a:endParaRPr lang="en-US" sz="1040" dirty="0"/>
          </a:p>
        </p:txBody>
      </p:sp>
      <p:sp>
        <p:nvSpPr>
          <p:cNvPr id="33" name="Text 30"/>
          <p:cNvSpPr/>
          <p:nvPr/>
        </p:nvSpPr>
        <p:spPr>
          <a:xfrm>
            <a:off x="807720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6B150B"/>
                </a:solidFill>
              </a:rPr>
              <a:t>05</a:t>
            </a:r>
            <a:endParaRPr lang="en-US" sz="2933" dirty="0"/>
          </a:p>
        </p:txBody>
      </p:sp>
      <p:sp>
        <p:nvSpPr>
          <p:cNvPr id="34" name="Shape 31"/>
          <p:cNvSpPr/>
          <p:nvPr/>
        </p:nvSpPr>
        <p:spPr>
          <a:xfrm>
            <a:off x="0" y="4364285"/>
            <a:ext cx="12192000" cy="375513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/>
          <p:nvPr/>
        </p:nvSpPr>
        <p:spPr>
          <a:xfrm>
            <a:off x="243840" y="4364285"/>
            <a:ext cx="414528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Sub-campaña</a:t>
            </a:r>
            <a:endParaRPr lang="en-US" sz="1133" dirty="0"/>
          </a:p>
        </p:txBody>
      </p:sp>
      <p:sp>
        <p:nvSpPr>
          <p:cNvPr id="36" name="Text 33"/>
          <p:cNvSpPr/>
          <p:nvPr/>
        </p:nvSpPr>
        <p:spPr>
          <a:xfrm>
            <a:off x="3009933" y="4350024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Presupuesto</a:t>
            </a:r>
            <a:endParaRPr lang="en-US" sz="1133" dirty="0"/>
          </a:p>
        </p:txBody>
      </p:sp>
      <p:sp>
        <p:nvSpPr>
          <p:cNvPr id="37" name="Text 34"/>
          <p:cNvSpPr/>
          <p:nvPr/>
        </p:nvSpPr>
        <p:spPr>
          <a:xfrm>
            <a:off x="6035040" y="4364285"/>
            <a:ext cx="28041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Avance</a:t>
            </a:r>
            <a:endParaRPr lang="en-US" sz="1133" dirty="0"/>
          </a:p>
        </p:txBody>
      </p:sp>
      <p:sp>
        <p:nvSpPr>
          <p:cNvPr id="38" name="Text 35"/>
          <p:cNvSpPr/>
          <p:nvPr/>
        </p:nvSpPr>
        <p:spPr>
          <a:xfrm>
            <a:off x="8875776" y="4364285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% Logro</a:t>
            </a:r>
            <a:endParaRPr lang="en-US" sz="1133" dirty="0"/>
          </a:p>
        </p:txBody>
      </p:sp>
      <p:sp>
        <p:nvSpPr>
          <p:cNvPr id="39" name="Text 36"/>
          <p:cNvSpPr/>
          <p:nvPr/>
        </p:nvSpPr>
        <p:spPr>
          <a:xfrm>
            <a:off x="10058400" y="4364285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Proyeccion</a:t>
            </a:r>
            <a:endParaRPr lang="en-US" sz="1133" dirty="0"/>
          </a:p>
        </p:txBody>
      </p:sp>
      <p:sp>
        <p:nvSpPr>
          <p:cNvPr id="40" name="Shape 37"/>
          <p:cNvSpPr/>
          <p:nvPr/>
        </p:nvSpPr>
        <p:spPr>
          <a:xfrm>
            <a:off x="0" y="4808807"/>
            <a:ext cx="12192000" cy="375513"/>
          </a:xfrm>
          <a:prstGeom prst="rect">
            <a:avLst/>
          </a:prstGeom>
          <a:solidFill>
            <a:srgbClr val="FFFFFF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41" name="Text 38"/>
          <p:cNvSpPr/>
          <p:nvPr/>
        </p:nvSpPr>
        <p:spPr>
          <a:xfrm>
            <a:off x="243840" y="4808807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6B150B"/>
                </a:solidFill>
              </a:rPr>
              <a:t>SBP Conv. Lima</a:t>
            </a:r>
            <a:endParaRPr lang="en-US" sz="1067" dirty="0"/>
          </a:p>
        </p:txBody>
      </p:sp>
      <p:sp>
        <p:nvSpPr>
          <p:cNvPr id="42" name="Text 39"/>
          <p:cNvSpPr/>
          <p:nvPr/>
        </p:nvSpPr>
        <p:spPr>
          <a:xfrm>
            <a:off x="3274475" y="4806047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01828"/>
                </a:solidFill>
              </a:rPr>
              <a:t>12</a:t>
            </a:r>
            <a:endParaRPr lang="en-US" sz="1067" dirty="0"/>
          </a:p>
        </p:txBody>
      </p:sp>
      <p:sp>
        <p:nvSpPr>
          <p:cNvPr id="43" name="Shape 40"/>
          <p:cNvSpPr/>
          <p:nvPr/>
        </p:nvSpPr>
        <p:spPr>
          <a:xfrm>
            <a:off x="6035040" y="4913951"/>
            <a:ext cx="2560320" cy="157716"/>
          </a:xfrm>
          <a:prstGeom prst="rect">
            <a:avLst/>
          </a:prstGeom>
          <a:solidFill>
            <a:srgbClr val="E5E7EB"/>
          </a:solidFill>
          <a:ln w="1693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44" name="Shape 41"/>
          <p:cNvSpPr/>
          <p:nvPr/>
        </p:nvSpPr>
        <p:spPr>
          <a:xfrm>
            <a:off x="6035040" y="4913951"/>
            <a:ext cx="2125065" cy="157716"/>
          </a:xfrm>
          <a:prstGeom prst="rect">
            <a:avLst/>
          </a:prstGeom>
          <a:solidFill>
            <a:srgbClr val="D97706"/>
          </a:solidFill>
          <a:ln w="16933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45" name="Text 42"/>
          <p:cNvSpPr/>
          <p:nvPr/>
        </p:nvSpPr>
        <p:spPr>
          <a:xfrm>
            <a:off x="8875776" y="4808807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D97706"/>
                </a:solidFill>
              </a:rPr>
              <a:t>83%</a:t>
            </a:r>
            <a:endParaRPr lang="en-US" sz="1067" dirty="0"/>
          </a:p>
        </p:txBody>
      </p:sp>
      <p:sp>
        <p:nvSpPr>
          <p:cNvPr id="46" name="Text 43"/>
          <p:cNvSpPr/>
          <p:nvPr/>
        </p:nvSpPr>
        <p:spPr>
          <a:xfrm>
            <a:off x="10058400" y="4808807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3" i="1" dirty="0">
                <a:solidFill>
                  <a:srgbClr val="667085"/>
                </a:solidFill>
              </a:rPr>
              <a:t>700</a:t>
            </a:r>
            <a:endParaRPr lang="en-US" sz="933" dirty="0"/>
          </a:p>
        </p:txBody>
      </p:sp>
      <p:sp>
        <p:nvSpPr>
          <p:cNvPr id="47" name="Shape 44"/>
          <p:cNvSpPr/>
          <p:nvPr/>
        </p:nvSpPr>
        <p:spPr>
          <a:xfrm>
            <a:off x="0" y="5184320"/>
            <a:ext cx="12192000" cy="375513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48" name="Text 45"/>
          <p:cNvSpPr/>
          <p:nvPr/>
        </p:nvSpPr>
        <p:spPr>
          <a:xfrm>
            <a:off x="243840" y="5184320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6B150B"/>
                </a:solidFill>
              </a:rPr>
              <a:t>SBP Conv. Telecampo</a:t>
            </a:r>
            <a:endParaRPr lang="en-US" sz="1067" dirty="0"/>
          </a:p>
        </p:txBody>
      </p:sp>
      <p:sp>
        <p:nvSpPr>
          <p:cNvPr id="49" name="Text 46"/>
          <p:cNvSpPr/>
          <p:nvPr/>
        </p:nvSpPr>
        <p:spPr>
          <a:xfrm>
            <a:off x="3274475" y="5181560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01828"/>
                </a:solidFill>
              </a:rPr>
              <a:t>20</a:t>
            </a:r>
            <a:endParaRPr lang="en-US" sz="1067" dirty="0"/>
          </a:p>
        </p:txBody>
      </p:sp>
      <p:sp>
        <p:nvSpPr>
          <p:cNvPr id="50" name="Shape 47"/>
          <p:cNvSpPr/>
          <p:nvPr/>
        </p:nvSpPr>
        <p:spPr>
          <a:xfrm>
            <a:off x="6035040" y="5289464"/>
            <a:ext cx="2560320" cy="157716"/>
          </a:xfrm>
          <a:prstGeom prst="rect">
            <a:avLst/>
          </a:prstGeom>
          <a:solidFill>
            <a:srgbClr val="E5E7EB"/>
          </a:solidFill>
          <a:ln w="1693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51" name="Shape 48"/>
          <p:cNvSpPr/>
          <p:nvPr/>
        </p:nvSpPr>
        <p:spPr>
          <a:xfrm>
            <a:off x="6035040" y="5289464"/>
            <a:ext cx="2304288" cy="157716"/>
          </a:xfrm>
          <a:prstGeom prst="rect">
            <a:avLst/>
          </a:prstGeom>
          <a:solidFill>
            <a:srgbClr val="059669"/>
          </a:solidFill>
          <a:ln w="16933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52" name="Text 49"/>
          <p:cNvSpPr/>
          <p:nvPr/>
        </p:nvSpPr>
        <p:spPr>
          <a:xfrm>
            <a:off x="8875776" y="5184320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059669"/>
                </a:solidFill>
              </a:rPr>
              <a:t>90%</a:t>
            </a:r>
            <a:endParaRPr lang="en-US" sz="1067" dirty="0"/>
          </a:p>
        </p:txBody>
      </p:sp>
      <p:sp>
        <p:nvSpPr>
          <p:cNvPr id="53" name="Text 50"/>
          <p:cNvSpPr/>
          <p:nvPr/>
        </p:nvSpPr>
        <p:spPr>
          <a:xfrm>
            <a:off x="10058400" y="5184320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3" i="1" dirty="0">
                <a:solidFill>
                  <a:srgbClr val="667085"/>
                </a:solidFill>
              </a:rPr>
              <a:t>700</a:t>
            </a:r>
            <a:endParaRPr lang="en-US" sz="933" dirty="0"/>
          </a:p>
        </p:txBody>
      </p:sp>
      <p:sp>
        <p:nvSpPr>
          <p:cNvPr id="54" name="Shape 51"/>
          <p:cNvSpPr/>
          <p:nvPr/>
        </p:nvSpPr>
        <p:spPr>
          <a:xfrm>
            <a:off x="0" y="5559835"/>
            <a:ext cx="12192000" cy="375513"/>
          </a:xfrm>
          <a:prstGeom prst="rect">
            <a:avLst/>
          </a:prstGeom>
          <a:solidFill>
            <a:srgbClr val="FFFFFF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1867" dirty="0"/>
          </a:p>
        </p:txBody>
      </p:sp>
      <p:sp>
        <p:nvSpPr>
          <p:cNvPr id="55" name="Text 52"/>
          <p:cNvSpPr/>
          <p:nvPr/>
        </p:nvSpPr>
        <p:spPr>
          <a:xfrm>
            <a:off x="243840" y="5559835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6B150B"/>
                </a:solidFill>
              </a:rPr>
              <a:t>SBP Conv. Norte</a:t>
            </a:r>
            <a:endParaRPr lang="en-US" sz="1067" dirty="0"/>
          </a:p>
        </p:txBody>
      </p:sp>
      <p:sp>
        <p:nvSpPr>
          <p:cNvPr id="56" name="Text 53"/>
          <p:cNvSpPr/>
          <p:nvPr/>
        </p:nvSpPr>
        <p:spPr>
          <a:xfrm>
            <a:off x="3274475" y="5557075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01828"/>
                </a:solidFill>
              </a:rPr>
              <a:t>25</a:t>
            </a:r>
            <a:endParaRPr lang="en-US" sz="1067" dirty="0"/>
          </a:p>
        </p:txBody>
      </p:sp>
      <p:sp>
        <p:nvSpPr>
          <p:cNvPr id="57" name="Shape 54"/>
          <p:cNvSpPr/>
          <p:nvPr/>
        </p:nvSpPr>
        <p:spPr>
          <a:xfrm>
            <a:off x="6035040" y="5664977"/>
            <a:ext cx="2560320" cy="157716"/>
          </a:xfrm>
          <a:prstGeom prst="rect">
            <a:avLst/>
          </a:prstGeom>
          <a:solidFill>
            <a:srgbClr val="E5E7EB"/>
          </a:solidFill>
          <a:ln w="1693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58" name="Shape 55"/>
          <p:cNvSpPr/>
          <p:nvPr/>
        </p:nvSpPr>
        <p:spPr>
          <a:xfrm>
            <a:off x="6035040" y="5664977"/>
            <a:ext cx="2253081" cy="157716"/>
          </a:xfrm>
          <a:prstGeom prst="rect">
            <a:avLst/>
          </a:prstGeom>
          <a:solidFill>
            <a:srgbClr val="D97706"/>
          </a:solidFill>
          <a:ln w="16933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59" name="Text 56"/>
          <p:cNvSpPr/>
          <p:nvPr/>
        </p:nvSpPr>
        <p:spPr>
          <a:xfrm>
            <a:off x="8875776" y="5559835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D97706"/>
                </a:solidFill>
              </a:rPr>
              <a:t>88%</a:t>
            </a:r>
            <a:endParaRPr lang="en-US" sz="1067" dirty="0"/>
          </a:p>
        </p:txBody>
      </p:sp>
      <p:sp>
        <p:nvSpPr>
          <p:cNvPr id="60" name="Text 57"/>
          <p:cNvSpPr/>
          <p:nvPr/>
        </p:nvSpPr>
        <p:spPr>
          <a:xfrm>
            <a:off x="10058400" y="5559835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3" i="1" dirty="0">
                <a:solidFill>
                  <a:srgbClr val="667085"/>
                </a:solidFill>
              </a:rPr>
              <a:t>700</a:t>
            </a:r>
            <a:endParaRPr lang="en-US" sz="933" dirty="0"/>
          </a:p>
        </p:txBody>
      </p:sp>
      <p:sp>
        <p:nvSpPr>
          <p:cNvPr id="62" name="Text 59"/>
          <p:cNvSpPr/>
          <p:nvPr/>
        </p:nvSpPr>
        <p:spPr>
          <a:xfrm>
            <a:off x="253367" y="6209395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6B150B"/>
                </a:solidFill>
              </a:rPr>
              <a:t>SBP Conv. Oriente</a:t>
            </a:r>
            <a:endParaRPr lang="en-US" sz="1067" dirty="0"/>
          </a:p>
        </p:txBody>
      </p:sp>
      <p:sp>
        <p:nvSpPr>
          <p:cNvPr id="63" name="Text 60"/>
          <p:cNvSpPr/>
          <p:nvPr/>
        </p:nvSpPr>
        <p:spPr>
          <a:xfrm>
            <a:off x="3274475" y="5932588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01828"/>
                </a:solidFill>
              </a:rPr>
              <a:t>22</a:t>
            </a:r>
            <a:endParaRPr lang="en-US" sz="1067" dirty="0"/>
          </a:p>
        </p:txBody>
      </p:sp>
      <p:sp>
        <p:nvSpPr>
          <p:cNvPr id="64" name="Shape 61"/>
          <p:cNvSpPr/>
          <p:nvPr/>
        </p:nvSpPr>
        <p:spPr>
          <a:xfrm>
            <a:off x="6035040" y="6040492"/>
            <a:ext cx="2560320" cy="157716"/>
          </a:xfrm>
          <a:prstGeom prst="rect">
            <a:avLst/>
          </a:prstGeom>
          <a:solidFill>
            <a:srgbClr val="E5E7EB"/>
          </a:solidFill>
          <a:ln w="1693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65" name="Shape 62"/>
          <p:cNvSpPr/>
          <p:nvPr/>
        </p:nvSpPr>
        <p:spPr>
          <a:xfrm>
            <a:off x="6035040" y="6040492"/>
            <a:ext cx="2201875" cy="157716"/>
          </a:xfrm>
          <a:prstGeom prst="rect">
            <a:avLst/>
          </a:prstGeom>
          <a:solidFill>
            <a:srgbClr val="D97706"/>
          </a:solidFill>
          <a:ln w="16933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66" name="Text 63"/>
          <p:cNvSpPr/>
          <p:nvPr/>
        </p:nvSpPr>
        <p:spPr>
          <a:xfrm>
            <a:off x="8875776" y="5935348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D97706"/>
                </a:solidFill>
              </a:rPr>
              <a:t>86%</a:t>
            </a:r>
            <a:endParaRPr lang="en-US" sz="1067" dirty="0"/>
          </a:p>
        </p:txBody>
      </p:sp>
      <p:sp>
        <p:nvSpPr>
          <p:cNvPr id="67" name="Text 64"/>
          <p:cNvSpPr/>
          <p:nvPr/>
        </p:nvSpPr>
        <p:spPr>
          <a:xfrm>
            <a:off x="10058400" y="5935348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3" i="1" dirty="0">
                <a:solidFill>
                  <a:srgbClr val="667085"/>
                </a:solidFill>
              </a:rPr>
              <a:t>700</a:t>
            </a:r>
            <a:endParaRPr lang="en-US" sz="933" dirty="0"/>
          </a:p>
        </p:txBody>
      </p:sp>
      <p:sp>
        <p:nvSpPr>
          <p:cNvPr id="69" name="Text 66"/>
          <p:cNvSpPr/>
          <p:nvPr/>
        </p:nvSpPr>
        <p:spPr>
          <a:xfrm>
            <a:off x="-15240" y="6600815"/>
            <a:ext cx="11582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7085"/>
                </a:solidFill>
              </a:rPr>
              <a:t>·  SBP CONVENIOS  |  Iván Vilcapoma  | Agosto 2026</a:t>
            </a:r>
            <a:endParaRPr lang="en-US" sz="800" dirty="0"/>
          </a:p>
        </p:txBody>
      </p:sp>
      <p:sp>
        <p:nvSpPr>
          <p:cNvPr id="71" name="Text 39">
            <a:extLst>
              <a:ext uri="{FF2B5EF4-FFF2-40B4-BE49-F238E27FC236}">
                <a16:creationId xmlns:a16="http://schemas.microsoft.com/office/drawing/2014/main" id="{BBE9F211-45A5-BA17-A407-5C3D2D5E01C0}"/>
              </a:ext>
            </a:extLst>
          </p:cNvPr>
          <p:cNvSpPr/>
          <p:nvPr/>
        </p:nvSpPr>
        <p:spPr>
          <a:xfrm>
            <a:off x="6787700" y="4811176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900</a:t>
            </a:r>
            <a:endParaRPr lang="en-US" sz="1067" dirty="0"/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9739C4FB-C6F0-5718-92AC-168903A98407}"/>
              </a:ext>
            </a:extLst>
          </p:cNvPr>
          <p:cNvSpPr/>
          <p:nvPr/>
        </p:nvSpPr>
        <p:spPr>
          <a:xfrm>
            <a:off x="6845717" y="5191849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900</a:t>
            </a:r>
            <a:endParaRPr lang="en-US" sz="1067" dirty="0"/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DA8907C7-B650-7E80-A036-E2338D79CEBF}"/>
              </a:ext>
            </a:extLst>
          </p:cNvPr>
          <p:cNvSpPr/>
          <p:nvPr/>
        </p:nvSpPr>
        <p:spPr>
          <a:xfrm>
            <a:off x="6821333" y="5556077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900</a:t>
            </a:r>
            <a:endParaRPr lang="en-US" sz="1067" dirty="0"/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893EA4AE-ED9B-6CA2-CFEC-AF368EFA86EE}"/>
              </a:ext>
            </a:extLst>
          </p:cNvPr>
          <p:cNvSpPr/>
          <p:nvPr/>
        </p:nvSpPr>
        <p:spPr>
          <a:xfrm>
            <a:off x="6821333" y="5923156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900</a:t>
            </a:r>
            <a:endParaRPr lang="en-US" sz="1067" dirty="0"/>
          </a:p>
        </p:txBody>
      </p:sp>
      <p:sp>
        <p:nvSpPr>
          <p:cNvPr id="79" name="Text 33">
            <a:extLst>
              <a:ext uri="{FF2B5EF4-FFF2-40B4-BE49-F238E27FC236}">
                <a16:creationId xmlns:a16="http://schemas.microsoft.com/office/drawing/2014/main" id="{0CACAE7C-1921-24FD-B255-786D9F421FB3}"/>
              </a:ext>
            </a:extLst>
          </p:cNvPr>
          <p:cNvSpPr/>
          <p:nvPr/>
        </p:nvSpPr>
        <p:spPr>
          <a:xfrm>
            <a:off x="4138149" y="4366832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 err="1">
                <a:solidFill>
                  <a:srgbClr val="FFFFFF"/>
                </a:solidFill>
              </a:rPr>
              <a:t>Conectados</a:t>
            </a:r>
            <a:endParaRPr lang="en-US" sz="1133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6BF71203-C7EC-7F9E-8B17-7BB746571FE6}"/>
              </a:ext>
            </a:extLst>
          </p:cNvPr>
          <p:cNvSpPr/>
          <p:nvPr/>
        </p:nvSpPr>
        <p:spPr>
          <a:xfrm>
            <a:off x="4408117" y="4901391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dirty="0">
                <a:solidFill>
                  <a:srgbClr val="111010"/>
                </a:solidFill>
              </a:rPr>
              <a:t>40</a:t>
            </a:r>
            <a:endParaRPr lang="en-US" sz="1267" dirty="0"/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0041979E-326E-63A7-480C-145660A93053}"/>
              </a:ext>
            </a:extLst>
          </p:cNvPr>
          <p:cNvSpPr/>
          <p:nvPr/>
        </p:nvSpPr>
        <p:spPr>
          <a:xfrm>
            <a:off x="4426383" y="5213516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20</a:t>
            </a:r>
            <a:endParaRPr lang="en-US" sz="1067" dirty="0"/>
          </a:p>
        </p:txBody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6CA350C2-4943-0699-47E4-98BF833841D6}"/>
              </a:ext>
            </a:extLst>
          </p:cNvPr>
          <p:cNvSpPr/>
          <p:nvPr/>
        </p:nvSpPr>
        <p:spPr>
          <a:xfrm>
            <a:off x="4448883" y="5587647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28</a:t>
            </a:r>
            <a:endParaRPr lang="en-US" sz="1067" dirty="0"/>
          </a:p>
        </p:txBody>
      </p:sp>
      <p:sp>
        <p:nvSpPr>
          <p:cNvPr id="87" name="Text 39">
            <a:extLst>
              <a:ext uri="{FF2B5EF4-FFF2-40B4-BE49-F238E27FC236}">
                <a16:creationId xmlns:a16="http://schemas.microsoft.com/office/drawing/2014/main" id="{44DFD12E-CDA2-118E-71A3-9CA5686F69E4}"/>
              </a:ext>
            </a:extLst>
          </p:cNvPr>
          <p:cNvSpPr/>
          <p:nvPr/>
        </p:nvSpPr>
        <p:spPr>
          <a:xfrm>
            <a:off x="4481225" y="5928656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4</a:t>
            </a:r>
            <a:endParaRPr lang="en-US" sz="1067" dirty="0"/>
          </a:p>
        </p:txBody>
      </p:sp>
      <p:sp>
        <p:nvSpPr>
          <p:cNvPr id="91" name="Text 59">
            <a:extLst>
              <a:ext uri="{FF2B5EF4-FFF2-40B4-BE49-F238E27FC236}">
                <a16:creationId xmlns:a16="http://schemas.microsoft.com/office/drawing/2014/main" id="{DFC632F1-521C-5FA9-948D-98F5C8218648}"/>
              </a:ext>
            </a:extLst>
          </p:cNvPr>
          <p:cNvSpPr/>
          <p:nvPr/>
        </p:nvSpPr>
        <p:spPr>
          <a:xfrm>
            <a:off x="247383" y="5894361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6B150B"/>
                </a:solidFill>
              </a:rPr>
              <a:t>SBP Conv. Sur</a:t>
            </a:r>
            <a:endParaRPr lang="en-US" sz="1067" dirty="0"/>
          </a:p>
        </p:txBody>
      </p:sp>
      <p:sp>
        <p:nvSpPr>
          <p:cNvPr id="93" name="Text 60">
            <a:extLst>
              <a:ext uri="{FF2B5EF4-FFF2-40B4-BE49-F238E27FC236}">
                <a16:creationId xmlns:a16="http://schemas.microsoft.com/office/drawing/2014/main" id="{57F6436D-E93C-A866-2C0A-72558B67DCBE}"/>
              </a:ext>
            </a:extLst>
          </p:cNvPr>
          <p:cNvSpPr/>
          <p:nvPr/>
        </p:nvSpPr>
        <p:spPr>
          <a:xfrm>
            <a:off x="3283499" y="6216457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01828"/>
                </a:solidFill>
              </a:rPr>
              <a:t>22</a:t>
            </a:r>
            <a:endParaRPr lang="en-US" sz="1067" dirty="0"/>
          </a:p>
        </p:txBody>
      </p:sp>
      <p:sp>
        <p:nvSpPr>
          <p:cNvPr id="95" name="Text 39">
            <a:extLst>
              <a:ext uri="{FF2B5EF4-FFF2-40B4-BE49-F238E27FC236}">
                <a16:creationId xmlns:a16="http://schemas.microsoft.com/office/drawing/2014/main" id="{0717CE86-AB76-1918-6623-C813E72FFD7D}"/>
              </a:ext>
            </a:extLst>
          </p:cNvPr>
          <p:cNvSpPr/>
          <p:nvPr/>
        </p:nvSpPr>
        <p:spPr>
          <a:xfrm>
            <a:off x="4488896" y="624686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4</a:t>
            </a:r>
            <a:endParaRPr lang="en-US" sz="1067" dirty="0"/>
          </a:p>
        </p:txBody>
      </p:sp>
      <p:sp>
        <p:nvSpPr>
          <p:cNvPr id="101" name="Shape 61">
            <a:extLst>
              <a:ext uri="{FF2B5EF4-FFF2-40B4-BE49-F238E27FC236}">
                <a16:creationId xmlns:a16="http://schemas.microsoft.com/office/drawing/2014/main" id="{AA0CA985-77A4-1BD8-33D2-D5D819E47FA4}"/>
              </a:ext>
            </a:extLst>
          </p:cNvPr>
          <p:cNvSpPr/>
          <p:nvPr/>
        </p:nvSpPr>
        <p:spPr>
          <a:xfrm>
            <a:off x="6088723" y="6347204"/>
            <a:ext cx="2560320" cy="157716"/>
          </a:xfrm>
          <a:prstGeom prst="rect">
            <a:avLst/>
          </a:prstGeom>
          <a:solidFill>
            <a:srgbClr val="E5E7EB"/>
          </a:solidFill>
          <a:ln w="1693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97" name="Shape 62">
            <a:extLst>
              <a:ext uri="{FF2B5EF4-FFF2-40B4-BE49-F238E27FC236}">
                <a16:creationId xmlns:a16="http://schemas.microsoft.com/office/drawing/2014/main" id="{D5E6F4F4-4BB3-96CB-AF80-07B00F5CC9E2}"/>
              </a:ext>
            </a:extLst>
          </p:cNvPr>
          <p:cNvSpPr/>
          <p:nvPr/>
        </p:nvSpPr>
        <p:spPr>
          <a:xfrm>
            <a:off x="6069912" y="6348119"/>
            <a:ext cx="2201875" cy="157716"/>
          </a:xfrm>
          <a:prstGeom prst="rect">
            <a:avLst/>
          </a:prstGeom>
          <a:solidFill>
            <a:srgbClr val="D97706"/>
          </a:solidFill>
          <a:ln w="16933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52D1BBE0-41F8-3157-1A79-F802C038E87A}"/>
              </a:ext>
            </a:extLst>
          </p:cNvPr>
          <p:cNvSpPr/>
          <p:nvPr/>
        </p:nvSpPr>
        <p:spPr>
          <a:xfrm>
            <a:off x="6856205" y="6230783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900</a:t>
            </a:r>
            <a:endParaRPr lang="en-US" sz="1067" dirty="0"/>
          </a:p>
        </p:txBody>
      </p:sp>
      <p:sp>
        <p:nvSpPr>
          <p:cNvPr id="103" name="Text 63">
            <a:extLst>
              <a:ext uri="{FF2B5EF4-FFF2-40B4-BE49-F238E27FC236}">
                <a16:creationId xmlns:a16="http://schemas.microsoft.com/office/drawing/2014/main" id="{D73B47FE-74EB-55D4-B959-CFC3A28C71A1}"/>
              </a:ext>
            </a:extLst>
          </p:cNvPr>
          <p:cNvSpPr/>
          <p:nvPr/>
        </p:nvSpPr>
        <p:spPr>
          <a:xfrm>
            <a:off x="8894951" y="6230561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D97706"/>
                </a:solidFill>
              </a:rPr>
              <a:t>86%</a:t>
            </a:r>
            <a:endParaRPr lang="en-US" sz="1067" dirty="0"/>
          </a:p>
        </p:txBody>
      </p:sp>
      <p:sp>
        <p:nvSpPr>
          <p:cNvPr id="105" name="Text 64">
            <a:extLst>
              <a:ext uri="{FF2B5EF4-FFF2-40B4-BE49-F238E27FC236}">
                <a16:creationId xmlns:a16="http://schemas.microsoft.com/office/drawing/2014/main" id="{916BD683-1652-98CD-4EF9-2457640F25DD}"/>
              </a:ext>
            </a:extLst>
          </p:cNvPr>
          <p:cNvSpPr/>
          <p:nvPr/>
        </p:nvSpPr>
        <p:spPr>
          <a:xfrm>
            <a:off x="10077575" y="6230561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3" i="1" dirty="0">
                <a:solidFill>
                  <a:srgbClr val="667085"/>
                </a:solidFill>
              </a:rPr>
              <a:t>700</a:t>
            </a:r>
            <a:endParaRPr lang="en-US" sz="933" dirty="0"/>
          </a:p>
        </p:txBody>
      </p:sp>
      <p:pic>
        <p:nvPicPr>
          <p:cNvPr id="107" name="Picture 8">
            <a:extLst>
              <a:ext uri="{FF2B5EF4-FFF2-40B4-BE49-F238E27FC236}">
                <a16:creationId xmlns:a16="http://schemas.microsoft.com/office/drawing/2014/main" id="{0AFA0D32-5A0E-A7FC-9D89-11C05C1E7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108" name="Panel Resum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473" y="921985"/>
            <a:ext cx="12192000" cy="5643743"/>
          </a:xfrm>
          <a:prstGeom prst="rect">
            <a:avLst/>
          </a:prstGeom>
        </p:spPr>
      </p:pic>
      <p:sp>
        <p:nvSpPr>
          <p:cNvPr id="109" name="dato_manual"/>
          <p:cNvSpPr>
            <a:spLocks noGrp="1"/>
          </p:cNvSpPr>
          <p:nvPr/>
        </p:nvSpPr>
        <p:spPr>
          <a:xfrm>
            <a:off x="3657600" y="1917607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s-PE" sz="2200" b="1" dirty="0">
                <a:solidFill>
                  <a:srgbClr val="103A5E"/>
                </a:solidFill>
                <a:latin typeface="Arial"/>
              </a:rPr>
              <a:t>69</a:t>
            </a:r>
          </a:p>
        </p:txBody>
      </p:sp>
      <p:sp>
        <p:nvSpPr>
          <p:cNvPr id="110" name="dato_manual"/>
          <p:cNvSpPr>
            <a:spLocks noGrp="1"/>
          </p:cNvSpPr>
          <p:nvPr/>
        </p:nvSpPr>
        <p:spPr>
          <a:xfrm>
            <a:off x="5812535" y="1917607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s-PE" sz="2200" b="1" dirty="0">
                <a:solidFill>
                  <a:srgbClr val="103A5E"/>
                </a:solidFill>
                <a:latin typeface="Arial"/>
              </a:rPr>
              <a:t>15</a:t>
            </a:r>
          </a:p>
        </p:txBody>
      </p:sp>
      <p:sp>
        <p:nvSpPr>
          <p:cNvPr id="111" name="dato_manual"/>
          <p:cNvSpPr>
            <a:spLocks noGrp="1"/>
          </p:cNvSpPr>
          <p:nvPr/>
        </p:nvSpPr>
        <p:spPr>
          <a:xfrm>
            <a:off x="3374745" y="4166744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2" name="dato_manual"/>
          <p:cNvSpPr>
            <a:spLocks noGrp="1"/>
          </p:cNvSpPr>
          <p:nvPr/>
        </p:nvSpPr>
        <p:spPr>
          <a:xfrm>
            <a:off x="4779264" y="4166744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3" name="dato_manual"/>
          <p:cNvSpPr>
            <a:spLocks noGrp="1"/>
          </p:cNvSpPr>
          <p:nvPr/>
        </p:nvSpPr>
        <p:spPr>
          <a:xfrm>
            <a:off x="3374745" y="4561643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4" name="dato_manual"/>
          <p:cNvSpPr>
            <a:spLocks noGrp="1"/>
          </p:cNvSpPr>
          <p:nvPr/>
        </p:nvSpPr>
        <p:spPr>
          <a:xfrm>
            <a:off x="4779264" y="4561643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5" name="dato_manual"/>
          <p:cNvSpPr>
            <a:spLocks noGrp="1"/>
          </p:cNvSpPr>
          <p:nvPr/>
        </p:nvSpPr>
        <p:spPr>
          <a:xfrm>
            <a:off x="3374745" y="495654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6" name="dato_manual"/>
          <p:cNvSpPr>
            <a:spLocks noGrp="1"/>
          </p:cNvSpPr>
          <p:nvPr/>
        </p:nvSpPr>
        <p:spPr>
          <a:xfrm>
            <a:off x="4779264" y="495654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7" name="dato_manual"/>
          <p:cNvSpPr>
            <a:spLocks noGrp="1"/>
          </p:cNvSpPr>
          <p:nvPr/>
        </p:nvSpPr>
        <p:spPr>
          <a:xfrm>
            <a:off x="3374745" y="5351440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8" name="dato_manual"/>
          <p:cNvSpPr>
            <a:spLocks noGrp="1"/>
          </p:cNvSpPr>
          <p:nvPr/>
        </p:nvSpPr>
        <p:spPr>
          <a:xfrm>
            <a:off x="4779264" y="5351440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9" name="dato_manual"/>
          <p:cNvSpPr>
            <a:spLocks noGrp="1"/>
          </p:cNvSpPr>
          <p:nvPr/>
        </p:nvSpPr>
        <p:spPr>
          <a:xfrm>
            <a:off x="3374745" y="574633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20" name="dato_manual"/>
          <p:cNvSpPr>
            <a:spLocks noGrp="1"/>
          </p:cNvSpPr>
          <p:nvPr/>
        </p:nvSpPr>
        <p:spPr>
          <a:xfrm>
            <a:off x="4779264" y="574633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21" name="dato_manual"/>
          <p:cNvSpPr>
            <a:spLocks noGrp="1"/>
          </p:cNvSpPr>
          <p:nvPr/>
        </p:nvSpPr>
        <p:spPr>
          <a:xfrm>
            <a:off x="3374745" y="6141237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123A5E"/>
                </a:solidFill>
                <a:latin typeface="Arial"/>
              </a:rPr>
              <a:t>0</a:t>
            </a:r>
          </a:p>
        </p:txBody>
      </p:sp>
      <p:sp>
        <p:nvSpPr>
          <p:cNvPr id="122" name="dato_manual"/>
          <p:cNvSpPr>
            <a:spLocks noGrp="1"/>
          </p:cNvSpPr>
          <p:nvPr/>
        </p:nvSpPr>
        <p:spPr>
          <a:xfrm>
            <a:off x="4779264" y="6141237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123A5E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SBP CONVENIOS  | LIMA: Información al 8 de Agosto  </a:t>
            </a:r>
            <a:endParaRPr lang="en-US" sz="1667" dirty="0"/>
          </a:p>
        </p:txBody>
      </p:sp>
      <p:sp>
        <p:nvSpPr>
          <p:cNvPr id="12" name="Text 9"/>
          <p:cNvSpPr/>
          <p:nvPr/>
        </p:nvSpPr>
        <p:spPr>
          <a:xfrm>
            <a:off x="182880" y="167030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667085"/>
                </a:solidFill>
              </a:rPr>
              <a:t>Gerente: Ivan Vilcapoma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321653" y="2952803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C0392B"/>
                </a:solidFill>
              </a:rPr>
              <a:t>29.8%</a:t>
            </a:r>
            <a:endParaRPr lang="en-US" sz="96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8480DA6F-65FA-B069-34CD-9AA6C627D6DC}"/>
              </a:ext>
            </a:extLst>
          </p:cNvPr>
          <p:cNvSpPr/>
          <p:nvPr/>
        </p:nvSpPr>
        <p:spPr>
          <a:xfrm>
            <a:off x="610619" y="284265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1.80M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7C8E20B4-2106-61B7-614C-6736DAF7EF5F}"/>
              </a:ext>
            </a:extLst>
          </p:cNvPr>
          <p:cNvSpPr/>
          <p:nvPr/>
        </p:nvSpPr>
        <p:spPr>
          <a:xfrm>
            <a:off x="-98148" y="438384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73.51K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741327E9-B672-3DCB-C2E1-A7265FAA11FC}"/>
              </a:ext>
            </a:extLst>
          </p:cNvPr>
          <p:cNvSpPr/>
          <p:nvPr/>
        </p:nvSpPr>
        <p:spPr>
          <a:xfrm>
            <a:off x="1523157" y="4402260"/>
            <a:ext cx="2036907" cy="352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246.4K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Imagen_barras" descr="image.png">
            <a:extLst>
              <a:ext uri="{FF2B5EF4-FFF2-40B4-BE49-F238E27FC236}">
                <a16:creationId xmlns:a16="http://schemas.microsoft.com/office/drawing/2014/main" id="{9B074277-10BE-3B3E-3741-ED0214CF2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875" y="1012940"/>
            <a:ext cx="6321509" cy="2894412"/>
          </a:xfrm>
          <a:prstGeom prst="rect">
            <a:avLst/>
          </a:prstGeom>
        </p:spPr>
      </p:pic>
      <p:pic>
        <p:nvPicPr>
          <p:cNvPr id="29" name="Picture 34" descr="image.png">
            <a:extLst>
              <a:ext uri="{FF2B5EF4-FFF2-40B4-BE49-F238E27FC236}">
                <a16:creationId xmlns:a16="http://schemas.microsoft.com/office/drawing/2014/main" id="{9C77F8C9-766E-27C3-C891-996AEC5E0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49" y="4085141"/>
            <a:ext cx="3625379" cy="2421613"/>
          </a:xfrm>
          <a:prstGeom prst="rect">
            <a:avLst/>
          </a:prstGeom>
        </p:spPr>
      </p:pic>
      <p:pic>
        <p:nvPicPr>
          <p:cNvPr id="31" name="Asesor" descr="image.png">
            <a:extLst>
              <a:ext uri="{FF2B5EF4-FFF2-40B4-BE49-F238E27FC236}">
                <a16:creationId xmlns:a16="http://schemas.microsoft.com/office/drawing/2014/main" id="{D6059DDA-6B4F-BA7A-BC24-D63B5754B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452" y="4085141"/>
            <a:ext cx="3792379" cy="2352235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5E2F0946-28EF-962B-4113-EE13E9AF55C5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6A077831-C390-D5A5-FA6A-1FEC2314D1E9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F7A403F1-17A5-172C-D72C-E235F0491CA5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0392B"/>
                </a:solidFill>
              </a:rPr>
              <a:t>META: 1.80M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0332C3-2CA6-5458-CC22-55C4D67D8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520" y="5006340"/>
            <a:ext cx="8673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SBP CONVENIOS  | TELECAMPO: Información al 8 de Agosto </a:t>
            </a:r>
            <a:endParaRPr lang="en-US" sz="1667" dirty="0"/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2 / 4</a:t>
            </a:r>
            <a:endParaRPr lang="en-US" sz="1067" dirty="0"/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667085"/>
                </a:solidFill>
              </a:rPr>
              <a:t>Gerente : Ivan Vilcapoma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499872" y="2693035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C0392B"/>
                </a:solidFill>
              </a:rPr>
              <a:t>83.9%</a:t>
            </a:r>
            <a:endParaRPr lang="en-US" sz="96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27EA2489-7279-F978-D858-EE8912551351}"/>
              </a:ext>
            </a:extLst>
          </p:cNvPr>
          <p:cNvSpPr/>
          <p:nvPr/>
        </p:nvSpPr>
        <p:spPr>
          <a:xfrm>
            <a:off x="564611" y="2700881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5.70M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610F36D7-6934-4762-36C4-25EB5CC397D4}"/>
              </a:ext>
            </a:extLst>
          </p:cNvPr>
          <p:cNvSpPr/>
          <p:nvPr/>
        </p:nvSpPr>
        <p:spPr>
          <a:xfrm>
            <a:off x="-75144" y="4219067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767.9K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470AAE93-3E6D-6ABC-978C-0EBA14A72CA4}"/>
              </a:ext>
            </a:extLst>
          </p:cNvPr>
          <p:cNvSpPr/>
          <p:nvPr/>
        </p:nvSpPr>
        <p:spPr>
          <a:xfrm>
            <a:off x="1523157" y="4214480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914.9K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5" name="Imagen_barras" descr="image.png">
            <a:extLst>
              <a:ext uri="{FF2B5EF4-FFF2-40B4-BE49-F238E27FC236}">
                <a16:creationId xmlns:a16="http://schemas.microsoft.com/office/drawing/2014/main" id="{A3B3A0DA-44FD-69D2-8D56-F057EFDAB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1234571"/>
            <a:ext cx="7837469" cy="3245425"/>
          </a:xfrm>
          <a:prstGeom prst="rect">
            <a:avLst/>
          </a:prstGeom>
        </p:spPr>
      </p:pic>
      <p:pic>
        <p:nvPicPr>
          <p:cNvPr id="37" name="Picture 34" descr="image.png">
            <a:extLst>
              <a:ext uri="{FF2B5EF4-FFF2-40B4-BE49-F238E27FC236}">
                <a16:creationId xmlns:a16="http://schemas.microsoft.com/office/drawing/2014/main" id="{EA6B5B9D-BF35-B4BC-E75A-C33D4566E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367" y="4709649"/>
            <a:ext cx="2623072" cy="1752111"/>
          </a:xfrm>
          <a:prstGeom prst="rect">
            <a:avLst/>
          </a:prstGeom>
        </p:spPr>
      </p:pic>
      <p:pic>
        <p:nvPicPr>
          <p:cNvPr id="39" name="Asesor" descr="image.png">
            <a:extLst>
              <a:ext uri="{FF2B5EF4-FFF2-40B4-BE49-F238E27FC236}">
                <a16:creationId xmlns:a16="http://schemas.microsoft.com/office/drawing/2014/main" id="{34D6065A-9504-0D23-92D5-C9D916EA6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044" y="4649397"/>
            <a:ext cx="3140753" cy="1948063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3213149F-0CF0-EF74-5FE2-D13E756455B8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E877B0F1-27DA-4E32-C4EE-4F4F411F4FCA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E6607949-A43B-8073-1A4C-3B902659B7AF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 err="1">
                <a:solidFill>
                  <a:srgbClr val="C0392B"/>
                </a:solidFill>
              </a:rPr>
              <a:t>Cerca</a:t>
            </a:r>
            <a:r>
              <a:rPr lang="en-US" sz="1267" b="1" dirty="0">
                <a:solidFill>
                  <a:srgbClr val="C0392B"/>
                </a:solidFill>
              </a:rPr>
              <a:t> de la meta</a:t>
            </a:r>
            <a:endParaRPr lang="en-US" sz="1267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372A4D65-94DD-9C93-0BCD-B3C2450C16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7" name="Client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520" y="5006340"/>
            <a:ext cx="8673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SBP CONVENIOS  | NORTE:  Información al 8 de Agosto </a:t>
            </a:r>
            <a:endParaRPr lang="en-US" sz="1667" dirty="0"/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3 / 4</a:t>
            </a:r>
            <a:endParaRPr lang="en-US" sz="1067" dirty="0"/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667085"/>
                </a:solidFill>
              </a:rPr>
              <a:t>Sub </a:t>
            </a:r>
            <a:r>
              <a:rPr lang="en-US" sz="1133" i="1" dirty="0" err="1">
                <a:solidFill>
                  <a:srgbClr val="667085"/>
                </a:solidFill>
              </a:rPr>
              <a:t>Gerenta</a:t>
            </a:r>
            <a:r>
              <a:rPr lang="en-US" sz="1133" i="1" dirty="0">
                <a:solidFill>
                  <a:srgbClr val="667085"/>
                </a:solidFill>
              </a:rPr>
              <a:t>: Ivan Vilcapoma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95388" y="2809777"/>
            <a:ext cx="3694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C0392B"/>
                </a:solidFill>
              </a:rPr>
              <a:t>55.1%</a:t>
            </a:r>
            <a:endParaRPr lang="en-US" sz="8800" dirty="0">
              <a:solidFill>
                <a:srgbClr val="19A075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60064" y="999744"/>
            <a:ext cx="24384" cy="5437632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AB0575AD-6901-AE80-E45C-78AB50A743C4}"/>
              </a:ext>
            </a:extLst>
          </p:cNvPr>
          <p:cNvSpPr/>
          <p:nvPr/>
        </p:nvSpPr>
        <p:spPr>
          <a:xfrm>
            <a:off x="662759" y="279159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6.20M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E5C7218A-B099-E1DA-6E16-6D61BC90CC79}"/>
              </a:ext>
            </a:extLst>
          </p:cNvPr>
          <p:cNvSpPr/>
          <p:nvPr/>
        </p:nvSpPr>
        <p:spPr>
          <a:xfrm>
            <a:off x="0" y="4355788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584.9K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26DF5C35-EDFA-E398-100F-070596FE01B8}"/>
              </a:ext>
            </a:extLst>
          </p:cNvPr>
          <p:cNvSpPr/>
          <p:nvPr/>
        </p:nvSpPr>
        <p:spPr>
          <a:xfrm>
            <a:off x="1621305" y="4305192"/>
            <a:ext cx="1988139" cy="47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1.06M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8" name="Imagen_barras" descr="image.png">
            <a:extLst>
              <a:ext uri="{FF2B5EF4-FFF2-40B4-BE49-F238E27FC236}">
                <a16:creationId xmlns:a16="http://schemas.microsoft.com/office/drawing/2014/main" id="{31068695-F214-6276-68B8-7D2ABCF41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323" y="1068064"/>
            <a:ext cx="7168973" cy="2941092"/>
          </a:xfrm>
          <a:prstGeom prst="rect">
            <a:avLst/>
          </a:prstGeom>
        </p:spPr>
      </p:pic>
      <p:pic>
        <p:nvPicPr>
          <p:cNvPr id="30" name="Picture 34" descr="image.png">
            <a:extLst>
              <a:ext uri="{FF2B5EF4-FFF2-40B4-BE49-F238E27FC236}">
                <a16:creationId xmlns:a16="http://schemas.microsoft.com/office/drawing/2014/main" id="{DDF3AF98-EA43-292D-C0C6-C587FE9B1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17" y="4432588"/>
            <a:ext cx="3108960" cy="2076665"/>
          </a:xfrm>
          <a:prstGeom prst="rect">
            <a:avLst/>
          </a:prstGeom>
        </p:spPr>
      </p:pic>
      <p:pic>
        <p:nvPicPr>
          <p:cNvPr id="32" name="Asesor" descr="image.png">
            <a:extLst>
              <a:ext uri="{FF2B5EF4-FFF2-40B4-BE49-F238E27FC236}">
                <a16:creationId xmlns:a16="http://schemas.microsoft.com/office/drawing/2014/main" id="{832C5A12-1555-7F3C-7B6D-16C6CEF4C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651" y="4305192"/>
            <a:ext cx="3535519" cy="2192917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CB8CFC5B-1408-6000-A44E-099F69EE743E}"/>
              </a:ext>
            </a:extLst>
          </p:cNvPr>
          <p:cNvSpPr/>
          <p:nvPr/>
        </p:nvSpPr>
        <p:spPr>
          <a:xfrm>
            <a:off x="260401" y="1036011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C40E32A9-5A7B-27DE-A226-0A0B45572163}"/>
              </a:ext>
            </a:extLst>
          </p:cNvPr>
          <p:cNvSpPr/>
          <p:nvPr/>
        </p:nvSpPr>
        <p:spPr>
          <a:xfrm>
            <a:off x="382321" y="1133547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9C213A1C-5EED-46B3-2B49-A48C45517E04}"/>
              </a:ext>
            </a:extLst>
          </p:cNvPr>
          <p:cNvSpPr/>
          <p:nvPr/>
        </p:nvSpPr>
        <p:spPr>
          <a:xfrm>
            <a:off x="674929" y="1036011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0392B"/>
                </a:solidFill>
              </a:rPr>
              <a:t>Bajo la meta</a:t>
            </a:r>
            <a:endParaRPr lang="en-US" sz="1267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2578C4-1704-7C62-F49A-7680D8193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520" y="5006340"/>
            <a:ext cx="8673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kern="0" spc="40" dirty="0">
                <a:solidFill>
                  <a:srgbClr val="FFFFFF"/>
                </a:solidFill>
              </a:rPr>
              <a:t>SBP CONVENIOS  |  COA: Información al 8 de Agosto</a:t>
            </a:r>
            <a:endParaRPr lang="en-US" sz="1667" dirty="0"/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667085"/>
                </a:solidFill>
              </a:rPr>
              <a:t>Gerente: Ivan Vilcapoma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221796" y="2625133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C0392B"/>
                </a:solidFill>
              </a:rPr>
              <a:t>35.6%</a:t>
            </a:r>
            <a:endParaRPr lang="en-US" sz="96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8E0C2926-0DB6-DEE8-581C-3B85250E44BC}"/>
              </a:ext>
            </a:extLst>
          </p:cNvPr>
          <p:cNvSpPr/>
          <p:nvPr/>
        </p:nvSpPr>
        <p:spPr>
          <a:xfrm>
            <a:off x="675392" y="254063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4.70M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6FE172D7-36A3-67F1-79EA-6723B1D67A6B}"/>
              </a:ext>
            </a:extLst>
          </p:cNvPr>
          <p:cNvSpPr/>
          <p:nvPr/>
        </p:nvSpPr>
        <p:spPr>
          <a:xfrm>
            <a:off x="-7512" y="416632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370.5K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520EAADD-646C-F993-7B08-8B352D62F52A}"/>
              </a:ext>
            </a:extLst>
          </p:cNvPr>
          <p:cNvSpPr/>
          <p:nvPr/>
        </p:nvSpPr>
        <p:spPr>
          <a:xfrm>
            <a:off x="1636797" y="4138732"/>
            <a:ext cx="1898883" cy="4414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1.04M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3" name="Imagen_barras" descr="image.png">
            <a:extLst>
              <a:ext uri="{FF2B5EF4-FFF2-40B4-BE49-F238E27FC236}">
                <a16:creationId xmlns:a16="http://schemas.microsoft.com/office/drawing/2014/main" id="{22949D2E-2703-6298-2348-A66E0E896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899" y="1275329"/>
            <a:ext cx="6594952" cy="2443231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9D11C918-8487-A1B2-8C4D-296717D1C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180" y="4166323"/>
            <a:ext cx="2948573" cy="1969533"/>
          </a:xfrm>
          <a:prstGeom prst="rect">
            <a:avLst/>
          </a:prstGeom>
        </p:spPr>
      </p:pic>
      <p:pic>
        <p:nvPicPr>
          <p:cNvPr id="37" name="Asesor" descr="image.png">
            <a:extLst>
              <a:ext uri="{FF2B5EF4-FFF2-40B4-BE49-F238E27FC236}">
                <a16:creationId xmlns:a16="http://schemas.microsoft.com/office/drawing/2014/main" id="{ABC338E2-1293-405F-134D-8882C6C43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912" y="4166323"/>
            <a:ext cx="3166515" cy="1964041"/>
          </a:xfrm>
          <a:prstGeom prst="rect">
            <a:avLst/>
          </a:prstGeom>
        </p:spPr>
      </p:pic>
      <p:sp>
        <p:nvSpPr>
          <p:cNvPr id="8" name="Shape 6">
            <a:extLst>
              <a:ext uri="{FF2B5EF4-FFF2-40B4-BE49-F238E27FC236}">
                <a16:creationId xmlns:a16="http://schemas.microsoft.com/office/drawing/2014/main" id="{E2BA164A-6A35-7335-C2B6-FC10BA27A74B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C0E632C6-671C-F739-6A56-745B8ED2CB72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51E0B2FB-D17F-A92A-ED55-670D6500C537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0392B"/>
                </a:solidFill>
              </a:rPr>
              <a:t>Bajo la meta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7354AB-69AC-6F65-C8D4-25F5E5629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520" y="5006340"/>
            <a:ext cx="8673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835FE-2760-7CDA-4AE8-A8AECFB4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475BB5-1838-23F5-BC27-F66ABAF9E0BE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FE5DC8-FD0C-EDDA-5A42-1C2AB6DB6564}"/>
              </a:ext>
            </a:extLst>
          </p:cNvPr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847520-2E56-03F3-2E50-96F3ED1A2F16}"/>
              </a:ext>
            </a:extLst>
          </p:cNvPr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53C71BA-4DAD-AAEE-21BC-8562D6B53F99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SBP CONVENIOS  | SUR:  Información al 8 de Agosto </a:t>
            </a:r>
            <a:endParaRPr lang="en-US" sz="1667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F65A6FD-1970-5084-751D-33FFFBFC7B97}"/>
              </a:ext>
            </a:extLst>
          </p:cNvPr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3 / 4</a:t>
            </a:r>
            <a:endParaRPr lang="en-US" sz="1067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9BC58CE-F762-59E8-9E5E-7681E8357ADB}"/>
              </a:ext>
            </a:extLst>
          </p:cNvPr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667085"/>
                </a:solidFill>
              </a:rPr>
              <a:t>Sub </a:t>
            </a:r>
            <a:r>
              <a:rPr lang="en-US" sz="1133" i="1" dirty="0" err="1">
                <a:solidFill>
                  <a:srgbClr val="667085"/>
                </a:solidFill>
              </a:rPr>
              <a:t>Gerenta</a:t>
            </a:r>
            <a:r>
              <a:rPr lang="en-US" sz="1133" i="1" dirty="0">
                <a:solidFill>
                  <a:srgbClr val="667085"/>
                </a:solidFill>
              </a:rPr>
              <a:t>: Ivan Vilcapoma</a:t>
            </a:r>
            <a:endParaRPr lang="en-US" sz="1133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D61EE82-98A1-05BF-8668-B98D7AC2ECCA}"/>
              </a:ext>
            </a:extLst>
          </p:cNvPr>
          <p:cNvSpPr/>
          <p:nvPr/>
        </p:nvSpPr>
        <p:spPr>
          <a:xfrm>
            <a:off x="332609" y="2859165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C0392B"/>
                </a:solidFill>
              </a:rPr>
              <a:t>0.0%</a:t>
            </a:r>
            <a:endParaRPr lang="en-US" sz="9600" dirty="0">
              <a:solidFill>
                <a:srgbClr val="C00000"/>
              </a:solidFill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397DE739-B7E3-CCAE-DD3D-ECA8DE8AB222}"/>
              </a:ext>
            </a:extLst>
          </p:cNvPr>
          <p:cNvSpPr/>
          <p:nvPr/>
        </p:nvSpPr>
        <p:spPr>
          <a:xfrm>
            <a:off x="3560064" y="999744"/>
            <a:ext cx="24384" cy="5437632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9A13ABEF-76D2-249B-8311-FA6523DB245A}"/>
              </a:ext>
            </a:extLst>
          </p:cNvPr>
          <p:cNvSpPr/>
          <p:nvPr/>
        </p:nvSpPr>
        <p:spPr>
          <a:xfrm>
            <a:off x="521800" y="2817979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500.0K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9556D5C2-2C1E-5EF6-480E-DE83DE4C4BD1}"/>
              </a:ext>
            </a:extLst>
          </p:cNvPr>
          <p:cNvSpPr/>
          <p:nvPr/>
        </p:nvSpPr>
        <p:spPr>
          <a:xfrm>
            <a:off x="-140959" y="4382172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0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A40E2505-6C6E-8ABA-320D-DC4C2FA463B7}"/>
              </a:ext>
            </a:extLst>
          </p:cNvPr>
          <p:cNvSpPr/>
          <p:nvPr/>
        </p:nvSpPr>
        <p:spPr>
          <a:xfrm>
            <a:off x="1434339" y="4331576"/>
            <a:ext cx="2049099" cy="4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129.0K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9" name="Imagen_barras" descr="image.png">
            <a:extLst>
              <a:ext uri="{FF2B5EF4-FFF2-40B4-BE49-F238E27FC236}">
                <a16:creationId xmlns:a16="http://schemas.microsoft.com/office/drawing/2014/main" id="{8B767D98-EB03-7419-18B2-57A83A5F4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631" y="1196496"/>
            <a:ext cx="7254732" cy="2713141"/>
          </a:xfrm>
          <a:prstGeom prst="rect">
            <a:avLst/>
          </a:prstGeom>
        </p:spPr>
      </p:pic>
      <p:pic>
        <p:nvPicPr>
          <p:cNvPr id="33" name="Picture 34" descr="image.png">
            <a:extLst>
              <a:ext uri="{FF2B5EF4-FFF2-40B4-BE49-F238E27FC236}">
                <a16:creationId xmlns:a16="http://schemas.microsoft.com/office/drawing/2014/main" id="{97F770EF-071A-49EF-8237-192FEFACB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777" y="4331576"/>
            <a:ext cx="2931585" cy="1958185"/>
          </a:xfrm>
          <a:prstGeom prst="rect">
            <a:avLst/>
          </a:prstGeom>
        </p:spPr>
      </p:pic>
      <p:pic>
        <p:nvPicPr>
          <p:cNvPr id="35" name="Asesor" descr="image.png">
            <a:extLst>
              <a:ext uri="{FF2B5EF4-FFF2-40B4-BE49-F238E27FC236}">
                <a16:creationId xmlns:a16="http://schemas.microsoft.com/office/drawing/2014/main" id="{0E2AC5AE-AECF-CF06-1065-323DA7FB1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005" y="4331576"/>
            <a:ext cx="3148271" cy="1952725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6E892E2C-3830-D938-95BF-83C884706599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2970F1A6-4A82-60F7-3100-2BB6CC472735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1B340E67-2F21-D7C4-DB0E-4E58739E8512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0392B"/>
                </a:solidFill>
              </a:rPr>
              <a:t>Bajo la meta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C85C88-D079-8F91-1A9D-9B8A145E2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520" y="5006340"/>
            <a:ext cx="8673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12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kern="0" spc="40" dirty="0">
                <a:solidFill>
                  <a:srgbClr val="FFFFFF"/>
                </a:solidFill>
              </a:rPr>
              <a:t>SBP CONVENIOS  |  DIAGNÓSTICO Y SEGUIMIENTO</a:t>
            </a:r>
            <a:endParaRPr lang="en-US" sz="1667" dirty="0"/>
          </a:p>
        </p:txBody>
      </p:sp>
      <p:sp>
        <p:nvSpPr>
          <p:cNvPr id="7" name="Shape 4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0E3854"/>
          </a:solidFill>
          <a:ln w="16933">
            <a:solidFill>
              <a:srgbClr val="0E385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2 / 3</a:t>
            </a:r>
            <a:endParaRPr lang="en-US" sz="1067" dirty="0"/>
          </a:p>
        </p:txBody>
      </p:sp>
      <p:sp>
        <p:nvSpPr>
          <p:cNvPr id="9" name="Shape 6"/>
          <p:cNvSpPr/>
          <p:nvPr/>
        </p:nvSpPr>
        <p:spPr>
          <a:xfrm>
            <a:off x="0" y="999744"/>
            <a:ext cx="5547360" cy="414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121920" y="999744"/>
            <a:ext cx="54254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kern="0" spc="40" dirty="0">
                <a:solidFill>
                  <a:srgbClr val="FFFFFF"/>
                </a:solidFill>
              </a:rPr>
              <a:t>SEGUIMIENTO PLAN SEMANA ANTERIOR</a:t>
            </a:r>
            <a:endParaRPr lang="en-US" sz="1067" dirty="0"/>
          </a:p>
        </p:txBody>
      </p:sp>
      <p:sp>
        <p:nvSpPr>
          <p:cNvPr id="11" name="Shape 8"/>
          <p:cNvSpPr/>
          <p:nvPr/>
        </p:nvSpPr>
        <p:spPr>
          <a:xfrm>
            <a:off x="0" y="1463040"/>
            <a:ext cx="5547360" cy="1589024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9"/>
          <p:cNvSpPr/>
          <p:nvPr/>
        </p:nvSpPr>
        <p:spPr>
          <a:xfrm>
            <a:off x="0" y="1463040"/>
            <a:ext cx="67056" cy="15890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170688" y="1536192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ES" sz="1267" dirty="0"/>
              <a:t>Rescatar la plaza de Trujillo</a:t>
            </a:r>
            <a:endParaRPr lang="en-US" sz="1267" dirty="0"/>
          </a:p>
        </p:txBody>
      </p:sp>
      <p:sp>
        <p:nvSpPr>
          <p:cNvPr id="14" name="Text 11"/>
          <p:cNvSpPr/>
          <p:nvPr/>
        </p:nvSpPr>
        <p:spPr>
          <a:xfrm>
            <a:off x="170688" y="2420031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713"/>
                </a:solidFill>
              </a:rPr>
              <a:t>Ejecutado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3113024"/>
            <a:ext cx="5547360" cy="1589024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0" y="3113024"/>
            <a:ext cx="67056" cy="15890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170688" y="3186176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ES" sz="1267" dirty="0">
                <a:solidFill>
                  <a:srgbClr val="101828"/>
                </a:solidFill>
              </a:rPr>
              <a:t>Completar la dotación del COA</a:t>
            </a:r>
            <a:endParaRPr lang="en-US" sz="1267" dirty="0"/>
          </a:p>
        </p:txBody>
      </p:sp>
      <p:sp>
        <p:nvSpPr>
          <p:cNvPr id="18" name="Text 15"/>
          <p:cNvSpPr/>
          <p:nvPr/>
        </p:nvSpPr>
        <p:spPr>
          <a:xfrm>
            <a:off x="170688" y="4070015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713"/>
                </a:solidFill>
              </a:rPr>
              <a:t>Ejecutado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4763008"/>
            <a:ext cx="67056" cy="15890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8"/>
          <p:cNvSpPr/>
          <p:nvPr/>
        </p:nvSpPr>
        <p:spPr>
          <a:xfrm>
            <a:off x="170688" y="4836160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67" dirty="0"/>
          </a:p>
        </p:txBody>
      </p:sp>
      <p:sp>
        <p:nvSpPr>
          <p:cNvPr id="23" name="Shape 20"/>
          <p:cNvSpPr/>
          <p:nvPr/>
        </p:nvSpPr>
        <p:spPr>
          <a:xfrm>
            <a:off x="5657088" y="999744"/>
            <a:ext cx="24384" cy="5413248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1"/>
          <p:cNvSpPr/>
          <p:nvPr/>
        </p:nvSpPr>
        <p:spPr>
          <a:xfrm>
            <a:off x="5791200" y="999744"/>
            <a:ext cx="6400800" cy="414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2"/>
          <p:cNvSpPr/>
          <p:nvPr/>
        </p:nvSpPr>
        <p:spPr>
          <a:xfrm>
            <a:off x="5913120" y="999744"/>
            <a:ext cx="6278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kern="0" spc="40" dirty="0">
                <a:solidFill>
                  <a:srgbClr val="FFFFFF"/>
                </a:solidFill>
              </a:rPr>
              <a:t>DIAGNOSTICO — CAUSAS RAIZ</a:t>
            </a:r>
            <a:endParaRPr lang="en-US" sz="1067" dirty="0"/>
          </a:p>
        </p:txBody>
      </p:sp>
      <p:sp>
        <p:nvSpPr>
          <p:cNvPr id="26" name="Shape 23"/>
          <p:cNvSpPr/>
          <p:nvPr/>
        </p:nvSpPr>
        <p:spPr>
          <a:xfrm>
            <a:off x="5791200" y="1463040"/>
            <a:ext cx="6400800" cy="238963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27" name="Shape 24"/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5"/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6583680" y="158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6B150B"/>
                </a:solidFill>
              </a:rPr>
              <a:t>Recuperar plaza Trujillo en Norte</a:t>
            </a:r>
            <a:endParaRPr lang="en-US" sz="1467" dirty="0"/>
          </a:p>
        </p:txBody>
      </p:sp>
      <p:sp>
        <p:nvSpPr>
          <p:cNvPr id="30" name="Text 27"/>
          <p:cNvSpPr/>
          <p:nvPr/>
        </p:nvSpPr>
        <p:spPr>
          <a:xfrm>
            <a:off x="6583680" y="1926336"/>
            <a:ext cx="5486400" cy="10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583680" y="3486912"/>
            <a:ext cx="1341120" cy="292608"/>
          </a:xfrm>
          <a:prstGeom prst="rect">
            <a:avLst/>
          </a:prstGeom>
          <a:solidFill>
            <a:srgbClr val="FEE2E2"/>
          </a:solidFill>
          <a:ln w="16933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6583680" y="3486912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3" b="1" dirty="0">
                <a:solidFill>
                  <a:srgbClr val="DC2626"/>
                </a:solidFill>
              </a:rPr>
              <a:t>Impacto Alto</a:t>
            </a:r>
            <a:endParaRPr lang="en-US" sz="1133" dirty="0"/>
          </a:p>
        </p:txBody>
      </p:sp>
      <p:sp>
        <p:nvSpPr>
          <p:cNvPr id="33" name="Shape 30"/>
          <p:cNvSpPr/>
          <p:nvPr/>
        </p:nvSpPr>
        <p:spPr>
          <a:xfrm>
            <a:off x="5791200" y="3938016"/>
            <a:ext cx="6400800" cy="238963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34" name="Shape 31"/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6583680" y="40599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7" b="1" dirty="0">
                <a:solidFill>
                  <a:srgbClr val="6B150B"/>
                </a:solidFill>
              </a:rPr>
              <a:t>Dotación al 100% en COA</a:t>
            </a:r>
            <a:endParaRPr lang="en-US" sz="1467" dirty="0"/>
          </a:p>
        </p:txBody>
      </p:sp>
      <p:sp>
        <p:nvSpPr>
          <p:cNvPr id="37" name="Text 34"/>
          <p:cNvSpPr/>
          <p:nvPr/>
        </p:nvSpPr>
        <p:spPr>
          <a:xfrm>
            <a:off x="6583680" y="4401312"/>
            <a:ext cx="5486400" cy="10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>
                <a:solidFill>
                  <a:srgbClr val="101828"/>
                </a:solidFill>
              </a:rPr>
              <a:t>Completar la dotación del COA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solidFill>
            <a:srgbClr val="FBEDD0"/>
          </a:solidFill>
          <a:ln w="16933">
            <a:solidFill>
              <a:srgbClr val="FBED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6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3" b="1" dirty="0">
                <a:solidFill>
                  <a:srgbClr val="E0A024"/>
                </a:solidFill>
              </a:rPr>
              <a:t>Impacto Medio</a:t>
            </a:r>
            <a:endParaRPr lang="en-US" sz="1133" dirty="0"/>
          </a:p>
        </p:txBody>
      </p:sp>
      <p:sp>
        <p:nvSpPr>
          <p:cNvPr id="42" name="Shape 39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0"/>
          <p:cNvSpPr/>
          <p:nvPr/>
        </p:nvSpPr>
        <p:spPr>
          <a:xfrm>
            <a:off x="268224" y="6486144"/>
            <a:ext cx="11582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3" i="1" dirty="0">
                <a:solidFill>
                  <a:srgbClr val="667085"/>
                </a:solidFill>
              </a:rPr>
              <a:t>  SBP CONVENIOS  / Iván Vilcapoma  | Agosto 2026</a:t>
            </a:r>
            <a:endParaRPr lang="en-US" sz="933" dirty="0"/>
          </a:p>
        </p:txBody>
      </p:sp>
      <p:pic>
        <p:nvPicPr>
          <p:cNvPr id="45" name="Picture 8">
            <a:extLst>
              <a:ext uri="{FF2B5EF4-FFF2-40B4-BE49-F238E27FC236}">
                <a16:creationId xmlns:a16="http://schemas.microsoft.com/office/drawing/2014/main" id="{BE94AFF7-0D8A-F349-9403-6414FE509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sp>
        <p:nvSpPr>
          <p:cNvPr id="40" name="Text 34">
            <a:extLst>
              <a:ext uri="{FF2B5EF4-FFF2-40B4-BE49-F238E27FC236}">
                <a16:creationId xmlns:a16="http://schemas.microsoft.com/office/drawing/2014/main" id="{C42B5418-EDDE-7005-E049-24FF2A3FA716}"/>
              </a:ext>
            </a:extLst>
          </p:cNvPr>
          <p:cNvSpPr/>
          <p:nvPr/>
        </p:nvSpPr>
        <p:spPr>
          <a:xfrm>
            <a:off x="6583680" y="1823152"/>
            <a:ext cx="5486400" cy="10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 err="1">
                <a:solidFill>
                  <a:srgbClr val="101828"/>
                </a:solidFill>
              </a:rPr>
              <a:t>Re-prospectar</a:t>
            </a:r>
            <a:r>
              <a:rPr lang="es-ES" sz="1200" dirty="0">
                <a:solidFill>
                  <a:srgbClr val="101828"/>
                </a:solidFill>
              </a:rPr>
              <a:t> (maduración ~10 días); nueva política: luchar cada rechazo.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5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0" cy="6858000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70560" y="2487492"/>
            <a:ext cx="11033760" cy="30480"/>
          </a:xfrm>
          <a:prstGeom prst="rect">
            <a:avLst/>
          </a:prstGeom>
          <a:solidFill>
            <a:srgbClr val="FFFFFF">
              <a:alpha val="40000"/>
            </a:srgbClr>
          </a:solidFill>
          <a:ln w="16933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670560" y="1589600"/>
            <a:ext cx="116433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67" b="1" dirty="0">
                <a:solidFill>
                  <a:srgbClr val="FFFFFF"/>
                </a:solidFill>
              </a:rPr>
              <a:t>BBVA Convenios</a:t>
            </a:r>
            <a:endParaRPr lang="en-US" sz="4267" dirty="0"/>
          </a:p>
        </p:txBody>
      </p:sp>
      <p:sp>
        <p:nvSpPr>
          <p:cNvPr id="7" name="Text 4"/>
          <p:cNvSpPr/>
          <p:nvPr/>
        </p:nvSpPr>
        <p:spPr>
          <a:xfrm>
            <a:off x="814324" y="3084576"/>
            <a:ext cx="1164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67" dirty="0">
                <a:solidFill>
                  <a:srgbClr val="FFFFFF"/>
                </a:solidFill>
              </a:rPr>
              <a:t>Sheyla Ramos  ·  Sub Gerenta de BBVA Convenios</a:t>
            </a:r>
            <a:endParaRPr lang="en-US" sz="1867" dirty="0"/>
          </a:p>
        </p:txBody>
      </p:sp>
      <p:sp>
        <p:nvSpPr>
          <p:cNvPr id="8" name="Text 5"/>
          <p:cNvSpPr/>
          <p:nvPr/>
        </p:nvSpPr>
        <p:spPr>
          <a:xfrm>
            <a:off x="814324" y="3792728"/>
            <a:ext cx="1164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Agosto 2026</a:t>
            </a:r>
            <a:endParaRPr lang="en-US" sz="16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F594D15-71DC-6787-371E-F6DCF0BA3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501" y="4219448"/>
            <a:ext cx="5047499" cy="28732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B900F1C-9A00-42F4-8F13-6C3836BD9D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>
          <a:xfrm>
            <a:off x="548640" y="5166360"/>
            <a:ext cx="3630622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RESUMEN GENERAL: BBVA CONVENIOS  |LIMA · TELECAMPO +PROV. · NORTE · SUR · ORIENTE</a:t>
            </a:r>
            <a:endParaRPr lang="en-US" sz="1667" dirty="0"/>
          </a:p>
        </p:txBody>
      </p:sp>
      <p:sp>
        <p:nvSpPr>
          <p:cNvPr id="7" name="Shape 4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0E3854"/>
          </a:solidFill>
          <a:ln w="16933">
            <a:solidFill>
              <a:srgbClr val="0E385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1 / 3</a:t>
            </a:r>
            <a:endParaRPr lang="en-US" sz="1067" dirty="0"/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63296"/>
          </a:xfrm>
          <a:prstGeom prst="rect">
            <a:avLst/>
          </a:prstGeom>
          <a:solidFill>
            <a:srgbClr val="FEF3C7"/>
          </a:solidFill>
          <a:ln w="16933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43840" cy="243840"/>
          </a:xfrm>
          <a:prstGeom prst="ellipse">
            <a:avLst/>
          </a:prstGeom>
          <a:solidFill>
            <a:srgbClr val="D97706"/>
          </a:solidFill>
          <a:ln w="16933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707136" y="999744"/>
            <a:ext cx="264566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D97706"/>
                </a:solidFill>
              </a:rPr>
              <a:t>EN SEGUIMIENTO</a:t>
            </a:r>
            <a:endParaRPr lang="en-US" sz="1333" dirty="0"/>
          </a:p>
        </p:txBody>
      </p:sp>
      <p:sp>
        <p:nvSpPr>
          <p:cNvPr id="12" name="Text 9"/>
          <p:cNvSpPr/>
          <p:nvPr/>
        </p:nvSpPr>
        <p:spPr>
          <a:xfrm>
            <a:off x="268224" y="1536192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7085"/>
                </a:solidFill>
              </a:rPr>
              <a:t>Sub-Gerente: Sheyla Ramos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68224" y="1950720"/>
            <a:ext cx="3108960" cy="1853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667" b="1" dirty="0">
                <a:solidFill>
                  <a:srgbClr val="D97706"/>
                </a:solidFill>
              </a:rPr>
              <a:t>87%</a:t>
            </a:r>
            <a:endParaRPr lang="en-US" sz="10667" dirty="0"/>
          </a:p>
        </p:txBody>
      </p:sp>
      <p:sp>
        <p:nvSpPr>
          <p:cNvPr id="14" name="Text 11"/>
          <p:cNvSpPr/>
          <p:nvPr/>
        </p:nvSpPr>
        <p:spPr>
          <a:xfrm>
            <a:off x="268224" y="3877056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Avance promedio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511296" y="999744"/>
            <a:ext cx="26823" cy="5425440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3657600" y="999744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384048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667085"/>
                </a:solidFill>
              </a:rPr>
              <a:t>ACTIVOS TOTAL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384048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145078"/>
                </a:solidFill>
              </a:rPr>
              <a:t>69</a:t>
            </a:r>
            <a:endParaRPr lang="en-US" sz="2933" dirty="0"/>
          </a:p>
        </p:txBody>
      </p:sp>
      <p:sp>
        <p:nvSpPr>
          <p:cNvPr id="19" name="Shape 16"/>
          <p:cNvSpPr/>
          <p:nvPr/>
        </p:nvSpPr>
        <p:spPr>
          <a:xfrm>
            <a:off x="7894320" y="999744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807720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667085"/>
                </a:solidFill>
              </a:rPr>
              <a:t>DOTACION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807720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145078"/>
                </a:solidFill>
              </a:rPr>
              <a:t>79</a:t>
            </a:r>
            <a:endParaRPr lang="en-US" sz="2933" dirty="0"/>
          </a:p>
        </p:txBody>
      </p:sp>
      <p:sp>
        <p:nvSpPr>
          <p:cNvPr id="22" name="Shape 19"/>
          <p:cNvSpPr/>
          <p:nvPr/>
        </p:nvSpPr>
        <p:spPr>
          <a:xfrm>
            <a:off x="3657600" y="2145792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384048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667085"/>
                </a:solidFill>
              </a:rPr>
              <a:t>PEND. SELECCION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384048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145078"/>
                </a:solidFill>
              </a:rPr>
              <a:t>5</a:t>
            </a:r>
            <a:endParaRPr lang="en-US" sz="2933" dirty="0"/>
          </a:p>
        </p:txBody>
      </p:sp>
      <p:sp>
        <p:nvSpPr>
          <p:cNvPr id="25" name="Shape 22"/>
          <p:cNvSpPr/>
          <p:nvPr/>
        </p:nvSpPr>
        <p:spPr>
          <a:xfrm>
            <a:off x="7894320" y="2145792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3"/>
          <p:cNvSpPr/>
          <p:nvPr/>
        </p:nvSpPr>
        <p:spPr>
          <a:xfrm>
            <a:off x="807720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667085"/>
                </a:solidFill>
              </a:rPr>
              <a:t>PEND. INDUCCION</a:t>
            </a:r>
            <a:endParaRPr lang="en-US" sz="1040" dirty="0"/>
          </a:p>
        </p:txBody>
      </p:sp>
      <p:sp>
        <p:nvSpPr>
          <p:cNvPr id="27" name="Text 24"/>
          <p:cNvSpPr/>
          <p:nvPr/>
        </p:nvSpPr>
        <p:spPr>
          <a:xfrm>
            <a:off x="807720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145078"/>
                </a:solidFill>
              </a:rPr>
              <a:t>10</a:t>
            </a:r>
            <a:endParaRPr lang="en-US" sz="2933" dirty="0"/>
          </a:p>
        </p:txBody>
      </p:sp>
      <p:sp>
        <p:nvSpPr>
          <p:cNvPr id="28" name="Shape 25"/>
          <p:cNvSpPr/>
          <p:nvPr/>
        </p:nvSpPr>
        <p:spPr>
          <a:xfrm>
            <a:off x="3657600" y="3291840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6"/>
          <p:cNvSpPr/>
          <p:nvPr/>
        </p:nvSpPr>
        <p:spPr>
          <a:xfrm>
            <a:off x="384048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667085"/>
                </a:solidFill>
              </a:rPr>
              <a:t>PRESUPUESTO</a:t>
            </a:r>
            <a:endParaRPr lang="en-US" sz="1040" dirty="0"/>
          </a:p>
        </p:txBody>
      </p:sp>
      <p:sp>
        <p:nvSpPr>
          <p:cNvPr id="30" name="Text 27"/>
          <p:cNvSpPr/>
          <p:nvPr/>
        </p:nvSpPr>
        <p:spPr>
          <a:xfrm>
            <a:off x="384048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145078"/>
                </a:solidFill>
              </a:rPr>
              <a:t>79</a:t>
            </a:r>
            <a:endParaRPr lang="en-US" sz="2933" dirty="0"/>
          </a:p>
        </p:txBody>
      </p:sp>
      <p:sp>
        <p:nvSpPr>
          <p:cNvPr id="31" name="Shape 28"/>
          <p:cNvSpPr/>
          <p:nvPr/>
        </p:nvSpPr>
        <p:spPr>
          <a:xfrm>
            <a:off x="7894320" y="3291840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807720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667085"/>
                </a:solidFill>
              </a:rPr>
              <a:t>SEMANA</a:t>
            </a:r>
            <a:endParaRPr lang="en-US" sz="1040" dirty="0"/>
          </a:p>
        </p:txBody>
      </p:sp>
      <p:sp>
        <p:nvSpPr>
          <p:cNvPr id="33" name="Text 30"/>
          <p:cNvSpPr/>
          <p:nvPr/>
        </p:nvSpPr>
        <p:spPr>
          <a:xfrm>
            <a:off x="807720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145078"/>
                </a:solidFill>
              </a:rPr>
              <a:t>05</a:t>
            </a:r>
            <a:endParaRPr lang="en-US" sz="2933" dirty="0"/>
          </a:p>
        </p:txBody>
      </p:sp>
      <p:sp>
        <p:nvSpPr>
          <p:cNvPr id="34" name="Shape 31"/>
          <p:cNvSpPr/>
          <p:nvPr/>
        </p:nvSpPr>
        <p:spPr>
          <a:xfrm>
            <a:off x="0" y="4364285"/>
            <a:ext cx="12192000" cy="375513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/>
          <p:nvPr/>
        </p:nvSpPr>
        <p:spPr>
          <a:xfrm>
            <a:off x="243840" y="4364285"/>
            <a:ext cx="414528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Sub-campaña</a:t>
            </a:r>
            <a:endParaRPr lang="en-US" sz="1133" dirty="0"/>
          </a:p>
        </p:txBody>
      </p:sp>
      <p:sp>
        <p:nvSpPr>
          <p:cNvPr id="36" name="Text 33"/>
          <p:cNvSpPr/>
          <p:nvPr/>
        </p:nvSpPr>
        <p:spPr>
          <a:xfrm>
            <a:off x="3009933" y="4350024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Presupuesto</a:t>
            </a:r>
            <a:endParaRPr lang="en-US" sz="1133" dirty="0"/>
          </a:p>
        </p:txBody>
      </p:sp>
      <p:sp>
        <p:nvSpPr>
          <p:cNvPr id="37" name="Text 34"/>
          <p:cNvSpPr/>
          <p:nvPr/>
        </p:nvSpPr>
        <p:spPr>
          <a:xfrm>
            <a:off x="6035040" y="4364285"/>
            <a:ext cx="28041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Avance</a:t>
            </a:r>
            <a:endParaRPr lang="en-US" sz="1133" dirty="0"/>
          </a:p>
        </p:txBody>
      </p:sp>
      <p:sp>
        <p:nvSpPr>
          <p:cNvPr id="38" name="Text 35"/>
          <p:cNvSpPr/>
          <p:nvPr/>
        </p:nvSpPr>
        <p:spPr>
          <a:xfrm>
            <a:off x="8875776" y="4364285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% Logro</a:t>
            </a:r>
            <a:endParaRPr lang="en-US" sz="1133" dirty="0"/>
          </a:p>
        </p:txBody>
      </p:sp>
      <p:sp>
        <p:nvSpPr>
          <p:cNvPr id="39" name="Text 36"/>
          <p:cNvSpPr/>
          <p:nvPr/>
        </p:nvSpPr>
        <p:spPr>
          <a:xfrm>
            <a:off x="10058400" y="4364285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Proyeccion</a:t>
            </a:r>
            <a:endParaRPr lang="en-US" sz="1133" dirty="0"/>
          </a:p>
        </p:txBody>
      </p:sp>
      <p:sp>
        <p:nvSpPr>
          <p:cNvPr id="40" name="Shape 37"/>
          <p:cNvSpPr/>
          <p:nvPr/>
        </p:nvSpPr>
        <p:spPr>
          <a:xfrm>
            <a:off x="0" y="4808807"/>
            <a:ext cx="12192000" cy="375513"/>
          </a:xfrm>
          <a:prstGeom prst="rect">
            <a:avLst/>
          </a:prstGeom>
          <a:solidFill>
            <a:srgbClr val="FFFFFF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41" name="Text 38"/>
          <p:cNvSpPr/>
          <p:nvPr/>
        </p:nvSpPr>
        <p:spPr>
          <a:xfrm>
            <a:off x="243840" y="4808807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145078"/>
                </a:solidFill>
              </a:rPr>
              <a:t>BBVA Conv. Lima</a:t>
            </a:r>
            <a:endParaRPr lang="en-US" sz="1067" dirty="0"/>
          </a:p>
        </p:txBody>
      </p:sp>
      <p:sp>
        <p:nvSpPr>
          <p:cNvPr id="42" name="Text 39"/>
          <p:cNvSpPr/>
          <p:nvPr/>
        </p:nvSpPr>
        <p:spPr>
          <a:xfrm>
            <a:off x="3274475" y="4806047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01828"/>
                </a:solidFill>
              </a:rPr>
              <a:t>12</a:t>
            </a:r>
            <a:endParaRPr lang="en-US" sz="1067" dirty="0"/>
          </a:p>
        </p:txBody>
      </p:sp>
      <p:sp>
        <p:nvSpPr>
          <p:cNvPr id="43" name="Shape 40"/>
          <p:cNvSpPr/>
          <p:nvPr/>
        </p:nvSpPr>
        <p:spPr>
          <a:xfrm>
            <a:off x="6035040" y="4913951"/>
            <a:ext cx="2560320" cy="157716"/>
          </a:xfrm>
          <a:prstGeom prst="rect">
            <a:avLst/>
          </a:prstGeom>
          <a:solidFill>
            <a:srgbClr val="E5E7EB"/>
          </a:solidFill>
          <a:ln w="1693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44" name="Shape 41"/>
          <p:cNvSpPr/>
          <p:nvPr/>
        </p:nvSpPr>
        <p:spPr>
          <a:xfrm>
            <a:off x="6035040" y="4913951"/>
            <a:ext cx="2125065" cy="157716"/>
          </a:xfrm>
          <a:prstGeom prst="rect">
            <a:avLst/>
          </a:prstGeom>
          <a:solidFill>
            <a:srgbClr val="D97706"/>
          </a:solidFill>
          <a:ln w="16933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45" name="Text 42"/>
          <p:cNvSpPr/>
          <p:nvPr/>
        </p:nvSpPr>
        <p:spPr>
          <a:xfrm>
            <a:off x="8875776" y="4808807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D97706"/>
                </a:solidFill>
              </a:rPr>
              <a:t>83%</a:t>
            </a:r>
            <a:endParaRPr lang="en-US" sz="1067" dirty="0"/>
          </a:p>
        </p:txBody>
      </p:sp>
      <p:sp>
        <p:nvSpPr>
          <p:cNvPr id="46" name="Text 43"/>
          <p:cNvSpPr/>
          <p:nvPr/>
        </p:nvSpPr>
        <p:spPr>
          <a:xfrm>
            <a:off x="10058400" y="4808807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3" i="1" dirty="0">
                <a:solidFill>
                  <a:srgbClr val="667085"/>
                </a:solidFill>
              </a:rPr>
              <a:t>700</a:t>
            </a:r>
            <a:endParaRPr lang="en-US" sz="933" dirty="0"/>
          </a:p>
        </p:txBody>
      </p:sp>
      <p:sp>
        <p:nvSpPr>
          <p:cNvPr id="47" name="Shape 44"/>
          <p:cNvSpPr/>
          <p:nvPr/>
        </p:nvSpPr>
        <p:spPr>
          <a:xfrm>
            <a:off x="0" y="5184320"/>
            <a:ext cx="12192000" cy="375513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48" name="Text 45"/>
          <p:cNvSpPr/>
          <p:nvPr/>
        </p:nvSpPr>
        <p:spPr>
          <a:xfrm>
            <a:off x="243840" y="5184320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145078"/>
                </a:solidFill>
              </a:rPr>
              <a:t>BBVA Conv. Telecampo</a:t>
            </a:r>
            <a:endParaRPr lang="en-US" sz="1067" dirty="0"/>
          </a:p>
        </p:txBody>
      </p:sp>
      <p:sp>
        <p:nvSpPr>
          <p:cNvPr id="49" name="Text 46"/>
          <p:cNvSpPr/>
          <p:nvPr/>
        </p:nvSpPr>
        <p:spPr>
          <a:xfrm>
            <a:off x="3274475" y="5181560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01828"/>
                </a:solidFill>
              </a:rPr>
              <a:t>20</a:t>
            </a:r>
            <a:endParaRPr lang="en-US" sz="1067" dirty="0"/>
          </a:p>
        </p:txBody>
      </p:sp>
      <p:sp>
        <p:nvSpPr>
          <p:cNvPr id="50" name="Shape 47"/>
          <p:cNvSpPr/>
          <p:nvPr/>
        </p:nvSpPr>
        <p:spPr>
          <a:xfrm>
            <a:off x="6035040" y="5289464"/>
            <a:ext cx="2560320" cy="157716"/>
          </a:xfrm>
          <a:prstGeom prst="rect">
            <a:avLst/>
          </a:prstGeom>
          <a:solidFill>
            <a:srgbClr val="E5E7EB"/>
          </a:solidFill>
          <a:ln w="1693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51" name="Shape 48"/>
          <p:cNvSpPr/>
          <p:nvPr/>
        </p:nvSpPr>
        <p:spPr>
          <a:xfrm>
            <a:off x="6035040" y="5289464"/>
            <a:ext cx="2304288" cy="157716"/>
          </a:xfrm>
          <a:prstGeom prst="rect">
            <a:avLst/>
          </a:prstGeom>
          <a:solidFill>
            <a:srgbClr val="059669"/>
          </a:solidFill>
          <a:ln w="16933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52" name="Text 49"/>
          <p:cNvSpPr/>
          <p:nvPr/>
        </p:nvSpPr>
        <p:spPr>
          <a:xfrm>
            <a:off x="8875776" y="5184320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059669"/>
                </a:solidFill>
              </a:rPr>
              <a:t>90%</a:t>
            </a:r>
            <a:endParaRPr lang="en-US" sz="1067" dirty="0"/>
          </a:p>
        </p:txBody>
      </p:sp>
      <p:sp>
        <p:nvSpPr>
          <p:cNvPr id="53" name="Text 50"/>
          <p:cNvSpPr/>
          <p:nvPr/>
        </p:nvSpPr>
        <p:spPr>
          <a:xfrm>
            <a:off x="10058400" y="5184320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3" i="1" dirty="0">
                <a:solidFill>
                  <a:srgbClr val="667085"/>
                </a:solidFill>
              </a:rPr>
              <a:t>700</a:t>
            </a:r>
            <a:endParaRPr lang="en-US" sz="933" dirty="0"/>
          </a:p>
        </p:txBody>
      </p:sp>
      <p:sp>
        <p:nvSpPr>
          <p:cNvPr id="54" name="Shape 51"/>
          <p:cNvSpPr/>
          <p:nvPr/>
        </p:nvSpPr>
        <p:spPr>
          <a:xfrm>
            <a:off x="0" y="5559835"/>
            <a:ext cx="12192000" cy="375513"/>
          </a:xfrm>
          <a:prstGeom prst="rect">
            <a:avLst/>
          </a:prstGeom>
          <a:solidFill>
            <a:srgbClr val="FFFFFF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1867" dirty="0"/>
          </a:p>
        </p:txBody>
      </p:sp>
      <p:sp>
        <p:nvSpPr>
          <p:cNvPr id="55" name="Text 52"/>
          <p:cNvSpPr/>
          <p:nvPr/>
        </p:nvSpPr>
        <p:spPr>
          <a:xfrm>
            <a:off x="243840" y="5559835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145078"/>
                </a:solidFill>
              </a:rPr>
              <a:t>BBVA Conv. Norte</a:t>
            </a:r>
            <a:endParaRPr lang="en-US" sz="1067" dirty="0"/>
          </a:p>
        </p:txBody>
      </p:sp>
      <p:sp>
        <p:nvSpPr>
          <p:cNvPr id="56" name="Text 53"/>
          <p:cNvSpPr/>
          <p:nvPr/>
        </p:nvSpPr>
        <p:spPr>
          <a:xfrm>
            <a:off x="3274475" y="5557075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01828"/>
                </a:solidFill>
              </a:rPr>
              <a:t>25</a:t>
            </a:r>
            <a:endParaRPr lang="en-US" sz="1067" dirty="0"/>
          </a:p>
        </p:txBody>
      </p:sp>
      <p:sp>
        <p:nvSpPr>
          <p:cNvPr id="57" name="Shape 54"/>
          <p:cNvSpPr/>
          <p:nvPr/>
        </p:nvSpPr>
        <p:spPr>
          <a:xfrm>
            <a:off x="6035040" y="5664977"/>
            <a:ext cx="2560320" cy="157716"/>
          </a:xfrm>
          <a:prstGeom prst="rect">
            <a:avLst/>
          </a:prstGeom>
          <a:solidFill>
            <a:srgbClr val="E5E7EB"/>
          </a:solidFill>
          <a:ln w="1693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58" name="Shape 55"/>
          <p:cNvSpPr/>
          <p:nvPr/>
        </p:nvSpPr>
        <p:spPr>
          <a:xfrm>
            <a:off x="6035040" y="5664977"/>
            <a:ext cx="2253081" cy="157716"/>
          </a:xfrm>
          <a:prstGeom prst="rect">
            <a:avLst/>
          </a:prstGeom>
          <a:solidFill>
            <a:srgbClr val="D97706"/>
          </a:solidFill>
          <a:ln w="16933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59" name="Text 56"/>
          <p:cNvSpPr/>
          <p:nvPr/>
        </p:nvSpPr>
        <p:spPr>
          <a:xfrm>
            <a:off x="8875776" y="5559835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D97706"/>
                </a:solidFill>
              </a:rPr>
              <a:t>88%</a:t>
            </a:r>
            <a:endParaRPr lang="en-US" sz="1067" dirty="0"/>
          </a:p>
        </p:txBody>
      </p:sp>
      <p:sp>
        <p:nvSpPr>
          <p:cNvPr id="60" name="Text 57"/>
          <p:cNvSpPr/>
          <p:nvPr/>
        </p:nvSpPr>
        <p:spPr>
          <a:xfrm>
            <a:off x="10058400" y="5559835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3" i="1" dirty="0">
                <a:solidFill>
                  <a:srgbClr val="667085"/>
                </a:solidFill>
              </a:rPr>
              <a:t>700</a:t>
            </a:r>
            <a:endParaRPr lang="en-US" sz="933" dirty="0"/>
          </a:p>
        </p:txBody>
      </p:sp>
      <p:sp>
        <p:nvSpPr>
          <p:cNvPr id="62" name="Text 59"/>
          <p:cNvSpPr/>
          <p:nvPr/>
        </p:nvSpPr>
        <p:spPr>
          <a:xfrm>
            <a:off x="253367" y="6209395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145078"/>
                </a:solidFill>
              </a:rPr>
              <a:t>BBVA Conv. Oriente</a:t>
            </a:r>
            <a:endParaRPr lang="en-US" sz="1067" dirty="0"/>
          </a:p>
        </p:txBody>
      </p:sp>
      <p:sp>
        <p:nvSpPr>
          <p:cNvPr id="63" name="Text 60"/>
          <p:cNvSpPr/>
          <p:nvPr/>
        </p:nvSpPr>
        <p:spPr>
          <a:xfrm>
            <a:off x="3274475" y="5932588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01828"/>
                </a:solidFill>
              </a:rPr>
              <a:t>22</a:t>
            </a:r>
            <a:endParaRPr lang="en-US" sz="1067" dirty="0"/>
          </a:p>
        </p:txBody>
      </p:sp>
      <p:sp>
        <p:nvSpPr>
          <p:cNvPr id="64" name="Shape 61"/>
          <p:cNvSpPr/>
          <p:nvPr/>
        </p:nvSpPr>
        <p:spPr>
          <a:xfrm>
            <a:off x="6035040" y="6040492"/>
            <a:ext cx="2560320" cy="157716"/>
          </a:xfrm>
          <a:prstGeom prst="rect">
            <a:avLst/>
          </a:prstGeom>
          <a:solidFill>
            <a:srgbClr val="E5E7EB"/>
          </a:solidFill>
          <a:ln w="1693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65" name="Shape 62"/>
          <p:cNvSpPr/>
          <p:nvPr/>
        </p:nvSpPr>
        <p:spPr>
          <a:xfrm>
            <a:off x="6035040" y="6040492"/>
            <a:ext cx="2201875" cy="157716"/>
          </a:xfrm>
          <a:prstGeom prst="rect">
            <a:avLst/>
          </a:prstGeom>
          <a:solidFill>
            <a:srgbClr val="D97706"/>
          </a:solidFill>
          <a:ln w="16933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66" name="Text 63"/>
          <p:cNvSpPr/>
          <p:nvPr/>
        </p:nvSpPr>
        <p:spPr>
          <a:xfrm>
            <a:off x="8875776" y="5935348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D97706"/>
                </a:solidFill>
              </a:rPr>
              <a:t>86%</a:t>
            </a:r>
            <a:endParaRPr lang="en-US" sz="1067" dirty="0"/>
          </a:p>
        </p:txBody>
      </p:sp>
      <p:sp>
        <p:nvSpPr>
          <p:cNvPr id="67" name="Text 64"/>
          <p:cNvSpPr/>
          <p:nvPr/>
        </p:nvSpPr>
        <p:spPr>
          <a:xfrm>
            <a:off x="10058400" y="5935348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3" i="1" dirty="0">
                <a:solidFill>
                  <a:srgbClr val="667085"/>
                </a:solidFill>
              </a:rPr>
              <a:t>700</a:t>
            </a:r>
            <a:endParaRPr lang="en-US" sz="933" dirty="0"/>
          </a:p>
        </p:txBody>
      </p:sp>
      <p:sp>
        <p:nvSpPr>
          <p:cNvPr id="69" name="Text 66"/>
          <p:cNvSpPr/>
          <p:nvPr/>
        </p:nvSpPr>
        <p:spPr>
          <a:xfrm>
            <a:off x="-15240" y="6600815"/>
            <a:ext cx="11582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7085"/>
                </a:solidFill>
              </a:rPr>
              <a:t>TU META ES NUESTRA META  ·  BBVA CONVENIOS  |   Sheyla Ramos  |   Agosto 2026</a:t>
            </a:r>
            <a:endParaRPr lang="en-US" sz="800" dirty="0"/>
          </a:p>
        </p:txBody>
      </p:sp>
      <p:sp>
        <p:nvSpPr>
          <p:cNvPr id="71" name="Text 39">
            <a:extLst>
              <a:ext uri="{FF2B5EF4-FFF2-40B4-BE49-F238E27FC236}">
                <a16:creationId xmlns:a16="http://schemas.microsoft.com/office/drawing/2014/main" id="{BBE9F211-45A5-BA17-A407-5C3D2D5E01C0}"/>
              </a:ext>
            </a:extLst>
          </p:cNvPr>
          <p:cNvSpPr/>
          <p:nvPr/>
        </p:nvSpPr>
        <p:spPr>
          <a:xfrm>
            <a:off x="6787700" y="4811176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900</a:t>
            </a:r>
            <a:endParaRPr lang="en-US" sz="1067" dirty="0"/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9739C4FB-C6F0-5718-92AC-168903A98407}"/>
              </a:ext>
            </a:extLst>
          </p:cNvPr>
          <p:cNvSpPr/>
          <p:nvPr/>
        </p:nvSpPr>
        <p:spPr>
          <a:xfrm>
            <a:off x="6845717" y="5191849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900</a:t>
            </a:r>
            <a:endParaRPr lang="en-US" sz="1067" dirty="0"/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DA8907C7-B650-7E80-A036-E2338D79CEBF}"/>
              </a:ext>
            </a:extLst>
          </p:cNvPr>
          <p:cNvSpPr/>
          <p:nvPr/>
        </p:nvSpPr>
        <p:spPr>
          <a:xfrm>
            <a:off x="6821333" y="5556077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900</a:t>
            </a:r>
            <a:endParaRPr lang="en-US" sz="1067" dirty="0"/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893EA4AE-ED9B-6CA2-CFEC-AF368EFA86EE}"/>
              </a:ext>
            </a:extLst>
          </p:cNvPr>
          <p:cNvSpPr/>
          <p:nvPr/>
        </p:nvSpPr>
        <p:spPr>
          <a:xfrm>
            <a:off x="6821333" y="5923156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900</a:t>
            </a:r>
            <a:endParaRPr lang="en-US" sz="1067" dirty="0"/>
          </a:p>
        </p:txBody>
      </p:sp>
      <p:sp>
        <p:nvSpPr>
          <p:cNvPr id="79" name="Text 33">
            <a:extLst>
              <a:ext uri="{FF2B5EF4-FFF2-40B4-BE49-F238E27FC236}">
                <a16:creationId xmlns:a16="http://schemas.microsoft.com/office/drawing/2014/main" id="{0CACAE7C-1921-24FD-B255-786D9F421FB3}"/>
              </a:ext>
            </a:extLst>
          </p:cNvPr>
          <p:cNvSpPr/>
          <p:nvPr/>
        </p:nvSpPr>
        <p:spPr>
          <a:xfrm>
            <a:off x="4138149" y="4366832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 err="1">
                <a:solidFill>
                  <a:srgbClr val="FFFFFF"/>
                </a:solidFill>
              </a:rPr>
              <a:t>Conectados</a:t>
            </a:r>
            <a:endParaRPr lang="en-US" sz="1133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6BF71203-C7EC-7F9E-8B17-7BB746571FE6}"/>
              </a:ext>
            </a:extLst>
          </p:cNvPr>
          <p:cNvSpPr/>
          <p:nvPr/>
        </p:nvSpPr>
        <p:spPr>
          <a:xfrm>
            <a:off x="4408117" y="4901391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dirty="0">
                <a:solidFill>
                  <a:srgbClr val="111010"/>
                </a:solidFill>
              </a:rPr>
              <a:t>40</a:t>
            </a:r>
            <a:endParaRPr lang="en-US" sz="1267" dirty="0"/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0041979E-326E-63A7-480C-145660A93053}"/>
              </a:ext>
            </a:extLst>
          </p:cNvPr>
          <p:cNvSpPr/>
          <p:nvPr/>
        </p:nvSpPr>
        <p:spPr>
          <a:xfrm>
            <a:off x="4426383" y="5213516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20</a:t>
            </a:r>
            <a:endParaRPr lang="en-US" sz="1067" dirty="0"/>
          </a:p>
        </p:txBody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6CA350C2-4943-0699-47E4-98BF833841D6}"/>
              </a:ext>
            </a:extLst>
          </p:cNvPr>
          <p:cNvSpPr/>
          <p:nvPr/>
        </p:nvSpPr>
        <p:spPr>
          <a:xfrm>
            <a:off x="4448883" y="5587647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28</a:t>
            </a:r>
            <a:endParaRPr lang="en-US" sz="1067" dirty="0"/>
          </a:p>
        </p:txBody>
      </p:sp>
      <p:sp>
        <p:nvSpPr>
          <p:cNvPr id="87" name="Text 39">
            <a:extLst>
              <a:ext uri="{FF2B5EF4-FFF2-40B4-BE49-F238E27FC236}">
                <a16:creationId xmlns:a16="http://schemas.microsoft.com/office/drawing/2014/main" id="{44DFD12E-CDA2-118E-71A3-9CA5686F69E4}"/>
              </a:ext>
            </a:extLst>
          </p:cNvPr>
          <p:cNvSpPr/>
          <p:nvPr/>
        </p:nvSpPr>
        <p:spPr>
          <a:xfrm>
            <a:off x="4481225" y="5928656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4</a:t>
            </a:r>
            <a:endParaRPr lang="en-US" sz="1067" dirty="0"/>
          </a:p>
        </p:txBody>
      </p:sp>
      <p:sp>
        <p:nvSpPr>
          <p:cNvPr id="91" name="Text 59">
            <a:extLst>
              <a:ext uri="{FF2B5EF4-FFF2-40B4-BE49-F238E27FC236}">
                <a16:creationId xmlns:a16="http://schemas.microsoft.com/office/drawing/2014/main" id="{DFC632F1-521C-5FA9-948D-98F5C8218648}"/>
              </a:ext>
            </a:extLst>
          </p:cNvPr>
          <p:cNvSpPr/>
          <p:nvPr/>
        </p:nvSpPr>
        <p:spPr>
          <a:xfrm>
            <a:off x="247383" y="5894361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145078"/>
                </a:solidFill>
              </a:rPr>
              <a:t>BBVA Conv. Sur</a:t>
            </a:r>
            <a:endParaRPr lang="en-US" sz="1067" dirty="0"/>
          </a:p>
        </p:txBody>
      </p:sp>
      <p:sp>
        <p:nvSpPr>
          <p:cNvPr id="93" name="Text 60">
            <a:extLst>
              <a:ext uri="{FF2B5EF4-FFF2-40B4-BE49-F238E27FC236}">
                <a16:creationId xmlns:a16="http://schemas.microsoft.com/office/drawing/2014/main" id="{57F6436D-E93C-A866-2C0A-72558B67DCBE}"/>
              </a:ext>
            </a:extLst>
          </p:cNvPr>
          <p:cNvSpPr/>
          <p:nvPr/>
        </p:nvSpPr>
        <p:spPr>
          <a:xfrm>
            <a:off x="3283499" y="6216457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01828"/>
                </a:solidFill>
              </a:rPr>
              <a:t>22</a:t>
            </a:r>
            <a:endParaRPr lang="en-US" sz="1067" dirty="0"/>
          </a:p>
        </p:txBody>
      </p:sp>
      <p:sp>
        <p:nvSpPr>
          <p:cNvPr id="95" name="Text 39">
            <a:extLst>
              <a:ext uri="{FF2B5EF4-FFF2-40B4-BE49-F238E27FC236}">
                <a16:creationId xmlns:a16="http://schemas.microsoft.com/office/drawing/2014/main" id="{0717CE86-AB76-1918-6623-C813E72FFD7D}"/>
              </a:ext>
            </a:extLst>
          </p:cNvPr>
          <p:cNvSpPr/>
          <p:nvPr/>
        </p:nvSpPr>
        <p:spPr>
          <a:xfrm>
            <a:off x="4488896" y="624686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4</a:t>
            </a:r>
            <a:endParaRPr lang="en-US" sz="1067" dirty="0"/>
          </a:p>
        </p:txBody>
      </p:sp>
      <p:sp>
        <p:nvSpPr>
          <p:cNvPr id="101" name="Shape 61">
            <a:extLst>
              <a:ext uri="{FF2B5EF4-FFF2-40B4-BE49-F238E27FC236}">
                <a16:creationId xmlns:a16="http://schemas.microsoft.com/office/drawing/2014/main" id="{AA0CA985-77A4-1BD8-33D2-D5D819E47FA4}"/>
              </a:ext>
            </a:extLst>
          </p:cNvPr>
          <p:cNvSpPr/>
          <p:nvPr/>
        </p:nvSpPr>
        <p:spPr>
          <a:xfrm>
            <a:off x="6088723" y="6347204"/>
            <a:ext cx="2560320" cy="157716"/>
          </a:xfrm>
          <a:prstGeom prst="rect">
            <a:avLst/>
          </a:prstGeom>
          <a:solidFill>
            <a:srgbClr val="E5E7EB"/>
          </a:solidFill>
          <a:ln w="1693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97" name="Shape 62">
            <a:extLst>
              <a:ext uri="{FF2B5EF4-FFF2-40B4-BE49-F238E27FC236}">
                <a16:creationId xmlns:a16="http://schemas.microsoft.com/office/drawing/2014/main" id="{D5E6F4F4-4BB3-96CB-AF80-07B00F5CC9E2}"/>
              </a:ext>
            </a:extLst>
          </p:cNvPr>
          <p:cNvSpPr/>
          <p:nvPr/>
        </p:nvSpPr>
        <p:spPr>
          <a:xfrm>
            <a:off x="6069912" y="6348119"/>
            <a:ext cx="2201875" cy="157716"/>
          </a:xfrm>
          <a:prstGeom prst="rect">
            <a:avLst/>
          </a:prstGeom>
          <a:solidFill>
            <a:srgbClr val="D97706"/>
          </a:solidFill>
          <a:ln w="16933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 sz="1867"/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52D1BBE0-41F8-3157-1A79-F802C038E87A}"/>
              </a:ext>
            </a:extLst>
          </p:cNvPr>
          <p:cNvSpPr/>
          <p:nvPr/>
        </p:nvSpPr>
        <p:spPr>
          <a:xfrm>
            <a:off x="6856205" y="6230783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111010"/>
                </a:solidFill>
              </a:rPr>
              <a:t>900</a:t>
            </a:r>
            <a:endParaRPr lang="en-US" sz="1067" dirty="0"/>
          </a:p>
        </p:txBody>
      </p:sp>
      <p:sp>
        <p:nvSpPr>
          <p:cNvPr id="103" name="Text 63">
            <a:extLst>
              <a:ext uri="{FF2B5EF4-FFF2-40B4-BE49-F238E27FC236}">
                <a16:creationId xmlns:a16="http://schemas.microsoft.com/office/drawing/2014/main" id="{D73B47FE-74EB-55D4-B959-CFC3A28C71A1}"/>
              </a:ext>
            </a:extLst>
          </p:cNvPr>
          <p:cNvSpPr/>
          <p:nvPr/>
        </p:nvSpPr>
        <p:spPr>
          <a:xfrm>
            <a:off x="8894951" y="6230561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dirty="0">
                <a:solidFill>
                  <a:srgbClr val="D97706"/>
                </a:solidFill>
              </a:rPr>
              <a:t>86%</a:t>
            </a:r>
            <a:endParaRPr lang="en-US" sz="1067" dirty="0"/>
          </a:p>
        </p:txBody>
      </p:sp>
      <p:sp>
        <p:nvSpPr>
          <p:cNvPr id="105" name="Text 64">
            <a:extLst>
              <a:ext uri="{FF2B5EF4-FFF2-40B4-BE49-F238E27FC236}">
                <a16:creationId xmlns:a16="http://schemas.microsoft.com/office/drawing/2014/main" id="{916BD683-1652-98CD-4EF9-2457640F25DD}"/>
              </a:ext>
            </a:extLst>
          </p:cNvPr>
          <p:cNvSpPr/>
          <p:nvPr/>
        </p:nvSpPr>
        <p:spPr>
          <a:xfrm>
            <a:off x="10077575" y="6230561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3" i="1" dirty="0">
                <a:solidFill>
                  <a:srgbClr val="667085"/>
                </a:solidFill>
              </a:rPr>
              <a:t>700</a:t>
            </a:r>
            <a:endParaRPr lang="en-US" sz="933" dirty="0"/>
          </a:p>
        </p:txBody>
      </p:sp>
      <p:pic>
        <p:nvPicPr>
          <p:cNvPr id="107" name="Picture 8">
            <a:extLst>
              <a:ext uri="{FF2B5EF4-FFF2-40B4-BE49-F238E27FC236}">
                <a16:creationId xmlns:a16="http://schemas.microsoft.com/office/drawing/2014/main" id="{0AFA0D32-5A0E-A7FC-9D89-11C05C1E7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108" name="Panel Resum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8784"/>
            <a:ext cx="12192000" cy="5643743"/>
          </a:xfrm>
          <a:prstGeom prst="rect">
            <a:avLst/>
          </a:prstGeom>
        </p:spPr>
      </p:pic>
      <p:sp>
        <p:nvSpPr>
          <p:cNvPr id="109" name="dato_manual"/>
          <p:cNvSpPr>
            <a:spLocks noGrp="1"/>
          </p:cNvSpPr>
          <p:nvPr/>
        </p:nvSpPr>
        <p:spPr>
          <a:xfrm>
            <a:off x="3657600" y="1917607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s-PE" sz="2200" b="1" dirty="0">
                <a:solidFill>
                  <a:srgbClr val="103A5E"/>
                </a:solidFill>
                <a:latin typeface="Arial"/>
              </a:rPr>
              <a:t>69</a:t>
            </a:r>
          </a:p>
        </p:txBody>
      </p:sp>
      <p:sp>
        <p:nvSpPr>
          <p:cNvPr id="110" name="dato_manual"/>
          <p:cNvSpPr>
            <a:spLocks noGrp="1"/>
          </p:cNvSpPr>
          <p:nvPr/>
        </p:nvSpPr>
        <p:spPr>
          <a:xfrm>
            <a:off x="5812535" y="1917607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s-PE" sz="2200" b="1" dirty="0">
                <a:solidFill>
                  <a:srgbClr val="103A5E"/>
                </a:solidFill>
                <a:latin typeface="Arial"/>
              </a:rPr>
              <a:t>15</a:t>
            </a:r>
          </a:p>
        </p:txBody>
      </p:sp>
      <p:sp>
        <p:nvSpPr>
          <p:cNvPr id="111" name="dato_manual"/>
          <p:cNvSpPr>
            <a:spLocks noGrp="1"/>
          </p:cNvSpPr>
          <p:nvPr/>
        </p:nvSpPr>
        <p:spPr>
          <a:xfrm>
            <a:off x="3374745" y="4138536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2" name="dato_manual"/>
          <p:cNvSpPr>
            <a:spLocks noGrp="1"/>
          </p:cNvSpPr>
          <p:nvPr/>
        </p:nvSpPr>
        <p:spPr>
          <a:xfrm>
            <a:off x="4779264" y="4138536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3" name="dato_manual"/>
          <p:cNvSpPr>
            <a:spLocks noGrp="1"/>
          </p:cNvSpPr>
          <p:nvPr/>
        </p:nvSpPr>
        <p:spPr>
          <a:xfrm>
            <a:off x="3374745" y="447702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4" name="dato_manual"/>
          <p:cNvSpPr>
            <a:spLocks noGrp="1"/>
          </p:cNvSpPr>
          <p:nvPr/>
        </p:nvSpPr>
        <p:spPr>
          <a:xfrm>
            <a:off x="4779264" y="447702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5" name="dato_manual"/>
          <p:cNvSpPr>
            <a:spLocks noGrp="1"/>
          </p:cNvSpPr>
          <p:nvPr/>
        </p:nvSpPr>
        <p:spPr>
          <a:xfrm>
            <a:off x="3374745" y="4815505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6" name="dato_manual"/>
          <p:cNvSpPr>
            <a:spLocks noGrp="1"/>
          </p:cNvSpPr>
          <p:nvPr/>
        </p:nvSpPr>
        <p:spPr>
          <a:xfrm>
            <a:off x="4779264" y="4815505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7" name="dato_manual"/>
          <p:cNvSpPr>
            <a:spLocks noGrp="1"/>
          </p:cNvSpPr>
          <p:nvPr/>
        </p:nvSpPr>
        <p:spPr>
          <a:xfrm>
            <a:off x="3374745" y="515399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8" name="dato_manual"/>
          <p:cNvSpPr>
            <a:spLocks noGrp="1"/>
          </p:cNvSpPr>
          <p:nvPr/>
        </p:nvSpPr>
        <p:spPr>
          <a:xfrm>
            <a:off x="4779264" y="515399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9" name="dato_manual"/>
          <p:cNvSpPr>
            <a:spLocks noGrp="1"/>
          </p:cNvSpPr>
          <p:nvPr/>
        </p:nvSpPr>
        <p:spPr>
          <a:xfrm>
            <a:off x="3374745" y="5492475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20" name="dato_manual"/>
          <p:cNvSpPr>
            <a:spLocks noGrp="1"/>
          </p:cNvSpPr>
          <p:nvPr/>
        </p:nvSpPr>
        <p:spPr>
          <a:xfrm>
            <a:off x="4779264" y="5492475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21" name="dato_manual"/>
          <p:cNvSpPr>
            <a:spLocks noGrp="1"/>
          </p:cNvSpPr>
          <p:nvPr/>
        </p:nvSpPr>
        <p:spPr>
          <a:xfrm>
            <a:off x="3374745" y="583095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22" name="dato_manual"/>
          <p:cNvSpPr>
            <a:spLocks noGrp="1"/>
          </p:cNvSpPr>
          <p:nvPr/>
        </p:nvSpPr>
        <p:spPr>
          <a:xfrm>
            <a:off x="4779264" y="583095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23" name="dato_manual"/>
          <p:cNvSpPr>
            <a:spLocks noGrp="1"/>
          </p:cNvSpPr>
          <p:nvPr/>
        </p:nvSpPr>
        <p:spPr>
          <a:xfrm>
            <a:off x="3374745" y="6169444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123A5E"/>
                </a:solidFill>
                <a:latin typeface="Arial"/>
              </a:rPr>
              <a:t>0</a:t>
            </a:r>
          </a:p>
        </p:txBody>
      </p:sp>
      <p:sp>
        <p:nvSpPr>
          <p:cNvPr id="124" name="dato_manual"/>
          <p:cNvSpPr>
            <a:spLocks noGrp="1"/>
          </p:cNvSpPr>
          <p:nvPr/>
        </p:nvSpPr>
        <p:spPr>
          <a:xfrm>
            <a:off x="4779264" y="6169444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123A5E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BBVA CONVENIOS  | TELECAMPO: Información al 8 de Agosto </a:t>
            </a:r>
            <a:endParaRPr lang="en-US" sz="1667" dirty="0"/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2 / 4</a:t>
            </a:r>
            <a:endParaRPr lang="en-US" sz="1067" dirty="0"/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667085"/>
                </a:solidFill>
              </a:rPr>
              <a:t>Sub Gerente : Sheyla Ramos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499872" y="2693035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C0392B"/>
                </a:solidFill>
              </a:rPr>
              <a:t>63.2%</a:t>
            </a:r>
            <a:endParaRPr lang="en-US" sz="96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27EA2489-7279-F978-D858-EE8912551351}"/>
              </a:ext>
            </a:extLst>
          </p:cNvPr>
          <p:cNvSpPr/>
          <p:nvPr/>
        </p:nvSpPr>
        <p:spPr>
          <a:xfrm>
            <a:off x="564611" y="2700881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6.50M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610F36D7-6934-4762-36C4-25EB5CC397D4}"/>
              </a:ext>
            </a:extLst>
          </p:cNvPr>
          <p:cNvSpPr/>
          <p:nvPr/>
        </p:nvSpPr>
        <p:spPr>
          <a:xfrm>
            <a:off x="-75144" y="4219067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500.9K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470AAE93-3E6D-6ABC-978C-0EBA14A72CA4}"/>
              </a:ext>
            </a:extLst>
          </p:cNvPr>
          <p:cNvSpPr/>
          <p:nvPr/>
        </p:nvSpPr>
        <p:spPr>
          <a:xfrm>
            <a:off x="1523157" y="4214480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792.1K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5" name="Imagen_barras" descr="image.png">
            <a:extLst>
              <a:ext uri="{FF2B5EF4-FFF2-40B4-BE49-F238E27FC236}">
                <a16:creationId xmlns:a16="http://schemas.microsoft.com/office/drawing/2014/main" id="{A3B3A0DA-44FD-69D2-8D56-F057EFDAB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1234571"/>
            <a:ext cx="7837469" cy="3245425"/>
          </a:xfrm>
          <a:prstGeom prst="rect">
            <a:avLst/>
          </a:prstGeom>
        </p:spPr>
      </p:pic>
      <p:pic>
        <p:nvPicPr>
          <p:cNvPr id="37" name="Picture 34" descr="image.png">
            <a:extLst>
              <a:ext uri="{FF2B5EF4-FFF2-40B4-BE49-F238E27FC236}">
                <a16:creationId xmlns:a16="http://schemas.microsoft.com/office/drawing/2014/main" id="{EA6B5B9D-BF35-B4BC-E75A-C33D4566E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367" y="4709649"/>
            <a:ext cx="2623072" cy="1752111"/>
          </a:xfrm>
          <a:prstGeom prst="rect">
            <a:avLst/>
          </a:prstGeom>
        </p:spPr>
      </p:pic>
      <p:pic>
        <p:nvPicPr>
          <p:cNvPr id="39" name="Asesor" descr="image.png">
            <a:extLst>
              <a:ext uri="{FF2B5EF4-FFF2-40B4-BE49-F238E27FC236}">
                <a16:creationId xmlns:a16="http://schemas.microsoft.com/office/drawing/2014/main" id="{34D6065A-9504-0D23-92D5-C9D916EA6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4044" y="4649397"/>
            <a:ext cx="3140753" cy="1948063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3213149F-0CF0-EF74-5FE2-D13E756455B8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E877B0F1-27DA-4E32-C4EE-4F4F411F4FCA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E6607949-A43B-8073-1A4C-3B902659B7AF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0392B"/>
                </a:solidFill>
              </a:rPr>
              <a:t>Bajo la meta</a:t>
            </a:r>
            <a:endParaRPr lang="en-US" sz="1267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372A4D65-94DD-9C93-0BCD-B3C2450C16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7" name="Cliente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BBVA CONVENIOS  | CENTRO: Información al 8 de Agosto </a:t>
            </a:r>
            <a:endParaRPr lang="en-US" sz="1667" dirty="0"/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2 / 4</a:t>
            </a:r>
            <a:endParaRPr lang="en-US" sz="1067" dirty="0"/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667085"/>
                </a:solidFill>
              </a:rPr>
              <a:t>Sub Gerente : Sheyla Ramos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499872" y="2693035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C0392B"/>
                </a:solidFill>
              </a:rPr>
              <a:t>0.0%</a:t>
            </a:r>
            <a:endParaRPr lang="en-US" sz="96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27EA2489-7279-F978-D858-EE8912551351}"/>
              </a:ext>
            </a:extLst>
          </p:cNvPr>
          <p:cNvSpPr/>
          <p:nvPr/>
        </p:nvSpPr>
        <p:spPr>
          <a:xfrm>
            <a:off x="564611" y="2700881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1.50M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610F36D7-6934-4762-36C4-25EB5CC397D4}"/>
              </a:ext>
            </a:extLst>
          </p:cNvPr>
          <p:cNvSpPr/>
          <p:nvPr/>
        </p:nvSpPr>
        <p:spPr>
          <a:xfrm>
            <a:off x="-75144" y="4219067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0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470AAE93-3E6D-6ABC-978C-0EBA14A72CA4}"/>
              </a:ext>
            </a:extLst>
          </p:cNvPr>
          <p:cNvSpPr/>
          <p:nvPr/>
        </p:nvSpPr>
        <p:spPr>
          <a:xfrm>
            <a:off x="1523157" y="4214480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387.1K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5" name="Imagen_barras" descr="image.png">
            <a:extLst>
              <a:ext uri="{FF2B5EF4-FFF2-40B4-BE49-F238E27FC236}">
                <a16:creationId xmlns:a16="http://schemas.microsoft.com/office/drawing/2014/main" id="{A3B3A0DA-44FD-69D2-8D56-F057EFDAB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1234571"/>
            <a:ext cx="7837469" cy="3245425"/>
          </a:xfrm>
          <a:prstGeom prst="rect">
            <a:avLst/>
          </a:prstGeom>
        </p:spPr>
      </p:pic>
      <p:pic>
        <p:nvPicPr>
          <p:cNvPr id="37" name="Picture 34" descr="image.png">
            <a:extLst>
              <a:ext uri="{FF2B5EF4-FFF2-40B4-BE49-F238E27FC236}">
                <a16:creationId xmlns:a16="http://schemas.microsoft.com/office/drawing/2014/main" id="{EA6B5B9D-BF35-B4BC-E75A-C33D4566E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367" y="4709649"/>
            <a:ext cx="2623072" cy="1752111"/>
          </a:xfrm>
          <a:prstGeom prst="rect">
            <a:avLst/>
          </a:prstGeom>
        </p:spPr>
      </p:pic>
      <p:pic>
        <p:nvPicPr>
          <p:cNvPr id="39" name="Asesor" descr="image.png">
            <a:extLst>
              <a:ext uri="{FF2B5EF4-FFF2-40B4-BE49-F238E27FC236}">
                <a16:creationId xmlns:a16="http://schemas.microsoft.com/office/drawing/2014/main" id="{34D6065A-9504-0D23-92D5-C9D916EA6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044" y="4649397"/>
            <a:ext cx="3140753" cy="1948063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3213149F-0CF0-EF74-5FE2-D13E756455B8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E877B0F1-27DA-4E32-C4EE-4F4F411F4FCA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E6607949-A43B-8073-1A4C-3B902659B7AF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0392B"/>
                </a:solidFill>
              </a:rPr>
              <a:t>Bajo la meta</a:t>
            </a:r>
            <a:endParaRPr lang="en-US" sz="1267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372A4D65-94DD-9C93-0BCD-B3C2450C16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7" name="Client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BBVA CONVENIOS  | LIMA CAMPO: Información al 8 de Agosto  </a:t>
            </a:r>
            <a:endParaRPr lang="en-US" sz="1667" dirty="0"/>
          </a:p>
        </p:txBody>
      </p:sp>
      <p:sp>
        <p:nvSpPr>
          <p:cNvPr id="12" name="Text 9"/>
          <p:cNvSpPr/>
          <p:nvPr/>
        </p:nvSpPr>
        <p:spPr>
          <a:xfrm>
            <a:off x="182880" y="167030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667085"/>
                </a:solidFill>
              </a:rPr>
              <a:t>Sub Gerente: Sheyla Ramos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321653" y="2952803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8CA61E"/>
                </a:solidFill>
              </a:rPr>
              <a:t>104%</a:t>
            </a:r>
            <a:endParaRPr lang="en-US" sz="96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8480DA6F-65FA-B069-34CD-9AA6C627D6DC}"/>
              </a:ext>
            </a:extLst>
          </p:cNvPr>
          <p:cNvSpPr/>
          <p:nvPr/>
        </p:nvSpPr>
        <p:spPr>
          <a:xfrm>
            <a:off x="610619" y="284265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7.70M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7C8E20B4-2106-61B7-614C-6736DAF7EF5F}"/>
              </a:ext>
            </a:extLst>
          </p:cNvPr>
          <p:cNvSpPr/>
          <p:nvPr/>
        </p:nvSpPr>
        <p:spPr>
          <a:xfrm>
            <a:off x="-98148" y="438384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950.5K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741327E9-B672-3DCB-C2E1-A7265FAA11FC}"/>
              </a:ext>
            </a:extLst>
          </p:cNvPr>
          <p:cNvSpPr/>
          <p:nvPr/>
        </p:nvSpPr>
        <p:spPr>
          <a:xfrm>
            <a:off x="1523157" y="4402260"/>
            <a:ext cx="2036907" cy="352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918.1K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Imagen_barras" descr="image.png">
            <a:extLst>
              <a:ext uri="{FF2B5EF4-FFF2-40B4-BE49-F238E27FC236}">
                <a16:creationId xmlns:a16="http://schemas.microsoft.com/office/drawing/2014/main" id="{9B074277-10BE-3B3E-3741-ED0214CF2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875" y="1012940"/>
            <a:ext cx="6321509" cy="2894412"/>
          </a:xfrm>
          <a:prstGeom prst="rect">
            <a:avLst/>
          </a:prstGeom>
        </p:spPr>
      </p:pic>
      <p:pic>
        <p:nvPicPr>
          <p:cNvPr id="29" name="Picture 34" descr="image.png">
            <a:extLst>
              <a:ext uri="{FF2B5EF4-FFF2-40B4-BE49-F238E27FC236}">
                <a16:creationId xmlns:a16="http://schemas.microsoft.com/office/drawing/2014/main" id="{9C77F8C9-766E-27C3-C891-996AEC5E0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549" y="4085141"/>
            <a:ext cx="3625379" cy="2421613"/>
          </a:xfrm>
          <a:prstGeom prst="rect">
            <a:avLst/>
          </a:prstGeom>
        </p:spPr>
      </p:pic>
      <p:pic>
        <p:nvPicPr>
          <p:cNvPr id="31" name="Asesor" descr="image.png">
            <a:extLst>
              <a:ext uri="{FF2B5EF4-FFF2-40B4-BE49-F238E27FC236}">
                <a16:creationId xmlns:a16="http://schemas.microsoft.com/office/drawing/2014/main" id="{D6059DDA-6B4F-BA7A-BC24-D63B5754B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0452" y="4085141"/>
            <a:ext cx="3792379" cy="2352235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5E2F0946-28EF-962B-4113-EE13E9AF55C5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EAF0D2"/>
          </a:solidFill>
          <a:ln w="16933">
            <a:solidFill>
              <a:srgbClr val="EAF0D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6A077831-C390-D5A5-FA6A-1FEC2314D1E9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8CA61E"/>
          </a:solidFill>
          <a:ln w="16933">
            <a:solidFill>
              <a:srgbClr val="8CA6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F7A403F1-17A5-172C-D72C-E235F0491CA5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8CA61E"/>
                </a:solidFill>
              </a:rPr>
              <a:t>Meta alcanzada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0332C3-2CA6-5458-CC22-55C4D67D8E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BBVA CONVENIOS  | PROVINCIA NORTE:  Información al 8 de Agosto </a:t>
            </a:r>
            <a:endParaRPr lang="en-US" sz="1667" dirty="0"/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3 / 4</a:t>
            </a:r>
            <a:endParaRPr lang="en-US" sz="1067" dirty="0"/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667085"/>
                </a:solidFill>
              </a:rPr>
              <a:t>Sub </a:t>
            </a:r>
            <a:r>
              <a:rPr lang="en-US" sz="1133" i="1" dirty="0" err="1">
                <a:solidFill>
                  <a:srgbClr val="667085"/>
                </a:solidFill>
              </a:rPr>
              <a:t>Gerenta</a:t>
            </a:r>
            <a:r>
              <a:rPr lang="en-US" sz="1133" i="1" dirty="0">
                <a:solidFill>
                  <a:srgbClr val="667085"/>
                </a:solidFill>
              </a:rPr>
              <a:t>: Sheyla Ramos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95388" y="2809777"/>
            <a:ext cx="3694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C0392B"/>
                </a:solidFill>
              </a:rPr>
              <a:t>76.2%</a:t>
            </a:r>
            <a:endParaRPr lang="en-US" sz="8800" dirty="0">
              <a:solidFill>
                <a:srgbClr val="19A075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60064" y="999744"/>
            <a:ext cx="24384" cy="5437632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8" name="Text 65"/>
          <p:cNvSpPr/>
          <p:nvPr/>
        </p:nvSpPr>
        <p:spPr>
          <a:xfrm>
            <a:off x="268224" y="6486144"/>
            <a:ext cx="11582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3" i="1" dirty="0">
                <a:solidFill>
                  <a:srgbClr val="667085"/>
                </a:solidFill>
              </a:rPr>
              <a:t>TU META ES NUESTRA META  ·  BBVA CONVENIOS  |  SHEYLA RAMOS  |  Sheyla Ramos  |   Agosto 2026</a:t>
            </a:r>
            <a:endParaRPr lang="en-US" sz="933" dirty="0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AB0575AD-6901-AE80-E45C-78AB50A743C4}"/>
              </a:ext>
            </a:extLst>
          </p:cNvPr>
          <p:cNvSpPr/>
          <p:nvPr/>
        </p:nvSpPr>
        <p:spPr>
          <a:xfrm>
            <a:off x="662759" y="279159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7.50M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E5C7218A-B099-E1DA-6E16-6D61BC90CC79}"/>
              </a:ext>
            </a:extLst>
          </p:cNvPr>
          <p:cNvSpPr/>
          <p:nvPr/>
        </p:nvSpPr>
        <p:spPr>
          <a:xfrm>
            <a:off x="0" y="4355788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825.8K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26DF5C35-EDFA-E398-100F-070596FE01B8}"/>
              </a:ext>
            </a:extLst>
          </p:cNvPr>
          <p:cNvSpPr/>
          <p:nvPr/>
        </p:nvSpPr>
        <p:spPr>
          <a:xfrm>
            <a:off x="1621305" y="4305192"/>
            <a:ext cx="1988139" cy="47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1.08M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8" name="Imagen_barras" descr="image.png">
            <a:extLst>
              <a:ext uri="{FF2B5EF4-FFF2-40B4-BE49-F238E27FC236}">
                <a16:creationId xmlns:a16="http://schemas.microsoft.com/office/drawing/2014/main" id="{31068695-F214-6276-68B8-7D2ABCF41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323" y="1068064"/>
            <a:ext cx="7168973" cy="2941092"/>
          </a:xfrm>
          <a:prstGeom prst="rect">
            <a:avLst/>
          </a:prstGeom>
        </p:spPr>
      </p:pic>
      <p:pic>
        <p:nvPicPr>
          <p:cNvPr id="30" name="Picture 34" descr="image.png">
            <a:extLst>
              <a:ext uri="{FF2B5EF4-FFF2-40B4-BE49-F238E27FC236}">
                <a16:creationId xmlns:a16="http://schemas.microsoft.com/office/drawing/2014/main" id="{DDF3AF98-EA43-292D-C0C6-C587FE9B1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817" y="4432588"/>
            <a:ext cx="3108960" cy="2076665"/>
          </a:xfrm>
          <a:prstGeom prst="rect">
            <a:avLst/>
          </a:prstGeom>
        </p:spPr>
      </p:pic>
      <p:pic>
        <p:nvPicPr>
          <p:cNvPr id="32" name="Asesor" descr="image.png">
            <a:extLst>
              <a:ext uri="{FF2B5EF4-FFF2-40B4-BE49-F238E27FC236}">
                <a16:creationId xmlns:a16="http://schemas.microsoft.com/office/drawing/2014/main" id="{832C5A12-1555-7F3C-7B6D-16C6CEF4C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651" y="4305192"/>
            <a:ext cx="3535519" cy="2192917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CB8CFC5B-1408-6000-A44E-099F69EE743E}"/>
              </a:ext>
            </a:extLst>
          </p:cNvPr>
          <p:cNvSpPr/>
          <p:nvPr/>
        </p:nvSpPr>
        <p:spPr>
          <a:xfrm>
            <a:off x="260401" y="1036011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C40E32A9-5A7B-27DE-A226-0A0B45572163}"/>
              </a:ext>
            </a:extLst>
          </p:cNvPr>
          <p:cNvSpPr/>
          <p:nvPr/>
        </p:nvSpPr>
        <p:spPr>
          <a:xfrm>
            <a:off x="382321" y="1133547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9C213A1C-5EED-46B3-2B49-A48C45517E04}"/>
              </a:ext>
            </a:extLst>
          </p:cNvPr>
          <p:cNvSpPr/>
          <p:nvPr/>
        </p:nvSpPr>
        <p:spPr>
          <a:xfrm>
            <a:off x="674929" y="1036011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0392B"/>
                </a:solidFill>
              </a:rPr>
              <a:t>Bajo la meta</a:t>
            </a:r>
            <a:endParaRPr lang="en-US" sz="1267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2578C4-1704-7C62-F49A-7680D8193F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835FE-2760-7CDA-4AE8-A8AECFB4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475BB5-1838-23F5-BC27-F66ABAF9E0BE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FE5DC8-FD0C-EDDA-5A42-1C2AB6DB6564}"/>
              </a:ext>
            </a:extLst>
          </p:cNvPr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847520-2E56-03F3-2E50-96F3ED1A2F16}"/>
              </a:ext>
            </a:extLst>
          </p:cNvPr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53C71BA-4DAD-AAEE-21BC-8562D6B53F99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BBVA CONVENIOS  | PROVINCIA SUR:  Información al 8 de Agosto </a:t>
            </a:r>
            <a:endParaRPr lang="en-US" sz="1667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F65A6FD-1970-5084-751D-33FFFBFC7B97}"/>
              </a:ext>
            </a:extLst>
          </p:cNvPr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3 / 4</a:t>
            </a:r>
            <a:endParaRPr lang="en-US" sz="1067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9BC58CE-F762-59E8-9E5E-7681E8357ADB}"/>
              </a:ext>
            </a:extLst>
          </p:cNvPr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667085"/>
                </a:solidFill>
              </a:rPr>
              <a:t>Sub </a:t>
            </a:r>
            <a:r>
              <a:rPr lang="en-US" sz="1133" i="1" dirty="0" err="1">
                <a:solidFill>
                  <a:srgbClr val="667085"/>
                </a:solidFill>
              </a:rPr>
              <a:t>Gerenta</a:t>
            </a:r>
            <a:r>
              <a:rPr lang="en-US" sz="1133" i="1" dirty="0">
                <a:solidFill>
                  <a:srgbClr val="667085"/>
                </a:solidFill>
              </a:rPr>
              <a:t>: Sheyla Ramos</a:t>
            </a:r>
            <a:endParaRPr lang="en-US" sz="1133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D61EE82-98A1-05BF-8668-B98D7AC2ECCA}"/>
              </a:ext>
            </a:extLst>
          </p:cNvPr>
          <p:cNvSpPr/>
          <p:nvPr/>
        </p:nvSpPr>
        <p:spPr>
          <a:xfrm>
            <a:off x="332609" y="2859165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C0392B"/>
                </a:solidFill>
              </a:rPr>
              <a:t>16.0%</a:t>
            </a:r>
            <a:endParaRPr lang="en-US" sz="9600" dirty="0">
              <a:solidFill>
                <a:srgbClr val="C00000"/>
              </a:solidFill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397DE739-B7E3-CCAE-DD3D-ECA8DE8AB222}"/>
              </a:ext>
            </a:extLst>
          </p:cNvPr>
          <p:cNvSpPr/>
          <p:nvPr/>
        </p:nvSpPr>
        <p:spPr>
          <a:xfrm>
            <a:off x="3560064" y="999744"/>
            <a:ext cx="24384" cy="5437632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>
            <a:extLst>
              <a:ext uri="{FF2B5EF4-FFF2-40B4-BE49-F238E27FC236}">
                <a16:creationId xmlns:a16="http://schemas.microsoft.com/office/drawing/2014/main" id="{6341AA6A-C53D-503F-7A4A-73156A0D98E4}"/>
              </a:ext>
            </a:extLst>
          </p:cNvPr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9A13ABEF-76D2-249B-8311-FA6523DB245A}"/>
              </a:ext>
            </a:extLst>
          </p:cNvPr>
          <p:cNvSpPr/>
          <p:nvPr/>
        </p:nvSpPr>
        <p:spPr>
          <a:xfrm>
            <a:off x="521800" y="2817979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3.80M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9556D5C2-2C1E-5EF6-480E-DE83DE4C4BD1}"/>
              </a:ext>
            </a:extLst>
          </p:cNvPr>
          <p:cNvSpPr/>
          <p:nvPr/>
        </p:nvSpPr>
        <p:spPr>
          <a:xfrm>
            <a:off x="-140959" y="4382172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106.5K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A40E2505-6C6E-8ABA-320D-DC4C2FA463B7}"/>
              </a:ext>
            </a:extLst>
          </p:cNvPr>
          <p:cNvSpPr/>
          <p:nvPr/>
        </p:nvSpPr>
        <p:spPr>
          <a:xfrm>
            <a:off x="1434339" y="4331576"/>
            <a:ext cx="2049099" cy="4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667.5K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9" name="Imagen_barras" descr="image.png">
            <a:extLst>
              <a:ext uri="{FF2B5EF4-FFF2-40B4-BE49-F238E27FC236}">
                <a16:creationId xmlns:a16="http://schemas.microsoft.com/office/drawing/2014/main" id="{8B767D98-EB03-7419-18B2-57A83A5F4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631" y="1196496"/>
            <a:ext cx="7254732" cy="2713141"/>
          </a:xfrm>
          <a:prstGeom prst="rect">
            <a:avLst/>
          </a:prstGeom>
        </p:spPr>
      </p:pic>
      <p:pic>
        <p:nvPicPr>
          <p:cNvPr id="33" name="Picture 34" descr="image.png">
            <a:extLst>
              <a:ext uri="{FF2B5EF4-FFF2-40B4-BE49-F238E27FC236}">
                <a16:creationId xmlns:a16="http://schemas.microsoft.com/office/drawing/2014/main" id="{97F770EF-071A-49EF-8237-192FEFACB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777" y="4331576"/>
            <a:ext cx="2931585" cy="1958185"/>
          </a:xfrm>
          <a:prstGeom prst="rect">
            <a:avLst/>
          </a:prstGeom>
        </p:spPr>
      </p:pic>
      <p:pic>
        <p:nvPicPr>
          <p:cNvPr id="35" name="Asesor" descr="image.png">
            <a:extLst>
              <a:ext uri="{FF2B5EF4-FFF2-40B4-BE49-F238E27FC236}">
                <a16:creationId xmlns:a16="http://schemas.microsoft.com/office/drawing/2014/main" id="{0E2AC5AE-AECF-CF06-1065-323DA7FB1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005" y="4331576"/>
            <a:ext cx="3148271" cy="1952725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6E892E2C-3830-D938-95BF-83C884706599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2970F1A6-4A82-60F7-3100-2BB6CC472735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1B340E67-2F21-D7C4-DB0E-4E58739E8512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0392B"/>
                </a:solidFill>
              </a:rPr>
              <a:t>Bajo la meta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C85C88-D079-8F91-1A9D-9B8A145E20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12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kern="0" spc="40" dirty="0">
                <a:solidFill>
                  <a:srgbClr val="FFFFFF"/>
                </a:solidFill>
              </a:rPr>
              <a:t>BBVA CONVENIOS  |  PROVINCIA ORIENTE: Información al 8 de Agosto</a:t>
            </a:r>
            <a:endParaRPr lang="en-US" sz="1667" dirty="0"/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667085"/>
                </a:solidFill>
              </a:rPr>
              <a:t>Sub Gerente: Sheyla Ramos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221796" y="2625133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8CA61E"/>
                </a:solidFill>
              </a:rPr>
              <a:t>157%</a:t>
            </a:r>
            <a:endParaRPr lang="en-US" sz="96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780491" y="1048512"/>
            <a:ext cx="24384" cy="5437632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8E0C2926-0DB6-DEE8-581C-3B85250E44BC}"/>
              </a:ext>
            </a:extLst>
          </p:cNvPr>
          <p:cNvSpPr/>
          <p:nvPr/>
        </p:nvSpPr>
        <p:spPr>
          <a:xfrm>
            <a:off x="675392" y="254063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5.00M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6FE172D7-36A3-67F1-79EA-6723B1D67A6B}"/>
              </a:ext>
            </a:extLst>
          </p:cNvPr>
          <p:cNvSpPr/>
          <p:nvPr/>
        </p:nvSpPr>
        <p:spPr>
          <a:xfrm>
            <a:off x="-7512" y="416632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886.2K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520EAADD-646C-F993-7B08-8B352D62F52A}"/>
              </a:ext>
            </a:extLst>
          </p:cNvPr>
          <p:cNvSpPr/>
          <p:nvPr/>
        </p:nvSpPr>
        <p:spPr>
          <a:xfrm>
            <a:off x="1636796" y="4138732"/>
            <a:ext cx="2103807" cy="4414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565.7K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3" name="Imagen_barras" descr="image.png">
            <a:extLst>
              <a:ext uri="{FF2B5EF4-FFF2-40B4-BE49-F238E27FC236}">
                <a16:creationId xmlns:a16="http://schemas.microsoft.com/office/drawing/2014/main" id="{22949D2E-2703-6298-2348-A66E0E896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899" y="1275329"/>
            <a:ext cx="6594952" cy="2443231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9D11C918-8487-A1B2-8C4D-296717D1C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180" y="4166323"/>
            <a:ext cx="2948573" cy="1969533"/>
          </a:xfrm>
          <a:prstGeom prst="rect">
            <a:avLst/>
          </a:prstGeom>
        </p:spPr>
      </p:pic>
      <p:pic>
        <p:nvPicPr>
          <p:cNvPr id="37" name="Asesor" descr="image.png">
            <a:extLst>
              <a:ext uri="{FF2B5EF4-FFF2-40B4-BE49-F238E27FC236}">
                <a16:creationId xmlns:a16="http://schemas.microsoft.com/office/drawing/2014/main" id="{ABC338E2-1293-405F-134D-8882C6C43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9912" y="4166323"/>
            <a:ext cx="3166515" cy="1964041"/>
          </a:xfrm>
          <a:prstGeom prst="rect">
            <a:avLst/>
          </a:prstGeom>
        </p:spPr>
      </p:pic>
      <p:sp>
        <p:nvSpPr>
          <p:cNvPr id="8" name="Shape 6">
            <a:extLst>
              <a:ext uri="{FF2B5EF4-FFF2-40B4-BE49-F238E27FC236}">
                <a16:creationId xmlns:a16="http://schemas.microsoft.com/office/drawing/2014/main" id="{E2BA164A-6A35-7335-C2B6-FC10BA27A74B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EAF0D2"/>
          </a:solidFill>
          <a:ln w="16933">
            <a:solidFill>
              <a:srgbClr val="EAF0D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C0E632C6-671C-F739-6A56-745B8ED2CB72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8CA61E"/>
          </a:solidFill>
          <a:ln w="16933">
            <a:solidFill>
              <a:srgbClr val="8CA61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51E0B2FB-D17F-A92A-ED55-670D6500C537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8CA61E"/>
                </a:solidFill>
              </a:rPr>
              <a:t>Meta alcanzada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7354AB-69AC-6F65-C8D4-25F5E56292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kern="0" spc="40" dirty="0">
                <a:solidFill>
                  <a:srgbClr val="FFFFFF"/>
                </a:solidFill>
              </a:rPr>
              <a:t>BBVA CONVENIOS  |  DIAGNOSTICO Y SEGUIMIENTO</a:t>
            </a:r>
            <a:endParaRPr lang="en-US" sz="1667" dirty="0"/>
          </a:p>
        </p:txBody>
      </p:sp>
      <p:sp>
        <p:nvSpPr>
          <p:cNvPr id="7" name="Shape 4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0E3854"/>
          </a:solidFill>
          <a:ln w="16933">
            <a:solidFill>
              <a:srgbClr val="0E385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2 / 3</a:t>
            </a:r>
            <a:endParaRPr lang="en-US" sz="1067" dirty="0"/>
          </a:p>
        </p:txBody>
      </p:sp>
      <p:sp>
        <p:nvSpPr>
          <p:cNvPr id="9" name="Shape 6"/>
          <p:cNvSpPr/>
          <p:nvPr/>
        </p:nvSpPr>
        <p:spPr>
          <a:xfrm>
            <a:off x="0" y="999744"/>
            <a:ext cx="5547360" cy="414528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121920" y="999744"/>
            <a:ext cx="54254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kern="0" spc="40" dirty="0">
                <a:solidFill>
                  <a:srgbClr val="FFFFFF"/>
                </a:solidFill>
              </a:rPr>
              <a:t>SEGUIMIENTO PLAN SEMANA ANTERIOR</a:t>
            </a:r>
            <a:endParaRPr lang="en-US" sz="1067" dirty="0"/>
          </a:p>
        </p:txBody>
      </p:sp>
      <p:sp>
        <p:nvSpPr>
          <p:cNvPr id="11" name="Shape 8"/>
          <p:cNvSpPr/>
          <p:nvPr/>
        </p:nvSpPr>
        <p:spPr>
          <a:xfrm>
            <a:off x="0" y="1463040"/>
            <a:ext cx="5547360" cy="1589024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9"/>
          <p:cNvSpPr/>
          <p:nvPr/>
        </p:nvSpPr>
        <p:spPr>
          <a:xfrm>
            <a:off x="0" y="1463040"/>
            <a:ext cx="67056" cy="1589024"/>
          </a:xfrm>
          <a:prstGeom prst="rect">
            <a:avLst/>
          </a:prstGeom>
          <a:solidFill>
            <a:srgbClr val="2B7A8C"/>
          </a:solidFill>
          <a:ln w="16933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170688" y="1536192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67" dirty="0"/>
          </a:p>
        </p:txBody>
      </p:sp>
      <p:sp>
        <p:nvSpPr>
          <p:cNvPr id="14" name="Text 11"/>
          <p:cNvSpPr/>
          <p:nvPr/>
        </p:nvSpPr>
        <p:spPr>
          <a:xfrm>
            <a:off x="170688" y="2420031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FCB07"/>
                </a:solidFill>
              </a:rPr>
              <a:t>Ejecutado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3113024"/>
            <a:ext cx="5547360" cy="1589024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0" y="3113024"/>
            <a:ext cx="67056" cy="1589024"/>
          </a:xfrm>
          <a:prstGeom prst="rect">
            <a:avLst/>
          </a:prstGeom>
          <a:solidFill>
            <a:srgbClr val="2B7A8C"/>
          </a:solidFill>
          <a:ln w="16933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170688" y="3186176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67" dirty="0"/>
          </a:p>
        </p:txBody>
      </p:sp>
      <p:sp>
        <p:nvSpPr>
          <p:cNvPr id="18" name="Text 15"/>
          <p:cNvSpPr/>
          <p:nvPr/>
        </p:nvSpPr>
        <p:spPr>
          <a:xfrm>
            <a:off x="170688" y="4070015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FCB07"/>
                </a:solidFill>
              </a:rPr>
              <a:t>Ejecutado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4763008"/>
            <a:ext cx="5547360" cy="1589024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20" name="Shape 17"/>
          <p:cNvSpPr/>
          <p:nvPr/>
        </p:nvSpPr>
        <p:spPr>
          <a:xfrm>
            <a:off x="0" y="4763008"/>
            <a:ext cx="67056" cy="1589024"/>
          </a:xfrm>
          <a:prstGeom prst="rect">
            <a:avLst/>
          </a:prstGeom>
          <a:solidFill>
            <a:srgbClr val="2B7A8C"/>
          </a:solidFill>
          <a:ln w="16933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8"/>
          <p:cNvSpPr/>
          <p:nvPr/>
        </p:nvSpPr>
        <p:spPr>
          <a:xfrm>
            <a:off x="170688" y="4836160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67" dirty="0"/>
          </a:p>
        </p:txBody>
      </p:sp>
      <p:sp>
        <p:nvSpPr>
          <p:cNvPr id="22" name="Text 19"/>
          <p:cNvSpPr/>
          <p:nvPr/>
        </p:nvSpPr>
        <p:spPr>
          <a:xfrm>
            <a:off x="170688" y="5719999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FCB07"/>
                </a:solidFill>
              </a:rPr>
              <a:t>En proceso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57088" y="999744"/>
            <a:ext cx="24384" cy="5413248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1"/>
          <p:cNvSpPr/>
          <p:nvPr/>
        </p:nvSpPr>
        <p:spPr>
          <a:xfrm>
            <a:off x="5791200" y="999744"/>
            <a:ext cx="6400800" cy="414528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2"/>
          <p:cNvSpPr/>
          <p:nvPr/>
        </p:nvSpPr>
        <p:spPr>
          <a:xfrm>
            <a:off x="5913120" y="999744"/>
            <a:ext cx="6278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kern="0" spc="40" dirty="0">
                <a:solidFill>
                  <a:srgbClr val="FFFFFF"/>
                </a:solidFill>
              </a:rPr>
              <a:t>DIAGNOSTICO — CAUSAS RAIZ</a:t>
            </a:r>
            <a:endParaRPr lang="en-US" sz="1067" dirty="0"/>
          </a:p>
        </p:txBody>
      </p:sp>
      <p:sp>
        <p:nvSpPr>
          <p:cNvPr id="26" name="Shape 23"/>
          <p:cNvSpPr/>
          <p:nvPr/>
        </p:nvSpPr>
        <p:spPr>
          <a:xfrm>
            <a:off x="5791200" y="1463040"/>
            <a:ext cx="6400800" cy="238963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4"/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5"/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6583680" y="1926336"/>
            <a:ext cx="5486400" cy="10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583680" y="3486912"/>
            <a:ext cx="1341120" cy="292608"/>
          </a:xfrm>
          <a:prstGeom prst="rect">
            <a:avLst/>
          </a:prstGeom>
          <a:solidFill>
            <a:srgbClr val="FEE2E2"/>
          </a:solidFill>
          <a:ln w="16933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6583680" y="3486912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3" b="1" dirty="0">
                <a:solidFill>
                  <a:srgbClr val="DC2626"/>
                </a:solidFill>
              </a:rPr>
              <a:t>Impacto Alto</a:t>
            </a:r>
            <a:endParaRPr lang="en-US" sz="1133" dirty="0"/>
          </a:p>
        </p:txBody>
      </p:sp>
      <p:sp>
        <p:nvSpPr>
          <p:cNvPr id="33" name="Shape 30"/>
          <p:cNvSpPr/>
          <p:nvPr/>
        </p:nvSpPr>
        <p:spPr>
          <a:xfrm>
            <a:off x="5791200" y="3938016"/>
            <a:ext cx="6400800" cy="2389632"/>
          </a:xfrm>
          <a:prstGeom prst="rect">
            <a:avLst/>
          </a:prstGeom>
          <a:solidFill>
            <a:srgbClr val="FFFFFF"/>
          </a:solidFill>
          <a:ln w="8467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34" name="Shape 31"/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6583680" y="40599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67" dirty="0"/>
          </a:p>
        </p:txBody>
      </p:sp>
      <p:sp>
        <p:nvSpPr>
          <p:cNvPr id="37" name="Text 34"/>
          <p:cNvSpPr/>
          <p:nvPr/>
        </p:nvSpPr>
        <p:spPr>
          <a:xfrm>
            <a:off x="6583680" y="4401312"/>
            <a:ext cx="5486400" cy="10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solidFill>
            <a:srgbClr val="FBEDD0"/>
          </a:solidFill>
          <a:ln w="16933">
            <a:solidFill>
              <a:srgbClr val="FBED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6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3" b="1" dirty="0">
                <a:solidFill>
                  <a:srgbClr val="E0A024"/>
                </a:solidFill>
              </a:rPr>
              <a:t>Impacto Medio</a:t>
            </a:r>
            <a:endParaRPr lang="en-US" sz="1133" dirty="0"/>
          </a:p>
        </p:txBody>
      </p:sp>
      <p:sp>
        <p:nvSpPr>
          <p:cNvPr id="42" name="Shape 39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0"/>
          <p:cNvSpPr/>
          <p:nvPr/>
        </p:nvSpPr>
        <p:spPr>
          <a:xfrm>
            <a:off x="268224" y="6486144"/>
            <a:ext cx="11582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3" i="1" dirty="0">
                <a:solidFill>
                  <a:srgbClr val="667085"/>
                </a:solidFill>
              </a:rPr>
              <a:t>·  BBVA CONVENIOS  |  Sheyla Ramos  |   Agosto 2026</a:t>
            </a:r>
            <a:endParaRPr lang="en-US" sz="933" dirty="0"/>
          </a:p>
        </p:txBody>
      </p:sp>
      <p:pic>
        <p:nvPicPr>
          <p:cNvPr id="45" name="Picture 8">
            <a:extLst>
              <a:ext uri="{FF2B5EF4-FFF2-40B4-BE49-F238E27FC236}">
                <a16:creationId xmlns:a16="http://schemas.microsoft.com/office/drawing/2014/main" id="{BE94AFF7-0D8A-F349-9403-6414FE509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15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46304" y="2881025"/>
            <a:ext cx="11704320" cy="304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176784" y="1605443"/>
            <a:ext cx="11643360" cy="1072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defTabSz="1219170"/>
            <a:r>
              <a:rPr lang="en-US" sz="4267" b="1" dirty="0">
                <a:solidFill>
                  <a:srgbClr val="FFFFFF"/>
                </a:solidFill>
                <a:latin typeface="Calibri" panose="020F0502020204030204"/>
              </a:rPr>
              <a:t>Scotiabank Tarjetas de Crédito</a:t>
            </a:r>
            <a:endParaRPr lang="en-US" sz="4267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268224" y="2976433"/>
            <a:ext cx="1164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dirty="0">
                <a:solidFill>
                  <a:srgbClr val="FFFFFF"/>
                </a:solidFill>
                <a:latin typeface="Calibri" panose="020F0502020204030204"/>
              </a:rPr>
              <a:t>Christian Passara : Sub Gerente de Ventas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268224" y="3741264"/>
            <a:ext cx="1164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FFFFFF"/>
                </a:solidFill>
                <a:latin typeface="Calibri" panose="020F0502020204030204"/>
              </a:rPr>
              <a:t>Agosto 2026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277C8468-0A3E-3EC2-4F2C-7DC598DAE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105" y="4894385"/>
            <a:ext cx="2411404" cy="2411404"/>
          </a:xfrm>
          <a:prstGeom prst="rect">
            <a:avLst/>
          </a:prstGeom>
        </p:spPr>
      </p:pic>
      <p:pic>
        <p:nvPicPr>
          <p:cNvPr id="4" name="Picture 2" descr="Image result for scotiabank">
            <a:extLst>
              <a:ext uri="{FF2B5EF4-FFF2-40B4-BE49-F238E27FC236}">
                <a16:creationId xmlns:a16="http://schemas.microsoft.com/office/drawing/2014/main" id="{A00C97D8-5704-2398-DCDF-3C5151952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8640" y="4937760"/>
            <a:ext cx="1239028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77825"/>
            <a:ext cx="12192000" cy="34137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RESUMEN GENERAL|  SCOTIABANK TARJETAS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4A0E07"/>
          </a:solidFill>
          <a:ln w="12700">
            <a:solidFill>
              <a:srgbClr val="4A0E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1 / 3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6329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43840" cy="2438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7136" y="999744"/>
            <a:ext cx="264566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D97706"/>
                </a:solidFill>
                <a:latin typeface="Calibri" panose="020F0502020204030204"/>
              </a:rPr>
              <a:t>EN SEGUIMIENTO</a:t>
            </a:r>
          </a:p>
        </p:txBody>
      </p:sp>
      <p:sp>
        <p:nvSpPr>
          <p:cNvPr id="12" name="Text 9"/>
          <p:cNvSpPr/>
          <p:nvPr/>
        </p:nvSpPr>
        <p:spPr>
          <a:xfrm>
            <a:off x="268224" y="1536192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dirty="0">
                <a:solidFill>
                  <a:srgbClr val="9A9189"/>
                </a:solidFill>
                <a:latin typeface="Calibri" panose="020F0502020204030204"/>
              </a:rPr>
              <a:t>Sub-Gerente: Monica Mogollon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68224" y="1950720"/>
            <a:ext cx="3108960" cy="1853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66" b="1" dirty="0">
                <a:solidFill>
                  <a:srgbClr val="D97706"/>
                </a:solidFill>
                <a:latin typeface="Calibri" panose="020F0502020204030204"/>
              </a:rPr>
              <a:t>89%</a:t>
            </a:r>
            <a:endParaRPr lang="en-US" sz="106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-37795" y="3509048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9A9189"/>
                </a:solidFill>
                <a:latin typeface="Calibri" panose="020F0502020204030204"/>
              </a:rPr>
              <a:t>Avance promedio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511297" y="999744"/>
            <a:ext cx="26823" cy="5425440"/>
          </a:xfrm>
          <a:prstGeom prst="rect">
            <a:avLst/>
          </a:prstGeom>
          <a:solidFill>
            <a:srgbClr val="E5DFD8"/>
          </a:solidFill>
          <a:ln w="1270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657600" y="999744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84048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9A9189"/>
                </a:solidFill>
                <a:latin typeface="Calibri" panose="020F0502020204030204"/>
              </a:rPr>
              <a:t>CONECTADOS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4048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120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894320" y="999744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07720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9A9189"/>
                </a:solidFill>
                <a:latin typeface="Calibri" panose="020F0502020204030204"/>
              </a:rPr>
              <a:t>DOTACION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07720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130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657600" y="2145792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84048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9A9189"/>
                </a:solidFill>
                <a:latin typeface="Calibri" panose="020F0502020204030204"/>
              </a:rPr>
              <a:t>PEND. SELECCION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84048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894320" y="2145792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07720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9A9189"/>
                </a:solidFill>
                <a:latin typeface="Calibri" panose="020F0502020204030204"/>
              </a:rPr>
              <a:t>PEND. INDUCCION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07720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12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657600" y="3291840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84048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9A9189"/>
                </a:solidFill>
                <a:latin typeface="Calibri" panose="020F0502020204030204"/>
              </a:rPr>
              <a:t>PRESUPUESTO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4048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140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894320" y="3291840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07720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9A9189"/>
                </a:solidFill>
                <a:latin typeface="Calibri" panose="020F0502020204030204"/>
              </a:rPr>
              <a:t>SEMANA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07720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05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0" y="4559809"/>
            <a:ext cx="12192000" cy="375513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43840" y="4559809"/>
            <a:ext cx="414528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Sub-campaña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562503" y="4553713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Presupuesto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035040" y="4559809"/>
            <a:ext cx="28041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Avance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8875776" y="4559809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% Logro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0058400" y="4559809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Proyeccion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0" y="4935322"/>
            <a:ext cx="12192000" cy="375513"/>
          </a:xfrm>
          <a:prstGeom prst="rect">
            <a:avLst/>
          </a:prstGeom>
          <a:solidFill>
            <a:srgbClr val="FFFFFF"/>
          </a:solidFill>
          <a:ln w="381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43840" y="4935322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6B150B"/>
                </a:solidFill>
                <a:latin typeface="Calibri" panose="020F0502020204030204"/>
              </a:rPr>
              <a:t>Scotiabank Tarjetas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3866608" y="4935322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50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035040" y="5040466"/>
            <a:ext cx="2560320" cy="157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035040" y="5040466"/>
            <a:ext cx="2176272" cy="1577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8875776" y="4935322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D97706"/>
                </a:solidFill>
                <a:latin typeface="Calibri" panose="020F0502020204030204"/>
              </a:rPr>
              <a:t>85%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10058400" y="4935322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9A9189"/>
                </a:solidFill>
                <a:latin typeface="Calibri" panose="020F0502020204030204"/>
              </a:rPr>
              <a:t>820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243840" y="5310836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3866608" y="5310836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875776" y="5310836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10058400" y="5310836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243840" y="5686350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3866608" y="5686350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8875776" y="5686350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10058400" y="5686350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243840" y="6061864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3866608" y="6061864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8875776" y="6061864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10058400" y="6061864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8F6"/>
          </a:solidFill>
          <a:ln w="381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Shape 66"/>
          <p:cNvSpPr/>
          <p:nvPr/>
        </p:nvSpPr>
        <p:spPr>
          <a:xfrm flipV="1">
            <a:off x="0" y="6365962"/>
            <a:ext cx="12192000" cy="120183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219456" y="6486144"/>
            <a:ext cx="104851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00" dirty="0">
                <a:solidFill>
                  <a:srgbClr val="9A9189"/>
                </a:solidFill>
              </a:rPr>
              <a:t>SCOTIABANK TC |  CHRISTIAN PASSARA—  DIAGNOSTICO  |  Agosto 2026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72" name="Text 33">
            <a:extLst>
              <a:ext uri="{FF2B5EF4-FFF2-40B4-BE49-F238E27FC236}">
                <a16:creationId xmlns:a16="http://schemas.microsoft.com/office/drawing/2014/main" id="{1FEADA45-2A4C-A74C-7E13-45E36139D062}"/>
              </a:ext>
            </a:extLst>
          </p:cNvPr>
          <p:cNvSpPr/>
          <p:nvPr/>
        </p:nvSpPr>
        <p:spPr>
          <a:xfrm>
            <a:off x="4507036" y="4556053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 err="1">
                <a:solidFill>
                  <a:srgbClr val="FFFFFF"/>
                </a:solidFill>
                <a:latin typeface="Calibri" panose="020F0502020204030204"/>
              </a:rPr>
              <a:t>Conectados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2BBFCF78-CEF4-871D-6475-75D1D7F70882}"/>
              </a:ext>
            </a:extLst>
          </p:cNvPr>
          <p:cNvSpPr/>
          <p:nvPr/>
        </p:nvSpPr>
        <p:spPr>
          <a:xfrm>
            <a:off x="4777004" y="489508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40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150685D9-7BB8-48CF-2190-A720A6B3D794}"/>
              </a:ext>
            </a:extLst>
          </p:cNvPr>
          <p:cNvSpPr/>
          <p:nvPr/>
        </p:nvSpPr>
        <p:spPr>
          <a:xfrm>
            <a:off x="6709604" y="4942852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700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39">
            <a:extLst>
              <a:ext uri="{FF2B5EF4-FFF2-40B4-BE49-F238E27FC236}">
                <a16:creationId xmlns:a16="http://schemas.microsoft.com/office/drawing/2014/main" id="{C5AC93AD-5A08-6987-88BA-E57100E9C387}"/>
              </a:ext>
            </a:extLst>
          </p:cNvPr>
          <p:cNvSpPr/>
          <p:nvPr/>
        </p:nvSpPr>
        <p:spPr>
          <a:xfrm>
            <a:off x="4795269" y="533372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BAF3BBE1-A491-554B-D7CC-56E9D1420CCB}"/>
              </a:ext>
            </a:extLst>
          </p:cNvPr>
          <p:cNvSpPr/>
          <p:nvPr/>
        </p:nvSpPr>
        <p:spPr>
          <a:xfrm>
            <a:off x="4817769" y="5707860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Text 39">
            <a:extLst>
              <a:ext uri="{FF2B5EF4-FFF2-40B4-BE49-F238E27FC236}">
                <a16:creationId xmlns:a16="http://schemas.microsoft.com/office/drawing/2014/main" id="{56EF3E9B-2C63-1B8D-F512-148C0552D520}"/>
              </a:ext>
            </a:extLst>
          </p:cNvPr>
          <p:cNvSpPr/>
          <p:nvPr/>
        </p:nvSpPr>
        <p:spPr>
          <a:xfrm>
            <a:off x="4850112" y="6083373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0" name="Imagen 89">
            <a:extLst>
              <a:ext uri="{FF2B5EF4-FFF2-40B4-BE49-F238E27FC236}">
                <a16:creationId xmlns:a16="http://schemas.microsoft.com/office/drawing/2014/main" id="{F6672D11-DCE6-2755-A6C0-69C3EA094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96" b="91034" l="5526" r="89929">
                        <a14:foregroundMark x1="5526" y1="55901" x2="8556" y2="77951"/>
                        <a14:foregroundMark x1="33333" y1="65691" x2="33512" y2="78774"/>
                        <a14:foregroundMark x1="17291" y1="76212" x2="14706" y2="85819"/>
                        <a14:foregroundMark x1="14706" y1="60384" x2="14528" y2="84446"/>
                        <a14:foregroundMark x1="35383" y1="63312" x2="28253" y2="91034"/>
                        <a14:foregroundMark x1="50178" y1="50686" x2="51426" y2="61665"/>
                        <a14:foregroundMark x1="85740" y1="6496" x2="84759" y2="10796"/>
                        <a14:foregroundMark x1="77629" y1="43550" x2="64973" y2="47667"/>
                        <a14:foregroundMark x1="78610" y1="28728" x2="72727" y2="33303"/>
                        <a14:foregroundMark x1="80214" y1="18573" x2="77451" y2="26715"/>
                        <a14:foregroundMark x1="82086" y1="30009" x2="85294" y2="34401"/>
                        <a14:foregroundMark x1="85918" y1="9790" x2="85918" y2="9790"/>
                        <a14:foregroundMark x1="85472" y1="10887" x2="86185" y2="18298"/>
                        <a14:foregroundMark x1="45365" y1="45197" x2="22638" y2="48582"/>
                        <a14:foregroundMark x1="53832" y1="55261" x2="54011" y2="762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08736" y="6537330"/>
            <a:ext cx="315872" cy="307708"/>
          </a:xfrm>
          <a:prstGeom prst="rect">
            <a:avLst/>
          </a:prstGeom>
        </p:spPr>
      </p:pic>
      <p:pic>
        <p:nvPicPr>
          <p:cNvPr id="92" name="Picture 76">
            <a:extLst>
              <a:ext uri="{FF2B5EF4-FFF2-40B4-BE49-F238E27FC236}">
                <a16:creationId xmlns:a16="http://schemas.microsoft.com/office/drawing/2014/main" id="{76438E3E-66CC-890A-DEE3-99CCE2DCB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2122" y="-193091"/>
            <a:ext cx="1264005" cy="1264005"/>
          </a:xfrm>
          <a:prstGeom prst="rect">
            <a:avLst/>
          </a:prstGeom>
        </p:spPr>
      </p:pic>
      <p:sp>
        <p:nvSpPr>
          <p:cNvPr id="5" name="Text 39">
            <a:extLst>
              <a:ext uri="{FF2B5EF4-FFF2-40B4-BE49-F238E27FC236}">
                <a16:creationId xmlns:a16="http://schemas.microsoft.com/office/drawing/2014/main" id="{9C3C4FD9-A956-E798-2965-0B24A80E8071}"/>
              </a:ext>
            </a:extLst>
          </p:cNvPr>
          <p:cNvSpPr/>
          <p:nvPr/>
        </p:nvSpPr>
        <p:spPr>
          <a:xfrm>
            <a:off x="6845717" y="5318365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277059CD-1B47-1223-9703-71893B86DE14}"/>
              </a:ext>
            </a:extLst>
          </p:cNvPr>
          <p:cNvSpPr/>
          <p:nvPr/>
        </p:nvSpPr>
        <p:spPr>
          <a:xfrm>
            <a:off x="7011965" y="5693878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39">
            <a:extLst>
              <a:ext uri="{FF2B5EF4-FFF2-40B4-BE49-F238E27FC236}">
                <a16:creationId xmlns:a16="http://schemas.microsoft.com/office/drawing/2014/main" id="{7C2A76F4-D25F-B41A-FAFC-572F9DD9E162}"/>
              </a:ext>
            </a:extLst>
          </p:cNvPr>
          <p:cNvSpPr/>
          <p:nvPr/>
        </p:nvSpPr>
        <p:spPr>
          <a:xfrm>
            <a:off x="7064232" y="6061864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3" name="Panel Resum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30250"/>
            <a:ext cx="12192000" cy="5592471"/>
          </a:xfrm>
          <a:prstGeom prst="rect">
            <a:avLst/>
          </a:prstGeom>
        </p:spPr>
      </p:pic>
      <p:sp>
        <p:nvSpPr>
          <p:cNvPr id="94" name="dato_manual"/>
          <p:cNvSpPr>
            <a:spLocks noGrp="1"/>
          </p:cNvSpPr>
          <p:nvPr/>
        </p:nvSpPr>
        <p:spPr>
          <a:xfrm>
            <a:off x="3657600" y="1899848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defTabSz="1219170"/>
            <a:r>
              <a:rPr lang="es-PE" sz="2200" b="1" dirty="0">
                <a:solidFill>
                  <a:srgbClr val="103A5E"/>
                </a:solidFill>
                <a:latin typeface="Arial"/>
              </a:rPr>
              <a:t>120</a:t>
            </a:r>
          </a:p>
        </p:txBody>
      </p:sp>
      <p:sp>
        <p:nvSpPr>
          <p:cNvPr id="95" name="dato_manual"/>
          <p:cNvSpPr>
            <a:spLocks noGrp="1"/>
          </p:cNvSpPr>
          <p:nvPr/>
        </p:nvSpPr>
        <p:spPr>
          <a:xfrm>
            <a:off x="5812535" y="1899848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defTabSz="1219170"/>
            <a:r>
              <a:rPr lang="es-PE" sz="2200" b="1" dirty="0">
                <a:solidFill>
                  <a:srgbClr val="103A5E"/>
                </a:solidFill>
                <a:latin typeface="Arial"/>
              </a:rPr>
              <a:t>14</a:t>
            </a:r>
          </a:p>
        </p:txBody>
      </p:sp>
      <p:sp>
        <p:nvSpPr>
          <p:cNvPr id="96" name="dato_manual"/>
          <p:cNvSpPr>
            <a:spLocks noGrp="1"/>
          </p:cNvSpPr>
          <p:nvPr/>
        </p:nvSpPr>
        <p:spPr>
          <a:xfrm>
            <a:off x="3374745" y="4522216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50</a:t>
            </a:r>
          </a:p>
        </p:txBody>
      </p:sp>
      <p:sp>
        <p:nvSpPr>
          <p:cNvPr id="97" name="dato_manual"/>
          <p:cNvSpPr>
            <a:spLocks noGrp="1"/>
          </p:cNvSpPr>
          <p:nvPr/>
        </p:nvSpPr>
        <p:spPr>
          <a:xfrm>
            <a:off x="4779264" y="4522216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40</a:t>
            </a:r>
          </a:p>
        </p:txBody>
      </p:sp>
      <p:sp>
        <p:nvSpPr>
          <p:cNvPr id="98" name="dato_manual"/>
          <p:cNvSpPr>
            <a:spLocks noGrp="1"/>
          </p:cNvSpPr>
          <p:nvPr/>
        </p:nvSpPr>
        <p:spPr>
          <a:xfrm>
            <a:off x="3374745" y="5693325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123A5E"/>
                </a:solidFill>
                <a:latin typeface="Arial"/>
              </a:rPr>
              <a:t>50</a:t>
            </a:r>
          </a:p>
        </p:txBody>
      </p:sp>
      <p:sp>
        <p:nvSpPr>
          <p:cNvPr id="99" name="dato_manual"/>
          <p:cNvSpPr>
            <a:spLocks noGrp="1"/>
          </p:cNvSpPr>
          <p:nvPr/>
        </p:nvSpPr>
        <p:spPr>
          <a:xfrm>
            <a:off x="4779264" y="5693325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123A5E"/>
                </a:solidFill>
                <a:latin typeface="Arial"/>
              </a:rPr>
              <a:t>40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DB73DF2-1531-786C-804D-6E358661C57B}"/>
              </a:ext>
            </a:extLst>
          </p:cNvPr>
          <p:cNvSpPr/>
          <p:nvPr/>
        </p:nvSpPr>
        <p:spPr>
          <a:xfrm>
            <a:off x="390144" y="3413761"/>
            <a:ext cx="2152235" cy="129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s-PE" sz="2400">
              <a:solidFill>
                <a:prstClr val="whit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77825"/>
            <a:ext cx="12192000" cy="34137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SCOTIABANK TARJETAS: 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1 / 5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2752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Bajo la meta</a:t>
            </a:r>
          </a:p>
        </p:txBody>
      </p:sp>
      <p:sp>
        <p:nvSpPr>
          <p:cNvPr id="13" name="Text 10"/>
          <p:cNvSpPr/>
          <p:nvPr/>
        </p:nvSpPr>
        <p:spPr>
          <a:xfrm>
            <a:off x="380471" y="2754623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800" b="1" dirty="0">
                <a:solidFill>
                  <a:srgbClr val="C0392B"/>
                </a:solidFill>
                <a:latin typeface="Calibri" panose="020F0502020204030204"/>
              </a:rPr>
              <a:t>88.0%</a:t>
            </a:r>
            <a:endParaRPr lang="en-US" sz="8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E5DFD8"/>
          </a:solidFill>
          <a:ln w="1270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998976" y="6193536"/>
            <a:ext cx="7815072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998976" y="4673600"/>
            <a:ext cx="7815072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998976" y="3153664"/>
            <a:ext cx="7815072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998976" y="1633728"/>
            <a:ext cx="7815072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0" y="6486145"/>
            <a:ext cx="12192000" cy="21945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26">
            <a:extLst>
              <a:ext uri="{FF2B5EF4-FFF2-40B4-BE49-F238E27FC236}">
                <a16:creationId xmlns:a16="http://schemas.microsoft.com/office/drawing/2014/main" id="{A1FBE876-C87E-44F6-1B09-E7352548F12B}"/>
              </a:ext>
            </a:extLst>
          </p:cNvPr>
          <p:cNvSpPr/>
          <p:nvPr/>
        </p:nvSpPr>
        <p:spPr>
          <a:xfrm>
            <a:off x="540227" y="2671436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800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D2917A25-1176-7DD4-70EF-B4DA7CE6BC4A}"/>
              </a:ext>
            </a:extLst>
          </p:cNvPr>
          <p:cNvSpPr/>
          <p:nvPr/>
        </p:nvSpPr>
        <p:spPr>
          <a:xfrm>
            <a:off x="-99528" y="4189621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343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3" name="Text 26">
            <a:extLst>
              <a:ext uri="{FF2B5EF4-FFF2-40B4-BE49-F238E27FC236}">
                <a16:creationId xmlns:a16="http://schemas.microsoft.com/office/drawing/2014/main" id="{0B7D283D-A65C-1B11-E3D8-76028B73D1D6}"/>
              </a:ext>
            </a:extLst>
          </p:cNvPr>
          <p:cNvSpPr/>
          <p:nvPr/>
        </p:nvSpPr>
        <p:spPr>
          <a:xfrm>
            <a:off x="1498773" y="418503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390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77A02C71-D92C-5CAC-3EF0-C7BBB4135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8281" y="6508090"/>
            <a:ext cx="335673" cy="326997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06390E95-FB8C-6D12-75F9-804BB7F4D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1926" y="-217956"/>
            <a:ext cx="1264005" cy="1264005"/>
          </a:xfrm>
          <a:prstGeom prst="rect">
            <a:avLst/>
          </a:prstGeom>
        </p:spPr>
      </p:pic>
      <p:pic>
        <p:nvPicPr>
          <p:cNvPr id="5" name="BARRAS_AVANCE_FONO" descr="image.png">
            <a:extLst>
              <a:ext uri="{FF2B5EF4-FFF2-40B4-BE49-F238E27FC236}">
                <a16:creationId xmlns:a16="http://schemas.microsoft.com/office/drawing/2014/main" id="{72CBE53E-979D-41F8-9C26-0EFC33642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554" y="1873703"/>
            <a:ext cx="8665916" cy="3467821"/>
          </a:xfrm>
          <a:prstGeom prst="rect">
            <a:avLst/>
          </a:prstGeom>
        </p:spPr>
      </p:pic>
      <p:pic>
        <p:nvPicPr>
          <p:cNvPr id="78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520" y="5006340"/>
            <a:ext cx="8673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77825"/>
            <a:ext cx="12192000" cy="34137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SCOTIABANK TARJETAS |  DIAGNOSTICO Y SEGUIMIENTO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4A0E07"/>
          </a:solidFill>
          <a:ln w="12700">
            <a:solidFill>
              <a:srgbClr val="4A0E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2 / 3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999744"/>
            <a:ext cx="5547360" cy="414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920" y="999744"/>
            <a:ext cx="54254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kern="0" spc="40" dirty="0">
                <a:solidFill>
                  <a:srgbClr val="FFFFFF"/>
                </a:solidFill>
                <a:latin typeface="Calibri" panose="020F0502020204030204"/>
              </a:rPr>
              <a:t>SEGUIMIENTO PLAN SEMANA ANTERIOR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0" y="1463040"/>
            <a:ext cx="5547360" cy="1176528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0" y="1463040"/>
            <a:ext cx="67056" cy="1176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70688" y="1536192"/>
            <a:ext cx="5279136" cy="6806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r>
              <a:rPr lang="es-ES" sz="1267" dirty="0">
                <a:solidFill>
                  <a:srgbClr val="111010"/>
                </a:solidFill>
                <a:latin typeface="Calibri" panose="020F0502020204030204"/>
              </a:rPr>
              <a:t>Superar las 1,000 tarjetas aprobadas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70688" y="2180783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E30713"/>
                </a:solidFill>
                <a:latin typeface="Calibri" panose="020F0502020204030204"/>
              </a:rPr>
              <a:t>Ejecutado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0" y="2700528"/>
            <a:ext cx="5547360" cy="1176528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0" y="2700528"/>
            <a:ext cx="67056" cy="1176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70688" y="2773680"/>
            <a:ext cx="5279136" cy="6806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r>
              <a:rPr lang="es-ES" sz="1267" dirty="0">
                <a:solidFill>
                  <a:srgbClr val="111010"/>
                </a:solidFill>
                <a:latin typeface="Calibri" panose="020F0502020204030204"/>
              </a:rPr>
              <a:t>Sostener la productividad y completar al equipo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70688" y="3418271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E30713"/>
                </a:solidFill>
                <a:latin typeface="Calibri" panose="020F0502020204030204"/>
              </a:rPr>
              <a:t>Ejecutado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0" y="3938016"/>
            <a:ext cx="67056" cy="1176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0" y="5175504"/>
            <a:ext cx="67056" cy="1176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70688" y="5893247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E30713"/>
                </a:solidFill>
                <a:latin typeface="Calibri" panose="020F0502020204030204"/>
              </a:rPr>
              <a:t>Ejecutado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657088" y="999744"/>
            <a:ext cx="24384" cy="5413248"/>
          </a:xfrm>
          <a:prstGeom prst="rect">
            <a:avLst/>
          </a:prstGeom>
          <a:solidFill>
            <a:srgbClr val="E5DFD8"/>
          </a:solidFill>
          <a:ln w="1270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791200" y="999744"/>
            <a:ext cx="6400800" cy="414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913120" y="999744"/>
            <a:ext cx="6278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kern="0" spc="40" dirty="0">
                <a:solidFill>
                  <a:srgbClr val="FFFFFF"/>
                </a:solidFill>
                <a:latin typeface="Calibri" panose="020F0502020204030204"/>
              </a:rPr>
              <a:t>DIAGNOSTICO MES ACTUAL — CAUSAS RAIZ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791200" y="1463040"/>
            <a:ext cx="6400800" cy="156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791200" y="1463040"/>
            <a:ext cx="670560" cy="1564640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791200" y="1463040"/>
            <a:ext cx="670560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583680" y="158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s-ES" sz="1467" b="1" dirty="0">
                <a:solidFill>
                  <a:srgbClr val="6B150B"/>
                </a:solidFill>
                <a:latin typeface="Calibri" panose="020F0502020204030204"/>
              </a:rPr>
              <a:t>Meta 1,000 tarjetas en agosto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583680" y="1926337"/>
            <a:ext cx="5486400" cy="692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111010"/>
                </a:solidFill>
                <a:latin typeface="Calibri" panose="020F0502020204030204"/>
              </a:rPr>
              <a:t>Superar la meta de 1000 tarjetas aprobadas.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583680" y="2661920"/>
            <a:ext cx="134112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583680" y="2661920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133" b="1" dirty="0">
                <a:solidFill>
                  <a:srgbClr val="DC2626"/>
                </a:solidFill>
                <a:latin typeface="Calibri" panose="020F0502020204030204"/>
              </a:rPr>
              <a:t>Impacto Alto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791200" y="3113024"/>
            <a:ext cx="6400800" cy="156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791200" y="3113024"/>
            <a:ext cx="670560" cy="1564640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791200" y="3113024"/>
            <a:ext cx="670560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583680" y="323494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6B150B"/>
                </a:solidFill>
                <a:latin typeface="Calibri" panose="020F0502020204030204"/>
              </a:rPr>
              <a:t>Completar la dotación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583680" y="3576321"/>
            <a:ext cx="5486400" cy="692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111010"/>
                </a:solidFill>
                <a:latin typeface="Calibri" panose="020F0502020204030204"/>
              </a:rPr>
              <a:t>Dotación 100% completa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583680" y="4311904"/>
            <a:ext cx="1341120" cy="292608"/>
          </a:xfrm>
          <a:prstGeom prst="rect">
            <a:avLst/>
          </a:prstGeom>
          <a:solidFill>
            <a:srgbClr val="FEECEE"/>
          </a:solidFill>
          <a:ln w="12700">
            <a:solidFill>
              <a:srgbClr val="FEECEE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583680" y="4311904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133" b="1" dirty="0">
                <a:solidFill>
                  <a:srgbClr val="E30713"/>
                </a:solidFill>
                <a:latin typeface="Calibri" panose="020F0502020204030204"/>
              </a:rPr>
              <a:t>Impacto Bajo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791200" y="4763008"/>
            <a:ext cx="670560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solidFill>
            <a:srgbClr val="FEF9E7"/>
          </a:solidFill>
          <a:ln w="12700">
            <a:solidFill>
              <a:srgbClr val="FEF9E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133" b="1" dirty="0">
                <a:solidFill>
                  <a:srgbClr val="C97A0C"/>
                </a:solidFill>
                <a:latin typeface="Calibri" panose="020F0502020204030204"/>
              </a:rPr>
              <a:t>Impacto Medio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0" y="5876544"/>
            <a:ext cx="12192000" cy="487680"/>
          </a:xfrm>
          <a:prstGeom prst="rect">
            <a:avLst/>
          </a:prstGeom>
          <a:solidFill>
            <a:srgbClr val="FBF2F0"/>
          </a:solidFill>
          <a:ln w="635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219456" y="5876544"/>
            <a:ext cx="11826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8F6"/>
          </a:solidFill>
          <a:ln w="381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0" y="6486145"/>
            <a:ext cx="12192000" cy="21945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219456" y="6486144"/>
            <a:ext cx="104851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00" dirty="0">
                <a:solidFill>
                  <a:srgbClr val="9A9189"/>
                </a:solidFill>
                <a:latin typeface="Calibri" panose="020F0502020204030204"/>
              </a:rPr>
              <a:t>SCOTIABANK TC |  CHRISTIAN PASSARA—  DIAGNOSTICO  |  Agosto 2026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8" name="Picture 76">
            <a:extLst>
              <a:ext uri="{FF2B5EF4-FFF2-40B4-BE49-F238E27FC236}">
                <a16:creationId xmlns:a16="http://schemas.microsoft.com/office/drawing/2014/main" id="{F4C3F8F0-14D7-07DF-2372-ED3640609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026" y="-141756"/>
            <a:ext cx="1264005" cy="1264005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95D9564F-9BCB-77FA-43C3-4015E7CBD1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96" b="91034" l="5526" r="89929">
                        <a14:foregroundMark x1="5526" y1="55901" x2="8556" y2="77951"/>
                        <a14:foregroundMark x1="33333" y1="65691" x2="33512" y2="78774"/>
                        <a14:foregroundMark x1="17291" y1="76212" x2="14706" y2="85819"/>
                        <a14:foregroundMark x1="14706" y1="60384" x2="14528" y2="84446"/>
                        <a14:foregroundMark x1="35383" y1="63312" x2="28253" y2="91034"/>
                        <a14:foregroundMark x1="50178" y1="50686" x2="51426" y2="61665"/>
                        <a14:foregroundMark x1="85740" y1="6496" x2="84759" y2="10796"/>
                        <a14:foregroundMark x1="77629" y1="43550" x2="64973" y2="47667"/>
                        <a14:foregroundMark x1="78610" y1="28728" x2="72727" y2="33303"/>
                        <a14:foregroundMark x1="80214" y1="18573" x2="77451" y2="26715"/>
                        <a14:foregroundMark x1="82086" y1="30009" x2="85294" y2="34401"/>
                        <a14:foregroundMark x1="85918" y1="9790" x2="85918" y2="9790"/>
                        <a14:foregroundMark x1="85472" y1="10887" x2="86185" y2="18298"/>
                        <a14:foregroundMark x1="45365" y1="45197" x2="22638" y2="48582"/>
                        <a14:foregroundMark x1="53832" y1="55261" x2="54011" y2="762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08736" y="6537330"/>
            <a:ext cx="315872" cy="3077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15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0" cy="6858000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6690" y="2517880"/>
            <a:ext cx="11033760" cy="304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6931" y="1518020"/>
            <a:ext cx="116433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dirty="0">
                <a:solidFill>
                  <a:srgbClr val="FFFFFF"/>
                </a:solidFill>
                <a:latin typeface="Calibri" panose="020F0502020204030204"/>
              </a:rPr>
              <a:t>BCP Convenios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814324" y="3084576"/>
            <a:ext cx="1164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dirty="0">
                <a:solidFill>
                  <a:srgbClr val="FFFFFF"/>
                </a:solidFill>
                <a:latin typeface="Calibri" panose="020F0502020204030204"/>
              </a:rPr>
              <a:t>Jhonny Vega  ·  Sub Gerente de BCP Convenios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814324" y="3792728"/>
            <a:ext cx="1164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FFFFFF"/>
                </a:solidFill>
                <a:latin typeface="Calibri" panose="020F0502020204030204"/>
              </a:rPr>
              <a:t>Agosto 2026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F594D15-71DC-6787-371E-F6DCF0BA3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501" y="4219448"/>
            <a:ext cx="5047499" cy="28732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8C003E7-D288-9D3B-BB30-D56C0BF91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5166360"/>
            <a:ext cx="3325897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RESUMEN GENERAL: BCP CONVENIOS  |LIMA · TELECAMPO +PROV. · NORTE · SUR · ORIENTE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0E3854"/>
          </a:solidFill>
          <a:ln w="12700">
            <a:solidFill>
              <a:srgbClr val="0E3854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1 / 3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6329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43840" cy="2438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7136" y="999744"/>
            <a:ext cx="264566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D97706"/>
                </a:solidFill>
                <a:latin typeface="Calibri" panose="020F0502020204030204"/>
              </a:rPr>
              <a:t>EN SEGUIMIENTO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8224" y="1536192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dirty="0">
                <a:solidFill>
                  <a:srgbClr val="667085"/>
                </a:solidFill>
                <a:latin typeface="Calibri" panose="020F0502020204030204"/>
              </a:rPr>
              <a:t>Sub Gerente: Jhonny Vega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68224" y="1950720"/>
            <a:ext cx="3108960" cy="1853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66" b="1" dirty="0">
                <a:solidFill>
                  <a:srgbClr val="D97706"/>
                </a:solidFill>
                <a:latin typeface="Calibri" panose="020F0502020204030204"/>
              </a:rPr>
              <a:t>87%</a:t>
            </a:r>
            <a:endParaRPr lang="en-US" sz="106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68224" y="3877056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667085"/>
                </a:solidFill>
                <a:latin typeface="Calibri" panose="020F0502020204030204"/>
              </a:rPr>
              <a:t>Avance promedio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511297" y="999744"/>
            <a:ext cx="26823" cy="54254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657600" y="999744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84048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ACTIVOS TOTAL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4048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69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894320" y="999744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07720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DOTACION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07720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79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657600" y="2145792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84048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PEND. SELECCION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84048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894320" y="2145792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07720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PEND. INDUCCION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07720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10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657600" y="3291840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84048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PRESUPUESTO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4048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79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894320" y="3291840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07720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SEMANA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07720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05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0" y="4364286"/>
            <a:ext cx="12192000" cy="375513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43840" y="4364286"/>
            <a:ext cx="414528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Sub-campaña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009933" y="4350025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Presupuesto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035040" y="4364286"/>
            <a:ext cx="28041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Avance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8875776" y="4364286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% Logro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0058400" y="4364286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Proyeccion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0" y="4808808"/>
            <a:ext cx="12192000" cy="375513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43840" y="4808808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dirty="0">
                <a:solidFill>
                  <a:srgbClr val="6B150B"/>
                </a:solidFill>
                <a:latin typeface="Calibri" panose="020F0502020204030204"/>
              </a:rPr>
              <a:t>BCP Conv. Lima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3274475" y="4806048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01828"/>
                </a:solidFill>
                <a:latin typeface="Calibri" panose="020F0502020204030204"/>
              </a:rPr>
              <a:t>12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035040" y="4913951"/>
            <a:ext cx="2560320" cy="157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035041" y="4913951"/>
            <a:ext cx="2125065" cy="1577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defTabSz="1219170"/>
            <a:endParaRPr lang="es-PE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8875776" y="4808808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dirty="0">
                <a:solidFill>
                  <a:srgbClr val="D97706"/>
                </a:solidFill>
                <a:latin typeface="Calibri" panose="020F0502020204030204"/>
              </a:rPr>
              <a:t>83%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10058400" y="4808808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9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0" y="5184321"/>
            <a:ext cx="12192000" cy="375513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243840" y="5184321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dirty="0">
                <a:solidFill>
                  <a:srgbClr val="6B150B"/>
                </a:solidFill>
                <a:latin typeface="Calibri" panose="020F0502020204030204"/>
              </a:rPr>
              <a:t>BCP Conv. Telecampo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3274475" y="5181561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01828"/>
                </a:solidFill>
                <a:latin typeface="Calibri" panose="020F0502020204030204"/>
              </a:rPr>
              <a:t>20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6035040" y="5289465"/>
            <a:ext cx="2560320" cy="157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6035040" y="5289465"/>
            <a:ext cx="2304288" cy="1577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pPr defTabSz="1219170"/>
            <a:endParaRPr lang="es-PE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875776" y="5184321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dirty="0">
                <a:solidFill>
                  <a:srgbClr val="059669"/>
                </a:solidFill>
                <a:latin typeface="Calibri" panose="020F0502020204030204"/>
              </a:rPr>
              <a:t>90%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10058400" y="5184321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9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0" y="5559836"/>
            <a:ext cx="12192000" cy="375513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243840" y="5559836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dirty="0">
                <a:solidFill>
                  <a:srgbClr val="6B150B"/>
                </a:solidFill>
                <a:latin typeface="Calibri" panose="020F0502020204030204"/>
              </a:rPr>
              <a:t>BCP Conv. Norte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3274475" y="5557076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01828"/>
                </a:solidFill>
                <a:latin typeface="Calibri" panose="020F0502020204030204"/>
              </a:rPr>
              <a:t>25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035040" y="5664978"/>
            <a:ext cx="2560320" cy="157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6035041" y="5664978"/>
            <a:ext cx="2253081" cy="1577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defTabSz="1219170"/>
            <a:endParaRPr lang="es-PE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8875776" y="5559836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dirty="0">
                <a:solidFill>
                  <a:srgbClr val="D97706"/>
                </a:solidFill>
                <a:latin typeface="Calibri" panose="020F0502020204030204"/>
              </a:rPr>
              <a:t>88%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10058400" y="5559836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9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253367" y="6209396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dirty="0">
                <a:solidFill>
                  <a:srgbClr val="6B150B"/>
                </a:solidFill>
                <a:latin typeface="Calibri" panose="020F0502020204030204"/>
              </a:rPr>
              <a:t>BCP Conv. Oriente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3274475" y="593258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01828"/>
                </a:solidFill>
                <a:latin typeface="Calibri" panose="020F0502020204030204"/>
              </a:rPr>
              <a:t>22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6035040" y="6040493"/>
            <a:ext cx="2560320" cy="157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6035040" y="6040493"/>
            <a:ext cx="2201875" cy="1577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defTabSz="1219170"/>
            <a:endParaRPr lang="es-PE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8875776" y="5935349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dirty="0">
                <a:solidFill>
                  <a:srgbClr val="D97706"/>
                </a:solidFill>
                <a:latin typeface="Calibri" panose="020F0502020204030204"/>
              </a:rPr>
              <a:t>86%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10058400" y="5935349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9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-15240" y="6600815"/>
            <a:ext cx="11582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800" i="1" dirty="0">
                <a:solidFill>
                  <a:srgbClr val="667085"/>
                </a:solidFill>
                <a:latin typeface="Calibri" panose="020F0502020204030204"/>
              </a:rPr>
              <a:t>TU META ES NUESTRA META  ·  BCP CONVENIOS  |  JHONNY VEGA  |  Jhonny Vega  |  Cierre Agosto 2026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39">
            <a:extLst>
              <a:ext uri="{FF2B5EF4-FFF2-40B4-BE49-F238E27FC236}">
                <a16:creationId xmlns:a16="http://schemas.microsoft.com/office/drawing/2014/main" id="{BBE9F211-45A5-BA17-A407-5C3D2D5E01C0}"/>
              </a:ext>
            </a:extLst>
          </p:cNvPr>
          <p:cNvSpPr/>
          <p:nvPr/>
        </p:nvSpPr>
        <p:spPr>
          <a:xfrm>
            <a:off x="6787700" y="4811177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9739C4FB-C6F0-5718-92AC-168903A98407}"/>
              </a:ext>
            </a:extLst>
          </p:cNvPr>
          <p:cNvSpPr/>
          <p:nvPr/>
        </p:nvSpPr>
        <p:spPr>
          <a:xfrm>
            <a:off x="6845717" y="5191850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DA8907C7-B650-7E80-A036-E2338D79CEBF}"/>
              </a:ext>
            </a:extLst>
          </p:cNvPr>
          <p:cNvSpPr/>
          <p:nvPr/>
        </p:nvSpPr>
        <p:spPr>
          <a:xfrm>
            <a:off x="6821333" y="5556078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893EA4AE-ED9B-6CA2-CFEC-AF368EFA86EE}"/>
              </a:ext>
            </a:extLst>
          </p:cNvPr>
          <p:cNvSpPr/>
          <p:nvPr/>
        </p:nvSpPr>
        <p:spPr>
          <a:xfrm>
            <a:off x="6821333" y="5923157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33">
            <a:extLst>
              <a:ext uri="{FF2B5EF4-FFF2-40B4-BE49-F238E27FC236}">
                <a16:creationId xmlns:a16="http://schemas.microsoft.com/office/drawing/2014/main" id="{0CACAE7C-1921-24FD-B255-786D9F421FB3}"/>
              </a:ext>
            </a:extLst>
          </p:cNvPr>
          <p:cNvSpPr/>
          <p:nvPr/>
        </p:nvSpPr>
        <p:spPr>
          <a:xfrm>
            <a:off x="4138149" y="4366833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 err="1">
                <a:solidFill>
                  <a:srgbClr val="FFFFFF"/>
                </a:solidFill>
                <a:latin typeface="Calibri" panose="020F0502020204030204"/>
              </a:rPr>
              <a:t>Conectados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6BF71203-C7EC-7F9E-8B17-7BB746571FE6}"/>
              </a:ext>
            </a:extLst>
          </p:cNvPr>
          <p:cNvSpPr/>
          <p:nvPr/>
        </p:nvSpPr>
        <p:spPr>
          <a:xfrm>
            <a:off x="4408117" y="4901392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40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0041979E-326E-63A7-480C-145660A93053}"/>
              </a:ext>
            </a:extLst>
          </p:cNvPr>
          <p:cNvSpPr/>
          <p:nvPr/>
        </p:nvSpPr>
        <p:spPr>
          <a:xfrm>
            <a:off x="4426383" y="5213517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11010"/>
                </a:solidFill>
                <a:latin typeface="Calibri" panose="020F0502020204030204"/>
              </a:rPr>
              <a:t>20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6CA350C2-4943-0699-47E4-98BF833841D6}"/>
              </a:ext>
            </a:extLst>
          </p:cNvPr>
          <p:cNvSpPr/>
          <p:nvPr/>
        </p:nvSpPr>
        <p:spPr>
          <a:xfrm>
            <a:off x="4448883" y="5587648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11010"/>
                </a:solidFill>
                <a:latin typeface="Calibri" panose="020F0502020204030204"/>
              </a:rPr>
              <a:t>28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Text 39">
            <a:extLst>
              <a:ext uri="{FF2B5EF4-FFF2-40B4-BE49-F238E27FC236}">
                <a16:creationId xmlns:a16="http://schemas.microsoft.com/office/drawing/2014/main" id="{44DFD12E-CDA2-118E-71A3-9CA5686F69E4}"/>
              </a:ext>
            </a:extLst>
          </p:cNvPr>
          <p:cNvSpPr/>
          <p:nvPr/>
        </p:nvSpPr>
        <p:spPr>
          <a:xfrm>
            <a:off x="4481225" y="5928657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11010"/>
                </a:solidFill>
                <a:latin typeface="Calibri" panose="020F0502020204030204"/>
              </a:rPr>
              <a:t>4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Text 59">
            <a:extLst>
              <a:ext uri="{FF2B5EF4-FFF2-40B4-BE49-F238E27FC236}">
                <a16:creationId xmlns:a16="http://schemas.microsoft.com/office/drawing/2014/main" id="{DFC632F1-521C-5FA9-948D-98F5C8218648}"/>
              </a:ext>
            </a:extLst>
          </p:cNvPr>
          <p:cNvSpPr/>
          <p:nvPr/>
        </p:nvSpPr>
        <p:spPr>
          <a:xfrm>
            <a:off x="247383" y="5894362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dirty="0">
                <a:solidFill>
                  <a:srgbClr val="6B150B"/>
                </a:solidFill>
                <a:latin typeface="Calibri" panose="020F0502020204030204"/>
              </a:rPr>
              <a:t>BCP Conv. Sur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" name="Text 60">
            <a:extLst>
              <a:ext uri="{FF2B5EF4-FFF2-40B4-BE49-F238E27FC236}">
                <a16:creationId xmlns:a16="http://schemas.microsoft.com/office/drawing/2014/main" id="{57F6436D-E93C-A866-2C0A-72558B67DCBE}"/>
              </a:ext>
            </a:extLst>
          </p:cNvPr>
          <p:cNvSpPr/>
          <p:nvPr/>
        </p:nvSpPr>
        <p:spPr>
          <a:xfrm>
            <a:off x="3283499" y="6216458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01828"/>
                </a:solidFill>
                <a:latin typeface="Calibri" panose="020F0502020204030204"/>
              </a:rPr>
              <a:t>22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Text 39">
            <a:extLst>
              <a:ext uri="{FF2B5EF4-FFF2-40B4-BE49-F238E27FC236}">
                <a16:creationId xmlns:a16="http://schemas.microsoft.com/office/drawing/2014/main" id="{0717CE86-AB76-1918-6623-C813E72FFD7D}"/>
              </a:ext>
            </a:extLst>
          </p:cNvPr>
          <p:cNvSpPr/>
          <p:nvPr/>
        </p:nvSpPr>
        <p:spPr>
          <a:xfrm>
            <a:off x="4488896" y="6246870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11010"/>
                </a:solidFill>
                <a:latin typeface="Calibri" panose="020F0502020204030204"/>
              </a:rPr>
              <a:t>4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1" name="Shape 61">
            <a:extLst>
              <a:ext uri="{FF2B5EF4-FFF2-40B4-BE49-F238E27FC236}">
                <a16:creationId xmlns:a16="http://schemas.microsoft.com/office/drawing/2014/main" id="{AA0CA985-77A4-1BD8-33D2-D5D819E47FA4}"/>
              </a:ext>
            </a:extLst>
          </p:cNvPr>
          <p:cNvSpPr/>
          <p:nvPr/>
        </p:nvSpPr>
        <p:spPr>
          <a:xfrm>
            <a:off x="6088723" y="6347205"/>
            <a:ext cx="2560320" cy="157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7" name="Shape 62">
            <a:extLst>
              <a:ext uri="{FF2B5EF4-FFF2-40B4-BE49-F238E27FC236}">
                <a16:creationId xmlns:a16="http://schemas.microsoft.com/office/drawing/2014/main" id="{D5E6F4F4-4BB3-96CB-AF80-07B00F5CC9E2}"/>
              </a:ext>
            </a:extLst>
          </p:cNvPr>
          <p:cNvSpPr/>
          <p:nvPr/>
        </p:nvSpPr>
        <p:spPr>
          <a:xfrm>
            <a:off x="6069912" y="6348119"/>
            <a:ext cx="2201875" cy="1577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defTabSz="1219170"/>
            <a:endParaRPr lang="es-PE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52D1BBE0-41F8-3157-1A79-F802C038E87A}"/>
              </a:ext>
            </a:extLst>
          </p:cNvPr>
          <p:cNvSpPr/>
          <p:nvPr/>
        </p:nvSpPr>
        <p:spPr>
          <a:xfrm>
            <a:off x="6856205" y="6230784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3" name="Text 63">
            <a:extLst>
              <a:ext uri="{FF2B5EF4-FFF2-40B4-BE49-F238E27FC236}">
                <a16:creationId xmlns:a16="http://schemas.microsoft.com/office/drawing/2014/main" id="{D73B47FE-74EB-55D4-B959-CFC3A28C71A1}"/>
              </a:ext>
            </a:extLst>
          </p:cNvPr>
          <p:cNvSpPr/>
          <p:nvPr/>
        </p:nvSpPr>
        <p:spPr>
          <a:xfrm>
            <a:off x="8894951" y="6230562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dirty="0">
                <a:solidFill>
                  <a:srgbClr val="D97706"/>
                </a:solidFill>
                <a:latin typeface="Calibri" panose="020F0502020204030204"/>
              </a:rPr>
              <a:t>86%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" name="Text 64">
            <a:extLst>
              <a:ext uri="{FF2B5EF4-FFF2-40B4-BE49-F238E27FC236}">
                <a16:creationId xmlns:a16="http://schemas.microsoft.com/office/drawing/2014/main" id="{916BD683-1652-98CD-4EF9-2457640F25DD}"/>
              </a:ext>
            </a:extLst>
          </p:cNvPr>
          <p:cNvSpPr/>
          <p:nvPr/>
        </p:nvSpPr>
        <p:spPr>
          <a:xfrm>
            <a:off x="10077575" y="6230562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9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7" name="Picture 8">
            <a:extLst>
              <a:ext uri="{FF2B5EF4-FFF2-40B4-BE49-F238E27FC236}">
                <a16:creationId xmlns:a16="http://schemas.microsoft.com/office/drawing/2014/main" id="{0AFA0D32-5A0E-A7FC-9D89-11C05C1E7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108" name="Panel Resum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8785"/>
            <a:ext cx="12192000" cy="5643743"/>
          </a:xfrm>
          <a:prstGeom prst="rect">
            <a:avLst/>
          </a:prstGeom>
        </p:spPr>
      </p:pic>
      <p:sp>
        <p:nvSpPr>
          <p:cNvPr id="109" name="dato_manual"/>
          <p:cNvSpPr>
            <a:spLocks noGrp="1"/>
          </p:cNvSpPr>
          <p:nvPr/>
        </p:nvSpPr>
        <p:spPr>
          <a:xfrm>
            <a:off x="3657600" y="1917607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defTabSz="1219170"/>
            <a:r>
              <a:rPr lang="es-PE" sz="2200" b="1" dirty="0">
                <a:solidFill>
                  <a:srgbClr val="103A5E"/>
                </a:solidFill>
                <a:latin typeface="Arial"/>
              </a:rPr>
              <a:t>69</a:t>
            </a:r>
          </a:p>
        </p:txBody>
      </p:sp>
      <p:sp>
        <p:nvSpPr>
          <p:cNvPr id="110" name="dato_manual"/>
          <p:cNvSpPr>
            <a:spLocks noGrp="1"/>
          </p:cNvSpPr>
          <p:nvPr/>
        </p:nvSpPr>
        <p:spPr>
          <a:xfrm>
            <a:off x="5812535" y="1917607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defTabSz="1219170"/>
            <a:r>
              <a:rPr lang="es-PE" sz="2200" b="1" dirty="0">
                <a:solidFill>
                  <a:srgbClr val="103A5E"/>
                </a:solidFill>
                <a:latin typeface="Arial"/>
              </a:rPr>
              <a:t>15</a:t>
            </a:r>
          </a:p>
        </p:txBody>
      </p:sp>
      <p:sp>
        <p:nvSpPr>
          <p:cNvPr id="111" name="dato_manual"/>
          <p:cNvSpPr>
            <a:spLocks noGrp="1"/>
          </p:cNvSpPr>
          <p:nvPr/>
        </p:nvSpPr>
        <p:spPr>
          <a:xfrm>
            <a:off x="3374745" y="4166744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2" name="dato_manual"/>
          <p:cNvSpPr>
            <a:spLocks noGrp="1"/>
          </p:cNvSpPr>
          <p:nvPr/>
        </p:nvSpPr>
        <p:spPr>
          <a:xfrm>
            <a:off x="4779264" y="4166744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3" name="dato_manual"/>
          <p:cNvSpPr>
            <a:spLocks noGrp="1"/>
          </p:cNvSpPr>
          <p:nvPr/>
        </p:nvSpPr>
        <p:spPr>
          <a:xfrm>
            <a:off x="3374745" y="4561643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4" name="dato_manual"/>
          <p:cNvSpPr>
            <a:spLocks noGrp="1"/>
          </p:cNvSpPr>
          <p:nvPr/>
        </p:nvSpPr>
        <p:spPr>
          <a:xfrm>
            <a:off x="4779264" y="4561643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5" name="dato_manual"/>
          <p:cNvSpPr>
            <a:spLocks noGrp="1"/>
          </p:cNvSpPr>
          <p:nvPr/>
        </p:nvSpPr>
        <p:spPr>
          <a:xfrm>
            <a:off x="3374745" y="495654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6" name="dato_manual"/>
          <p:cNvSpPr>
            <a:spLocks noGrp="1"/>
          </p:cNvSpPr>
          <p:nvPr/>
        </p:nvSpPr>
        <p:spPr>
          <a:xfrm>
            <a:off x="4779264" y="495654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7" name="dato_manual"/>
          <p:cNvSpPr>
            <a:spLocks noGrp="1"/>
          </p:cNvSpPr>
          <p:nvPr/>
        </p:nvSpPr>
        <p:spPr>
          <a:xfrm>
            <a:off x="3374745" y="5351440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8" name="dato_manual"/>
          <p:cNvSpPr>
            <a:spLocks noGrp="1"/>
          </p:cNvSpPr>
          <p:nvPr/>
        </p:nvSpPr>
        <p:spPr>
          <a:xfrm>
            <a:off x="4779264" y="5351440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9" name="dato_manual"/>
          <p:cNvSpPr>
            <a:spLocks noGrp="1"/>
          </p:cNvSpPr>
          <p:nvPr/>
        </p:nvSpPr>
        <p:spPr>
          <a:xfrm>
            <a:off x="3374745" y="574633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20" name="dato_manual"/>
          <p:cNvSpPr>
            <a:spLocks noGrp="1"/>
          </p:cNvSpPr>
          <p:nvPr/>
        </p:nvSpPr>
        <p:spPr>
          <a:xfrm>
            <a:off x="4779264" y="574633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21" name="dato_manual"/>
          <p:cNvSpPr>
            <a:spLocks noGrp="1"/>
          </p:cNvSpPr>
          <p:nvPr/>
        </p:nvSpPr>
        <p:spPr>
          <a:xfrm>
            <a:off x="3374745" y="6141237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123A5E"/>
                </a:solidFill>
                <a:latin typeface="Arial"/>
              </a:rPr>
              <a:t>0</a:t>
            </a:r>
          </a:p>
        </p:txBody>
      </p:sp>
      <p:sp>
        <p:nvSpPr>
          <p:cNvPr id="122" name="dato_manual"/>
          <p:cNvSpPr>
            <a:spLocks noGrp="1"/>
          </p:cNvSpPr>
          <p:nvPr/>
        </p:nvSpPr>
        <p:spPr>
          <a:xfrm>
            <a:off x="4779264" y="6141237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123A5E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BCP CONVENIOS  | LIMA: Informacion al 8 de Agosto  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1920" y="1452471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Sub Gerente: Jhonny Vega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1653" y="2952803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9600" b="1" dirty="0">
                <a:solidFill>
                  <a:srgbClr val="C0392B"/>
                </a:solidFill>
                <a:latin typeface="Calibri" panose="020F0502020204030204"/>
              </a:rPr>
              <a:t>40.7%</a:t>
            </a:r>
            <a:endParaRPr lang="en-US" sz="9600" dirty="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8480DA6F-65FA-B069-34CD-9AA6C627D6DC}"/>
              </a:ext>
            </a:extLst>
          </p:cNvPr>
          <p:cNvSpPr/>
          <p:nvPr/>
        </p:nvSpPr>
        <p:spPr>
          <a:xfrm>
            <a:off x="610619" y="284265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8.50M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7C8E20B4-2106-61B7-614C-6736DAF7EF5F}"/>
              </a:ext>
            </a:extLst>
          </p:cNvPr>
          <p:cNvSpPr/>
          <p:nvPr/>
        </p:nvSpPr>
        <p:spPr>
          <a:xfrm>
            <a:off x="-98148" y="438384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893.4K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741327E9-B672-3DCB-C2E1-A7265FAA11FC}"/>
              </a:ext>
            </a:extLst>
          </p:cNvPr>
          <p:cNvSpPr/>
          <p:nvPr/>
        </p:nvSpPr>
        <p:spPr>
          <a:xfrm>
            <a:off x="1523157" y="4402261"/>
            <a:ext cx="2036907" cy="352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2.19M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8" name="Imagen_barras" descr="image.png">
            <a:extLst>
              <a:ext uri="{FF2B5EF4-FFF2-40B4-BE49-F238E27FC236}">
                <a16:creationId xmlns:a16="http://schemas.microsoft.com/office/drawing/2014/main" id="{9B074277-10BE-3B3E-3741-ED0214CF2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338" y="935736"/>
            <a:ext cx="7585285" cy="3473054"/>
          </a:xfrm>
          <a:prstGeom prst="rect">
            <a:avLst/>
          </a:prstGeom>
        </p:spPr>
      </p:pic>
      <p:pic>
        <p:nvPicPr>
          <p:cNvPr id="29" name="Picture 34" descr="image.png">
            <a:extLst>
              <a:ext uri="{FF2B5EF4-FFF2-40B4-BE49-F238E27FC236}">
                <a16:creationId xmlns:a16="http://schemas.microsoft.com/office/drawing/2014/main" id="{9C77F8C9-766E-27C3-C891-996AEC5E0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49" y="4085142"/>
            <a:ext cx="3625379" cy="2421613"/>
          </a:xfrm>
          <a:prstGeom prst="rect">
            <a:avLst/>
          </a:prstGeom>
        </p:spPr>
      </p:pic>
      <p:pic>
        <p:nvPicPr>
          <p:cNvPr id="31" name="Asesor" descr="image.png">
            <a:extLst>
              <a:ext uri="{FF2B5EF4-FFF2-40B4-BE49-F238E27FC236}">
                <a16:creationId xmlns:a16="http://schemas.microsoft.com/office/drawing/2014/main" id="{D6059DDA-6B4F-BA7A-BC24-D63B5754B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452" y="4085141"/>
            <a:ext cx="3792379" cy="2352235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5E2F0946-28EF-962B-4113-EE13E9AF55C5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6A077831-C390-D5A5-FA6A-1FEC2314D1E9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F7A403F1-17A5-172C-D72C-E235F0491CA5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Bajo la meta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0332C3-2CA6-5458-CC22-55C4D67D8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258537"/>
            <a:ext cx="1783080" cy="4557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BCP CONVENIOS  | TELECAMPO: Información al 8 de Agosto 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2 / 4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Sub Gerente : Jhonny Vega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43840" y="2625526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9600" b="1" dirty="0">
                <a:solidFill>
                  <a:srgbClr val="C0392B"/>
                </a:solidFill>
                <a:latin typeface="Calibri" panose="020F0502020204030204"/>
              </a:rPr>
              <a:t>28.4%</a:t>
            </a:r>
            <a:endParaRPr lang="en-US" sz="9600" dirty="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27EA2489-7279-F978-D858-EE8912551351}"/>
              </a:ext>
            </a:extLst>
          </p:cNvPr>
          <p:cNvSpPr/>
          <p:nvPr/>
        </p:nvSpPr>
        <p:spPr>
          <a:xfrm>
            <a:off x="564611" y="2700881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3.00M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610F36D7-6934-4762-36C4-25EB5CC397D4}"/>
              </a:ext>
            </a:extLst>
          </p:cNvPr>
          <p:cNvSpPr/>
          <p:nvPr/>
        </p:nvSpPr>
        <p:spPr>
          <a:xfrm>
            <a:off x="-75144" y="4219067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219.8K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470AAE93-3E6D-6ABC-978C-0EBA14A72CA4}"/>
              </a:ext>
            </a:extLst>
          </p:cNvPr>
          <p:cNvSpPr/>
          <p:nvPr/>
        </p:nvSpPr>
        <p:spPr>
          <a:xfrm>
            <a:off x="1523157" y="4214480"/>
            <a:ext cx="203690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774.2K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35" name="Imagen_barras" descr="image.png">
            <a:extLst>
              <a:ext uri="{FF2B5EF4-FFF2-40B4-BE49-F238E27FC236}">
                <a16:creationId xmlns:a16="http://schemas.microsoft.com/office/drawing/2014/main" id="{A3B3A0DA-44FD-69D2-8D56-F057EFDAB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1234572"/>
            <a:ext cx="7945017" cy="3289960"/>
          </a:xfrm>
          <a:prstGeom prst="rect">
            <a:avLst/>
          </a:prstGeom>
        </p:spPr>
      </p:pic>
      <p:pic>
        <p:nvPicPr>
          <p:cNvPr id="37" name="Picture 34" descr="image.png">
            <a:extLst>
              <a:ext uri="{FF2B5EF4-FFF2-40B4-BE49-F238E27FC236}">
                <a16:creationId xmlns:a16="http://schemas.microsoft.com/office/drawing/2014/main" id="{EA6B5B9D-BF35-B4BC-E75A-C33D4566E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367" y="4709650"/>
            <a:ext cx="2623072" cy="1752111"/>
          </a:xfrm>
          <a:prstGeom prst="rect">
            <a:avLst/>
          </a:prstGeom>
        </p:spPr>
      </p:pic>
      <p:pic>
        <p:nvPicPr>
          <p:cNvPr id="39" name="Asesor" descr="image.png">
            <a:extLst>
              <a:ext uri="{FF2B5EF4-FFF2-40B4-BE49-F238E27FC236}">
                <a16:creationId xmlns:a16="http://schemas.microsoft.com/office/drawing/2014/main" id="{34D6065A-9504-0D23-92D5-C9D916EA6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045" y="4649398"/>
            <a:ext cx="3140753" cy="1948063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3213149F-0CF0-EF74-5FE2-D13E756455B8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E877B0F1-27DA-4E32-C4EE-4F4F411F4FCA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E6607949-A43B-8073-1A4C-3B902659B7AF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Bajo la meta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372A4D65-94DD-9C93-0BCD-B3C2450C16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7" name="Client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258537"/>
            <a:ext cx="1783080" cy="4557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BCP CONVENIOS  | NORTE I:  Información al 8 de Agosto 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3 / 4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Sub Gerente: Jhonny Vega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02146" y="2815963"/>
            <a:ext cx="3694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800" b="1" dirty="0">
                <a:solidFill>
                  <a:srgbClr val="C0392B"/>
                </a:solidFill>
                <a:latin typeface="Calibri" panose="020F0502020204030204"/>
              </a:rPr>
              <a:t>23.9%</a:t>
            </a:r>
            <a:endParaRPr lang="en-US" sz="8800" dirty="0">
              <a:solidFill>
                <a:srgbClr val="19A075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60064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AB0575AD-6901-AE80-E45C-78AB50A743C4}"/>
              </a:ext>
            </a:extLst>
          </p:cNvPr>
          <p:cNvSpPr/>
          <p:nvPr/>
        </p:nvSpPr>
        <p:spPr>
          <a:xfrm>
            <a:off x="662759" y="279159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6.00M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E5C7218A-B099-E1DA-6E16-6D61BC90CC79}"/>
              </a:ext>
            </a:extLst>
          </p:cNvPr>
          <p:cNvSpPr/>
          <p:nvPr/>
        </p:nvSpPr>
        <p:spPr>
          <a:xfrm>
            <a:off x="0" y="4355788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370.7K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26DF5C35-EDFA-E398-100F-070596FE01B8}"/>
              </a:ext>
            </a:extLst>
          </p:cNvPr>
          <p:cNvSpPr/>
          <p:nvPr/>
        </p:nvSpPr>
        <p:spPr>
          <a:xfrm>
            <a:off x="1621305" y="4305193"/>
            <a:ext cx="1988139" cy="47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1.55M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28" name="Imagen_barras" descr="image.png">
            <a:extLst>
              <a:ext uri="{FF2B5EF4-FFF2-40B4-BE49-F238E27FC236}">
                <a16:creationId xmlns:a16="http://schemas.microsoft.com/office/drawing/2014/main" id="{31068695-F214-6276-68B8-7D2ABCF41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323" y="1068065"/>
            <a:ext cx="7803147" cy="3201264"/>
          </a:xfrm>
          <a:prstGeom prst="rect">
            <a:avLst/>
          </a:prstGeom>
        </p:spPr>
      </p:pic>
      <p:pic>
        <p:nvPicPr>
          <p:cNvPr id="30" name="Picture 34" descr="image.png">
            <a:extLst>
              <a:ext uri="{FF2B5EF4-FFF2-40B4-BE49-F238E27FC236}">
                <a16:creationId xmlns:a16="http://schemas.microsoft.com/office/drawing/2014/main" id="{DDF3AF98-EA43-292D-C0C6-C587FE9B1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17" y="4432589"/>
            <a:ext cx="3108960" cy="2076665"/>
          </a:xfrm>
          <a:prstGeom prst="rect">
            <a:avLst/>
          </a:prstGeom>
        </p:spPr>
      </p:pic>
      <p:pic>
        <p:nvPicPr>
          <p:cNvPr id="32" name="Asesor" descr="image.png">
            <a:extLst>
              <a:ext uri="{FF2B5EF4-FFF2-40B4-BE49-F238E27FC236}">
                <a16:creationId xmlns:a16="http://schemas.microsoft.com/office/drawing/2014/main" id="{832C5A12-1555-7F3C-7B6D-16C6CEF4C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651" y="4305192"/>
            <a:ext cx="3535519" cy="2192917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CB8CFC5B-1408-6000-A44E-099F69EE743E}"/>
              </a:ext>
            </a:extLst>
          </p:cNvPr>
          <p:cNvSpPr/>
          <p:nvPr/>
        </p:nvSpPr>
        <p:spPr>
          <a:xfrm>
            <a:off x="260401" y="1036011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C40E32A9-5A7B-27DE-A226-0A0B45572163}"/>
              </a:ext>
            </a:extLst>
          </p:cNvPr>
          <p:cNvSpPr/>
          <p:nvPr/>
        </p:nvSpPr>
        <p:spPr>
          <a:xfrm>
            <a:off x="382321" y="1133547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9C213A1C-5EED-46B3-2B49-A48C45517E04}"/>
              </a:ext>
            </a:extLst>
          </p:cNvPr>
          <p:cNvSpPr/>
          <p:nvPr/>
        </p:nvSpPr>
        <p:spPr>
          <a:xfrm>
            <a:off x="674929" y="1036011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Bajo la meta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2578C4-1704-7C62-F49A-7680D8193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258537"/>
            <a:ext cx="1783080" cy="4557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835FE-2760-7CDA-4AE8-A8AECFB4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475BB5-1838-23F5-BC27-F66ABAF9E0BE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FE5DC8-FD0C-EDDA-5A42-1C2AB6DB6564}"/>
              </a:ext>
            </a:extLst>
          </p:cNvPr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847520-2E56-03F3-2E50-96F3ED1A2F16}"/>
              </a:ext>
            </a:extLst>
          </p:cNvPr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53C71BA-4DAD-AAEE-21BC-8562D6B53F99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BCP CONVENIOS  | NORTE II:  Información al 8 de Agosto 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F65A6FD-1970-5084-751D-33FFFBFC7B97}"/>
              </a:ext>
            </a:extLst>
          </p:cNvPr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3 / 4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9BC58CE-F762-59E8-9E5E-7681E8357ADB}"/>
              </a:ext>
            </a:extLst>
          </p:cNvPr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Sub Gerente: Jhonny Vega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D61EE82-98A1-05BF-8668-B98D7AC2ECCA}"/>
              </a:ext>
            </a:extLst>
          </p:cNvPr>
          <p:cNvSpPr/>
          <p:nvPr/>
        </p:nvSpPr>
        <p:spPr>
          <a:xfrm>
            <a:off x="332609" y="2859165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9600" b="1" dirty="0">
                <a:solidFill>
                  <a:srgbClr val="C0392B"/>
                </a:solidFill>
                <a:latin typeface="Calibri" panose="020F0502020204030204"/>
              </a:rPr>
              <a:t>36.9%</a:t>
            </a:r>
            <a:endParaRPr lang="en-US" sz="9600" dirty="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397DE739-B7E3-CCAE-DD3D-ECA8DE8AB222}"/>
              </a:ext>
            </a:extLst>
          </p:cNvPr>
          <p:cNvSpPr/>
          <p:nvPr/>
        </p:nvSpPr>
        <p:spPr>
          <a:xfrm>
            <a:off x="3560064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9A13ABEF-76D2-249B-8311-FA6523DB245A}"/>
              </a:ext>
            </a:extLst>
          </p:cNvPr>
          <p:cNvSpPr/>
          <p:nvPr/>
        </p:nvSpPr>
        <p:spPr>
          <a:xfrm>
            <a:off x="521800" y="2817979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6.00M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9556D5C2-2C1E-5EF6-480E-DE83DE4C4BD1}"/>
              </a:ext>
            </a:extLst>
          </p:cNvPr>
          <p:cNvSpPr/>
          <p:nvPr/>
        </p:nvSpPr>
        <p:spPr>
          <a:xfrm>
            <a:off x="-140959" y="4382172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571.5K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A40E2505-6C6E-8ABA-320D-DC4C2FA463B7}"/>
              </a:ext>
            </a:extLst>
          </p:cNvPr>
          <p:cNvSpPr/>
          <p:nvPr/>
        </p:nvSpPr>
        <p:spPr>
          <a:xfrm>
            <a:off x="1434339" y="4331577"/>
            <a:ext cx="2049099" cy="4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1.55M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29" name="Imagen_barras" descr="image.png">
            <a:extLst>
              <a:ext uri="{FF2B5EF4-FFF2-40B4-BE49-F238E27FC236}">
                <a16:creationId xmlns:a16="http://schemas.microsoft.com/office/drawing/2014/main" id="{8B767D98-EB03-7419-18B2-57A83A5F4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631" y="1196496"/>
            <a:ext cx="7772760" cy="2906874"/>
          </a:xfrm>
          <a:prstGeom prst="rect">
            <a:avLst/>
          </a:prstGeom>
        </p:spPr>
      </p:pic>
      <p:pic>
        <p:nvPicPr>
          <p:cNvPr id="33" name="Picture 34" descr="image.png">
            <a:extLst>
              <a:ext uri="{FF2B5EF4-FFF2-40B4-BE49-F238E27FC236}">
                <a16:creationId xmlns:a16="http://schemas.microsoft.com/office/drawing/2014/main" id="{97F770EF-071A-49EF-8237-192FEFACB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778" y="4331577"/>
            <a:ext cx="2931585" cy="1958185"/>
          </a:xfrm>
          <a:prstGeom prst="rect">
            <a:avLst/>
          </a:prstGeom>
        </p:spPr>
      </p:pic>
      <p:pic>
        <p:nvPicPr>
          <p:cNvPr id="35" name="Asesor" descr="image.png">
            <a:extLst>
              <a:ext uri="{FF2B5EF4-FFF2-40B4-BE49-F238E27FC236}">
                <a16:creationId xmlns:a16="http://schemas.microsoft.com/office/drawing/2014/main" id="{0E2AC5AE-AECF-CF06-1065-323DA7FB1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006" y="4331576"/>
            <a:ext cx="3148271" cy="1952725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6E892E2C-3830-D938-95BF-83C884706599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2970F1A6-4A82-60F7-3100-2BB6CC472735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1B340E67-2F21-D7C4-DB0E-4E58739E8512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Bajo la meta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C85C88-D079-8F91-1A9D-9B8A145E2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258537"/>
            <a:ext cx="1783080" cy="45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12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BCP CONVENIOS  |  SUR/ORIENTE: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Sub Gerente: Jhonny Vega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21796" y="2625133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9600" b="1" dirty="0">
                <a:solidFill>
                  <a:srgbClr val="C0392B"/>
                </a:solidFill>
                <a:latin typeface="Calibri" panose="020F0502020204030204"/>
              </a:rPr>
              <a:t>23.6%</a:t>
            </a:r>
            <a:endParaRPr lang="en-US" sz="9600" dirty="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8E0C2926-0DB6-DEE8-581C-3B85250E44BC}"/>
              </a:ext>
            </a:extLst>
          </p:cNvPr>
          <p:cNvSpPr/>
          <p:nvPr/>
        </p:nvSpPr>
        <p:spPr>
          <a:xfrm>
            <a:off x="675392" y="254063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6.50M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6FE172D7-36A3-67F1-79EA-6723B1D67A6B}"/>
              </a:ext>
            </a:extLst>
          </p:cNvPr>
          <p:cNvSpPr/>
          <p:nvPr/>
        </p:nvSpPr>
        <p:spPr>
          <a:xfrm>
            <a:off x="-7512" y="416632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395.7K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520EAADD-646C-F993-7B08-8B352D62F52A}"/>
              </a:ext>
            </a:extLst>
          </p:cNvPr>
          <p:cNvSpPr/>
          <p:nvPr/>
        </p:nvSpPr>
        <p:spPr>
          <a:xfrm>
            <a:off x="1636797" y="4138732"/>
            <a:ext cx="1898883" cy="4414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1.68M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33" name="Imagen_barras" descr="image.png">
            <a:extLst>
              <a:ext uri="{FF2B5EF4-FFF2-40B4-BE49-F238E27FC236}">
                <a16:creationId xmlns:a16="http://schemas.microsoft.com/office/drawing/2014/main" id="{22949D2E-2703-6298-2348-A66E0E896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899" y="1275330"/>
            <a:ext cx="7110142" cy="2634093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9D11C918-8487-A1B2-8C4D-296717D1C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186" y="4073395"/>
            <a:ext cx="3166515" cy="2115110"/>
          </a:xfrm>
          <a:prstGeom prst="rect">
            <a:avLst/>
          </a:prstGeom>
        </p:spPr>
      </p:pic>
      <p:pic>
        <p:nvPicPr>
          <p:cNvPr id="37" name="Asesor" descr="image.png">
            <a:extLst>
              <a:ext uri="{FF2B5EF4-FFF2-40B4-BE49-F238E27FC236}">
                <a16:creationId xmlns:a16="http://schemas.microsoft.com/office/drawing/2014/main" id="{ABC338E2-1293-405F-134D-8882C6C43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912" y="4166324"/>
            <a:ext cx="3166515" cy="1964041"/>
          </a:xfrm>
          <a:prstGeom prst="rect">
            <a:avLst/>
          </a:prstGeom>
        </p:spPr>
      </p:pic>
      <p:sp>
        <p:nvSpPr>
          <p:cNvPr id="8" name="Shape 6">
            <a:extLst>
              <a:ext uri="{FF2B5EF4-FFF2-40B4-BE49-F238E27FC236}">
                <a16:creationId xmlns:a16="http://schemas.microsoft.com/office/drawing/2014/main" id="{E2BA164A-6A35-7335-C2B6-FC10BA27A74B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C0E632C6-671C-F739-6A56-745B8ED2CB72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51E0B2FB-D17F-A92A-ED55-670D6500C537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Bajo la meta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7354AB-69AC-6F65-C8D4-25F5E5629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258537"/>
            <a:ext cx="1783080" cy="4557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BCP CONVENIOS  |  DIAGNOSTICO Y SEGUIMIENTO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999744"/>
            <a:ext cx="5547360" cy="414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920" y="999744"/>
            <a:ext cx="54254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kern="0" spc="40" dirty="0">
                <a:solidFill>
                  <a:srgbClr val="FFFFFF"/>
                </a:solidFill>
                <a:latin typeface="Calibri" panose="020F0502020204030204"/>
              </a:rPr>
              <a:t>SEGUIMIENTO PLAN SEMANA ANTERIOR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0" y="1463040"/>
            <a:ext cx="5547360" cy="158902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0" y="1463040"/>
            <a:ext cx="67056" cy="15890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70688" y="1536192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70688" y="2420031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E30713"/>
                </a:solidFill>
                <a:latin typeface="Calibri" panose="020F0502020204030204"/>
              </a:rPr>
              <a:t>Ejecutado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0" y="3113024"/>
            <a:ext cx="5547360" cy="158902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0" y="3113024"/>
            <a:ext cx="67056" cy="15890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70688" y="3186176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70688" y="4070015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E30713"/>
                </a:solidFill>
                <a:latin typeface="Calibri" panose="020F0502020204030204"/>
              </a:rPr>
              <a:t>Ejecutado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0" y="4763008"/>
            <a:ext cx="67056" cy="15890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657088" y="999744"/>
            <a:ext cx="24384" cy="54132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779008" y="983179"/>
            <a:ext cx="6400800" cy="414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913120" y="999744"/>
            <a:ext cx="6278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kern="0" spc="40" dirty="0">
                <a:solidFill>
                  <a:srgbClr val="FFFFFF"/>
                </a:solidFill>
                <a:latin typeface="Calibri" panose="020F0502020204030204"/>
              </a:rPr>
              <a:t>DIAGNOSTICO — CAUSAS RAIZ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791200" y="1463040"/>
            <a:ext cx="6400800" cy="238963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583680" y="158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583680" y="1926337"/>
            <a:ext cx="5486400" cy="10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583680" y="3486912"/>
            <a:ext cx="134112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583680" y="3486912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133" b="1" dirty="0">
                <a:solidFill>
                  <a:srgbClr val="DC2626"/>
                </a:solidFill>
                <a:latin typeface="Calibri" panose="020F0502020204030204"/>
              </a:rPr>
              <a:t>Impacto Alto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5791200" y="3938016"/>
            <a:ext cx="6400800" cy="238963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solidFill>
            <a:srgbClr val="FBEDD0"/>
          </a:solidFill>
          <a:ln w="12700">
            <a:solidFill>
              <a:srgbClr val="FBEDD0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133" b="1" dirty="0">
                <a:solidFill>
                  <a:srgbClr val="E0A024"/>
                </a:solidFill>
                <a:latin typeface="Calibri" panose="020F0502020204030204"/>
              </a:rPr>
              <a:t>Impacto Medio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5" name="Picture 8">
            <a:extLst>
              <a:ext uri="{FF2B5EF4-FFF2-40B4-BE49-F238E27FC236}">
                <a16:creationId xmlns:a16="http://schemas.microsoft.com/office/drawing/2014/main" id="{BE94AFF7-0D8A-F349-9403-6414FE509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15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2DF0E-F57E-C9F5-5336-EC7F1A443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15AA25-F72D-5150-08F5-60206D9963EC}"/>
              </a:ext>
            </a:extLst>
          </p:cNvPr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FF0000"/>
          </a:solidFill>
          <a:ln w="1693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C3F819-DF0B-D7CE-1797-1A717578BDB3}"/>
              </a:ext>
            </a:extLst>
          </p:cNvPr>
          <p:cNvSpPr/>
          <p:nvPr/>
        </p:nvSpPr>
        <p:spPr>
          <a:xfrm>
            <a:off x="146304" y="2881025"/>
            <a:ext cx="11704320" cy="30480"/>
          </a:xfrm>
          <a:prstGeom prst="rect">
            <a:avLst/>
          </a:prstGeom>
          <a:solidFill>
            <a:srgbClr val="FF0000"/>
          </a:solidFill>
          <a:ln w="1693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C98D3B3-47F7-5380-6388-7F3ADB9A971B}"/>
              </a:ext>
            </a:extLst>
          </p:cNvPr>
          <p:cNvSpPr/>
          <p:nvPr/>
        </p:nvSpPr>
        <p:spPr>
          <a:xfrm>
            <a:off x="207264" y="1458672"/>
            <a:ext cx="11643360" cy="1072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4267" b="1" dirty="0">
                <a:solidFill>
                  <a:srgbClr val="FFFFFF"/>
                </a:solidFill>
              </a:rPr>
              <a:t>Efectiva - Fonocompras - Diners - BanBif</a:t>
            </a:r>
            <a:endParaRPr lang="en-US" sz="4267" b="1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9B1D3E3-BDE8-D2DF-8421-095E522E08C5}"/>
              </a:ext>
            </a:extLst>
          </p:cNvPr>
          <p:cNvSpPr/>
          <p:nvPr/>
        </p:nvSpPr>
        <p:spPr>
          <a:xfrm>
            <a:off x="268224" y="2976433"/>
            <a:ext cx="1164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67" dirty="0">
                <a:solidFill>
                  <a:srgbClr val="FFFFFF"/>
                </a:solidFill>
              </a:rPr>
              <a:t>Monica Mogollon: Subgerenta de Ventas</a:t>
            </a:r>
            <a:endParaRPr lang="en-US" sz="1867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F31DB3B-0AAF-D39E-DA27-EF09E04142F3}"/>
              </a:ext>
            </a:extLst>
          </p:cNvPr>
          <p:cNvSpPr/>
          <p:nvPr/>
        </p:nvSpPr>
        <p:spPr>
          <a:xfrm>
            <a:off x="268224" y="3741264"/>
            <a:ext cx="1164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Agosto 2026</a:t>
            </a:r>
            <a:endParaRPr lang="en-US" sz="1600" dirty="0"/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7F75E1CB-250B-D3FA-C0A2-A428CB7C1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104" y="4894384"/>
            <a:ext cx="2411404" cy="2411404"/>
          </a:xfrm>
          <a:prstGeom prst="rect">
            <a:avLst/>
          </a:prstGeom>
        </p:spPr>
      </p:pic>
      <p:pic>
        <p:nvPicPr>
          <p:cNvPr id="14" name="Cli_ef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623560"/>
            <a:ext cx="640080" cy="640080"/>
          </a:xfrm>
          <a:prstGeom prst="rect">
            <a:avLst/>
          </a:prstGeom>
        </p:spPr>
      </p:pic>
      <p:sp>
        <p:nvSpPr>
          <p:cNvPr id="15" name="Cli_card"/>
          <p:cNvSpPr/>
          <p:nvPr/>
        </p:nvSpPr>
        <p:spPr>
          <a:xfrm>
            <a:off x="1874519" y="5623560"/>
            <a:ext cx="1463039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6" name="Cli_efectiv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7400" y="5742432"/>
            <a:ext cx="1097279" cy="402335"/>
          </a:xfrm>
          <a:prstGeom prst="rect">
            <a:avLst/>
          </a:prstGeom>
        </p:spPr>
      </p:pic>
      <p:sp>
        <p:nvSpPr>
          <p:cNvPr id="17" name="Cli_card"/>
          <p:cNvSpPr/>
          <p:nvPr/>
        </p:nvSpPr>
        <p:spPr>
          <a:xfrm>
            <a:off x="3794760" y="5623560"/>
            <a:ext cx="1837553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8" name="Cli_banbi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7640" y="5742432"/>
            <a:ext cx="1471793" cy="402335"/>
          </a:xfrm>
          <a:prstGeom prst="rect">
            <a:avLst/>
          </a:prstGeom>
        </p:spPr>
      </p:pic>
      <p:sp>
        <p:nvSpPr>
          <p:cNvPr id="19" name="Cli_card"/>
          <p:cNvSpPr/>
          <p:nvPr/>
        </p:nvSpPr>
        <p:spPr>
          <a:xfrm>
            <a:off x="5897880" y="5623560"/>
            <a:ext cx="1937931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20" name="Cli_diner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60" y="5742432"/>
            <a:ext cx="1572171" cy="40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496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10D6E-CDC0-B010-1957-79A16B615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CCE81A-8ABE-3701-8137-51C5ED130897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EB4725-6E02-DF02-2C70-3C387342A309}"/>
              </a:ext>
            </a:extLst>
          </p:cNvPr>
          <p:cNvSpPr/>
          <p:nvPr/>
        </p:nvSpPr>
        <p:spPr>
          <a:xfrm>
            <a:off x="0" y="877824"/>
            <a:ext cx="12192000" cy="34137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2FBDCCF-F583-3F8B-F7AA-61E2DE71CD11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kern="0" spc="40" dirty="0">
                <a:solidFill>
                  <a:srgbClr val="FFFFFF"/>
                </a:solidFill>
              </a:rPr>
              <a:t>RESUMEN GENERAL|  EFECTIVA· FONOCOMPRAS · DINERS TC · BANBIF</a:t>
            </a:r>
            <a:endParaRPr lang="en-US" sz="1667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001581A-1597-B21E-CC08-74613789B7BE}"/>
              </a:ext>
            </a:extLst>
          </p:cNvPr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4A0E07"/>
          </a:solidFill>
          <a:ln w="16933">
            <a:solidFill>
              <a:srgbClr val="4A0E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B1E7B4F-AC39-9147-1F67-144B64370197}"/>
              </a:ext>
            </a:extLst>
          </p:cNvPr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1 / 3</a:t>
            </a:r>
            <a:endParaRPr lang="en-US" sz="1067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4A1433E-2E0C-2287-D03C-302FE6412BA9}"/>
              </a:ext>
            </a:extLst>
          </p:cNvPr>
          <p:cNvSpPr/>
          <p:nvPr/>
        </p:nvSpPr>
        <p:spPr>
          <a:xfrm>
            <a:off x="268224" y="999744"/>
            <a:ext cx="3108960" cy="463296"/>
          </a:xfrm>
          <a:prstGeom prst="rect">
            <a:avLst/>
          </a:prstGeom>
          <a:solidFill>
            <a:srgbClr val="FEF3C7"/>
          </a:solidFill>
          <a:ln w="16933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7EDC5BA-DF03-4B47-2C55-8FB8B04921DA}"/>
              </a:ext>
            </a:extLst>
          </p:cNvPr>
          <p:cNvSpPr/>
          <p:nvPr/>
        </p:nvSpPr>
        <p:spPr>
          <a:xfrm>
            <a:off x="390144" y="1097280"/>
            <a:ext cx="243840" cy="243840"/>
          </a:xfrm>
          <a:prstGeom prst="ellipse">
            <a:avLst/>
          </a:prstGeom>
          <a:solidFill>
            <a:srgbClr val="D97706"/>
          </a:solidFill>
          <a:ln w="16933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2BE60F1-9D2F-C70F-F468-2DD5F6E9EDD4}"/>
              </a:ext>
            </a:extLst>
          </p:cNvPr>
          <p:cNvSpPr/>
          <p:nvPr/>
        </p:nvSpPr>
        <p:spPr>
          <a:xfrm>
            <a:off x="707136" y="999744"/>
            <a:ext cx="264566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3" b="1" dirty="0">
                <a:solidFill>
                  <a:srgbClr val="D97706"/>
                </a:solidFill>
              </a:rPr>
              <a:t>EN SEGUIMIENTO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1D0D5E7-FFF3-ADDF-C606-5081A9BF09F3}"/>
              </a:ext>
            </a:extLst>
          </p:cNvPr>
          <p:cNvSpPr/>
          <p:nvPr/>
        </p:nvSpPr>
        <p:spPr>
          <a:xfrm>
            <a:off x="268224" y="1536192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9189"/>
                </a:solidFill>
              </a:rPr>
              <a:t>Sub-Gerente: Monica Mogollon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19ACD99-17D0-0CC4-8240-C861561E9FAC}"/>
              </a:ext>
            </a:extLst>
          </p:cNvPr>
          <p:cNvSpPr/>
          <p:nvPr/>
        </p:nvSpPr>
        <p:spPr>
          <a:xfrm>
            <a:off x="268224" y="1950720"/>
            <a:ext cx="3108960" cy="1853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667" b="1" dirty="0">
                <a:solidFill>
                  <a:srgbClr val="D97706"/>
                </a:solidFill>
              </a:rPr>
              <a:t>89%</a:t>
            </a:r>
            <a:endParaRPr lang="en-US" sz="10667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AC7FE0B-6F20-7A96-032C-E948703C4D39}"/>
              </a:ext>
            </a:extLst>
          </p:cNvPr>
          <p:cNvSpPr/>
          <p:nvPr/>
        </p:nvSpPr>
        <p:spPr>
          <a:xfrm>
            <a:off x="-37795" y="3509048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189"/>
                </a:solidFill>
              </a:rPr>
              <a:t>Avance promedio</a:t>
            </a:r>
            <a:endParaRPr lang="en-US" sz="12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FE2ABED9-7BBD-AC16-1B41-EEA551C14D8F}"/>
              </a:ext>
            </a:extLst>
          </p:cNvPr>
          <p:cNvSpPr/>
          <p:nvPr/>
        </p:nvSpPr>
        <p:spPr>
          <a:xfrm>
            <a:off x="3511296" y="999744"/>
            <a:ext cx="26823" cy="5425440"/>
          </a:xfrm>
          <a:prstGeom prst="rect">
            <a:avLst/>
          </a:prstGeom>
          <a:solidFill>
            <a:srgbClr val="E5DFD8"/>
          </a:solidFill>
          <a:ln w="16933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439B5A9-638D-09CB-96D0-2EEC542FF4A5}"/>
              </a:ext>
            </a:extLst>
          </p:cNvPr>
          <p:cNvSpPr/>
          <p:nvPr/>
        </p:nvSpPr>
        <p:spPr>
          <a:xfrm>
            <a:off x="3657600" y="999744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2C1C8EE-5340-D80A-715F-0940F4561C73}"/>
              </a:ext>
            </a:extLst>
          </p:cNvPr>
          <p:cNvSpPr/>
          <p:nvPr/>
        </p:nvSpPr>
        <p:spPr>
          <a:xfrm>
            <a:off x="384048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9A9189"/>
                </a:solidFill>
              </a:rPr>
              <a:t>CONECTADOS</a:t>
            </a:r>
            <a:endParaRPr lang="en-US" sz="104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D56DF93-BBFD-03CA-09BF-31E4BE953885}"/>
              </a:ext>
            </a:extLst>
          </p:cNvPr>
          <p:cNvSpPr/>
          <p:nvPr/>
        </p:nvSpPr>
        <p:spPr>
          <a:xfrm>
            <a:off x="384048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6B150B"/>
                </a:solidFill>
              </a:rPr>
              <a:t>120</a:t>
            </a:r>
            <a:endParaRPr lang="en-US" sz="2933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BDDEDC0-65A6-97BE-E585-F66AD6DD0266}"/>
              </a:ext>
            </a:extLst>
          </p:cNvPr>
          <p:cNvSpPr/>
          <p:nvPr/>
        </p:nvSpPr>
        <p:spPr>
          <a:xfrm>
            <a:off x="7894320" y="999744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EAC6006-29A3-6B19-31B3-18022430D149}"/>
              </a:ext>
            </a:extLst>
          </p:cNvPr>
          <p:cNvSpPr/>
          <p:nvPr/>
        </p:nvSpPr>
        <p:spPr>
          <a:xfrm>
            <a:off x="807720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9A9189"/>
                </a:solidFill>
              </a:rPr>
              <a:t>DOTACION</a:t>
            </a:r>
            <a:endParaRPr lang="en-US" sz="104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82A72C2-5DCC-9A69-72E8-8B572758520F}"/>
              </a:ext>
            </a:extLst>
          </p:cNvPr>
          <p:cNvSpPr/>
          <p:nvPr/>
        </p:nvSpPr>
        <p:spPr>
          <a:xfrm>
            <a:off x="807720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6B150B"/>
                </a:solidFill>
              </a:rPr>
              <a:t>130</a:t>
            </a:r>
            <a:endParaRPr lang="en-US" sz="2933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095B4EFC-A42E-238F-D52B-700D3A99032C}"/>
              </a:ext>
            </a:extLst>
          </p:cNvPr>
          <p:cNvSpPr/>
          <p:nvPr/>
        </p:nvSpPr>
        <p:spPr>
          <a:xfrm>
            <a:off x="3657600" y="2145792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95839A0-00D2-C004-B75A-9AFAD5E7EAC6}"/>
              </a:ext>
            </a:extLst>
          </p:cNvPr>
          <p:cNvSpPr/>
          <p:nvPr/>
        </p:nvSpPr>
        <p:spPr>
          <a:xfrm>
            <a:off x="384048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9A9189"/>
                </a:solidFill>
              </a:rPr>
              <a:t>PEND. SELECCION</a:t>
            </a:r>
            <a:endParaRPr lang="en-US" sz="104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719FCB19-1C60-B7E1-0FBE-6CBC6E3805EE}"/>
              </a:ext>
            </a:extLst>
          </p:cNvPr>
          <p:cNvSpPr/>
          <p:nvPr/>
        </p:nvSpPr>
        <p:spPr>
          <a:xfrm>
            <a:off x="384048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6B150B"/>
                </a:solidFill>
              </a:rPr>
              <a:t>2</a:t>
            </a:r>
            <a:endParaRPr lang="en-US" sz="2933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64EF2FD-7AB7-B80D-BD48-E0C019820995}"/>
              </a:ext>
            </a:extLst>
          </p:cNvPr>
          <p:cNvSpPr/>
          <p:nvPr/>
        </p:nvSpPr>
        <p:spPr>
          <a:xfrm>
            <a:off x="7894320" y="2145792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BEA6659A-F4CD-BF60-2061-C64534DC1383}"/>
              </a:ext>
            </a:extLst>
          </p:cNvPr>
          <p:cNvSpPr/>
          <p:nvPr/>
        </p:nvSpPr>
        <p:spPr>
          <a:xfrm>
            <a:off x="807720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9A9189"/>
                </a:solidFill>
              </a:rPr>
              <a:t>PEND. INDUCCION</a:t>
            </a:r>
            <a:endParaRPr lang="en-US" sz="104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36AAEC47-14FC-B1F5-E8DB-23E6DBB87C3C}"/>
              </a:ext>
            </a:extLst>
          </p:cNvPr>
          <p:cNvSpPr/>
          <p:nvPr/>
        </p:nvSpPr>
        <p:spPr>
          <a:xfrm>
            <a:off x="807720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6B150B"/>
                </a:solidFill>
              </a:rPr>
              <a:t>12</a:t>
            </a:r>
            <a:endParaRPr lang="en-US" sz="2933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56FF5F1-2656-2F0B-5AB3-5C0EE6259747}"/>
              </a:ext>
            </a:extLst>
          </p:cNvPr>
          <p:cNvSpPr/>
          <p:nvPr/>
        </p:nvSpPr>
        <p:spPr>
          <a:xfrm>
            <a:off x="3657600" y="3291840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AF54009-81D3-7F4C-DCAB-0BCEA399F554}"/>
              </a:ext>
            </a:extLst>
          </p:cNvPr>
          <p:cNvSpPr/>
          <p:nvPr/>
        </p:nvSpPr>
        <p:spPr>
          <a:xfrm>
            <a:off x="384048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9A9189"/>
                </a:solidFill>
              </a:rPr>
              <a:t>PRESUPUESTO</a:t>
            </a:r>
            <a:endParaRPr lang="en-US" sz="104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38E0A71D-3E87-F4B3-E2C1-EF53E3D5BCB3}"/>
              </a:ext>
            </a:extLst>
          </p:cNvPr>
          <p:cNvSpPr/>
          <p:nvPr/>
        </p:nvSpPr>
        <p:spPr>
          <a:xfrm>
            <a:off x="384048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6B150B"/>
                </a:solidFill>
              </a:rPr>
              <a:t>140</a:t>
            </a:r>
            <a:endParaRPr lang="en-US" sz="2933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4C3BE525-B666-DA21-7B84-E35F78F639B0}"/>
              </a:ext>
            </a:extLst>
          </p:cNvPr>
          <p:cNvSpPr/>
          <p:nvPr/>
        </p:nvSpPr>
        <p:spPr>
          <a:xfrm>
            <a:off x="7894320" y="3291840"/>
            <a:ext cx="4114800" cy="1048512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3D9D8001-DD1A-43AA-C8DA-7C0835411281}"/>
              </a:ext>
            </a:extLst>
          </p:cNvPr>
          <p:cNvSpPr/>
          <p:nvPr/>
        </p:nvSpPr>
        <p:spPr>
          <a:xfrm>
            <a:off x="807720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40" kern="0" spc="53" dirty="0">
                <a:solidFill>
                  <a:srgbClr val="9A9189"/>
                </a:solidFill>
              </a:rPr>
              <a:t>SEMANA</a:t>
            </a:r>
            <a:endParaRPr lang="en-US" sz="104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91284AA-06D8-AA08-B76F-519EC6991703}"/>
              </a:ext>
            </a:extLst>
          </p:cNvPr>
          <p:cNvSpPr/>
          <p:nvPr/>
        </p:nvSpPr>
        <p:spPr>
          <a:xfrm>
            <a:off x="807720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33" b="1" dirty="0">
                <a:solidFill>
                  <a:srgbClr val="6B150B"/>
                </a:solidFill>
              </a:rPr>
              <a:t>05</a:t>
            </a:r>
            <a:endParaRPr lang="en-US" sz="2933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0D6FFB7B-9BA5-CB8D-A859-03B11391AAC3}"/>
              </a:ext>
            </a:extLst>
          </p:cNvPr>
          <p:cNvSpPr/>
          <p:nvPr/>
        </p:nvSpPr>
        <p:spPr>
          <a:xfrm>
            <a:off x="0" y="4559808"/>
            <a:ext cx="12192000" cy="375513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A6D6F65-528C-1C01-9FB3-6592403964C7}"/>
              </a:ext>
            </a:extLst>
          </p:cNvPr>
          <p:cNvSpPr/>
          <p:nvPr/>
        </p:nvSpPr>
        <p:spPr>
          <a:xfrm>
            <a:off x="243840" y="4559808"/>
            <a:ext cx="414528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Sub-campaña</a:t>
            </a:r>
            <a:endParaRPr lang="en-US" sz="1133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4AAC91FE-2CBB-C4E9-3D53-D491106C0A50}"/>
              </a:ext>
            </a:extLst>
          </p:cNvPr>
          <p:cNvSpPr/>
          <p:nvPr/>
        </p:nvSpPr>
        <p:spPr>
          <a:xfrm>
            <a:off x="3562503" y="4553712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Presupuesto</a:t>
            </a:r>
            <a:endParaRPr lang="en-US" sz="1133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CE20C154-1282-EC30-5E2A-5FF0DC225872}"/>
              </a:ext>
            </a:extLst>
          </p:cNvPr>
          <p:cNvSpPr/>
          <p:nvPr/>
        </p:nvSpPr>
        <p:spPr>
          <a:xfrm>
            <a:off x="6035040" y="4559808"/>
            <a:ext cx="28041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Avance</a:t>
            </a:r>
            <a:endParaRPr lang="en-US" sz="1133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B2F2DF42-D16C-733A-9B64-A9CEA61D5B7F}"/>
              </a:ext>
            </a:extLst>
          </p:cNvPr>
          <p:cNvSpPr/>
          <p:nvPr/>
        </p:nvSpPr>
        <p:spPr>
          <a:xfrm>
            <a:off x="8875776" y="4559808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% Logro</a:t>
            </a:r>
            <a:endParaRPr lang="en-US" sz="1133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B5B82CA9-B8B4-A7F4-9951-B896181BFD87}"/>
              </a:ext>
            </a:extLst>
          </p:cNvPr>
          <p:cNvSpPr/>
          <p:nvPr/>
        </p:nvSpPr>
        <p:spPr>
          <a:xfrm>
            <a:off x="10058400" y="4559808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>
                <a:solidFill>
                  <a:srgbClr val="FFFFFF"/>
                </a:solidFill>
              </a:rPr>
              <a:t>Proyeccion</a:t>
            </a:r>
            <a:endParaRPr lang="en-US" sz="1133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80A33226-54A2-AD63-283E-CBCFA7A19D1E}"/>
              </a:ext>
            </a:extLst>
          </p:cNvPr>
          <p:cNvSpPr/>
          <p:nvPr/>
        </p:nvSpPr>
        <p:spPr>
          <a:xfrm>
            <a:off x="3866608" y="4935321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67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5476ECC9-FB70-F37F-7EC9-94FE7727F1FC}"/>
              </a:ext>
            </a:extLst>
          </p:cNvPr>
          <p:cNvSpPr/>
          <p:nvPr/>
        </p:nvSpPr>
        <p:spPr>
          <a:xfrm>
            <a:off x="10058400" y="4935321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33" dirty="0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71ED4455-B211-DE91-62FA-1F94D050764D}"/>
              </a:ext>
            </a:extLst>
          </p:cNvPr>
          <p:cNvSpPr/>
          <p:nvPr/>
        </p:nvSpPr>
        <p:spPr>
          <a:xfrm>
            <a:off x="0" y="5310835"/>
            <a:ext cx="12192000" cy="375513"/>
          </a:xfrm>
          <a:prstGeom prst="rect">
            <a:avLst/>
          </a:prstGeom>
          <a:solidFill>
            <a:srgbClr val="FAF8F6"/>
          </a:solidFill>
          <a:ln w="5080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3C6C54AB-AE0F-D427-10C5-8C4C25788172}"/>
              </a:ext>
            </a:extLst>
          </p:cNvPr>
          <p:cNvSpPr/>
          <p:nvPr/>
        </p:nvSpPr>
        <p:spPr>
          <a:xfrm>
            <a:off x="243840" y="5310835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b="1" dirty="0">
                <a:solidFill>
                  <a:srgbClr val="6B150B"/>
                </a:solidFill>
              </a:rPr>
              <a:t>Fonocompras </a:t>
            </a:r>
            <a:endParaRPr lang="en-US" sz="1267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84B6892D-25A4-36D2-4A64-D14E6258AC8F}"/>
              </a:ext>
            </a:extLst>
          </p:cNvPr>
          <p:cNvSpPr/>
          <p:nvPr/>
        </p:nvSpPr>
        <p:spPr>
          <a:xfrm>
            <a:off x="3866608" y="5310835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dirty="0">
                <a:solidFill>
                  <a:srgbClr val="111010"/>
                </a:solidFill>
              </a:rPr>
              <a:t>24</a:t>
            </a:r>
            <a:endParaRPr lang="en-US" sz="1267" dirty="0"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BEBBB499-0356-6066-42F5-FA92CFC49464}"/>
              </a:ext>
            </a:extLst>
          </p:cNvPr>
          <p:cNvSpPr/>
          <p:nvPr/>
        </p:nvSpPr>
        <p:spPr>
          <a:xfrm>
            <a:off x="6035040" y="5415979"/>
            <a:ext cx="2560320" cy="157716"/>
          </a:xfrm>
          <a:prstGeom prst="rect">
            <a:avLst/>
          </a:prstGeom>
          <a:solidFill>
            <a:srgbClr val="E5E7EB"/>
          </a:solidFill>
          <a:ln w="1693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C8C1B586-EAAD-FB10-B970-91A4E1BA7378}"/>
              </a:ext>
            </a:extLst>
          </p:cNvPr>
          <p:cNvSpPr/>
          <p:nvPr/>
        </p:nvSpPr>
        <p:spPr>
          <a:xfrm>
            <a:off x="6035040" y="5415979"/>
            <a:ext cx="2253081" cy="157716"/>
          </a:xfrm>
          <a:prstGeom prst="rect">
            <a:avLst/>
          </a:prstGeom>
          <a:solidFill>
            <a:srgbClr val="D97706"/>
          </a:solidFill>
          <a:ln w="16933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2AB3CFE4-D2D1-22B4-4982-171AE33B1970}"/>
              </a:ext>
            </a:extLst>
          </p:cNvPr>
          <p:cNvSpPr/>
          <p:nvPr/>
        </p:nvSpPr>
        <p:spPr>
          <a:xfrm>
            <a:off x="8875776" y="5310835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3" b="1" dirty="0">
                <a:solidFill>
                  <a:srgbClr val="D97706"/>
                </a:solidFill>
              </a:rPr>
              <a:t>88%</a:t>
            </a:r>
            <a:endParaRPr lang="en-US" sz="1333" dirty="0"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F89ADD6F-CC64-B9BB-B638-B802187AC70A}"/>
              </a:ext>
            </a:extLst>
          </p:cNvPr>
          <p:cNvSpPr/>
          <p:nvPr/>
        </p:nvSpPr>
        <p:spPr>
          <a:xfrm>
            <a:off x="10058400" y="5310835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9A9189"/>
                </a:solidFill>
              </a:rPr>
              <a:t>1´500,000</a:t>
            </a:r>
            <a:endParaRPr lang="en-US" sz="1133" dirty="0"/>
          </a:p>
        </p:txBody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CDF3E905-913C-1542-8CD1-99F847DAD56C}"/>
              </a:ext>
            </a:extLst>
          </p:cNvPr>
          <p:cNvSpPr/>
          <p:nvPr/>
        </p:nvSpPr>
        <p:spPr>
          <a:xfrm>
            <a:off x="0" y="5686349"/>
            <a:ext cx="12192000" cy="375513"/>
          </a:xfrm>
          <a:prstGeom prst="rect">
            <a:avLst/>
          </a:prstGeom>
          <a:solidFill>
            <a:srgbClr val="FFFFFF"/>
          </a:solidFill>
          <a:ln w="5080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F8E6F6BB-B31B-2B07-8B75-00EDEB51AE10}"/>
              </a:ext>
            </a:extLst>
          </p:cNvPr>
          <p:cNvSpPr/>
          <p:nvPr/>
        </p:nvSpPr>
        <p:spPr>
          <a:xfrm>
            <a:off x="243840" y="5686349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b="1" dirty="0">
                <a:solidFill>
                  <a:srgbClr val="6B150B"/>
                </a:solidFill>
              </a:rPr>
              <a:t>Efectivo (</a:t>
            </a:r>
            <a:r>
              <a:rPr lang="en-US" sz="1267" b="1" dirty="0" err="1">
                <a:solidFill>
                  <a:srgbClr val="6B150B"/>
                </a:solidFill>
              </a:rPr>
              <a:t>Dormido+Recurrente+Nuevos</a:t>
            </a:r>
            <a:r>
              <a:rPr lang="en-US" sz="1267" b="1" dirty="0">
                <a:solidFill>
                  <a:srgbClr val="6B150B"/>
                </a:solidFill>
              </a:rPr>
              <a:t>)</a:t>
            </a:r>
            <a:endParaRPr lang="en-US" sz="1267" dirty="0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3DDF9BC2-80D1-07C2-7F3D-C00C56F94FD0}"/>
              </a:ext>
            </a:extLst>
          </p:cNvPr>
          <p:cNvSpPr/>
          <p:nvPr/>
        </p:nvSpPr>
        <p:spPr>
          <a:xfrm>
            <a:off x="3866608" y="568634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dirty="0">
                <a:solidFill>
                  <a:srgbClr val="111010"/>
                </a:solidFill>
              </a:rPr>
              <a:t>39</a:t>
            </a:r>
            <a:endParaRPr lang="en-US" sz="1267" dirty="0"/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FACBA088-81BF-329F-45AD-A5A7B759E401}"/>
              </a:ext>
            </a:extLst>
          </p:cNvPr>
          <p:cNvSpPr/>
          <p:nvPr/>
        </p:nvSpPr>
        <p:spPr>
          <a:xfrm>
            <a:off x="6035040" y="5791492"/>
            <a:ext cx="2560320" cy="157716"/>
          </a:xfrm>
          <a:prstGeom prst="rect">
            <a:avLst/>
          </a:prstGeom>
          <a:solidFill>
            <a:srgbClr val="E5E7EB"/>
          </a:solidFill>
          <a:ln w="1693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8" name="Shape 55">
            <a:extLst>
              <a:ext uri="{FF2B5EF4-FFF2-40B4-BE49-F238E27FC236}">
                <a16:creationId xmlns:a16="http://schemas.microsoft.com/office/drawing/2014/main" id="{CB7C41B7-2919-7A2E-BD13-4F31A0326188}"/>
              </a:ext>
            </a:extLst>
          </p:cNvPr>
          <p:cNvSpPr/>
          <p:nvPr/>
        </p:nvSpPr>
        <p:spPr>
          <a:xfrm>
            <a:off x="6035040" y="5791492"/>
            <a:ext cx="2381097" cy="157716"/>
          </a:xfrm>
          <a:prstGeom prst="rect">
            <a:avLst/>
          </a:prstGeom>
          <a:solidFill>
            <a:srgbClr val="059669"/>
          </a:solidFill>
          <a:ln w="16933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BF4EB3FC-E023-26C9-CF96-93D58600C3D4}"/>
              </a:ext>
            </a:extLst>
          </p:cNvPr>
          <p:cNvSpPr/>
          <p:nvPr/>
        </p:nvSpPr>
        <p:spPr>
          <a:xfrm>
            <a:off x="8875776" y="5686349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3" b="1" dirty="0">
                <a:solidFill>
                  <a:srgbClr val="059669"/>
                </a:solidFill>
              </a:rPr>
              <a:t>93%</a:t>
            </a:r>
            <a:endParaRPr lang="en-US" sz="1333" dirty="0"/>
          </a:p>
        </p:txBody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2F855612-6949-39D7-7AD5-26108E836141}"/>
              </a:ext>
            </a:extLst>
          </p:cNvPr>
          <p:cNvSpPr/>
          <p:nvPr/>
        </p:nvSpPr>
        <p:spPr>
          <a:xfrm>
            <a:off x="10058400" y="5686349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9A9189"/>
                </a:solidFill>
              </a:rPr>
              <a:t>8’200,000</a:t>
            </a:r>
            <a:endParaRPr lang="en-US" sz="1133" dirty="0"/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FAC7CF1D-024C-A048-48FB-DC899F89EC5C}"/>
              </a:ext>
            </a:extLst>
          </p:cNvPr>
          <p:cNvSpPr/>
          <p:nvPr/>
        </p:nvSpPr>
        <p:spPr>
          <a:xfrm>
            <a:off x="0" y="6061863"/>
            <a:ext cx="12192000" cy="375513"/>
          </a:xfrm>
          <a:prstGeom prst="rect">
            <a:avLst/>
          </a:prstGeom>
          <a:solidFill>
            <a:srgbClr val="FAF8F6"/>
          </a:solidFill>
          <a:ln w="5080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BF94E060-62D9-9A03-3F5F-84D965914F36}"/>
              </a:ext>
            </a:extLst>
          </p:cNvPr>
          <p:cNvSpPr/>
          <p:nvPr/>
        </p:nvSpPr>
        <p:spPr>
          <a:xfrm>
            <a:off x="243840" y="6061863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b="1" dirty="0" err="1">
                <a:solidFill>
                  <a:srgbClr val="6B150B"/>
                </a:solidFill>
              </a:rPr>
              <a:t>BanBif</a:t>
            </a:r>
            <a:r>
              <a:rPr lang="en-US" sz="1267" b="1" dirty="0">
                <a:solidFill>
                  <a:srgbClr val="6B150B"/>
                </a:solidFill>
              </a:rPr>
              <a:t> </a:t>
            </a:r>
            <a:endParaRPr lang="en-US" sz="1267" dirty="0"/>
          </a:p>
        </p:txBody>
      </p:sp>
      <p:sp>
        <p:nvSpPr>
          <p:cNvPr id="63" name="Text 60">
            <a:extLst>
              <a:ext uri="{FF2B5EF4-FFF2-40B4-BE49-F238E27FC236}">
                <a16:creationId xmlns:a16="http://schemas.microsoft.com/office/drawing/2014/main" id="{A5508137-5DA9-809A-6792-F7BC7355AAAA}"/>
              </a:ext>
            </a:extLst>
          </p:cNvPr>
          <p:cNvSpPr/>
          <p:nvPr/>
        </p:nvSpPr>
        <p:spPr>
          <a:xfrm>
            <a:off x="3866608" y="6061863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dirty="0">
                <a:solidFill>
                  <a:srgbClr val="111010"/>
                </a:solidFill>
              </a:rPr>
              <a:t>5</a:t>
            </a:r>
            <a:endParaRPr lang="en-US" sz="1267" dirty="0"/>
          </a:p>
        </p:txBody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99FEB9E4-99A7-25DC-8A89-AC898CFA1F12}"/>
              </a:ext>
            </a:extLst>
          </p:cNvPr>
          <p:cNvSpPr/>
          <p:nvPr/>
        </p:nvSpPr>
        <p:spPr>
          <a:xfrm>
            <a:off x="6035040" y="6167007"/>
            <a:ext cx="2560320" cy="157716"/>
          </a:xfrm>
          <a:prstGeom prst="rect">
            <a:avLst/>
          </a:prstGeom>
          <a:solidFill>
            <a:srgbClr val="E5E7EB"/>
          </a:solidFill>
          <a:ln w="1693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5" name="Shape 62">
            <a:extLst>
              <a:ext uri="{FF2B5EF4-FFF2-40B4-BE49-F238E27FC236}">
                <a16:creationId xmlns:a16="http://schemas.microsoft.com/office/drawing/2014/main" id="{94FE5A07-C44C-13F0-1AF7-A40B2FE0FED1}"/>
              </a:ext>
            </a:extLst>
          </p:cNvPr>
          <p:cNvSpPr/>
          <p:nvPr/>
        </p:nvSpPr>
        <p:spPr>
          <a:xfrm>
            <a:off x="6035040" y="6167007"/>
            <a:ext cx="2560320" cy="157716"/>
          </a:xfrm>
          <a:prstGeom prst="rect">
            <a:avLst/>
          </a:prstGeom>
          <a:solidFill>
            <a:srgbClr val="059669"/>
          </a:solidFill>
          <a:ln w="16933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69CDC250-7C88-8A78-E621-1D86B605D8CB}"/>
              </a:ext>
            </a:extLst>
          </p:cNvPr>
          <p:cNvSpPr/>
          <p:nvPr/>
        </p:nvSpPr>
        <p:spPr>
          <a:xfrm>
            <a:off x="8875776" y="6061863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3" b="1" dirty="0">
                <a:solidFill>
                  <a:srgbClr val="059669"/>
                </a:solidFill>
              </a:rPr>
              <a:t>100%</a:t>
            </a:r>
            <a:endParaRPr lang="en-US" sz="1333" dirty="0"/>
          </a:p>
        </p:txBody>
      </p:sp>
      <p:sp>
        <p:nvSpPr>
          <p:cNvPr id="67" name="Text 64">
            <a:extLst>
              <a:ext uri="{FF2B5EF4-FFF2-40B4-BE49-F238E27FC236}">
                <a16:creationId xmlns:a16="http://schemas.microsoft.com/office/drawing/2014/main" id="{9A00ADDB-30A1-8E25-D9D3-C322483C1B52}"/>
              </a:ext>
            </a:extLst>
          </p:cNvPr>
          <p:cNvSpPr/>
          <p:nvPr/>
        </p:nvSpPr>
        <p:spPr>
          <a:xfrm>
            <a:off x="10058400" y="6061863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9A9189"/>
                </a:solidFill>
              </a:rPr>
              <a:t>1,500,000</a:t>
            </a:r>
            <a:endParaRPr lang="en-US" sz="1133" dirty="0"/>
          </a:p>
        </p:txBody>
      </p:sp>
      <p:sp>
        <p:nvSpPr>
          <p:cNvPr id="68" name="Shape 65">
            <a:extLst>
              <a:ext uri="{FF2B5EF4-FFF2-40B4-BE49-F238E27FC236}">
                <a16:creationId xmlns:a16="http://schemas.microsoft.com/office/drawing/2014/main" id="{8E92A864-F541-F475-14F3-B6661E319641}"/>
              </a:ext>
            </a:extLst>
          </p:cNvPr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8F6"/>
          </a:solidFill>
          <a:ln w="5080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9" name="Shape 66">
            <a:extLst>
              <a:ext uri="{FF2B5EF4-FFF2-40B4-BE49-F238E27FC236}">
                <a16:creationId xmlns:a16="http://schemas.microsoft.com/office/drawing/2014/main" id="{C35B0139-422C-FA77-5966-889C7E2A5A80}"/>
              </a:ext>
            </a:extLst>
          </p:cNvPr>
          <p:cNvSpPr/>
          <p:nvPr/>
        </p:nvSpPr>
        <p:spPr>
          <a:xfrm>
            <a:off x="0" y="6486144"/>
            <a:ext cx="12192000" cy="21945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F98E7C80-8943-1281-F4E5-6027635CA71E}"/>
              </a:ext>
            </a:extLst>
          </p:cNvPr>
          <p:cNvSpPr/>
          <p:nvPr/>
        </p:nvSpPr>
        <p:spPr>
          <a:xfrm>
            <a:off x="219456" y="6486144"/>
            <a:ext cx="104851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189"/>
                </a:solidFill>
              </a:rPr>
              <a:t>GRUPO EFE  | Monica Mogollon  |  Agosto 2026</a:t>
            </a:r>
            <a:endParaRPr lang="en-US" sz="1000" dirty="0"/>
          </a:p>
        </p:txBody>
      </p:sp>
      <p:sp>
        <p:nvSpPr>
          <p:cNvPr id="72" name="Text 33">
            <a:extLst>
              <a:ext uri="{FF2B5EF4-FFF2-40B4-BE49-F238E27FC236}">
                <a16:creationId xmlns:a16="http://schemas.microsoft.com/office/drawing/2014/main" id="{7B599B23-6EE0-470D-F55D-CD0911175A26}"/>
              </a:ext>
            </a:extLst>
          </p:cNvPr>
          <p:cNvSpPr/>
          <p:nvPr/>
        </p:nvSpPr>
        <p:spPr>
          <a:xfrm>
            <a:off x="4507036" y="4556052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b="1" dirty="0" err="1">
                <a:solidFill>
                  <a:srgbClr val="FFFFFF"/>
                </a:solidFill>
              </a:rPr>
              <a:t>Conectados</a:t>
            </a:r>
            <a:endParaRPr lang="en-US" sz="1133" dirty="0"/>
          </a:p>
        </p:txBody>
      </p:sp>
      <p:sp>
        <p:nvSpPr>
          <p:cNvPr id="76" name="Text 39">
            <a:extLst>
              <a:ext uri="{FF2B5EF4-FFF2-40B4-BE49-F238E27FC236}">
                <a16:creationId xmlns:a16="http://schemas.microsoft.com/office/drawing/2014/main" id="{81C1BA1C-65D2-03D7-5D18-AB47CE5CA46F}"/>
              </a:ext>
            </a:extLst>
          </p:cNvPr>
          <p:cNvSpPr/>
          <p:nvPr/>
        </p:nvSpPr>
        <p:spPr>
          <a:xfrm>
            <a:off x="4795269" y="5333728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dirty="0">
                <a:solidFill>
                  <a:srgbClr val="111010"/>
                </a:solidFill>
              </a:rPr>
              <a:t>20</a:t>
            </a:r>
            <a:endParaRPr lang="en-US" sz="1267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50400527-0269-9043-E6D5-59A22005A22D}"/>
              </a:ext>
            </a:extLst>
          </p:cNvPr>
          <p:cNvSpPr/>
          <p:nvPr/>
        </p:nvSpPr>
        <p:spPr>
          <a:xfrm>
            <a:off x="4817769" y="570785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dirty="0">
                <a:solidFill>
                  <a:srgbClr val="111010"/>
                </a:solidFill>
              </a:rPr>
              <a:t>28</a:t>
            </a:r>
            <a:endParaRPr lang="en-US" sz="1267" dirty="0"/>
          </a:p>
        </p:txBody>
      </p:sp>
      <p:sp>
        <p:nvSpPr>
          <p:cNvPr id="80" name="Text 39">
            <a:extLst>
              <a:ext uri="{FF2B5EF4-FFF2-40B4-BE49-F238E27FC236}">
                <a16:creationId xmlns:a16="http://schemas.microsoft.com/office/drawing/2014/main" id="{D1961235-D9D5-DDBC-C4A1-99352DC453F6}"/>
              </a:ext>
            </a:extLst>
          </p:cNvPr>
          <p:cNvSpPr/>
          <p:nvPr/>
        </p:nvSpPr>
        <p:spPr>
          <a:xfrm>
            <a:off x="4850112" y="6083372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dirty="0">
                <a:solidFill>
                  <a:srgbClr val="111010"/>
                </a:solidFill>
              </a:rPr>
              <a:t>4</a:t>
            </a:r>
            <a:endParaRPr lang="en-US" sz="1267" dirty="0"/>
          </a:p>
        </p:txBody>
      </p:sp>
      <p:pic>
        <p:nvPicPr>
          <p:cNvPr id="90" name="Imagen 89">
            <a:extLst>
              <a:ext uri="{FF2B5EF4-FFF2-40B4-BE49-F238E27FC236}">
                <a16:creationId xmlns:a16="http://schemas.microsoft.com/office/drawing/2014/main" id="{7AFECDBC-9AD2-9B6D-DFEE-C18C4CFC3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96" b="91034" l="5526" r="89929">
                        <a14:foregroundMark x1="5526" y1="55901" x2="8556" y2="77951"/>
                        <a14:foregroundMark x1="33333" y1="65691" x2="33512" y2="78774"/>
                        <a14:foregroundMark x1="17291" y1="76212" x2="14706" y2="85819"/>
                        <a14:foregroundMark x1="14706" y1="60384" x2="14528" y2="84446"/>
                        <a14:foregroundMark x1="35383" y1="63312" x2="28253" y2="91034"/>
                        <a14:foregroundMark x1="50178" y1="50686" x2="51426" y2="61665"/>
                        <a14:foregroundMark x1="85740" y1="6496" x2="84759" y2="10796"/>
                        <a14:foregroundMark x1="77629" y1="43550" x2="64973" y2="47667"/>
                        <a14:foregroundMark x1="78610" y1="28728" x2="72727" y2="33303"/>
                        <a14:foregroundMark x1="80214" y1="18573" x2="77451" y2="26715"/>
                        <a14:foregroundMark x1="82086" y1="30009" x2="85294" y2="34401"/>
                        <a14:foregroundMark x1="85918" y1="9790" x2="85918" y2="9790"/>
                        <a14:foregroundMark x1="85472" y1="10887" x2="86185" y2="18298"/>
                        <a14:foregroundMark x1="45365" y1="45197" x2="22638" y2="48582"/>
                        <a14:foregroundMark x1="53832" y1="55261" x2="54011" y2="762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08736" y="6537329"/>
            <a:ext cx="315872" cy="307708"/>
          </a:xfrm>
          <a:prstGeom prst="rect">
            <a:avLst/>
          </a:prstGeom>
        </p:spPr>
      </p:pic>
      <p:pic>
        <p:nvPicPr>
          <p:cNvPr id="92" name="Picture 76">
            <a:extLst>
              <a:ext uri="{FF2B5EF4-FFF2-40B4-BE49-F238E27FC236}">
                <a16:creationId xmlns:a16="http://schemas.microsoft.com/office/drawing/2014/main" id="{01D3C902-A22F-0D12-B901-358A6D8A3D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2121" y="-193091"/>
            <a:ext cx="1264005" cy="1264005"/>
          </a:xfrm>
          <a:prstGeom prst="rect">
            <a:avLst/>
          </a:prstGeom>
        </p:spPr>
      </p:pic>
      <p:sp>
        <p:nvSpPr>
          <p:cNvPr id="5" name="Text 39">
            <a:extLst>
              <a:ext uri="{FF2B5EF4-FFF2-40B4-BE49-F238E27FC236}">
                <a16:creationId xmlns:a16="http://schemas.microsoft.com/office/drawing/2014/main" id="{E55A6494-0B09-85A0-338D-5910F49BD43B}"/>
              </a:ext>
            </a:extLst>
          </p:cNvPr>
          <p:cNvSpPr/>
          <p:nvPr/>
        </p:nvSpPr>
        <p:spPr>
          <a:xfrm>
            <a:off x="6845717" y="5318364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dirty="0">
                <a:solidFill>
                  <a:srgbClr val="111010"/>
                </a:solidFill>
              </a:rPr>
              <a:t>900</a:t>
            </a:r>
            <a:endParaRPr lang="en-US" sz="1267" dirty="0"/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08342046-0DFA-3BF2-006C-DF3C6C34468C}"/>
              </a:ext>
            </a:extLst>
          </p:cNvPr>
          <p:cNvSpPr/>
          <p:nvPr/>
        </p:nvSpPr>
        <p:spPr>
          <a:xfrm>
            <a:off x="7011965" y="5693877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dirty="0">
                <a:solidFill>
                  <a:srgbClr val="111010"/>
                </a:solidFill>
              </a:rPr>
              <a:t>900</a:t>
            </a:r>
            <a:endParaRPr lang="en-US" sz="1267" dirty="0"/>
          </a:p>
        </p:txBody>
      </p:sp>
      <p:sp>
        <p:nvSpPr>
          <p:cNvPr id="79" name="Text 39">
            <a:extLst>
              <a:ext uri="{FF2B5EF4-FFF2-40B4-BE49-F238E27FC236}">
                <a16:creationId xmlns:a16="http://schemas.microsoft.com/office/drawing/2014/main" id="{AB25939E-CEAF-978E-361A-9D8434D4DC4B}"/>
              </a:ext>
            </a:extLst>
          </p:cNvPr>
          <p:cNvSpPr/>
          <p:nvPr/>
        </p:nvSpPr>
        <p:spPr>
          <a:xfrm>
            <a:off x="7064232" y="6061863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dirty="0">
                <a:solidFill>
                  <a:srgbClr val="111010"/>
                </a:solidFill>
              </a:rPr>
              <a:t>900</a:t>
            </a:r>
            <a:endParaRPr lang="en-US" sz="1267" dirty="0"/>
          </a:p>
        </p:txBody>
      </p:sp>
      <p:pic>
        <p:nvPicPr>
          <p:cNvPr id="93" name="Panel Resum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57072"/>
            <a:ext cx="12192000" cy="5565648"/>
          </a:xfrm>
          <a:prstGeom prst="rect">
            <a:avLst/>
          </a:prstGeom>
        </p:spPr>
      </p:pic>
      <p:sp>
        <p:nvSpPr>
          <p:cNvPr id="94" name="dato_manual"/>
          <p:cNvSpPr>
            <a:spLocks noGrp="1"/>
          </p:cNvSpPr>
          <p:nvPr/>
        </p:nvSpPr>
        <p:spPr>
          <a:xfrm>
            <a:off x="3657600" y="1921844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s-PE" sz="2200" b="1" dirty="0">
                <a:solidFill>
                  <a:srgbClr val="103A5E"/>
                </a:solidFill>
                <a:latin typeface="Arial"/>
              </a:rPr>
              <a:t>120</a:t>
            </a:r>
          </a:p>
        </p:txBody>
      </p:sp>
      <p:sp>
        <p:nvSpPr>
          <p:cNvPr id="95" name="dato_manual"/>
          <p:cNvSpPr>
            <a:spLocks noGrp="1"/>
          </p:cNvSpPr>
          <p:nvPr/>
        </p:nvSpPr>
        <p:spPr>
          <a:xfrm>
            <a:off x="5812535" y="1921844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s-PE" sz="2200" b="1" dirty="0">
                <a:solidFill>
                  <a:srgbClr val="103A5E"/>
                </a:solidFill>
                <a:latin typeface="Arial"/>
              </a:rPr>
              <a:t>14</a:t>
            </a:r>
          </a:p>
        </p:txBody>
      </p:sp>
      <p:sp>
        <p:nvSpPr>
          <p:cNvPr id="96" name="dato_manual"/>
          <p:cNvSpPr>
            <a:spLocks noGrp="1"/>
          </p:cNvSpPr>
          <p:nvPr/>
        </p:nvSpPr>
        <p:spPr>
          <a:xfrm>
            <a:off x="3374745" y="41836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97" name="dato_manual"/>
          <p:cNvSpPr>
            <a:spLocks noGrp="1"/>
          </p:cNvSpPr>
          <p:nvPr/>
        </p:nvSpPr>
        <p:spPr>
          <a:xfrm>
            <a:off x="4779264" y="41836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98" name="dato_manual"/>
          <p:cNvSpPr>
            <a:spLocks noGrp="1"/>
          </p:cNvSpPr>
          <p:nvPr/>
        </p:nvSpPr>
        <p:spPr>
          <a:xfrm>
            <a:off x="3374745" y="46492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24</a:t>
            </a:r>
          </a:p>
        </p:txBody>
      </p:sp>
      <p:sp>
        <p:nvSpPr>
          <p:cNvPr id="99" name="dato_manual"/>
          <p:cNvSpPr>
            <a:spLocks noGrp="1"/>
          </p:cNvSpPr>
          <p:nvPr/>
        </p:nvSpPr>
        <p:spPr>
          <a:xfrm>
            <a:off x="4779264" y="46492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20</a:t>
            </a:r>
          </a:p>
        </p:txBody>
      </p:sp>
      <p:sp>
        <p:nvSpPr>
          <p:cNvPr id="100" name="dato_manual"/>
          <p:cNvSpPr>
            <a:spLocks noGrp="1"/>
          </p:cNvSpPr>
          <p:nvPr/>
        </p:nvSpPr>
        <p:spPr>
          <a:xfrm>
            <a:off x="3374745" y="5114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01" name="dato_manual"/>
          <p:cNvSpPr>
            <a:spLocks noGrp="1"/>
          </p:cNvSpPr>
          <p:nvPr/>
        </p:nvSpPr>
        <p:spPr>
          <a:xfrm>
            <a:off x="4779264" y="5114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02" name="dato_manual"/>
          <p:cNvSpPr>
            <a:spLocks noGrp="1"/>
          </p:cNvSpPr>
          <p:nvPr/>
        </p:nvSpPr>
        <p:spPr>
          <a:xfrm>
            <a:off x="3374745" y="55804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03" name="dato_manual"/>
          <p:cNvSpPr>
            <a:spLocks noGrp="1"/>
          </p:cNvSpPr>
          <p:nvPr/>
        </p:nvSpPr>
        <p:spPr>
          <a:xfrm>
            <a:off x="4779264" y="55804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04" name="dato_manual"/>
          <p:cNvSpPr>
            <a:spLocks noGrp="1"/>
          </p:cNvSpPr>
          <p:nvPr/>
        </p:nvSpPr>
        <p:spPr>
          <a:xfrm>
            <a:off x="3374745" y="60460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123A5E"/>
                </a:solidFill>
                <a:latin typeface="Arial"/>
              </a:rPr>
              <a:t>24</a:t>
            </a:r>
          </a:p>
        </p:txBody>
      </p:sp>
      <p:sp>
        <p:nvSpPr>
          <p:cNvPr id="105" name="dato_manual"/>
          <p:cNvSpPr>
            <a:spLocks noGrp="1"/>
          </p:cNvSpPr>
          <p:nvPr/>
        </p:nvSpPr>
        <p:spPr>
          <a:xfrm>
            <a:off x="4779264" y="60460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s-PE" sz="1240" b="1" dirty="0">
                <a:solidFill>
                  <a:srgbClr val="123A5E"/>
                </a:solidFill>
                <a:latin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79712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877824"/>
            <a:ext cx="12192000" cy="34137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EFECTIVA (DORMIDOS + NUEVOS + RECURRENTES): Información al 8 de Agosto</a:t>
            </a:r>
            <a:endParaRPr lang="en-US" sz="1667" dirty="0"/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682752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7" b="1" dirty="0">
                <a:solidFill>
                  <a:srgbClr val="C0392B"/>
                </a:solidFill>
              </a:rPr>
              <a:t>Bajo la meta</a:t>
            </a:r>
            <a:endParaRPr lang="en-US" sz="1267" dirty="0"/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9A9189"/>
                </a:solidFill>
              </a:rPr>
              <a:t>Sub Gerenta: Monica Mogollon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333976" y="2540399"/>
            <a:ext cx="3201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C0392B"/>
                </a:solidFill>
              </a:rPr>
              <a:t>58.8%</a:t>
            </a:r>
            <a:endParaRPr lang="en-US" sz="8800" dirty="0"/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E5DFD8"/>
          </a:solidFill>
          <a:ln w="16933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3" name="Shape 70"/>
          <p:cNvSpPr/>
          <p:nvPr/>
        </p:nvSpPr>
        <p:spPr>
          <a:xfrm>
            <a:off x="0" y="6486144"/>
            <a:ext cx="12192000" cy="21945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5A95A43B-8C1B-E7A9-3F8A-F8832210E4EC}"/>
              </a:ext>
            </a:extLst>
          </p:cNvPr>
          <p:cNvSpPr/>
          <p:nvPr/>
        </p:nvSpPr>
        <p:spPr>
          <a:xfrm>
            <a:off x="515379" y="2521119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7.20M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B78515AE-5431-E16A-0558-6D3EBE41CA32}"/>
              </a:ext>
            </a:extLst>
          </p:cNvPr>
          <p:cNvSpPr/>
          <p:nvPr/>
        </p:nvSpPr>
        <p:spPr>
          <a:xfrm>
            <a:off x="-61161" y="3992467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1.45M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1" name="Text 26">
            <a:extLst>
              <a:ext uri="{FF2B5EF4-FFF2-40B4-BE49-F238E27FC236}">
                <a16:creationId xmlns:a16="http://schemas.microsoft.com/office/drawing/2014/main" id="{D22012C6-8E82-1724-8567-32DAD424347C}"/>
              </a:ext>
            </a:extLst>
          </p:cNvPr>
          <p:cNvSpPr/>
          <p:nvPr/>
        </p:nvSpPr>
        <p:spPr>
          <a:xfrm>
            <a:off x="1430060" y="3966823"/>
            <a:ext cx="2048797" cy="451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2.46M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94" name="Picture 76">
            <a:extLst>
              <a:ext uri="{FF2B5EF4-FFF2-40B4-BE49-F238E27FC236}">
                <a16:creationId xmlns:a16="http://schemas.microsoft.com/office/drawing/2014/main" id="{C378C096-3B27-1ACC-5814-70E7AD988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121" y="-193091"/>
            <a:ext cx="1264005" cy="1264005"/>
          </a:xfrm>
          <a:prstGeom prst="rect">
            <a:avLst/>
          </a:prstGeom>
        </p:spPr>
      </p:pic>
      <p:pic>
        <p:nvPicPr>
          <p:cNvPr id="96" name="Imagen 95">
            <a:extLst>
              <a:ext uri="{FF2B5EF4-FFF2-40B4-BE49-F238E27FC236}">
                <a16:creationId xmlns:a16="http://schemas.microsoft.com/office/drawing/2014/main" id="{BD613C91-CE49-A213-6746-E2942781BF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96" b="91034" l="5526" r="89929">
                        <a14:foregroundMark x1="5526" y1="55901" x2="8556" y2="77951"/>
                        <a14:foregroundMark x1="33333" y1="65691" x2="33512" y2="78774"/>
                        <a14:foregroundMark x1="17291" y1="76212" x2="14706" y2="85819"/>
                        <a14:foregroundMark x1="14706" y1="60384" x2="14528" y2="84446"/>
                        <a14:foregroundMark x1="35383" y1="63312" x2="28253" y2="91034"/>
                        <a14:foregroundMark x1="50178" y1="50686" x2="51426" y2="61665"/>
                        <a14:foregroundMark x1="85740" y1="6496" x2="84759" y2="10796"/>
                        <a14:foregroundMark x1="77629" y1="43550" x2="64973" y2="47667"/>
                        <a14:foregroundMark x1="78610" y1="28728" x2="72727" y2="33303"/>
                        <a14:foregroundMark x1="80214" y1="18573" x2="77451" y2="26715"/>
                        <a14:foregroundMark x1="82086" y1="30009" x2="85294" y2="34401"/>
                        <a14:foregroundMark x1="85918" y1="9790" x2="85918" y2="9790"/>
                        <a14:foregroundMark x1="85472" y1="10887" x2="86185" y2="18298"/>
                        <a14:foregroundMark x1="45365" y1="45197" x2="22638" y2="48582"/>
                        <a14:foregroundMark x1="53832" y1="55261" x2="54011" y2="762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08736" y="6537329"/>
            <a:ext cx="315872" cy="307708"/>
          </a:xfrm>
          <a:prstGeom prst="rect">
            <a:avLst/>
          </a:prstGeom>
        </p:spPr>
      </p:pic>
      <p:pic>
        <p:nvPicPr>
          <p:cNvPr id="30" name="BARRAS_AVANCE_GENE" descr="image.png">
            <a:extLst>
              <a:ext uri="{FF2B5EF4-FFF2-40B4-BE49-F238E27FC236}">
                <a16:creationId xmlns:a16="http://schemas.microsoft.com/office/drawing/2014/main" id="{B684F4F9-EA71-8A8C-AC5E-31362EE95C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2076" y="1942160"/>
            <a:ext cx="8524051" cy="3445511"/>
          </a:xfrm>
          <a:prstGeom prst="rect">
            <a:avLst/>
          </a:prstGeom>
        </p:spPr>
      </p:pic>
      <p:pic>
        <p:nvPicPr>
          <p:cNvPr id="97" name="Cliente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159502"/>
            <a:ext cx="1783080" cy="65379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877824"/>
            <a:ext cx="12192000" cy="34137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3 / 5</a:t>
            </a:r>
            <a:endParaRPr lang="en-US" sz="1067" dirty="0"/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9A9189"/>
                </a:solidFill>
              </a:rPr>
              <a:t>Sub Gerenta: Monica Mogollon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133159" y="2710833"/>
            <a:ext cx="3946331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C0392B"/>
                </a:solidFill>
              </a:rPr>
              <a:t>55.9%</a:t>
            </a:r>
            <a:endParaRPr lang="en-US" sz="88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731628" y="999744"/>
            <a:ext cx="24384" cy="5437632"/>
          </a:xfrm>
          <a:prstGeom prst="rect">
            <a:avLst/>
          </a:prstGeom>
          <a:solidFill>
            <a:srgbClr val="E5DFD8"/>
          </a:solidFill>
          <a:ln w="16933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Shape 33"/>
          <p:cNvSpPr/>
          <p:nvPr/>
        </p:nvSpPr>
        <p:spPr>
          <a:xfrm>
            <a:off x="3998976" y="3153664"/>
            <a:ext cx="7815072" cy="0"/>
          </a:xfrm>
          <a:prstGeom prst="line">
            <a:avLst/>
          </a:prstGeom>
          <a:noFill/>
          <a:ln w="8467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Shape 34"/>
          <p:cNvSpPr/>
          <p:nvPr/>
        </p:nvSpPr>
        <p:spPr>
          <a:xfrm>
            <a:off x="3998976" y="1633728"/>
            <a:ext cx="7815072" cy="0"/>
          </a:xfrm>
          <a:prstGeom prst="line">
            <a:avLst/>
          </a:prstGeom>
          <a:noFill/>
          <a:ln w="8467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2" name="Shape 69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8F6"/>
          </a:solidFill>
          <a:ln w="5080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3" name="Shape 70"/>
          <p:cNvSpPr/>
          <p:nvPr/>
        </p:nvSpPr>
        <p:spPr>
          <a:xfrm>
            <a:off x="0" y="6486144"/>
            <a:ext cx="12192000" cy="21945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DEACF6FC-D8B2-D9B1-CDCF-B1A1D7239020}"/>
              </a:ext>
            </a:extLst>
          </p:cNvPr>
          <p:cNvSpPr/>
          <p:nvPr/>
        </p:nvSpPr>
        <p:spPr>
          <a:xfrm>
            <a:off x="535692" y="263648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1.57M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3BEF903F-6E02-B677-1B0E-518C48BECC56}"/>
              </a:ext>
            </a:extLst>
          </p:cNvPr>
          <p:cNvSpPr/>
          <p:nvPr/>
        </p:nvSpPr>
        <p:spPr>
          <a:xfrm>
            <a:off x="-104063" y="4154668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161.7K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1" name="Text 26">
            <a:extLst>
              <a:ext uri="{FF2B5EF4-FFF2-40B4-BE49-F238E27FC236}">
                <a16:creationId xmlns:a16="http://schemas.microsoft.com/office/drawing/2014/main" id="{98CBD1BF-558A-CE57-7DB7-54E38E9C9EDF}"/>
              </a:ext>
            </a:extLst>
          </p:cNvPr>
          <p:cNvSpPr/>
          <p:nvPr/>
        </p:nvSpPr>
        <p:spPr>
          <a:xfrm>
            <a:off x="1494239" y="4150080"/>
            <a:ext cx="2114603" cy="454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289.5K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5" name="Text 3">
            <a:extLst>
              <a:ext uri="{FF2B5EF4-FFF2-40B4-BE49-F238E27FC236}">
                <a16:creationId xmlns:a16="http://schemas.microsoft.com/office/drawing/2014/main" id="{2CA298DF-18B6-7A10-9BA2-E676AA00C02D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FONOCOMPRAS (</a:t>
            </a:r>
            <a:r>
              <a:rPr lang="es-ES" sz="1867" b="1" dirty="0">
                <a:solidFill>
                  <a:schemeClr val="bg1"/>
                </a:solidFill>
              </a:rPr>
              <a:t>OUTBOUND  + INBOUD)</a:t>
            </a:r>
            <a:r>
              <a:rPr lang="en-US" sz="1667" b="1" kern="0" spc="40" dirty="0">
                <a:solidFill>
                  <a:srgbClr val="FFFFFF"/>
                </a:solidFill>
              </a:rPr>
              <a:t>: Información al 8 de Agosto</a:t>
            </a:r>
            <a:endParaRPr lang="en-US" sz="1667" dirty="0"/>
          </a:p>
        </p:txBody>
      </p:sp>
      <p:pic>
        <p:nvPicPr>
          <p:cNvPr id="87" name="Picture 76">
            <a:extLst>
              <a:ext uri="{FF2B5EF4-FFF2-40B4-BE49-F238E27FC236}">
                <a16:creationId xmlns:a16="http://schemas.microsoft.com/office/drawing/2014/main" id="{864F06DD-164B-E44A-CA51-240D32214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1925" y="-217956"/>
            <a:ext cx="1264005" cy="1264005"/>
          </a:xfrm>
          <a:prstGeom prst="rect">
            <a:avLst/>
          </a:prstGeom>
        </p:spPr>
      </p:pic>
      <p:pic>
        <p:nvPicPr>
          <p:cNvPr id="89" name="Imagen 88">
            <a:extLst>
              <a:ext uri="{FF2B5EF4-FFF2-40B4-BE49-F238E27FC236}">
                <a16:creationId xmlns:a16="http://schemas.microsoft.com/office/drawing/2014/main" id="{E88D4D88-E14E-C376-CAA4-B52DB5C5FE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96" b="91034" l="5526" r="89929">
                        <a14:foregroundMark x1="5526" y1="55901" x2="8556" y2="77951"/>
                        <a14:foregroundMark x1="33333" y1="65691" x2="33512" y2="78774"/>
                        <a14:foregroundMark x1="17291" y1="76212" x2="14706" y2="85819"/>
                        <a14:foregroundMark x1="14706" y1="60384" x2="14528" y2="84446"/>
                        <a14:foregroundMark x1="35383" y1="63312" x2="28253" y2="91034"/>
                        <a14:foregroundMark x1="50178" y1="50686" x2="51426" y2="61665"/>
                        <a14:foregroundMark x1="85740" y1="6496" x2="84759" y2="10796"/>
                        <a14:foregroundMark x1="77629" y1="43550" x2="64973" y2="47667"/>
                        <a14:foregroundMark x1="78610" y1="28728" x2="72727" y2="33303"/>
                        <a14:foregroundMark x1="80214" y1="18573" x2="77451" y2="26715"/>
                        <a14:foregroundMark x1="82086" y1="30009" x2="85294" y2="34401"/>
                        <a14:foregroundMark x1="85918" y1="9790" x2="85918" y2="9790"/>
                        <a14:foregroundMark x1="85472" y1="10887" x2="86185" y2="18298"/>
                        <a14:foregroundMark x1="45365" y1="45197" x2="22638" y2="48582"/>
                        <a14:foregroundMark x1="53832" y1="55261" x2="54011" y2="762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08736" y="6537329"/>
            <a:ext cx="315872" cy="307708"/>
          </a:xfrm>
          <a:prstGeom prst="rect">
            <a:avLst/>
          </a:prstGeom>
        </p:spPr>
      </p:pic>
      <p:pic>
        <p:nvPicPr>
          <p:cNvPr id="5" name="BARRAS_AVANCE_FONO" descr="image.png">
            <a:extLst>
              <a:ext uri="{FF2B5EF4-FFF2-40B4-BE49-F238E27FC236}">
                <a16:creationId xmlns:a16="http://schemas.microsoft.com/office/drawing/2014/main" id="{93403B95-B57B-CBC4-FF41-9350A87126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1024" y="1938528"/>
            <a:ext cx="8522208" cy="3450336"/>
          </a:xfrm>
          <a:prstGeom prst="rect">
            <a:avLst/>
          </a:prstGeom>
        </p:spPr>
      </p:pic>
      <p:sp>
        <p:nvSpPr>
          <p:cNvPr id="31" name="Shape 6">
            <a:extLst>
              <a:ext uri="{FF2B5EF4-FFF2-40B4-BE49-F238E27FC236}">
                <a16:creationId xmlns:a16="http://schemas.microsoft.com/office/drawing/2014/main" id="{6D6FFEC3-9CDC-ACCC-09D5-E64DD649870D}"/>
              </a:ext>
            </a:extLst>
          </p:cNvPr>
          <p:cNvSpPr/>
          <p:nvPr/>
        </p:nvSpPr>
        <p:spPr>
          <a:xfrm>
            <a:off x="178892" y="999744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18EB2B28-7F64-66E3-37D2-62DF37DD5C5D}"/>
              </a:ext>
            </a:extLst>
          </p:cNvPr>
          <p:cNvSpPr/>
          <p:nvPr/>
        </p:nvSpPr>
        <p:spPr>
          <a:xfrm>
            <a:off x="300812" y="1097280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07BC38A4-FB55-131C-E699-D860CE9B25B2}"/>
              </a:ext>
            </a:extLst>
          </p:cNvPr>
          <p:cNvSpPr/>
          <p:nvPr/>
        </p:nvSpPr>
        <p:spPr>
          <a:xfrm>
            <a:off x="593420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0392B"/>
                </a:solidFill>
              </a:rPr>
              <a:t>Bajo la meta</a:t>
            </a:r>
            <a:endParaRPr lang="en-US" sz="1267" dirty="0"/>
          </a:p>
        </p:txBody>
      </p:sp>
      <p:pic>
        <p:nvPicPr>
          <p:cNvPr id="90" name="Cliente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500634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877824"/>
            <a:ext cx="12192000" cy="34137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DINERS  |  TARJETAS DE CREDITO: :  Información al 8 de Agosto </a:t>
            </a:r>
            <a:endParaRPr lang="en-US" sz="1667" dirty="0"/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1 / 1</a:t>
            </a:r>
            <a:endParaRPr lang="en-US" sz="1067" dirty="0"/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9A9189"/>
                </a:solidFill>
              </a:rPr>
              <a:t>Sub Gerente: Monica Mogollon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232709" y="2726299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C0392B"/>
                </a:solidFill>
              </a:rPr>
              <a:t>3.1%</a:t>
            </a:r>
            <a:endParaRPr lang="en-US" sz="9600" dirty="0"/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E5DFD8"/>
          </a:solidFill>
          <a:ln w="16933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Shape 31"/>
          <p:cNvSpPr/>
          <p:nvPr/>
        </p:nvSpPr>
        <p:spPr>
          <a:xfrm>
            <a:off x="3998976" y="6193536"/>
            <a:ext cx="7815072" cy="0"/>
          </a:xfrm>
          <a:prstGeom prst="line">
            <a:avLst/>
          </a:prstGeom>
          <a:noFill/>
          <a:ln w="8467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Shape 32"/>
          <p:cNvSpPr/>
          <p:nvPr/>
        </p:nvSpPr>
        <p:spPr>
          <a:xfrm>
            <a:off x="3998976" y="4673600"/>
            <a:ext cx="7815072" cy="0"/>
          </a:xfrm>
          <a:prstGeom prst="line">
            <a:avLst/>
          </a:prstGeom>
          <a:noFill/>
          <a:ln w="8467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Shape 33"/>
          <p:cNvSpPr/>
          <p:nvPr/>
        </p:nvSpPr>
        <p:spPr>
          <a:xfrm>
            <a:off x="3998976" y="3153664"/>
            <a:ext cx="7815072" cy="0"/>
          </a:xfrm>
          <a:prstGeom prst="line">
            <a:avLst/>
          </a:prstGeom>
          <a:noFill/>
          <a:ln w="8467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8" name="Shape 65"/>
          <p:cNvSpPr/>
          <p:nvPr/>
        </p:nvSpPr>
        <p:spPr>
          <a:xfrm>
            <a:off x="0" y="6486144"/>
            <a:ext cx="12192000" cy="21945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74" name="BARRAS_AVANCE__DINERS" descr="image.png">
            <a:extLst>
              <a:ext uri="{FF2B5EF4-FFF2-40B4-BE49-F238E27FC236}">
                <a16:creationId xmlns:a16="http://schemas.microsoft.com/office/drawing/2014/main" id="{D29437BB-A5F9-4BE0-FACC-4950DFF7F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107" y="1906416"/>
            <a:ext cx="6480308" cy="3210139"/>
          </a:xfrm>
          <a:prstGeom prst="rect">
            <a:avLst/>
          </a:prstGeom>
        </p:spPr>
      </p:pic>
      <p:sp>
        <p:nvSpPr>
          <p:cNvPr id="76" name="Text 26">
            <a:extLst>
              <a:ext uri="{FF2B5EF4-FFF2-40B4-BE49-F238E27FC236}">
                <a16:creationId xmlns:a16="http://schemas.microsoft.com/office/drawing/2014/main" id="{B5492910-93CF-F632-24C2-027A944467A9}"/>
              </a:ext>
            </a:extLst>
          </p:cNvPr>
          <p:cNvSpPr/>
          <p:nvPr/>
        </p:nvSpPr>
        <p:spPr>
          <a:xfrm>
            <a:off x="564611" y="269478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250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6C8FFC6B-CB1A-806D-494F-C4B88CBEDB82}"/>
              </a:ext>
            </a:extLst>
          </p:cNvPr>
          <p:cNvSpPr/>
          <p:nvPr/>
        </p:nvSpPr>
        <p:spPr>
          <a:xfrm>
            <a:off x="-75144" y="4212971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2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0" name="Text 26">
            <a:extLst>
              <a:ext uri="{FF2B5EF4-FFF2-40B4-BE49-F238E27FC236}">
                <a16:creationId xmlns:a16="http://schemas.microsoft.com/office/drawing/2014/main" id="{6F714999-69CD-CC6F-5515-C2BA075B6AD8}"/>
              </a:ext>
            </a:extLst>
          </p:cNvPr>
          <p:cNvSpPr/>
          <p:nvPr/>
        </p:nvSpPr>
        <p:spPr>
          <a:xfrm>
            <a:off x="1523157" y="4208384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65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6525DB75-6F15-86BA-01EC-0CC7CCE71B99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B0D3565D-B575-B585-CBF0-DBF1C2665CBB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C595AA07-493D-DFF0-659C-44A50CAA82D3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0392B"/>
                </a:solidFill>
              </a:rPr>
              <a:t>Bajo la meta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675972B-9360-97AD-7259-6259A47289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96" b="91034" l="5526" r="89929">
                        <a14:foregroundMark x1="5526" y1="55901" x2="8556" y2="77951"/>
                        <a14:foregroundMark x1="33333" y1="65691" x2="33512" y2="78774"/>
                        <a14:foregroundMark x1="17291" y1="76212" x2="14706" y2="85819"/>
                        <a14:foregroundMark x1="14706" y1="60384" x2="14528" y2="84446"/>
                        <a14:foregroundMark x1="35383" y1="63312" x2="28253" y2="91034"/>
                        <a14:foregroundMark x1="50178" y1="50686" x2="51426" y2="61665"/>
                        <a14:foregroundMark x1="85740" y1="6496" x2="84759" y2="10796"/>
                        <a14:foregroundMark x1="77629" y1="43550" x2="64973" y2="47667"/>
                        <a14:foregroundMark x1="78610" y1="28728" x2="72727" y2="33303"/>
                        <a14:foregroundMark x1="80214" y1="18573" x2="77451" y2="26715"/>
                        <a14:foregroundMark x1="82086" y1="30009" x2="85294" y2="34401"/>
                        <a14:foregroundMark x1="85918" y1="9790" x2="85918" y2="9790"/>
                        <a14:foregroundMark x1="85472" y1="10887" x2="86185" y2="18298"/>
                        <a14:foregroundMark x1="45365" y1="45197" x2="22638" y2="48582"/>
                        <a14:foregroundMark x1="53832" y1="55261" x2="54011" y2="762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1184" y="6519812"/>
            <a:ext cx="315872" cy="307708"/>
          </a:xfrm>
          <a:prstGeom prst="rect">
            <a:avLst/>
          </a:prstGeom>
        </p:spPr>
      </p:pic>
      <p:pic>
        <p:nvPicPr>
          <p:cNvPr id="11" name="Picture 76">
            <a:extLst>
              <a:ext uri="{FF2B5EF4-FFF2-40B4-BE49-F238E27FC236}">
                <a16:creationId xmlns:a16="http://schemas.microsoft.com/office/drawing/2014/main" id="{552743A1-1A5D-5F3D-5141-E4FE43CBAA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0025" y="-141756"/>
            <a:ext cx="1264005" cy="1264005"/>
          </a:xfrm>
          <a:prstGeom prst="rect">
            <a:avLst/>
          </a:prstGeom>
        </p:spPr>
      </p:pic>
      <p:pic>
        <p:nvPicPr>
          <p:cNvPr id="81" name="Cliente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258245"/>
            <a:ext cx="1783080" cy="45630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877824"/>
            <a:ext cx="12192000" cy="34137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BANBIF PRESTAMOS: Información al 8 de Agosto</a:t>
            </a:r>
            <a:endParaRPr lang="en-US" sz="1667" dirty="0"/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5 / 5</a:t>
            </a:r>
            <a:endParaRPr lang="en-US" sz="1067" dirty="0"/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682752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 err="1">
                <a:solidFill>
                  <a:srgbClr val="C0392B"/>
                </a:solidFill>
              </a:rPr>
              <a:t>Cerca</a:t>
            </a:r>
            <a:r>
              <a:rPr lang="en-US" sz="1267" b="1" dirty="0">
                <a:solidFill>
                  <a:srgbClr val="C0392B"/>
                </a:solidFill>
              </a:rPr>
              <a:t> de la meta</a:t>
            </a:r>
            <a:endParaRPr lang="en-US" sz="1267" dirty="0"/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9A9189"/>
                </a:solidFill>
              </a:rPr>
              <a:t>Sub Gerenta: Monica Mogollon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363020" y="2737871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C0392B"/>
                </a:solidFill>
              </a:rPr>
              <a:t>80.1%</a:t>
            </a:r>
            <a:endParaRPr lang="en-US" sz="8800" dirty="0"/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E5DFD8"/>
          </a:solidFill>
          <a:ln w="16933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8" name="Shape 65"/>
          <p:cNvSpPr/>
          <p:nvPr/>
        </p:nvSpPr>
        <p:spPr>
          <a:xfrm>
            <a:off x="0" y="6486144"/>
            <a:ext cx="12192000" cy="21945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F186F93C-1212-7F73-C2A8-2563F7F30917}"/>
              </a:ext>
            </a:extLst>
          </p:cNvPr>
          <p:cNvSpPr/>
          <p:nvPr/>
        </p:nvSpPr>
        <p:spPr>
          <a:xfrm>
            <a:off x="558811" y="2615557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2.10M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08A8B44C-F582-631D-38D0-637D5E19CD9F}"/>
              </a:ext>
            </a:extLst>
          </p:cNvPr>
          <p:cNvSpPr/>
          <p:nvPr/>
        </p:nvSpPr>
        <p:spPr>
          <a:xfrm>
            <a:off x="-95773" y="418014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647.8K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A6996A04-3402-7D3F-3903-6E1A341E0AD4}"/>
              </a:ext>
            </a:extLst>
          </p:cNvPr>
          <p:cNvSpPr/>
          <p:nvPr/>
        </p:nvSpPr>
        <p:spPr>
          <a:xfrm>
            <a:off x="1517357" y="4129156"/>
            <a:ext cx="2042707" cy="4862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809.0K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8" name="Picture 76">
            <a:extLst>
              <a:ext uri="{FF2B5EF4-FFF2-40B4-BE49-F238E27FC236}">
                <a16:creationId xmlns:a16="http://schemas.microsoft.com/office/drawing/2014/main" id="{190A273A-383B-1297-AB08-C55E36029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025" y="-141756"/>
            <a:ext cx="1264005" cy="1264005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1280531C-3C3E-CB62-2F78-D3C23B57EA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96" b="91034" l="5526" r="89929">
                        <a14:foregroundMark x1="5526" y1="55901" x2="8556" y2="77951"/>
                        <a14:foregroundMark x1="33333" y1="65691" x2="33512" y2="78774"/>
                        <a14:foregroundMark x1="17291" y1="76212" x2="14706" y2="85819"/>
                        <a14:foregroundMark x1="14706" y1="60384" x2="14528" y2="84446"/>
                        <a14:foregroundMark x1="35383" y1="63312" x2="28253" y2="91034"/>
                        <a14:foregroundMark x1="50178" y1="50686" x2="51426" y2="61665"/>
                        <a14:foregroundMark x1="85740" y1="6496" x2="84759" y2="10796"/>
                        <a14:foregroundMark x1="77629" y1="43550" x2="64973" y2="47667"/>
                        <a14:foregroundMark x1="78610" y1="28728" x2="72727" y2="33303"/>
                        <a14:foregroundMark x1="80214" y1="18573" x2="77451" y2="26715"/>
                        <a14:foregroundMark x1="82086" y1="30009" x2="85294" y2="34401"/>
                        <a14:foregroundMark x1="85918" y1="9790" x2="85918" y2="9790"/>
                        <a14:foregroundMark x1="85472" y1="10887" x2="86185" y2="18298"/>
                        <a14:foregroundMark x1="45365" y1="45197" x2="22638" y2="48582"/>
                        <a14:foregroundMark x1="53832" y1="55261" x2="54011" y2="762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08736" y="6537329"/>
            <a:ext cx="315872" cy="307708"/>
          </a:xfrm>
          <a:prstGeom prst="rect">
            <a:avLst/>
          </a:prstGeom>
        </p:spPr>
      </p:pic>
      <p:pic>
        <p:nvPicPr>
          <p:cNvPr id="5" name="BARRAS_AVANCE__BANBIF" descr="image.png">
            <a:extLst>
              <a:ext uri="{FF2B5EF4-FFF2-40B4-BE49-F238E27FC236}">
                <a16:creationId xmlns:a16="http://schemas.microsoft.com/office/drawing/2014/main" id="{151AA825-F237-D26A-82DB-B030EF9A3C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0264" y="2261888"/>
            <a:ext cx="7135779" cy="2617519"/>
          </a:xfrm>
          <a:prstGeom prst="rect">
            <a:avLst/>
          </a:prstGeom>
        </p:spPr>
      </p:pic>
      <p:pic>
        <p:nvPicPr>
          <p:cNvPr id="81" name="Cliente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242685"/>
            <a:ext cx="1783080" cy="48743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83087-F7EB-E87E-DFA9-A1CF0605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A025FA-FA9F-2133-4A58-73FA393A2F0E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791697-C660-94E5-A1A8-8D7064ADA38E}"/>
              </a:ext>
            </a:extLst>
          </p:cNvPr>
          <p:cNvSpPr/>
          <p:nvPr/>
        </p:nvSpPr>
        <p:spPr>
          <a:xfrm>
            <a:off x="0" y="877824"/>
            <a:ext cx="12192000" cy="34137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34F1300-59BF-0049-9F17-BA4D369FC8EA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kern="0" spc="40" dirty="0">
                <a:solidFill>
                  <a:srgbClr val="FFFFFF"/>
                </a:solidFill>
              </a:rPr>
              <a:t>EFECTIVA Y FONOCOMPRAS|  DIAGNOSTICO Y SEGUIMIENTO</a:t>
            </a:r>
            <a:endParaRPr lang="en-US" sz="1667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816C696-95AD-DA1B-134C-E3A4800C965D}"/>
              </a:ext>
            </a:extLst>
          </p:cNvPr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4A0E07"/>
          </a:solidFill>
          <a:ln w="16933">
            <a:solidFill>
              <a:srgbClr val="4A0E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CD059E5-1C48-D24C-B419-8AEE66358A2B}"/>
              </a:ext>
            </a:extLst>
          </p:cNvPr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2 / 3</a:t>
            </a:r>
            <a:endParaRPr lang="en-US" sz="1067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83D63F7-589C-60E2-A21B-CF1A5715C5E8}"/>
              </a:ext>
            </a:extLst>
          </p:cNvPr>
          <p:cNvSpPr/>
          <p:nvPr/>
        </p:nvSpPr>
        <p:spPr>
          <a:xfrm>
            <a:off x="0" y="999744"/>
            <a:ext cx="5547360" cy="414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7CCD22F-0A25-CDF8-CB54-BF6262B0B6BE}"/>
              </a:ext>
            </a:extLst>
          </p:cNvPr>
          <p:cNvSpPr/>
          <p:nvPr/>
        </p:nvSpPr>
        <p:spPr>
          <a:xfrm>
            <a:off x="121920" y="999744"/>
            <a:ext cx="54254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kern="0" spc="40" dirty="0">
                <a:solidFill>
                  <a:srgbClr val="FFFFFF"/>
                </a:solidFill>
              </a:rPr>
              <a:t>SEGUIMIENTO PLAN SEMANA ANTERIOR</a:t>
            </a:r>
            <a:endParaRPr lang="en-US" sz="1067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856A065-A66C-2B42-CDAB-189153046711}"/>
              </a:ext>
            </a:extLst>
          </p:cNvPr>
          <p:cNvSpPr/>
          <p:nvPr/>
        </p:nvSpPr>
        <p:spPr>
          <a:xfrm>
            <a:off x="0" y="1463040"/>
            <a:ext cx="67056" cy="1176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84C78BF-265C-30F0-4BE3-627D52D43AAE}"/>
              </a:ext>
            </a:extLst>
          </p:cNvPr>
          <p:cNvSpPr/>
          <p:nvPr/>
        </p:nvSpPr>
        <p:spPr>
          <a:xfrm>
            <a:off x="170688" y="2180783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713"/>
                </a:solidFill>
              </a:rPr>
              <a:t>Ejecutado</a:t>
            </a:r>
            <a:endParaRPr lang="en-US" sz="12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A594C9B-0196-DB65-98AE-E71150BDE06A}"/>
              </a:ext>
            </a:extLst>
          </p:cNvPr>
          <p:cNvSpPr/>
          <p:nvPr/>
        </p:nvSpPr>
        <p:spPr>
          <a:xfrm>
            <a:off x="0" y="2700528"/>
            <a:ext cx="5547360" cy="1176528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4A2494AF-B537-B7E1-9E74-EB666F03B22F}"/>
              </a:ext>
            </a:extLst>
          </p:cNvPr>
          <p:cNvSpPr/>
          <p:nvPr/>
        </p:nvSpPr>
        <p:spPr>
          <a:xfrm>
            <a:off x="0" y="2700528"/>
            <a:ext cx="67056" cy="1176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2372521-86CE-2170-113B-B33F6A5B2CC3}"/>
              </a:ext>
            </a:extLst>
          </p:cNvPr>
          <p:cNvSpPr/>
          <p:nvPr/>
        </p:nvSpPr>
        <p:spPr>
          <a:xfrm>
            <a:off x="170688" y="3418271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713"/>
                </a:solidFill>
              </a:rPr>
              <a:t>Ejecutado</a:t>
            </a:r>
            <a:endParaRPr lang="en-US" sz="12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760219C-0161-E58B-5CFE-279CBC8C274A}"/>
              </a:ext>
            </a:extLst>
          </p:cNvPr>
          <p:cNvSpPr/>
          <p:nvPr/>
        </p:nvSpPr>
        <p:spPr>
          <a:xfrm>
            <a:off x="0" y="3938016"/>
            <a:ext cx="67056" cy="1176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CCF7376A-8F8F-F922-2F9F-D25055D6D126}"/>
              </a:ext>
            </a:extLst>
          </p:cNvPr>
          <p:cNvSpPr/>
          <p:nvPr/>
        </p:nvSpPr>
        <p:spPr>
          <a:xfrm>
            <a:off x="0" y="5175504"/>
            <a:ext cx="67056" cy="1176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08FD6D9-4757-E19F-D152-068E6EFC0A16}"/>
              </a:ext>
            </a:extLst>
          </p:cNvPr>
          <p:cNvSpPr/>
          <p:nvPr/>
        </p:nvSpPr>
        <p:spPr>
          <a:xfrm>
            <a:off x="170688" y="5893247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713"/>
                </a:solidFill>
              </a:rPr>
              <a:t>Ejecutado</a:t>
            </a:r>
            <a:endParaRPr lang="en-US" sz="120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B0B5EB40-F0D7-B967-CFB7-772ACB59FA13}"/>
              </a:ext>
            </a:extLst>
          </p:cNvPr>
          <p:cNvSpPr/>
          <p:nvPr/>
        </p:nvSpPr>
        <p:spPr>
          <a:xfrm>
            <a:off x="5657088" y="999744"/>
            <a:ext cx="24384" cy="5413248"/>
          </a:xfrm>
          <a:prstGeom prst="rect">
            <a:avLst/>
          </a:prstGeom>
          <a:solidFill>
            <a:srgbClr val="E5DFD8"/>
          </a:solidFill>
          <a:ln w="16933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0577D150-F49B-748B-5D45-A30360722C4A}"/>
              </a:ext>
            </a:extLst>
          </p:cNvPr>
          <p:cNvSpPr/>
          <p:nvPr/>
        </p:nvSpPr>
        <p:spPr>
          <a:xfrm>
            <a:off x="5791200" y="999744"/>
            <a:ext cx="6400800" cy="414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29DFD249-DDF3-B911-7FA0-4305845D93D6}"/>
              </a:ext>
            </a:extLst>
          </p:cNvPr>
          <p:cNvSpPr/>
          <p:nvPr/>
        </p:nvSpPr>
        <p:spPr>
          <a:xfrm>
            <a:off x="5913120" y="999744"/>
            <a:ext cx="6278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kern="0" spc="40" dirty="0">
                <a:solidFill>
                  <a:srgbClr val="FFFFFF"/>
                </a:solidFill>
              </a:rPr>
              <a:t>DIAGNOSTICO MES ACTUAL — CAUSAS RAIZ</a:t>
            </a:r>
            <a:endParaRPr lang="en-US" sz="1067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37E15F6C-015B-6E2A-6194-2DE36D1E62CB}"/>
              </a:ext>
            </a:extLst>
          </p:cNvPr>
          <p:cNvSpPr/>
          <p:nvPr/>
        </p:nvSpPr>
        <p:spPr>
          <a:xfrm>
            <a:off x="5791200" y="1463040"/>
            <a:ext cx="6400800" cy="1564640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B2A5AFD-F91F-53BC-6E62-9C998831936A}"/>
              </a:ext>
            </a:extLst>
          </p:cNvPr>
          <p:cNvSpPr/>
          <p:nvPr/>
        </p:nvSpPr>
        <p:spPr>
          <a:xfrm>
            <a:off x="5791200" y="1463040"/>
            <a:ext cx="670560" cy="1564640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444F2494-C489-B8FA-F2DF-9F965817934F}"/>
              </a:ext>
            </a:extLst>
          </p:cNvPr>
          <p:cNvSpPr/>
          <p:nvPr/>
        </p:nvSpPr>
        <p:spPr>
          <a:xfrm>
            <a:off x="5791200" y="1463040"/>
            <a:ext cx="670560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F04686CE-0131-1663-A01E-B067BFC67CDF}"/>
              </a:ext>
            </a:extLst>
          </p:cNvPr>
          <p:cNvSpPr/>
          <p:nvPr/>
        </p:nvSpPr>
        <p:spPr>
          <a:xfrm>
            <a:off x="6583680" y="2661920"/>
            <a:ext cx="1341120" cy="292608"/>
          </a:xfrm>
          <a:prstGeom prst="rect">
            <a:avLst/>
          </a:prstGeom>
          <a:solidFill>
            <a:srgbClr val="FEE2E2"/>
          </a:solidFill>
          <a:ln w="16933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8D8B06C0-AF82-B732-D748-109ED55DB9D6}"/>
              </a:ext>
            </a:extLst>
          </p:cNvPr>
          <p:cNvSpPr/>
          <p:nvPr/>
        </p:nvSpPr>
        <p:spPr>
          <a:xfrm>
            <a:off x="6583680" y="2661920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3" b="1" dirty="0">
                <a:solidFill>
                  <a:srgbClr val="DC2626"/>
                </a:solidFill>
              </a:rPr>
              <a:t>Impacto Alto</a:t>
            </a:r>
            <a:endParaRPr lang="en-US" sz="1133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5D800B76-E9C5-AF6C-B1C5-50ED04C3F451}"/>
              </a:ext>
            </a:extLst>
          </p:cNvPr>
          <p:cNvSpPr/>
          <p:nvPr/>
        </p:nvSpPr>
        <p:spPr>
          <a:xfrm>
            <a:off x="5791200" y="3113024"/>
            <a:ext cx="6400800" cy="1564640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B28470CA-FDF8-BB32-928C-4B6C14A82AD3}"/>
              </a:ext>
            </a:extLst>
          </p:cNvPr>
          <p:cNvSpPr/>
          <p:nvPr/>
        </p:nvSpPr>
        <p:spPr>
          <a:xfrm>
            <a:off x="5791200" y="3113024"/>
            <a:ext cx="670560" cy="1564640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00176589-B3C1-100A-8FC9-D85F49E50111}"/>
              </a:ext>
            </a:extLst>
          </p:cNvPr>
          <p:cNvSpPr/>
          <p:nvPr/>
        </p:nvSpPr>
        <p:spPr>
          <a:xfrm>
            <a:off x="5791200" y="3113024"/>
            <a:ext cx="670560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656D53DE-05ED-88F9-0F6F-AA5A6CF4B98C}"/>
              </a:ext>
            </a:extLst>
          </p:cNvPr>
          <p:cNvSpPr/>
          <p:nvPr/>
        </p:nvSpPr>
        <p:spPr>
          <a:xfrm>
            <a:off x="6583680" y="4311904"/>
            <a:ext cx="1341120" cy="292608"/>
          </a:xfrm>
          <a:prstGeom prst="rect">
            <a:avLst/>
          </a:prstGeom>
          <a:solidFill>
            <a:srgbClr val="FEECEE"/>
          </a:solidFill>
          <a:ln w="16933">
            <a:solidFill>
              <a:srgbClr val="FEEC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3251122E-37E0-170B-0E31-F7B146C60385}"/>
              </a:ext>
            </a:extLst>
          </p:cNvPr>
          <p:cNvSpPr/>
          <p:nvPr/>
        </p:nvSpPr>
        <p:spPr>
          <a:xfrm>
            <a:off x="6583680" y="4311904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3" b="1" dirty="0">
                <a:solidFill>
                  <a:srgbClr val="E30713"/>
                </a:solidFill>
              </a:rPr>
              <a:t>Impacto Bajo</a:t>
            </a:r>
            <a:endParaRPr lang="en-US" sz="1133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2503A433-9E4C-5943-610A-10357D48B3AE}"/>
              </a:ext>
            </a:extLst>
          </p:cNvPr>
          <p:cNvSpPr/>
          <p:nvPr/>
        </p:nvSpPr>
        <p:spPr>
          <a:xfrm>
            <a:off x="5791200" y="4763008"/>
            <a:ext cx="670560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05570C27-A0D8-E4B0-10CD-443173FAA70C}"/>
              </a:ext>
            </a:extLst>
          </p:cNvPr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solidFill>
            <a:srgbClr val="FEF9E7"/>
          </a:solidFill>
          <a:ln w="16933">
            <a:solidFill>
              <a:srgbClr val="FEF9E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F81A0FE7-527F-2FEC-CDC6-2C0ABCFC444E}"/>
              </a:ext>
            </a:extLst>
          </p:cNvPr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3" b="1" dirty="0">
                <a:solidFill>
                  <a:srgbClr val="C97A0C"/>
                </a:solidFill>
              </a:rPr>
              <a:t>Impacto Medio</a:t>
            </a:r>
            <a:endParaRPr lang="en-US" sz="1133" dirty="0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476394A6-3F4C-1465-F509-08187E957C5F}"/>
              </a:ext>
            </a:extLst>
          </p:cNvPr>
          <p:cNvSpPr/>
          <p:nvPr/>
        </p:nvSpPr>
        <p:spPr>
          <a:xfrm>
            <a:off x="0" y="5876544"/>
            <a:ext cx="12192000" cy="487680"/>
          </a:xfrm>
          <a:prstGeom prst="rect">
            <a:avLst/>
          </a:prstGeom>
          <a:solidFill>
            <a:srgbClr val="FBF2F0"/>
          </a:solidFill>
          <a:ln w="8467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FCDC0EAA-717F-5140-4D8E-41B76DDEA1EC}"/>
              </a:ext>
            </a:extLst>
          </p:cNvPr>
          <p:cNvSpPr/>
          <p:nvPr/>
        </p:nvSpPr>
        <p:spPr>
          <a:xfrm>
            <a:off x="219456" y="5876544"/>
            <a:ext cx="11826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33" dirty="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2C9D7E13-64E1-D4AB-8D67-F0C7E6D5E33C}"/>
              </a:ext>
            </a:extLst>
          </p:cNvPr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8F6"/>
          </a:solidFill>
          <a:ln w="5080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8EE25665-97A4-9A3E-BFC3-100B15E1C673}"/>
              </a:ext>
            </a:extLst>
          </p:cNvPr>
          <p:cNvSpPr/>
          <p:nvPr/>
        </p:nvSpPr>
        <p:spPr>
          <a:xfrm>
            <a:off x="0" y="6486144"/>
            <a:ext cx="12192000" cy="21945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58" name="Picture 76">
            <a:extLst>
              <a:ext uri="{FF2B5EF4-FFF2-40B4-BE49-F238E27FC236}">
                <a16:creationId xmlns:a16="http://schemas.microsoft.com/office/drawing/2014/main" id="{BD549FAA-CC46-D6F4-9FC9-C85F40C25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025" y="-141756"/>
            <a:ext cx="1264005" cy="1264005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C66F6BA0-751F-A43D-0C8B-47DF27B1F1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96" b="91034" l="5526" r="89929">
                        <a14:foregroundMark x1="5526" y1="55901" x2="8556" y2="77951"/>
                        <a14:foregroundMark x1="33333" y1="65691" x2="33512" y2="78774"/>
                        <a14:foregroundMark x1="17291" y1="76212" x2="14706" y2="85819"/>
                        <a14:foregroundMark x1="14706" y1="60384" x2="14528" y2="84446"/>
                        <a14:foregroundMark x1="35383" y1="63312" x2="28253" y2="91034"/>
                        <a14:foregroundMark x1="50178" y1="50686" x2="51426" y2="61665"/>
                        <a14:foregroundMark x1="85740" y1="6496" x2="84759" y2="10796"/>
                        <a14:foregroundMark x1="77629" y1="43550" x2="64973" y2="47667"/>
                        <a14:foregroundMark x1="78610" y1="28728" x2="72727" y2="33303"/>
                        <a14:foregroundMark x1="80214" y1="18573" x2="77451" y2="26715"/>
                        <a14:foregroundMark x1="82086" y1="30009" x2="85294" y2="34401"/>
                        <a14:foregroundMark x1="85918" y1="9790" x2="85918" y2="9790"/>
                        <a14:foregroundMark x1="85472" y1="10887" x2="86185" y2="18298"/>
                        <a14:foregroundMark x1="45365" y1="45197" x2="22638" y2="48582"/>
                        <a14:foregroundMark x1="53832" y1="55261" x2="54011" y2="762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08736" y="6537329"/>
            <a:ext cx="315872" cy="30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761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877824"/>
            <a:ext cx="12192000" cy="34137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kern="0" spc="40" dirty="0">
                <a:solidFill>
                  <a:srgbClr val="FFFFFF"/>
                </a:solidFill>
              </a:rPr>
              <a:t>DINNERS  | DIAGNOSTICO Y SEGUIMIENTO</a:t>
            </a:r>
            <a:endParaRPr lang="en-US" sz="1667" dirty="0"/>
          </a:p>
        </p:txBody>
      </p:sp>
      <p:sp>
        <p:nvSpPr>
          <p:cNvPr id="9" name="Shape 6"/>
          <p:cNvSpPr/>
          <p:nvPr/>
        </p:nvSpPr>
        <p:spPr>
          <a:xfrm>
            <a:off x="0" y="999744"/>
            <a:ext cx="5547360" cy="414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121920" y="999744"/>
            <a:ext cx="54254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kern="0" spc="40" dirty="0">
                <a:solidFill>
                  <a:srgbClr val="FFFFFF"/>
                </a:solidFill>
              </a:rPr>
              <a:t>SEGUIMIENTO PLAN SEMANA ANTERIOR</a:t>
            </a:r>
            <a:endParaRPr lang="en-US" sz="1067" dirty="0"/>
          </a:p>
        </p:txBody>
      </p:sp>
      <p:sp>
        <p:nvSpPr>
          <p:cNvPr id="11" name="Shape 8"/>
          <p:cNvSpPr/>
          <p:nvPr/>
        </p:nvSpPr>
        <p:spPr>
          <a:xfrm>
            <a:off x="0" y="1463040"/>
            <a:ext cx="5547360" cy="1589024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9"/>
          <p:cNvSpPr/>
          <p:nvPr/>
        </p:nvSpPr>
        <p:spPr>
          <a:xfrm>
            <a:off x="0" y="1463040"/>
            <a:ext cx="67056" cy="1589024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170688" y="1536192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67" dirty="0"/>
          </a:p>
        </p:txBody>
      </p:sp>
      <p:sp>
        <p:nvSpPr>
          <p:cNvPr id="14" name="Text 11"/>
          <p:cNvSpPr/>
          <p:nvPr/>
        </p:nvSpPr>
        <p:spPr>
          <a:xfrm>
            <a:off x="170688" y="2420031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713"/>
                </a:solidFill>
              </a:rPr>
              <a:t>En proceso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3113024"/>
            <a:ext cx="5547360" cy="1589024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16" name="Shape 13"/>
          <p:cNvSpPr/>
          <p:nvPr/>
        </p:nvSpPr>
        <p:spPr>
          <a:xfrm>
            <a:off x="0" y="3113024"/>
            <a:ext cx="67056" cy="1589024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170688" y="3186176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67" dirty="0"/>
          </a:p>
        </p:txBody>
      </p:sp>
      <p:sp>
        <p:nvSpPr>
          <p:cNvPr id="18" name="Text 15"/>
          <p:cNvSpPr/>
          <p:nvPr/>
        </p:nvSpPr>
        <p:spPr>
          <a:xfrm>
            <a:off x="170688" y="4070015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713"/>
                </a:solidFill>
              </a:rPr>
              <a:t>En proceso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57088" y="999744"/>
            <a:ext cx="24384" cy="5413248"/>
          </a:xfrm>
          <a:prstGeom prst="rect">
            <a:avLst/>
          </a:prstGeom>
          <a:solidFill>
            <a:srgbClr val="E5DFD8"/>
          </a:solidFill>
          <a:ln w="16933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1"/>
          <p:cNvSpPr/>
          <p:nvPr/>
        </p:nvSpPr>
        <p:spPr>
          <a:xfrm>
            <a:off x="5791200" y="999744"/>
            <a:ext cx="6400800" cy="414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2"/>
          <p:cNvSpPr/>
          <p:nvPr/>
        </p:nvSpPr>
        <p:spPr>
          <a:xfrm>
            <a:off x="5913120" y="999744"/>
            <a:ext cx="6278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kern="0" spc="40" dirty="0">
                <a:solidFill>
                  <a:srgbClr val="FFFFFF"/>
                </a:solidFill>
              </a:rPr>
              <a:t>DIAGNOSTICO — CAUSAS RAIZ</a:t>
            </a:r>
            <a:endParaRPr lang="en-US" sz="1067" dirty="0"/>
          </a:p>
        </p:txBody>
      </p:sp>
      <p:sp>
        <p:nvSpPr>
          <p:cNvPr id="26" name="Shape 23"/>
          <p:cNvSpPr/>
          <p:nvPr/>
        </p:nvSpPr>
        <p:spPr>
          <a:xfrm>
            <a:off x="5791200" y="1463040"/>
            <a:ext cx="6400800" cy="2389632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27" name="Shape 24"/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5"/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6583680" y="1926336"/>
            <a:ext cx="5486400" cy="10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583680" y="3486912"/>
            <a:ext cx="1341120" cy="292608"/>
          </a:xfrm>
          <a:prstGeom prst="rect">
            <a:avLst/>
          </a:prstGeom>
          <a:solidFill>
            <a:srgbClr val="FEE2E2"/>
          </a:solidFill>
          <a:ln w="16933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6583680" y="3486912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3" b="1" dirty="0">
                <a:solidFill>
                  <a:srgbClr val="DC2626"/>
                </a:solidFill>
              </a:rPr>
              <a:t>Impacto Alto</a:t>
            </a:r>
            <a:endParaRPr lang="en-US" sz="1133" dirty="0"/>
          </a:p>
        </p:txBody>
      </p:sp>
      <p:sp>
        <p:nvSpPr>
          <p:cNvPr id="34" name="Shape 31"/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6583680" y="4401312"/>
            <a:ext cx="5486400" cy="10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solidFill>
            <a:srgbClr val="FEE2E2"/>
          </a:solidFill>
          <a:ln w="16933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6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3" b="1" dirty="0">
                <a:solidFill>
                  <a:srgbClr val="DC2626"/>
                </a:solidFill>
              </a:rPr>
              <a:t>Impacto Alto</a:t>
            </a:r>
            <a:endParaRPr lang="en-US" sz="1133" dirty="0"/>
          </a:p>
        </p:txBody>
      </p:sp>
      <p:sp>
        <p:nvSpPr>
          <p:cNvPr id="42" name="Shape 39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8F6"/>
          </a:solidFill>
          <a:ln w="5080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Shape 40"/>
          <p:cNvSpPr/>
          <p:nvPr/>
        </p:nvSpPr>
        <p:spPr>
          <a:xfrm>
            <a:off x="0" y="6486144"/>
            <a:ext cx="12192000" cy="21945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4" name="Text 41"/>
          <p:cNvSpPr/>
          <p:nvPr/>
        </p:nvSpPr>
        <p:spPr>
          <a:xfrm>
            <a:off x="219456" y="6486144"/>
            <a:ext cx="104851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189"/>
                </a:solidFill>
              </a:rPr>
              <a:t>DINERS  |  DIAGNOSTICO  | Agosto 2026</a:t>
            </a:r>
            <a:endParaRPr lang="en-US" sz="1000" dirty="0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9936" y="6510528"/>
            <a:ext cx="414528" cy="292608"/>
          </a:xfrm>
          <a:prstGeom prst="rect">
            <a:avLst/>
          </a:prstGeom>
        </p:spPr>
      </p:pic>
      <p:pic>
        <p:nvPicPr>
          <p:cNvPr id="47" name="Picture 76">
            <a:extLst>
              <a:ext uri="{FF2B5EF4-FFF2-40B4-BE49-F238E27FC236}">
                <a16:creationId xmlns:a16="http://schemas.microsoft.com/office/drawing/2014/main" id="{A2B0674A-CA80-C3CC-246A-335EE6EED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0025" y="-141756"/>
            <a:ext cx="1264005" cy="126400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F9A33E-943C-1A33-DB39-81B8DA537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2E0E90-6741-E572-68E7-96CC7C531BEB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4D09C4-4C3E-9044-AB32-9A1DF87B3D95}"/>
              </a:ext>
            </a:extLst>
          </p:cNvPr>
          <p:cNvSpPr/>
          <p:nvPr/>
        </p:nvSpPr>
        <p:spPr>
          <a:xfrm>
            <a:off x="0" y="877824"/>
            <a:ext cx="12192000" cy="34137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92CF2C0-0393-0ADA-0B24-F1D49FAF11D2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kern="0" spc="40" dirty="0">
                <a:solidFill>
                  <a:srgbClr val="FFFFFF"/>
                </a:solidFill>
              </a:rPr>
              <a:t>BANBIF|  DIAGNOSTICO Y SEGUIMIENTO</a:t>
            </a:r>
            <a:endParaRPr lang="en-US" sz="1667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861B3F3-B5EF-94F1-3C23-7FC115DCF533}"/>
              </a:ext>
            </a:extLst>
          </p:cNvPr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4A0E07"/>
          </a:solidFill>
          <a:ln w="16933">
            <a:solidFill>
              <a:srgbClr val="4A0E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2EF0AA7-2563-082F-0007-632DABBEEFEC}"/>
              </a:ext>
            </a:extLst>
          </p:cNvPr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2 / 3</a:t>
            </a:r>
            <a:endParaRPr lang="en-US" sz="1067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A3212B5-E73E-43DB-7AF6-D7C741ACC113}"/>
              </a:ext>
            </a:extLst>
          </p:cNvPr>
          <p:cNvSpPr/>
          <p:nvPr/>
        </p:nvSpPr>
        <p:spPr>
          <a:xfrm>
            <a:off x="0" y="999744"/>
            <a:ext cx="5547360" cy="414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68090B3-0CBE-EB02-AD9E-6173F78C6F2A}"/>
              </a:ext>
            </a:extLst>
          </p:cNvPr>
          <p:cNvSpPr/>
          <p:nvPr/>
        </p:nvSpPr>
        <p:spPr>
          <a:xfrm>
            <a:off x="121920" y="999744"/>
            <a:ext cx="54254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kern="0" spc="40" dirty="0">
                <a:solidFill>
                  <a:srgbClr val="FFFFFF"/>
                </a:solidFill>
              </a:rPr>
              <a:t>SEGUIMIENTO PLAN SEMANA ANTERIOR</a:t>
            </a:r>
            <a:endParaRPr lang="en-US" sz="1067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D2685E1-96B7-71EC-9E7B-85026B4A8F8A}"/>
              </a:ext>
            </a:extLst>
          </p:cNvPr>
          <p:cNvSpPr/>
          <p:nvPr/>
        </p:nvSpPr>
        <p:spPr>
          <a:xfrm>
            <a:off x="0" y="1463040"/>
            <a:ext cx="5547360" cy="1176528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9E3263F-8FDA-F29E-9987-FB0AFC9A2F6C}"/>
              </a:ext>
            </a:extLst>
          </p:cNvPr>
          <p:cNvSpPr/>
          <p:nvPr/>
        </p:nvSpPr>
        <p:spPr>
          <a:xfrm>
            <a:off x="0" y="1463040"/>
            <a:ext cx="67056" cy="1176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BFCDD34-F68C-AA1F-14CC-31E7E294D12B}"/>
              </a:ext>
            </a:extLst>
          </p:cNvPr>
          <p:cNvSpPr/>
          <p:nvPr/>
        </p:nvSpPr>
        <p:spPr>
          <a:xfrm>
            <a:off x="170688" y="1536192"/>
            <a:ext cx="5279136" cy="6806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67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53E0E26-3E58-FB3D-615E-008F2E5613EE}"/>
              </a:ext>
            </a:extLst>
          </p:cNvPr>
          <p:cNvSpPr/>
          <p:nvPr/>
        </p:nvSpPr>
        <p:spPr>
          <a:xfrm>
            <a:off x="170688" y="2180783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713"/>
                </a:solidFill>
              </a:rPr>
              <a:t>Ejecutado</a:t>
            </a:r>
            <a:endParaRPr lang="en-US" sz="12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5002715-A955-999D-0C4D-5F639183C007}"/>
              </a:ext>
            </a:extLst>
          </p:cNvPr>
          <p:cNvSpPr/>
          <p:nvPr/>
        </p:nvSpPr>
        <p:spPr>
          <a:xfrm>
            <a:off x="0" y="2700528"/>
            <a:ext cx="5547360" cy="1176528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91C15D7D-4D52-0CFF-ED13-977664B7980A}"/>
              </a:ext>
            </a:extLst>
          </p:cNvPr>
          <p:cNvSpPr/>
          <p:nvPr/>
        </p:nvSpPr>
        <p:spPr>
          <a:xfrm>
            <a:off x="0" y="2700528"/>
            <a:ext cx="67056" cy="1176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39B208B-7563-C777-3918-A448A5F8B5E8}"/>
              </a:ext>
            </a:extLst>
          </p:cNvPr>
          <p:cNvSpPr/>
          <p:nvPr/>
        </p:nvSpPr>
        <p:spPr>
          <a:xfrm>
            <a:off x="170688" y="2773680"/>
            <a:ext cx="5279136" cy="6806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67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6B3174E-7E17-45D3-0E60-C73F27F6E33C}"/>
              </a:ext>
            </a:extLst>
          </p:cNvPr>
          <p:cNvSpPr/>
          <p:nvPr/>
        </p:nvSpPr>
        <p:spPr>
          <a:xfrm>
            <a:off x="170688" y="3418271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713"/>
                </a:solidFill>
              </a:rPr>
              <a:t>Ejecutado</a:t>
            </a:r>
            <a:endParaRPr lang="en-US" sz="12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311B2FA-E84C-2B63-0080-7C87B6AC4664}"/>
              </a:ext>
            </a:extLst>
          </p:cNvPr>
          <p:cNvSpPr/>
          <p:nvPr/>
        </p:nvSpPr>
        <p:spPr>
          <a:xfrm>
            <a:off x="0" y="3938016"/>
            <a:ext cx="67056" cy="1176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8E5ECCF-AF55-16F1-7E70-35F2B6BDB2E7}"/>
              </a:ext>
            </a:extLst>
          </p:cNvPr>
          <p:cNvSpPr/>
          <p:nvPr/>
        </p:nvSpPr>
        <p:spPr>
          <a:xfrm>
            <a:off x="0" y="5175504"/>
            <a:ext cx="67056" cy="1176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E8DB68C3-57DA-189B-B1E6-763F21AC8A2D}"/>
              </a:ext>
            </a:extLst>
          </p:cNvPr>
          <p:cNvSpPr/>
          <p:nvPr/>
        </p:nvSpPr>
        <p:spPr>
          <a:xfrm>
            <a:off x="5657088" y="999744"/>
            <a:ext cx="24384" cy="5413248"/>
          </a:xfrm>
          <a:prstGeom prst="rect">
            <a:avLst/>
          </a:prstGeom>
          <a:solidFill>
            <a:srgbClr val="E5DFD8"/>
          </a:solidFill>
          <a:ln w="16933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4B19A855-E79D-3C01-ED8E-850D646D6084}"/>
              </a:ext>
            </a:extLst>
          </p:cNvPr>
          <p:cNvSpPr/>
          <p:nvPr/>
        </p:nvSpPr>
        <p:spPr>
          <a:xfrm>
            <a:off x="5791200" y="999744"/>
            <a:ext cx="6400800" cy="414528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801AFBB4-787D-965B-D0FE-8264F144A533}"/>
              </a:ext>
            </a:extLst>
          </p:cNvPr>
          <p:cNvSpPr/>
          <p:nvPr/>
        </p:nvSpPr>
        <p:spPr>
          <a:xfrm>
            <a:off x="5913120" y="999744"/>
            <a:ext cx="6278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b="1" kern="0" spc="40" dirty="0">
                <a:solidFill>
                  <a:srgbClr val="FFFFFF"/>
                </a:solidFill>
              </a:rPr>
              <a:t>DIAGNOSTICO MES ACTUAL — CAUSAS RAIZ</a:t>
            </a:r>
            <a:endParaRPr lang="en-US" sz="1067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DC67E2BD-DEBA-CE12-4BD8-00E19043CACE}"/>
              </a:ext>
            </a:extLst>
          </p:cNvPr>
          <p:cNvSpPr/>
          <p:nvPr/>
        </p:nvSpPr>
        <p:spPr>
          <a:xfrm>
            <a:off x="5791200" y="1463040"/>
            <a:ext cx="6400800" cy="1564640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EEE82AAA-AC76-F72C-D192-A0961C0C5EDE}"/>
              </a:ext>
            </a:extLst>
          </p:cNvPr>
          <p:cNvSpPr/>
          <p:nvPr/>
        </p:nvSpPr>
        <p:spPr>
          <a:xfrm>
            <a:off x="5791200" y="1463040"/>
            <a:ext cx="670560" cy="1564640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E9EE858-06E5-D9C6-1C99-A34F1BA63075}"/>
              </a:ext>
            </a:extLst>
          </p:cNvPr>
          <p:cNvSpPr/>
          <p:nvPr/>
        </p:nvSpPr>
        <p:spPr>
          <a:xfrm>
            <a:off x="5791200" y="1463040"/>
            <a:ext cx="670560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0788E9B5-FC08-5244-BDDC-306397964C65}"/>
              </a:ext>
            </a:extLst>
          </p:cNvPr>
          <p:cNvSpPr/>
          <p:nvPr/>
        </p:nvSpPr>
        <p:spPr>
          <a:xfrm>
            <a:off x="6583680" y="158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67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A09C33-EFC1-226F-4ED9-5D75D5C1C1F9}"/>
              </a:ext>
            </a:extLst>
          </p:cNvPr>
          <p:cNvSpPr/>
          <p:nvPr/>
        </p:nvSpPr>
        <p:spPr>
          <a:xfrm>
            <a:off x="6583680" y="1926336"/>
            <a:ext cx="5486400" cy="692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8C0DB8E5-12A4-6A6E-29CF-9FFC3F17B2A3}"/>
              </a:ext>
            </a:extLst>
          </p:cNvPr>
          <p:cNvSpPr/>
          <p:nvPr/>
        </p:nvSpPr>
        <p:spPr>
          <a:xfrm>
            <a:off x="6583680" y="2661920"/>
            <a:ext cx="1341120" cy="292608"/>
          </a:xfrm>
          <a:prstGeom prst="rect">
            <a:avLst/>
          </a:prstGeom>
          <a:solidFill>
            <a:srgbClr val="FEE2E2"/>
          </a:solidFill>
          <a:ln w="16933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84440258-D0EC-0C77-18A7-2C947AAFC0A4}"/>
              </a:ext>
            </a:extLst>
          </p:cNvPr>
          <p:cNvSpPr/>
          <p:nvPr/>
        </p:nvSpPr>
        <p:spPr>
          <a:xfrm>
            <a:off x="6583680" y="2661920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3" b="1" dirty="0">
                <a:solidFill>
                  <a:srgbClr val="DC2626"/>
                </a:solidFill>
              </a:rPr>
              <a:t>Impacto Alto</a:t>
            </a:r>
            <a:endParaRPr lang="en-US" sz="1133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DA04810D-2459-4F4F-8E16-66016E09695E}"/>
              </a:ext>
            </a:extLst>
          </p:cNvPr>
          <p:cNvSpPr/>
          <p:nvPr/>
        </p:nvSpPr>
        <p:spPr>
          <a:xfrm>
            <a:off x="5791200" y="3113024"/>
            <a:ext cx="6400800" cy="1564640"/>
          </a:xfrm>
          <a:prstGeom prst="rect">
            <a:avLst/>
          </a:prstGeom>
          <a:solidFill>
            <a:srgbClr val="FFFFFF"/>
          </a:solidFill>
          <a:ln w="8467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BA08F51D-1A45-1D7E-03D6-2DE193A66CBD}"/>
              </a:ext>
            </a:extLst>
          </p:cNvPr>
          <p:cNvSpPr/>
          <p:nvPr/>
        </p:nvSpPr>
        <p:spPr>
          <a:xfrm>
            <a:off x="5791200" y="3113024"/>
            <a:ext cx="670560" cy="1564640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2D6829BC-8972-F1F2-3B01-10D9438877E9}"/>
              </a:ext>
            </a:extLst>
          </p:cNvPr>
          <p:cNvSpPr/>
          <p:nvPr/>
        </p:nvSpPr>
        <p:spPr>
          <a:xfrm>
            <a:off x="5791200" y="3113024"/>
            <a:ext cx="670560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097C9C0B-E3FD-7EB6-9BC7-B596D839BD09}"/>
              </a:ext>
            </a:extLst>
          </p:cNvPr>
          <p:cNvSpPr/>
          <p:nvPr/>
        </p:nvSpPr>
        <p:spPr>
          <a:xfrm>
            <a:off x="6583680" y="323494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67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2E98947F-F647-CDBF-906A-036C97C1F8C9}"/>
              </a:ext>
            </a:extLst>
          </p:cNvPr>
          <p:cNvSpPr/>
          <p:nvPr/>
        </p:nvSpPr>
        <p:spPr>
          <a:xfrm>
            <a:off x="6583680" y="3576320"/>
            <a:ext cx="5486400" cy="692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ECD67FAF-95B7-8D8E-3F5D-01F6AB604E70}"/>
              </a:ext>
            </a:extLst>
          </p:cNvPr>
          <p:cNvSpPr/>
          <p:nvPr/>
        </p:nvSpPr>
        <p:spPr>
          <a:xfrm>
            <a:off x="6583680" y="4311904"/>
            <a:ext cx="1341120" cy="292608"/>
          </a:xfrm>
          <a:prstGeom prst="rect">
            <a:avLst/>
          </a:prstGeom>
          <a:solidFill>
            <a:srgbClr val="FEECEE"/>
          </a:solidFill>
          <a:ln w="16933">
            <a:solidFill>
              <a:srgbClr val="FEEC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183AAAAE-10CA-C78F-DBF3-AA0FAC03EF68}"/>
              </a:ext>
            </a:extLst>
          </p:cNvPr>
          <p:cNvSpPr/>
          <p:nvPr/>
        </p:nvSpPr>
        <p:spPr>
          <a:xfrm>
            <a:off x="6583680" y="4311904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3" b="1" dirty="0">
                <a:solidFill>
                  <a:srgbClr val="E30713"/>
                </a:solidFill>
              </a:rPr>
              <a:t>Impacto Bajo</a:t>
            </a:r>
            <a:endParaRPr lang="en-US" sz="1133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299BFD1B-17EE-97BD-697A-C3DA5C8F499D}"/>
              </a:ext>
            </a:extLst>
          </p:cNvPr>
          <p:cNvSpPr/>
          <p:nvPr/>
        </p:nvSpPr>
        <p:spPr>
          <a:xfrm>
            <a:off x="5791200" y="4763008"/>
            <a:ext cx="670560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035939AE-DBC0-9C10-55E9-EFE99B88B421}"/>
              </a:ext>
            </a:extLst>
          </p:cNvPr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8F6"/>
          </a:solidFill>
          <a:ln w="5080">
            <a:solidFill>
              <a:srgbClr val="E5DF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AF96A76C-120E-61AD-FB91-59708D06F98E}"/>
              </a:ext>
            </a:extLst>
          </p:cNvPr>
          <p:cNvSpPr/>
          <p:nvPr/>
        </p:nvSpPr>
        <p:spPr>
          <a:xfrm>
            <a:off x="0" y="6486144"/>
            <a:ext cx="12192000" cy="21945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58" name="Picture 76">
            <a:extLst>
              <a:ext uri="{FF2B5EF4-FFF2-40B4-BE49-F238E27FC236}">
                <a16:creationId xmlns:a16="http://schemas.microsoft.com/office/drawing/2014/main" id="{A6CDCB05-50D5-3747-E797-42DA053DA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025" y="-141756"/>
            <a:ext cx="1264005" cy="1264005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655D3760-F71B-2EE8-CC7D-03E0CD847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96" b="91034" l="5526" r="89929">
                        <a14:foregroundMark x1="5526" y1="55901" x2="8556" y2="77951"/>
                        <a14:foregroundMark x1="33333" y1="65691" x2="33512" y2="78774"/>
                        <a14:foregroundMark x1="17291" y1="76212" x2="14706" y2="85819"/>
                        <a14:foregroundMark x1="14706" y1="60384" x2="14528" y2="84446"/>
                        <a14:foregroundMark x1="35383" y1="63312" x2="28253" y2="91034"/>
                        <a14:foregroundMark x1="50178" y1="50686" x2="51426" y2="61665"/>
                        <a14:foregroundMark x1="85740" y1="6496" x2="84759" y2="10796"/>
                        <a14:foregroundMark x1="77629" y1="43550" x2="64973" y2="47667"/>
                        <a14:foregroundMark x1="78610" y1="28728" x2="72727" y2="33303"/>
                        <a14:foregroundMark x1="80214" y1="18573" x2="77451" y2="26715"/>
                        <a14:foregroundMark x1="82086" y1="30009" x2="85294" y2="34401"/>
                        <a14:foregroundMark x1="85918" y1="9790" x2="85918" y2="9790"/>
                        <a14:foregroundMark x1="85472" y1="10887" x2="86185" y2="18298"/>
                        <a14:foregroundMark x1="45365" y1="45197" x2="22638" y2="48582"/>
                        <a14:foregroundMark x1="53832" y1="55261" x2="54011" y2="762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08736" y="6537329"/>
            <a:ext cx="315872" cy="30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11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0" cy="6858000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8096" y="2367409"/>
            <a:ext cx="11033760" cy="304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8096" y="1391920"/>
            <a:ext cx="116433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dirty="0">
                <a:solidFill>
                  <a:srgbClr val="FFFFFF"/>
                </a:solidFill>
                <a:latin typeface="Calibri" panose="020F0502020204030204"/>
              </a:rPr>
              <a:t>BBVA TELEMARKETING DIGITAL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2954020"/>
            <a:ext cx="1164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FFFFF"/>
                </a:solidFill>
              </a:rPr>
              <a:t>Norma Lévano  ·  Sub </a:t>
            </a:r>
            <a:r>
              <a:rPr lang="en-US" sz="2000" dirty="0" err="1">
                <a:solidFill>
                  <a:srgbClr val="FFFFFF"/>
                </a:solidFill>
              </a:rPr>
              <a:t>Gerente</a:t>
            </a:r>
            <a:r>
              <a:rPr lang="en-US" sz="2000" dirty="0">
                <a:solidFill>
                  <a:srgbClr val="FFFFFF"/>
                </a:solidFill>
              </a:rPr>
              <a:t> BBVA Digital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600196"/>
            <a:ext cx="1164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FFFFFF"/>
                </a:solidFill>
                <a:latin typeface="Calibri" panose="020F0502020204030204"/>
              </a:rPr>
              <a:t>Agosto 2026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08247B6-0ABD-FF21-E0E7-BE74437F7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320005"/>
            <a:ext cx="4876800" cy="27760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531E523-0285-0125-57E7-1555DB0E2A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>
          <a:xfrm>
            <a:off x="548640" y="5166360"/>
            <a:ext cx="3630623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RESUMEN GENERAL|  TC HIBRIDO · PLD DIGITAL · OPERACIONES DIGITAL · TC SMART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0E3854"/>
          </a:solidFill>
          <a:ln w="12700">
            <a:solidFill>
              <a:srgbClr val="0E3854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1 / 3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6329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43840" cy="2438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7136" y="999744"/>
            <a:ext cx="264566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D97706"/>
                </a:solidFill>
                <a:latin typeface="Calibri" panose="020F0502020204030204"/>
              </a:rPr>
              <a:t>EN SEGUIMIENTO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8224" y="1536192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dirty="0">
                <a:solidFill>
                  <a:srgbClr val="667085"/>
                </a:solidFill>
                <a:latin typeface="Calibri" panose="020F0502020204030204"/>
              </a:rPr>
              <a:t>Sub-Gerente: Norma Levano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68224" y="1950720"/>
            <a:ext cx="3108960" cy="1853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66" b="1" dirty="0">
                <a:solidFill>
                  <a:srgbClr val="D97706"/>
                </a:solidFill>
                <a:latin typeface="Calibri" panose="020F0502020204030204"/>
              </a:rPr>
              <a:t>82%</a:t>
            </a:r>
            <a:endParaRPr lang="en-US" sz="106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68224" y="3877056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667085"/>
                </a:solidFill>
                <a:latin typeface="Calibri" panose="020F0502020204030204"/>
              </a:rPr>
              <a:t>Avance promedio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511297" y="999744"/>
            <a:ext cx="26823" cy="54254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657600" y="999744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84048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CONECTADOS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4048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57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894320" y="999744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07720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DOTACION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07720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71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657600" y="2145792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84048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PEND. SELECCION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84048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894320" y="2145792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07720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PEND. INDUCCION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07720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13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657600" y="3291840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84048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PRESUPUESTO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4048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71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894320" y="3291840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07720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SEMANA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07720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05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0" y="4559809"/>
            <a:ext cx="12192000" cy="375513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43840" y="4559809"/>
            <a:ext cx="414528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Sub-campaña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135427" y="455980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Presupuesto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035040" y="4559809"/>
            <a:ext cx="28041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Avance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8875776" y="4559809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% Logro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0058400" y="4559809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Proyeccion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0" y="4935322"/>
            <a:ext cx="12192000" cy="375513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43840" y="4935322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145078"/>
                </a:solidFill>
                <a:latin typeface="Calibri" panose="020F0502020204030204"/>
              </a:rPr>
              <a:t>TC Hibrido (Tarjetas Digital)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3330949" y="4935322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01828"/>
                </a:solidFill>
                <a:latin typeface="Calibri" panose="020F0502020204030204"/>
              </a:rPr>
              <a:t>25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035040" y="5040466"/>
            <a:ext cx="2560320" cy="157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035040" y="5040466"/>
            <a:ext cx="1945843" cy="1577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8875776" y="4935322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D97706"/>
                </a:solidFill>
                <a:latin typeface="Calibri" panose="020F0502020204030204"/>
              </a:rPr>
              <a:t>76%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10058400" y="4935322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0" y="5310836"/>
            <a:ext cx="12192000" cy="375513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243840" y="5310836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145078"/>
                </a:solidFill>
                <a:latin typeface="Calibri" panose="020F0502020204030204"/>
              </a:rPr>
              <a:t>Operaciones Digital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3330949" y="5310836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01828"/>
                </a:solidFill>
                <a:latin typeface="Calibri" panose="020F0502020204030204"/>
              </a:rPr>
              <a:t>20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6035040" y="5415979"/>
            <a:ext cx="2560320" cy="157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6035040" y="5415979"/>
            <a:ext cx="2048256" cy="1577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875776" y="5310836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D97706"/>
                </a:solidFill>
                <a:latin typeface="Calibri" panose="020F0502020204030204"/>
              </a:rPr>
              <a:t>80%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10058400" y="5310836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0" y="5686350"/>
            <a:ext cx="12192000" cy="375513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243840" y="5686350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145078"/>
                </a:solidFill>
                <a:latin typeface="Calibri" panose="020F0502020204030204"/>
              </a:rPr>
              <a:t>PLD Digital (Prestamos)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3330949" y="5686350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01828"/>
                </a:solidFill>
                <a:latin typeface="Calibri" panose="020F0502020204030204"/>
              </a:rPr>
              <a:t>10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035040" y="5791493"/>
            <a:ext cx="2560320" cy="157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6035040" y="5791493"/>
            <a:ext cx="2560320" cy="1577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8875776" y="5686350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059669"/>
                </a:solidFill>
                <a:latin typeface="Calibri" panose="020F0502020204030204"/>
              </a:rPr>
              <a:t>103%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10058400" y="5686350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0" y="6061864"/>
            <a:ext cx="12192000" cy="375513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243840" y="6061864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145078"/>
                </a:solidFill>
                <a:latin typeface="Calibri" panose="020F0502020204030204"/>
              </a:rPr>
              <a:t>TC SMART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3330949" y="6061864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01828"/>
                </a:solidFill>
                <a:latin typeface="Calibri" panose="020F0502020204030204"/>
              </a:rPr>
              <a:t>16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6035040" y="6167007"/>
            <a:ext cx="2560320" cy="157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6035040" y="6167007"/>
            <a:ext cx="2073859" cy="1577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8875776" y="6061864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D97706"/>
                </a:solidFill>
                <a:latin typeface="Calibri" panose="020F0502020204030204"/>
              </a:rPr>
              <a:t>81%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10058400" y="6061864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268224" y="6486144"/>
            <a:ext cx="11582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00" i="1" dirty="0">
                <a:solidFill>
                  <a:srgbClr val="667085"/>
                </a:solidFill>
                <a:latin typeface="Calibri" panose="020F0502020204030204"/>
              </a:rPr>
              <a:t>TU META ES NUESTRA META  ·  BBVA DIGITAL  |  NORMA LEVANO  |  Norma Levano  |  Agosto 2026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39">
            <a:extLst>
              <a:ext uri="{FF2B5EF4-FFF2-40B4-BE49-F238E27FC236}">
                <a16:creationId xmlns:a16="http://schemas.microsoft.com/office/drawing/2014/main" id="{EDB46277-5DFE-41CA-1D0F-8607DDACB47C}"/>
              </a:ext>
            </a:extLst>
          </p:cNvPr>
          <p:cNvSpPr/>
          <p:nvPr/>
        </p:nvSpPr>
        <p:spPr>
          <a:xfrm>
            <a:off x="6747399" y="4947516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16D5521A-7387-FF67-F06A-F8B3DB17D9C2}"/>
              </a:ext>
            </a:extLst>
          </p:cNvPr>
          <p:cNvSpPr/>
          <p:nvPr/>
        </p:nvSpPr>
        <p:spPr>
          <a:xfrm>
            <a:off x="6845717" y="5318365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5E6D863A-D9F8-DABA-51E9-6A141B079082}"/>
              </a:ext>
            </a:extLst>
          </p:cNvPr>
          <p:cNvSpPr/>
          <p:nvPr/>
        </p:nvSpPr>
        <p:spPr>
          <a:xfrm>
            <a:off x="6966291" y="5682593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734381A0-16F3-499C-91FB-57637AE08174}"/>
              </a:ext>
            </a:extLst>
          </p:cNvPr>
          <p:cNvSpPr/>
          <p:nvPr/>
        </p:nvSpPr>
        <p:spPr>
          <a:xfrm>
            <a:off x="6779553" y="6061864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33">
            <a:extLst>
              <a:ext uri="{FF2B5EF4-FFF2-40B4-BE49-F238E27FC236}">
                <a16:creationId xmlns:a16="http://schemas.microsoft.com/office/drawing/2014/main" id="{EE6159A9-E90D-225C-BE9F-3193D446CBFD}"/>
              </a:ext>
            </a:extLst>
          </p:cNvPr>
          <p:cNvSpPr/>
          <p:nvPr/>
        </p:nvSpPr>
        <p:spPr>
          <a:xfrm>
            <a:off x="4437740" y="4532933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 err="1">
                <a:solidFill>
                  <a:srgbClr val="FFFFFF"/>
                </a:solidFill>
                <a:latin typeface="Calibri" panose="020F0502020204030204"/>
              </a:rPr>
              <a:t>Conectados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65069EF4-EF82-2351-6446-1AD3FC907DB8}"/>
              </a:ext>
            </a:extLst>
          </p:cNvPr>
          <p:cNvSpPr/>
          <p:nvPr/>
        </p:nvSpPr>
        <p:spPr>
          <a:xfrm>
            <a:off x="4707708" y="487196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40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ED12223E-687F-9E78-F20F-888642B45EC3}"/>
              </a:ext>
            </a:extLst>
          </p:cNvPr>
          <p:cNvSpPr/>
          <p:nvPr/>
        </p:nvSpPr>
        <p:spPr>
          <a:xfrm>
            <a:off x="4725973" y="531060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20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744C982A-CC8C-5C69-CED9-0D2A261DFB08}"/>
              </a:ext>
            </a:extLst>
          </p:cNvPr>
          <p:cNvSpPr/>
          <p:nvPr/>
        </p:nvSpPr>
        <p:spPr>
          <a:xfrm>
            <a:off x="4748473" y="5684740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28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Text 39">
            <a:extLst>
              <a:ext uri="{FF2B5EF4-FFF2-40B4-BE49-F238E27FC236}">
                <a16:creationId xmlns:a16="http://schemas.microsoft.com/office/drawing/2014/main" id="{B5DFDEA4-93A8-540B-CE5F-627403DF028F}"/>
              </a:ext>
            </a:extLst>
          </p:cNvPr>
          <p:cNvSpPr/>
          <p:nvPr/>
        </p:nvSpPr>
        <p:spPr>
          <a:xfrm>
            <a:off x="4780816" y="6060253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4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9" name="Picture 8">
            <a:extLst>
              <a:ext uri="{FF2B5EF4-FFF2-40B4-BE49-F238E27FC236}">
                <a16:creationId xmlns:a16="http://schemas.microsoft.com/office/drawing/2014/main" id="{DB335D8E-DAD0-8DAF-3C94-76A1564C5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5664" y="-20309"/>
            <a:ext cx="1731264" cy="985509"/>
          </a:xfrm>
          <a:prstGeom prst="rect">
            <a:avLst/>
          </a:prstGeom>
        </p:spPr>
      </p:pic>
      <p:pic>
        <p:nvPicPr>
          <p:cNvPr id="90" name="Panel Resum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8784"/>
            <a:ext cx="12192000" cy="5529072"/>
          </a:xfrm>
          <a:prstGeom prst="rect">
            <a:avLst/>
          </a:prstGeom>
        </p:spPr>
      </p:pic>
      <p:sp>
        <p:nvSpPr>
          <p:cNvPr id="91" name="dato_manual"/>
          <p:cNvSpPr>
            <a:spLocks noGrp="1"/>
          </p:cNvSpPr>
          <p:nvPr/>
        </p:nvSpPr>
        <p:spPr>
          <a:xfrm>
            <a:off x="3657600" y="1896976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defTabSz="1219170"/>
            <a:r>
              <a:rPr lang="es-PE" sz="2200" b="1" dirty="0">
                <a:solidFill>
                  <a:srgbClr val="103A5E"/>
                </a:solidFill>
                <a:latin typeface="Arial"/>
              </a:rPr>
              <a:t>57</a:t>
            </a:r>
          </a:p>
        </p:txBody>
      </p:sp>
      <p:sp>
        <p:nvSpPr>
          <p:cNvPr id="92" name="dato_manual"/>
          <p:cNvSpPr>
            <a:spLocks noGrp="1"/>
          </p:cNvSpPr>
          <p:nvPr/>
        </p:nvSpPr>
        <p:spPr>
          <a:xfrm>
            <a:off x="5812535" y="1896976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defTabSz="1219170"/>
            <a:r>
              <a:rPr lang="es-PE" sz="2200" b="1" dirty="0">
                <a:solidFill>
                  <a:srgbClr val="103A5E"/>
                </a:solidFill>
                <a:latin typeface="Arial"/>
              </a:rPr>
              <a:t>14</a:t>
            </a:r>
          </a:p>
        </p:txBody>
      </p:sp>
      <p:sp>
        <p:nvSpPr>
          <p:cNvPr id="93" name="dato_manual"/>
          <p:cNvSpPr>
            <a:spLocks noGrp="1"/>
          </p:cNvSpPr>
          <p:nvPr/>
        </p:nvSpPr>
        <p:spPr>
          <a:xfrm>
            <a:off x="3374745" y="414626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94" name="dato_manual"/>
          <p:cNvSpPr>
            <a:spLocks noGrp="1"/>
          </p:cNvSpPr>
          <p:nvPr/>
        </p:nvSpPr>
        <p:spPr>
          <a:xfrm>
            <a:off x="4779264" y="414626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95" name="dato_manual"/>
          <p:cNvSpPr>
            <a:spLocks noGrp="1"/>
          </p:cNvSpPr>
          <p:nvPr/>
        </p:nvSpPr>
        <p:spPr>
          <a:xfrm>
            <a:off x="3374745" y="4607984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20</a:t>
            </a:r>
          </a:p>
        </p:txBody>
      </p:sp>
      <p:sp>
        <p:nvSpPr>
          <p:cNvPr id="96" name="dato_manual"/>
          <p:cNvSpPr>
            <a:spLocks noGrp="1"/>
          </p:cNvSpPr>
          <p:nvPr/>
        </p:nvSpPr>
        <p:spPr>
          <a:xfrm>
            <a:off x="4779264" y="4607984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20</a:t>
            </a:r>
          </a:p>
        </p:txBody>
      </p:sp>
      <p:sp>
        <p:nvSpPr>
          <p:cNvPr id="97" name="dato_manual"/>
          <p:cNvSpPr>
            <a:spLocks noGrp="1"/>
          </p:cNvSpPr>
          <p:nvPr/>
        </p:nvSpPr>
        <p:spPr>
          <a:xfrm>
            <a:off x="3374745" y="5069707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98" name="dato_manual"/>
          <p:cNvSpPr>
            <a:spLocks noGrp="1"/>
          </p:cNvSpPr>
          <p:nvPr/>
        </p:nvSpPr>
        <p:spPr>
          <a:xfrm>
            <a:off x="4779264" y="5069707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99" name="dato_manual"/>
          <p:cNvSpPr>
            <a:spLocks noGrp="1"/>
          </p:cNvSpPr>
          <p:nvPr/>
        </p:nvSpPr>
        <p:spPr>
          <a:xfrm>
            <a:off x="3374745" y="553143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16</a:t>
            </a:r>
          </a:p>
        </p:txBody>
      </p:sp>
      <p:sp>
        <p:nvSpPr>
          <p:cNvPr id="100" name="dato_manual"/>
          <p:cNvSpPr>
            <a:spLocks noGrp="1"/>
          </p:cNvSpPr>
          <p:nvPr/>
        </p:nvSpPr>
        <p:spPr>
          <a:xfrm>
            <a:off x="4779264" y="553143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4</a:t>
            </a:r>
          </a:p>
        </p:txBody>
      </p:sp>
      <p:sp>
        <p:nvSpPr>
          <p:cNvPr id="101" name="dato_manual"/>
          <p:cNvSpPr>
            <a:spLocks noGrp="1"/>
          </p:cNvSpPr>
          <p:nvPr/>
        </p:nvSpPr>
        <p:spPr>
          <a:xfrm>
            <a:off x="3374745" y="5993153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123A5E"/>
                </a:solidFill>
                <a:latin typeface="Arial"/>
              </a:rPr>
              <a:t>36</a:t>
            </a:r>
          </a:p>
        </p:txBody>
      </p:sp>
      <p:sp>
        <p:nvSpPr>
          <p:cNvPr id="102" name="dato_manual"/>
          <p:cNvSpPr>
            <a:spLocks noGrp="1"/>
          </p:cNvSpPr>
          <p:nvPr/>
        </p:nvSpPr>
        <p:spPr>
          <a:xfrm>
            <a:off x="4779264" y="5993153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123A5E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PLD DIGITAL: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3 / 4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38912"/>
          </a:xfrm>
          <a:prstGeom prst="rect">
            <a:avLst/>
          </a:prstGeom>
          <a:solidFill>
            <a:srgbClr val="EAF0D2"/>
          </a:solidFill>
          <a:ln w="12700">
            <a:solidFill>
              <a:srgbClr val="EAF0D2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19456" cy="219456"/>
          </a:xfrm>
          <a:prstGeom prst="ellipse">
            <a:avLst/>
          </a:prstGeom>
          <a:solidFill>
            <a:srgbClr val="8CA61E"/>
          </a:solidFill>
          <a:ln w="12700">
            <a:solidFill>
              <a:srgbClr val="8CA61E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2752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8CA61E"/>
                </a:solidFill>
                <a:latin typeface="Calibri" panose="020F0502020204030204"/>
              </a:rPr>
              <a:t>META: 400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7161" y="2847744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9600" b="1" dirty="0">
                <a:solidFill>
                  <a:srgbClr val="8CA61E"/>
                </a:solidFill>
                <a:latin typeface="Calibri" panose="020F0502020204030204"/>
              </a:rPr>
              <a:t>188%</a:t>
            </a:r>
            <a:endParaRPr lang="en-US" sz="9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26">
            <a:extLst>
              <a:ext uri="{FF2B5EF4-FFF2-40B4-BE49-F238E27FC236}">
                <a16:creationId xmlns:a16="http://schemas.microsoft.com/office/drawing/2014/main" id="{F3EBCCF7-7214-2130-1FA9-E31457629BA3}"/>
              </a:ext>
            </a:extLst>
          </p:cNvPr>
          <p:cNvSpPr/>
          <p:nvPr/>
        </p:nvSpPr>
        <p:spPr>
          <a:xfrm>
            <a:off x="579875" y="278499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400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0737E61C-88FB-907B-E8F9-897CF8B11E72}"/>
              </a:ext>
            </a:extLst>
          </p:cNvPr>
          <p:cNvSpPr/>
          <p:nvPr/>
        </p:nvSpPr>
        <p:spPr>
          <a:xfrm>
            <a:off x="-59880" y="4303179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229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BFD4EF03-1C60-CA28-7777-90A8034C19F4}"/>
              </a:ext>
            </a:extLst>
          </p:cNvPr>
          <p:cNvSpPr/>
          <p:nvPr/>
        </p:nvSpPr>
        <p:spPr>
          <a:xfrm>
            <a:off x="1538421" y="4298592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122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76" name="Imagen 75">
            <a:extLst>
              <a:ext uri="{FF2B5EF4-FFF2-40B4-BE49-F238E27FC236}">
                <a16:creationId xmlns:a16="http://schemas.microsoft.com/office/drawing/2014/main" id="{9C1213A0-702B-B32F-1472-0CDB816CE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944" y="1755648"/>
            <a:ext cx="8026103" cy="2996929"/>
          </a:xfrm>
          <a:prstGeom prst="rect">
            <a:avLst/>
          </a:prstGeom>
        </p:spPr>
      </p:pic>
      <p:pic>
        <p:nvPicPr>
          <p:cNvPr id="28" name="Picture 8">
            <a:extLst>
              <a:ext uri="{FF2B5EF4-FFF2-40B4-BE49-F238E27FC236}">
                <a16:creationId xmlns:a16="http://schemas.microsoft.com/office/drawing/2014/main" id="{986FBAAE-887A-E83F-7775-2CFA29354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80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TC SMART: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0401" y="15446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i="1" dirty="0">
                <a:solidFill>
                  <a:srgbClr val="667085"/>
                </a:solidFill>
                <a:latin typeface="Calibri" panose="020F0502020204030204"/>
              </a:rPr>
              <a:t>Sub-</a:t>
            </a:r>
            <a:r>
              <a:rPr lang="en-US" sz="1067" i="1" dirty="0" err="1">
                <a:solidFill>
                  <a:srgbClr val="667085"/>
                </a:solidFill>
                <a:latin typeface="Calibri" panose="020F0502020204030204"/>
              </a:rPr>
              <a:t>Gerente</a:t>
            </a:r>
            <a:r>
              <a:rPr lang="en-US" sz="1067" i="1" dirty="0">
                <a:solidFill>
                  <a:srgbClr val="667085"/>
                </a:solidFill>
                <a:latin typeface="Calibri" panose="020F0502020204030204"/>
              </a:rPr>
              <a:t> </a:t>
            </a:r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: Norma Levano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60991" y="2693675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9600" b="1" dirty="0">
                <a:solidFill>
                  <a:srgbClr val="C0392B"/>
                </a:solidFill>
                <a:latin typeface="Calibri" panose="020F0502020204030204"/>
              </a:rPr>
              <a:t>65.1%</a:t>
            </a:r>
            <a:endParaRPr lang="en-US" sz="9600" dirty="0">
              <a:solidFill>
                <a:srgbClr val="19A075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998976" y="6193536"/>
            <a:ext cx="7815072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26">
            <a:extLst>
              <a:ext uri="{FF2B5EF4-FFF2-40B4-BE49-F238E27FC236}">
                <a16:creationId xmlns:a16="http://schemas.microsoft.com/office/drawing/2014/main" id="{6E3927B6-2417-2C78-5D87-B31C9ED86135}"/>
              </a:ext>
            </a:extLst>
          </p:cNvPr>
          <p:cNvSpPr/>
          <p:nvPr/>
        </p:nvSpPr>
        <p:spPr>
          <a:xfrm>
            <a:off x="544895" y="2712296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650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CC5CD9B7-B5CD-51E4-B10B-5216F9AEA9F1}"/>
              </a:ext>
            </a:extLst>
          </p:cNvPr>
          <p:cNvSpPr/>
          <p:nvPr/>
        </p:nvSpPr>
        <p:spPr>
          <a:xfrm>
            <a:off x="-94860" y="4230481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123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53C7C78C-13B4-3463-B3C3-3D0578367B1B}"/>
              </a:ext>
            </a:extLst>
          </p:cNvPr>
          <p:cNvSpPr/>
          <p:nvPr/>
        </p:nvSpPr>
        <p:spPr>
          <a:xfrm>
            <a:off x="1503441" y="422589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189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E59611B-4DBF-56EB-CA01-09719364A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139" y="2434432"/>
            <a:ext cx="8339861" cy="2764421"/>
          </a:xfrm>
          <a:prstGeom prst="rect">
            <a:avLst/>
          </a:prstGeom>
        </p:spPr>
      </p:pic>
      <p:sp>
        <p:nvSpPr>
          <p:cNvPr id="31" name="Shape 6">
            <a:extLst>
              <a:ext uri="{FF2B5EF4-FFF2-40B4-BE49-F238E27FC236}">
                <a16:creationId xmlns:a16="http://schemas.microsoft.com/office/drawing/2014/main" id="{51A25C9F-58FE-AA95-32C6-0839F97D73A4}"/>
              </a:ext>
            </a:extLst>
          </p:cNvPr>
          <p:cNvSpPr/>
          <p:nvPr/>
        </p:nvSpPr>
        <p:spPr>
          <a:xfrm>
            <a:off x="260401" y="1036011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3D5D5F47-C893-B137-447B-D16F78E33F7B}"/>
              </a:ext>
            </a:extLst>
          </p:cNvPr>
          <p:cNvSpPr/>
          <p:nvPr/>
        </p:nvSpPr>
        <p:spPr>
          <a:xfrm>
            <a:off x="382321" y="1133547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D607C4E0-CFB8-3DB1-6E3A-D9661C2D97A8}"/>
              </a:ext>
            </a:extLst>
          </p:cNvPr>
          <p:cNvSpPr/>
          <p:nvPr/>
        </p:nvSpPr>
        <p:spPr>
          <a:xfrm>
            <a:off x="674929" y="1036011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META: 650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67708AED-FBF2-EF2D-185D-801DB0DE0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80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TC HIBRIDO — TARJETAS DIGITAL: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1 / 4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64611" y="2732749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9600" b="1" dirty="0">
                <a:solidFill>
                  <a:srgbClr val="C0392B"/>
                </a:solidFill>
                <a:latin typeface="Calibri" panose="020F0502020204030204"/>
              </a:rPr>
              <a:t>52.2%</a:t>
            </a:r>
            <a:endParaRPr lang="en-US" sz="9600" dirty="0">
              <a:solidFill>
                <a:srgbClr val="19A075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755902" y="1048512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Shape 74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Text 26">
            <a:extLst>
              <a:ext uri="{FF2B5EF4-FFF2-40B4-BE49-F238E27FC236}">
                <a16:creationId xmlns:a16="http://schemas.microsoft.com/office/drawing/2014/main" id="{CE342462-AEF5-27AF-9D0A-8C61BD68C57E}"/>
              </a:ext>
            </a:extLst>
          </p:cNvPr>
          <p:cNvSpPr/>
          <p:nvPr/>
        </p:nvSpPr>
        <p:spPr>
          <a:xfrm>
            <a:off x="564611" y="2727001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2.80K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B6116E27-65FF-2E4A-FCED-FB340C6A370A}"/>
              </a:ext>
            </a:extLst>
          </p:cNvPr>
          <p:cNvSpPr/>
          <p:nvPr/>
        </p:nvSpPr>
        <p:spPr>
          <a:xfrm>
            <a:off x="-75144" y="4245187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374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C26A8E09-D220-F7F0-8529-A345739179C5}"/>
              </a:ext>
            </a:extLst>
          </p:cNvPr>
          <p:cNvSpPr/>
          <p:nvPr/>
        </p:nvSpPr>
        <p:spPr>
          <a:xfrm>
            <a:off x="1523157" y="4240600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716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28" name="BARRAS_AVANCE_TARJETAS_DIGITAL" descr="image.png">
            <a:extLst>
              <a:ext uri="{FF2B5EF4-FFF2-40B4-BE49-F238E27FC236}">
                <a16:creationId xmlns:a16="http://schemas.microsoft.com/office/drawing/2014/main" id="{D06EBFBE-36CC-A076-403C-6D4F5F6E9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92" y="1843024"/>
            <a:ext cx="7126307" cy="2880528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FB3879E5-13D0-7CAE-00D7-94114AFA0339}"/>
              </a:ext>
            </a:extLst>
          </p:cNvPr>
          <p:cNvSpPr/>
          <p:nvPr/>
        </p:nvSpPr>
        <p:spPr>
          <a:xfrm>
            <a:off x="121920" y="1012284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10B6BD4F-7FA6-3688-AC63-DF3B989E6203}"/>
              </a:ext>
            </a:extLst>
          </p:cNvPr>
          <p:cNvSpPr/>
          <p:nvPr/>
        </p:nvSpPr>
        <p:spPr>
          <a:xfrm>
            <a:off x="243840" y="1109820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FA1FF34D-0E5E-428F-A548-E95DA37926D9}"/>
              </a:ext>
            </a:extLst>
          </p:cNvPr>
          <p:cNvSpPr/>
          <p:nvPr/>
        </p:nvSpPr>
        <p:spPr>
          <a:xfrm>
            <a:off x="536448" y="101228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META: 2800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FC6A1E59-F2DC-0ABF-AC77-32F124B8B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5664" y="-20309"/>
            <a:ext cx="1731264" cy="985509"/>
          </a:xfrm>
          <a:prstGeom prst="rect">
            <a:avLst/>
          </a:prstGeom>
        </p:spPr>
      </p:pic>
      <p:pic>
        <p:nvPicPr>
          <p:cNvPr id="85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OPERACIONES DIGITALES: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70967" y="2761307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9600" b="1" dirty="0">
                <a:solidFill>
                  <a:srgbClr val="C0392B"/>
                </a:solidFill>
                <a:latin typeface="Calibri" panose="020F0502020204030204"/>
              </a:rPr>
              <a:t>56.7%</a:t>
            </a:r>
            <a:endParaRPr lang="en-US" sz="9600" dirty="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Shape 74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Text 26">
            <a:extLst>
              <a:ext uri="{FF2B5EF4-FFF2-40B4-BE49-F238E27FC236}">
                <a16:creationId xmlns:a16="http://schemas.microsoft.com/office/drawing/2014/main" id="{5D4F52AB-42F3-60EA-D4DD-893480880F78}"/>
              </a:ext>
            </a:extLst>
          </p:cNvPr>
          <p:cNvSpPr/>
          <p:nvPr/>
        </p:nvSpPr>
        <p:spPr>
          <a:xfrm>
            <a:off x="627357" y="271383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3.00K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E2101963-994E-1919-D127-79AF54582F0F}"/>
              </a:ext>
            </a:extLst>
          </p:cNvPr>
          <p:cNvSpPr/>
          <p:nvPr/>
        </p:nvSpPr>
        <p:spPr>
          <a:xfrm>
            <a:off x="-12398" y="4232019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346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E0134AAA-27D6-DE6B-A951-F2716CDCB379}"/>
              </a:ext>
            </a:extLst>
          </p:cNvPr>
          <p:cNvSpPr/>
          <p:nvPr/>
        </p:nvSpPr>
        <p:spPr>
          <a:xfrm>
            <a:off x="1585904" y="4227432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610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81" name="BARRAS_AVANCE_OPERACIONES_DIGITAL" descr="image.png">
            <a:extLst>
              <a:ext uri="{FF2B5EF4-FFF2-40B4-BE49-F238E27FC236}">
                <a16:creationId xmlns:a16="http://schemas.microsoft.com/office/drawing/2014/main" id="{D45A250F-2AD2-C233-A518-D90AFE28A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709" y="2068528"/>
            <a:ext cx="7256388" cy="3594585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B26CD5DB-3AD5-DB03-D98B-2AC2E5B65F16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A1648BD7-9CB8-3964-45BA-22E0C0F32935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E0D2FC64-771F-2BBE-BE27-D89178315431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META: 3.000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1A0F12F0-DE73-A8A8-A8CE-76D057805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85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BBVA TLM DIGITAL  |  DIAGNÓSTICO Y SEGUIMIENTO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0E3854"/>
          </a:solidFill>
          <a:ln w="12700">
            <a:solidFill>
              <a:srgbClr val="0E3854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2 / 3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999744"/>
            <a:ext cx="5547360" cy="41452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920" y="999744"/>
            <a:ext cx="54254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kern="0" spc="40" dirty="0">
                <a:solidFill>
                  <a:srgbClr val="FFFFFF"/>
                </a:solidFill>
                <a:latin typeface="Calibri" panose="020F0502020204030204"/>
              </a:rPr>
              <a:t>SEGUIMIENTO PLAN SEMANA ANTERIOR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0" y="1463040"/>
            <a:ext cx="67056" cy="1589024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70688" y="1536192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70688" y="2420031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AFCB07"/>
                </a:solidFill>
                <a:latin typeface="Calibri" panose="020F0502020204030204"/>
              </a:rPr>
              <a:t>Ejecutado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0" y="3113024"/>
            <a:ext cx="67056" cy="1589024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70688" y="3186176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70688" y="4070015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AFCB07"/>
                </a:solidFill>
                <a:latin typeface="Calibri" panose="020F0502020204030204"/>
              </a:rPr>
              <a:t>En proceso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0" y="4763008"/>
            <a:ext cx="5547360" cy="158902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0" y="4763008"/>
            <a:ext cx="67056" cy="1589024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70688" y="4836160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70688" y="5719999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AFCB07"/>
                </a:solidFill>
                <a:latin typeface="Calibri" panose="020F0502020204030204"/>
              </a:rPr>
              <a:t>En proceso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657088" y="999744"/>
            <a:ext cx="24384" cy="54132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791200" y="999744"/>
            <a:ext cx="6400800" cy="41452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913120" y="999744"/>
            <a:ext cx="6278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kern="0" spc="40" dirty="0">
                <a:solidFill>
                  <a:srgbClr val="FFFFFF"/>
                </a:solidFill>
                <a:latin typeface="Calibri" panose="020F0502020204030204"/>
              </a:rPr>
              <a:t>DIAGNOSTICO — CAUSAS RAIZ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133" b="1" dirty="0">
                <a:solidFill>
                  <a:srgbClr val="DC2626"/>
                </a:solidFill>
                <a:latin typeface="Calibri" panose="020F0502020204030204"/>
              </a:rPr>
              <a:t>Impacto Alto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268224" y="6486144"/>
            <a:ext cx="11582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00" i="1" dirty="0">
                <a:solidFill>
                  <a:srgbClr val="667085"/>
                </a:solidFill>
                <a:latin typeface="Calibri" panose="020F0502020204030204"/>
              </a:rPr>
              <a:t>TU META ES NUESTRA META  ·  BBVA TLM DIGITAL  |  DIAGNOSTICO  |  Norma Lévano|  Agosto 2026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5" name="Picture 8">
            <a:extLst>
              <a:ext uri="{FF2B5EF4-FFF2-40B4-BE49-F238E27FC236}">
                <a16:creationId xmlns:a16="http://schemas.microsoft.com/office/drawing/2014/main" id="{AF98D781-2B6A-88FB-F3D2-7A8EB5594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2512" y="-15361"/>
            <a:ext cx="1731264" cy="98550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0" cy="6858000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2865120"/>
            <a:ext cx="11033760" cy="304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8096" y="1391920"/>
            <a:ext cx="116433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dirty="0">
                <a:solidFill>
                  <a:srgbClr val="FFFFFF"/>
                </a:solidFill>
                <a:latin typeface="Calibri" panose="020F0502020204030204"/>
              </a:rPr>
              <a:t>BBVA TELEMARKETING OUT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2954020"/>
            <a:ext cx="1164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dirty="0">
                <a:solidFill>
                  <a:srgbClr val="FFFFFF"/>
                </a:solidFill>
                <a:latin typeface="Calibri" panose="020F0502020204030204"/>
              </a:rPr>
              <a:t>Ronny Aleman  ·  Subgerente BBVA TLM OUT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3600196"/>
            <a:ext cx="1164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FFFFFF"/>
                </a:solidFill>
                <a:latin typeface="Calibri" panose="020F0502020204030204"/>
              </a:rPr>
              <a:t>Agosto 2026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08247B6-0ABD-FF21-E0E7-BE74437F7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320005"/>
            <a:ext cx="4876800" cy="27760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531E523-0285-0125-57E7-1555DB0E2A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>
          <a:xfrm>
            <a:off x="548640" y="5166360"/>
            <a:ext cx="3630623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RESUMEN GENERAL|  TC TLM · PLD OUT · OPERACIONES OUT · PORTAFOLIO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0E3854"/>
          </a:solidFill>
          <a:ln w="12700">
            <a:solidFill>
              <a:srgbClr val="0E3854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1 / 3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8224" y="1536192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dirty="0">
                <a:solidFill>
                  <a:srgbClr val="667085"/>
                </a:solidFill>
                <a:latin typeface="Calibri" panose="020F0502020204030204"/>
              </a:rPr>
              <a:t>Sub-Gerente: Ronny Aleman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3984" y="1687721"/>
            <a:ext cx="4120896" cy="1853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000" b="1" dirty="0">
                <a:solidFill>
                  <a:srgbClr val="19A075"/>
                </a:solidFill>
                <a:latin typeface="Calibri" panose="020F0502020204030204"/>
              </a:rPr>
              <a:t>90%</a:t>
            </a:r>
            <a:endParaRPr lang="en-US" sz="8000" dirty="0">
              <a:solidFill>
                <a:srgbClr val="19A075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-87452" y="3597148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667085"/>
                </a:solidFill>
                <a:latin typeface="Calibri" panose="020F0502020204030204"/>
              </a:rPr>
              <a:t>Avance promedio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511297" y="999745"/>
            <a:ext cx="60959" cy="5030825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657600" y="999744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84048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CONECTADOS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4048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70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894320" y="999744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07720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DOTACION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07720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50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657600" y="2145792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84048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PEND. SELECCION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84048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894320" y="2145792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07720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PEND. INDUCCION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07720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16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657600" y="3291840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84048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PRESUPUESTO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4048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100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894320" y="3291840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07720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SEMANA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07720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05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0" y="4559808"/>
            <a:ext cx="12192000" cy="31292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43840" y="4559808"/>
            <a:ext cx="414528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Sub-campaña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415817" y="4559077"/>
            <a:ext cx="158496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Presupuesto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035040" y="4559808"/>
            <a:ext cx="280416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Avance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8875776" y="4559808"/>
            <a:ext cx="11582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% Logro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0058400" y="4559808"/>
            <a:ext cx="195072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Proyeccion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0" y="4872736"/>
            <a:ext cx="12192000" cy="312928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43840" y="4872736"/>
            <a:ext cx="39014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145078"/>
                </a:solidFill>
                <a:latin typeface="Calibri" panose="020F0502020204030204"/>
              </a:rPr>
              <a:t>TC Telemarketing OUT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3594583" y="4872736"/>
            <a:ext cx="158496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01828"/>
                </a:solidFill>
                <a:latin typeface="Calibri" panose="020F0502020204030204"/>
              </a:rPr>
              <a:t>50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035040" y="4960356"/>
            <a:ext cx="2560320" cy="13142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035040" y="4960356"/>
            <a:ext cx="2304288" cy="131429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8875776" y="4872736"/>
            <a:ext cx="11582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059669"/>
                </a:solidFill>
                <a:latin typeface="Calibri" panose="020F0502020204030204"/>
              </a:rPr>
              <a:t>90%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10058400" y="4872736"/>
            <a:ext cx="195072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0" y="5185664"/>
            <a:ext cx="12192000" cy="312928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243840" y="5185664"/>
            <a:ext cx="39014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145078"/>
                </a:solidFill>
                <a:latin typeface="Calibri" panose="020F0502020204030204"/>
              </a:rPr>
              <a:t>PLD OUT (Prestamos)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3594583" y="5185664"/>
            <a:ext cx="158496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01828"/>
                </a:solidFill>
                <a:latin typeface="Calibri" panose="020F0502020204030204"/>
              </a:rPr>
              <a:t>16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6035040" y="5273284"/>
            <a:ext cx="2560320" cy="13142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6035041" y="5273284"/>
            <a:ext cx="1869033" cy="13142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875776" y="5185664"/>
            <a:ext cx="11582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DC2626"/>
                </a:solidFill>
                <a:latin typeface="Calibri" panose="020F0502020204030204"/>
              </a:rPr>
              <a:t>73%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10058400" y="5185664"/>
            <a:ext cx="195072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0" y="5498592"/>
            <a:ext cx="12192000" cy="312928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243840" y="5498592"/>
            <a:ext cx="39014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145078"/>
                </a:solidFill>
                <a:latin typeface="Calibri" panose="020F0502020204030204"/>
              </a:rPr>
              <a:t>Operaciones OUT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3594583" y="5498592"/>
            <a:ext cx="158496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01828"/>
                </a:solidFill>
                <a:latin typeface="Calibri" panose="020F0502020204030204"/>
              </a:rPr>
              <a:t>14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035040" y="5586212"/>
            <a:ext cx="2560320" cy="13142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6035040" y="5586212"/>
            <a:ext cx="2329891" cy="131429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8875776" y="5498592"/>
            <a:ext cx="11582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059669"/>
                </a:solidFill>
                <a:latin typeface="Calibri" panose="020F0502020204030204"/>
              </a:rPr>
              <a:t>91%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10058400" y="5498592"/>
            <a:ext cx="195072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0" y="5811520"/>
            <a:ext cx="12192000" cy="312928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243840" y="5811520"/>
            <a:ext cx="39014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 err="1">
                <a:solidFill>
                  <a:srgbClr val="145078"/>
                </a:solidFill>
                <a:latin typeface="Calibri" panose="020F0502020204030204"/>
              </a:rPr>
              <a:t>Portafolio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3594583" y="5811520"/>
            <a:ext cx="158496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01828"/>
                </a:solidFill>
                <a:latin typeface="Calibri" panose="020F0502020204030204"/>
              </a:rPr>
              <a:t>18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6035040" y="5899140"/>
            <a:ext cx="2560320" cy="13142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6035040" y="5899140"/>
            <a:ext cx="2304288" cy="131429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8875776" y="5811520"/>
            <a:ext cx="11582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059669"/>
                </a:solidFill>
                <a:latin typeface="Calibri" panose="020F0502020204030204"/>
              </a:rPr>
              <a:t>90%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10058400" y="5811520"/>
            <a:ext cx="195072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268224" y="6486144"/>
            <a:ext cx="11582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00" i="1" dirty="0">
                <a:solidFill>
                  <a:srgbClr val="667085"/>
                </a:solidFill>
                <a:latin typeface="Calibri" panose="020F0502020204030204"/>
              </a:rPr>
              <a:t>TU META ES NUESTRA META  ·  BBVA TLM OUT  |  RONNY ALEMAN  |  Ronny Aleman  |  Agosto 2026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Shape 6">
            <a:extLst>
              <a:ext uri="{FF2B5EF4-FFF2-40B4-BE49-F238E27FC236}">
                <a16:creationId xmlns:a16="http://schemas.microsoft.com/office/drawing/2014/main" id="{1E55FB29-2C7A-3DF5-E1C1-495612494CC7}"/>
              </a:ext>
            </a:extLst>
          </p:cNvPr>
          <p:cNvSpPr/>
          <p:nvPr/>
        </p:nvSpPr>
        <p:spPr>
          <a:xfrm>
            <a:off x="201168" y="1047509"/>
            <a:ext cx="310896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670DE5C5-466E-0434-E549-07443ECBCDEA}"/>
              </a:ext>
            </a:extLst>
          </p:cNvPr>
          <p:cNvSpPr/>
          <p:nvPr/>
        </p:nvSpPr>
        <p:spPr>
          <a:xfrm>
            <a:off x="323088" y="1145045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Text 8">
            <a:extLst>
              <a:ext uri="{FF2B5EF4-FFF2-40B4-BE49-F238E27FC236}">
                <a16:creationId xmlns:a16="http://schemas.microsoft.com/office/drawing/2014/main" id="{25D52E78-6D8B-03BB-4AC6-1C261FE7C63D}"/>
              </a:ext>
            </a:extLst>
          </p:cNvPr>
          <p:cNvSpPr/>
          <p:nvPr/>
        </p:nvSpPr>
        <p:spPr>
          <a:xfrm>
            <a:off x="615696" y="1047509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059669"/>
                </a:solidFill>
                <a:latin typeface="Calibri" panose="020F0502020204030204"/>
              </a:rPr>
              <a:t>EN AVANCE</a:t>
            </a:r>
          </a:p>
        </p:txBody>
      </p:sp>
      <p:sp>
        <p:nvSpPr>
          <p:cNvPr id="10" name="Text 39">
            <a:extLst>
              <a:ext uri="{FF2B5EF4-FFF2-40B4-BE49-F238E27FC236}">
                <a16:creationId xmlns:a16="http://schemas.microsoft.com/office/drawing/2014/main" id="{5F92946E-1D69-F6E6-2C88-56D8E60AE516}"/>
              </a:ext>
            </a:extLst>
          </p:cNvPr>
          <p:cNvSpPr/>
          <p:nvPr/>
        </p:nvSpPr>
        <p:spPr>
          <a:xfrm>
            <a:off x="6823024" y="4849004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5B730E9C-AA80-E186-C853-2B5A3F158C92}"/>
              </a:ext>
            </a:extLst>
          </p:cNvPr>
          <p:cNvSpPr/>
          <p:nvPr/>
        </p:nvSpPr>
        <p:spPr>
          <a:xfrm>
            <a:off x="6823024" y="5151242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39C92EC7-43C5-93A3-ED45-17C5DD507E03}"/>
              </a:ext>
            </a:extLst>
          </p:cNvPr>
          <p:cNvSpPr/>
          <p:nvPr/>
        </p:nvSpPr>
        <p:spPr>
          <a:xfrm>
            <a:off x="6816111" y="5464170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290F34D1-83D5-6F68-33F7-F0CEEC135045}"/>
              </a:ext>
            </a:extLst>
          </p:cNvPr>
          <p:cNvSpPr/>
          <p:nvPr/>
        </p:nvSpPr>
        <p:spPr>
          <a:xfrm>
            <a:off x="6845717" y="5777098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Text 33">
            <a:extLst>
              <a:ext uri="{FF2B5EF4-FFF2-40B4-BE49-F238E27FC236}">
                <a16:creationId xmlns:a16="http://schemas.microsoft.com/office/drawing/2014/main" id="{51739359-080A-87AC-E263-2B1F7386CDC2}"/>
              </a:ext>
            </a:extLst>
          </p:cNvPr>
          <p:cNvSpPr/>
          <p:nvPr/>
        </p:nvSpPr>
        <p:spPr>
          <a:xfrm>
            <a:off x="4568659" y="4527770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 err="1">
                <a:solidFill>
                  <a:srgbClr val="FFFFFF"/>
                </a:solidFill>
                <a:latin typeface="Calibri" panose="020F0502020204030204"/>
              </a:rPr>
              <a:t>Conectados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Text 39">
            <a:extLst>
              <a:ext uri="{FF2B5EF4-FFF2-40B4-BE49-F238E27FC236}">
                <a16:creationId xmlns:a16="http://schemas.microsoft.com/office/drawing/2014/main" id="{A45C6784-DEFA-6A05-0C12-ACEB39062D5D}"/>
              </a:ext>
            </a:extLst>
          </p:cNvPr>
          <p:cNvSpPr/>
          <p:nvPr/>
        </p:nvSpPr>
        <p:spPr>
          <a:xfrm>
            <a:off x="4879392" y="5134473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40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" name="Text 39">
            <a:extLst>
              <a:ext uri="{FF2B5EF4-FFF2-40B4-BE49-F238E27FC236}">
                <a16:creationId xmlns:a16="http://schemas.microsoft.com/office/drawing/2014/main" id="{B316B709-51A4-52D3-CA68-4E901C66D448}"/>
              </a:ext>
            </a:extLst>
          </p:cNvPr>
          <p:cNvSpPr/>
          <p:nvPr/>
        </p:nvSpPr>
        <p:spPr>
          <a:xfrm>
            <a:off x="4868393" y="546646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20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Text 39">
            <a:extLst>
              <a:ext uri="{FF2B5EF4-FFF2-40B4-BE49-F238E27FC236}">
                <a16:creationId xmlns:a16="http://schemas.microsoft.com/office/drawing/2014/main" id="{DA737AF7-796F-F563-8F6E-7DE3DBA1BE14}"/>
              </a:ext>
            </a:extLst>
          </p:cNvPr>
          <p:cNvSpPr/>
          <p:nvPr/>
        </p:nvSpPr>
        <p:spPr>
          <a:xfrm>
            <a:off x="4879392" y="5771588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28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5DD7FE2D-1574-A852-9D78-84797E63A60B}"/>
              </a:ext>
            </a:extLst>
          </p:cNvPr>
          <p:cNvSpPr/>
          <p:nvPr/>
        </p:nvSpPr>
        <p:spPr>
          <a:xfrm>
            <a:off x="4846007" y="4838314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40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0" name="Imagen 99">
            <a:extLst>
              <a:ext uri="{FF2B5EF4-FFF2-40B4-BE49-F238E27FC236}">
                <a16:creationId xmlns:a16="http://schemas.microsoft.com/office/drawing/2014/main" id="{7C9C3F1A-8CBE-17D2-6A39-C0A2FBC71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89" y="-193290"/>
            <a:ext cx="2365251" cy="1346403"/>
          </a:xfrm>
          <a:prstGeom prst="rect">
            <a:avLst/>
          </a:prstGeom>
        </p:spPr>
      </p:pic>
      <p:pic>
        <p:nvPicPr>
          <p:cNvPr id="101" name="Panel Resum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8784"/>
            <a:ext cx="12192000" cy="5529072"/>
          </a:xfrm>
          <a:prstGeom prst="rect">
            <a:avLst/>
          </a:prstGeom>
        </p:spPr>
      </p:pic>
      <p:sp>
        <p:nvSpPr>
          <p:cNvPr id="102" name="dato_manual"/>
          <p:cNvSpPr>
            <a:spLocks noGrp="1"/>
          </p:cNvSpPr>
          <p:nvPr/>
        </p:nvSpPr>
        <p:spPr>
          <a:xfrm>
            <a:off x="3657600" y="1896976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defTabSz="1219170"/>
            <a:r>
              <a:rPr lang="es-PE" sz="2200" b="1" dirty="0">
                <a:solidFill>
                  <a:srgbClr val="103A5E"/>
                </a:solidFill>
                <a:latin typeface="Arial"/>
              </a:rPr>
              <a:t>70</a:t>
            </a:r>
          </a:p>
        </p:txBody>
      </p:sp>
      <p:sp>
        <p:nvSpPr>
          <p:cNvPr id="103" name="dato_manual"/>
          <p:cNvSpPr>
            <a:spLocks noGrp="1"/>
          </p:cNvSpPr>
          <p:nvPr/>
        </p:nvSpPr>
        <p:spPr>
          <a:xfrm>
            <a:off x="5812535" y="1896976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defTabSz="1219170"/>
            <a:r>
              <a:rPr lang="es-PE" sz="2200" b="1" dirty="0">
                <a:solidFill>
                  <a:srgbClr val="103A5E"/>
                </a:solidFill>
                <a:latin typeface="Arial"/>
              </a:rPr>
              <a:t>18</a:t>
            </a:r>
          </a:p>
        </p:txBody>
      </p:sp>
      <p:sp>
        <p:nvSpPr>
          <p:cNvPr id="104" name="dato_manual"/>
          <p:cNvSpPr>
            <a:spLocks noGrp="1"/>
          </p:cNvSpPr>
          <p:nvPr/>
        </p:nvSpPr>
        <p:spPr>
          <a:xfrm>
            <a:off x="3374745" y="414626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50</a:t>
            </a:r>
          </a:p>
        </p:txBody>
      </p:sp>
      <p:sp>
        <p:nvSpPr>
          <p:cNvPr id="105" name="dato_manual"/>
          <p:cNvSpPr>
            <a:spLocks noGrp="1"/>
          </p:cNvSpPr>
          <p:nvPr/>
        </p:nvSpPr>
        <p:spPr>
          <a:xfrm>
            <a:off x="4779264" y="414626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40</a:t>
            </a:r>
          </a:p>
        </p:txBody>
      </p:sp>
      <p:sp>
        <p:nvSpPr>
          <p:cNvPr id="106" name="dato_manual"/>
          <p:cNvSpPr>
            <a:spLocks noGrp="1"/>
          </p:cNvSpPr>
          <p:nvPr/>
        </p:nvSpPr>
        <p:spPr>
          <a:xfrm>
            <a:off x="3374745" y="4607984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07" name="dato_manual"/>
          <p:cNvSpPr>
            <a:spLocks noGrp="1"/>
          </p:cNvSpPr>
          <p:nvPr/>
        </p:nvSpPr>
        <p:spPr>
          <a:xfrm>
            <a:off x="4779264" y="4607984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08" name="dato_manual"/>
          <p:cNvSpPr>
            <a:spLocks noGrp="1"/>
          </p:cNvSpPr>
          <p:nvPr/>
        </p:nvSpPr>
        <p:spPr>
          <a:xfrm>
            <a:off x="3374745" y="5069707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14</a:t>
            </a:r>
          </a:p>
        </p:txBody>
      </p:sp>
      <p:sp>
        <p:nvSpPr>
          <p:cNvPr id="109" name="dato_manual"/>
          <p:cNvSpPr>
            <a:spLocks noGrp="1"/>
          </p:cNvSpPr>
          <p:nvPr/>
        </p:nvSpPr>
        <p:spPr>
          <a:xfrm>
            <a:off x="4779264" y="5069707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20</a:t>
            </a:r>
          </a:p>
        </p:txBody>
      </p:sp>
      <p:sp>
        <p:nvSpPr>
          <p:cNvPr id="110" name="dato_manual"/>
          <p:cNvSpPr>
            <a:spLocks noGrp="1"/>
          </p:cNvSpPr>
          <p:nvPr/>
        </p:nvSpPr>
        <p:spPr>
          <a:xfrm>
            <a:off x="3374745" y="553143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18</a:t>
            </a:r>
          </a:p>
        </p:txBody>
      </p:sp>
      <p:sp>
        <p:nvSpPr>
          <p:cNvPr id="111" name="dato_manual"/>
          <p:cNvSpPr>
            <a:spLocks noGrp="1"/>
          </p:cNvSpPr>
          <p:nvPr/>
        </p:nvSpPr>
        <p:spPr>
          <a:xfrm>
            <a:off x="4779264" y="5531431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28</a:t>
            </a:r>
          </a:p>
        </p:txBody>
      </p:sp>
      <p:sp>
        <p:nvSpPr>
          <p:cNvPr id="112" name="dato_manual"/>
          <p:cNvSpPr>
            <a:spLocks noGrp="1"/>
          </p:cNvSpPr>
          <p:nvPr/>
        </p:nvSpPr>
        <p:spPr>
          <a:xfrm>
            <a:off x="3374745" y="5993153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123A5E"/>
                </a:solidFill>
                <a:latin typeface="Arial"/>
              </a:rPr>
              <a:t>82</a:t>
            </a:r>
          </a:p>
        </p:txBody>
      </p:sp>
      <p:sp>
        <p:nvSpPr>
          <p:cNvPr id="113" name="dato_manual"/>
          <p:cNvSpPr>
            <a:spLocks noGrp="1"/>
          </p:cNvSpPr>
          <p:nvPr/>
        </p:nvSpPr>
        <p:spPr>
          <a:xfrm>
            <a:off x="4779264" y="5993153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123A5E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TC TELEMARKETING OUT: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38912"/>
          </a:xfrm>
          <a:prstGeom prst="rect">
            <a:avLst/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19456" cy="219456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2752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E08A1E"/>
                </a:solidFill>
                <a:latin typeface="Calibri" panose="020F0502020204030204"/>
              </a:rPr>
              <a:t>META: 2.90K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Sub Gerente: Ronny Aleman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572" y="2586232"/>
            <a:ext cx="3819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800" b="1" dirty="0">
                <a:solidFill>
                  <a:srgbClr val="E08A1E"/>
                </a:solidFill>
                <a:latin typeface="Calibri" panose="020F0502020204030204"/>
              </a:rPr>
              <a:t>96.7%</a:t>
            </a:r>
            <a:endParaRPr lang="en-US" sz="8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Shape 74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6A52EC1A-ECE5-7429-EB2B-53DDC576150A}"/>
              </a:ext>
            </a:extLst>
          </p:cNvPr>
          <p:cNvSpPr/>
          <p:nvPr/>
        </p:nvSpPr>
        <p:spPr>
          <a:xfrm>
            <a:off x="423645" y="261281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2.90K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6" name="Text 26">
            <a:extLst>
              <a:ext uri="{FF2B5EF4-FFF2-40B4-BE49-F238E27FC236}">
                <a16:creationId xmlns:a16="http://schemas.microsoft.com/office/drawing/2014/main" id="{19304F58-7AC2-FD96-3E5B-D3891140C0ED}"/>
              </a:ext>
            </a:extLst>
          </p:cNvPr>
          <p:cNvSpPr/>
          <p:nvPr/>
        </p:nvSpPr>
        <p:spPr>
          <a:xfrm>
            <a:off x="-216110" y="4131000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989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8" name="Text 26">
            <a:extLst>
              <a:ext uri="{FF2B5EF4-FFF2-40B4-BE49-F238E27FC236}">
                <a16:creationId xmlns:a16="http://schemas.microsoft.com/office/drawing/2014/main" id="{8DC758B8-8C77-33D6-72A9-856DE757EDDF}"/>
              </a:ext>
            </a:extLst>
          </p:cNvPr>
          <p:cNvSpPr/>
          <p:nvPr/>
        </p:nvSpPr>
        <p:spPr>
          <a:xfrm>
            <a:off x="1382192" y="412641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1.02K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8" name="BARRAS_AVANCE_TARJETAS_TLM" descr="image.png">
            <a:extLst>
              <a:ext uri="{FF2B5EF4-FFF2-40B4-BE49-F238E27FC236}">
                <a16:creationId xmlns:a16="http://schemas.microsoft.com/office/drawing/2014/main" id="{42A79ACB-DCF5-C9C4-DE27-9C7BCD938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932" y="2346749"/>
            <a:ext cx="7845997" cy="24597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FD118CC7-1577-BE8C-D36C-D9875A02B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3" y="-137127"/>
            <a:ext cx="2194564" cy="1249240"/>
          </a:xfrm>
          <a:prstGeom prst="rect">
            <a:avLst/>
          </a:prstGeom>
        </p:spPr>
      </p:pic>
      <p:pic>
        <p:nvPicPr>
          <p:cNvPr id="89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PLD OUT PRESTAMOS: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2 / 5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2752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Bajo la meta</a:t>
            </a:r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Lider: Ronny Aleman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68224" y="2773751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9600" b="1" dirty="0">
                <a:solidFill>
                  <a:srgbClr val="C0392B"/>
                </a:solidFill>
                <a:latin typeface="Calibri" panose="020F0502020204030204"/>
              </a:rPr>
              <a:t>36.8%</a:t>
            </a:r>
            <a:endParaRPr lang="en-US" sz="9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26">
            <a:extLst>
              <a:ext uri="{FF2B5EF4-FFF2-40B4-BE49-F238E27FC236}">
                <a16:creationId xmlns:a16="http://schemas.microsoft.com/office/drawing/2014/main" id="{A3CE5A69-2D8A-DEC3-224F-DC959E3CE084}"/>
              </a:ext>
            </a:extLst>
          </p:cNvPr>
          <p:cNvSpPr/>
          <p:nvPr/>
        </p:nvSpPr>
        <p:spPr>
          <a:xfrm>
            <a:off x="496095" y="2692024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360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00A0BCA2-1D05-DDB4-7B19-ACF1A687F615}"/>
              </a:ext>
            </a:extLst>
          </p:cNvPr>
          <p:cNvSpPr/>
          <p:nvPr/>
        </p:nvSpPr>
        <p:spPr>
          <a:xfrm>
            <a:off x="-143660" y="4210209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43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07A0A797-C2A0-0C0F-F1C9-7AB6F9DFA654}"/>
              </a:ext>
            </a:extLst>
          </p:cNvPr>
          <p:cNvSpPr/>
          <p:nvPr/>
        </p:nvSpPr>
        <p:spPr>
          <a:xfrm>
            <a:off x="1454641" y="420562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117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28" name="BARRAS_AVANCE_PRESTAMOS_OUT" descr="image.png">
            <a:extLst>
              <a:ext uri="{FF2B5EF4-FFF2-40B4-BE49-F238E27FC236}">
                <a16:creationId xmlns:a16="http://schemas.microsoft.com/office/drawing/2014/main" id="{44F9A783-719F-6E0E-CB32-278EB6E24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435" y="2263536"/>
            <a:ext cx="7180387" cy="2425819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3632DD9D-BBCB-FF88-8097-E7A869171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3" y="-151960"/>
            <a:ext cx="2194564" cy="1249240"/>
          </a:xfrm>
          <a:prstGeom prst="rect">
            <a:avLst/>
          </a:prstGeom>
        </p:spPr>
      </p:pic>
      <p:pic>
        <p:nvPicPr>
          <p:cNvPr id="80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OPERACIONES OUT: :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2752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META: 5.25K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Sub Gerente: Ronny Aleman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8376" y="2772732"/>
            <a:ext cx="37711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800" b="1" dirty="0">
                <a:solidFill>
                  <a:srgbClr val="C0392B"/>
                </a:solidFill>
                <a:latin typeface="Calibri" panose="020F0502020204030204"/>
              </a:rPr>
              <a:t>82.9%</a:t>
            </a:r>
            <a:endParaRPr lang="en-US" sz="8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19DC7FAC-F2C8-7C50-C52D-609D7BDC37C7}"/>
              </a:ext>
            </a:extLst>
          </p:cNvPr>
          <p:cNvSpPr/>
          <p:nvPr/>
        </p:nvSpPr>
        <p:spPr>
          <a:xfrm>
            <a:off x="423645" y="2731317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5.25K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8A18A742-CA04-9FB6-9013-10B872A82677}"/>
              </a:ext>
            </a:extLst>
          </p:cNvPr>
          <p:cNvSpPr/>
          <p:nvPr/>
        </p:nvSpPr>
        <p:spPr>
          <a:xfrm>
            <a:off x="-216110" y="424950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1.55K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0" name="Text 26">
            <a:extLst>
              <a:ext uri="{FF2B5EF4-FFF2-40B4-BE49-F238E27FC236}">
                <a16:creationId xmlns:a16="http://schemas.microsoft.com/office/drawing/2014/main" id="{8A3E5AD3-EA77-5D27-6691-7BA2A6BCDDC2}"/>
              </a:ext>
            </a:extLst>
          </p:cNvPr>
          <p:cNvSpPr/>
          <p:nvPr/>
        </p:nvSpPr>
        <p:spPr>
          <a:xfrm>
            <a:off x="1382192" y="4244916"/>
            <a:ext cx="2031568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1.88K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30" name="BARRAS_AVANCE_OPERACIONES" descr="image.png">
            <a:extLst>
              <a:ext uri="{FF2B5EF4-FFF2-40B4-BE49-F238E27FC236}">
                <a16:creationId xmlns:a16="http://schemas.microsoft.com/office/drawing/2014/main" id="{FBD52858-531C-6FF7-88EB-E80D74F86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576" y="2405975"/>
            <a:ext cx="6533013" cy="2229085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83EE3A7F-9640-B14C-05BA-B13F0401C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139" y="-143757"/>
            <a:ext cx="2194564" cy="1249240"/>
          </a:xfrm>
          <a:prstGeom prst="rect">
            <a:avLst/>
          </a:prstGeom>
        </p:spPr>
      </p:pic>
      <p:pic>
        <p:nvPicPr>
          <p:cNvPr id="81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PORTAFOLIO: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Sub Gerente: Ronny Aleman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95260" y="2923967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800" b="1" dirty="0">
                <a:solidFill>
                  <a:srgbClr val="C0392B"/>
                </a:solidFill>
                <a:latin typeface="Calibri" panose="020F0502020204030204"/>
              </a:rPr>
              <a:t>89.7%</a:t>
            </a:r>
            <a:endParaRPr lang="en-US" sz="8800" dirty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47F183FE-CFFB-69E3-3EA0-0A139F9F9FBC}"/>
              </a:ext>
            </a:extLst>
          </p:cNvPr>
          <p:cNvSpPr/>
          <p:nvPr/>
        </p:nvSpPr>
        <p:spPr>
          <a:xfrm>
            <a:off x="537871" y="2827548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12.50M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B2955AC3-DCA7-84EF-4488-32597A99A94B}"/>
              </a:ext>
            </a:extLst>
          </p:cNvPr>
          <p:cNvSpPr/>
          <p:nvPr/>
        </p:nvSpPr>
        <p:spPr>
          <a:xfrm>
            <a:off x="-123656" y="436750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2.95M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4633EEC3-E4C1-EBE0-DE74-E75CC831C279}"/>
              </a:ext>
            </a:extLst>
          </p:cNvPr>
          <p:cNvSpPr/>
          <p:nvPr/>
        </p:nvSpPr>
        <p:spPr>
          <a:xfrm>
            <a:off x="1365785" y="4341147"/>
            <a:ext cx="2166664" cy="472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3.28M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8" name="BARRAS_AVANCE_EFECTIVO" descr="image.png">
            <a:extLst>
              <a:ext uri="{FF2B5EF4-FFF2-40B4-BE49-F238E27FC236}">
                <a16:creationId xmlns:a16="http://schemas.microsoft.com/office/drawing/2014/main" id="{54B66F17-D06F-2B6B-E662-6755E700F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069" y="2000537"/>
            <a:ext cx="8213401" cy="3319943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21A3CA72-0301-57BA-CCEC-D057CA6B3B4E}"/>
              </a:ext>
            </a:extLst>
          </p:cNvPr>
          <p:cNvSpPr/>
          <p:nvPr/>
        </p:nvSpPr>
        <p:spPr>
          <a:xfrm>
            <a:off x="118872" y="1033897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4F653980-A1C1-A5E7-8548-D79EA748600E}"/>
              </a:ext>
            </a:extLst>
          </p:cNvPr>
          <p:cNvSpPr/>
          <p:nvPr/>
        </p:nvSpPr>
        <p:spPr>
          <a:xfrm>
            <a:off x="240792" y="1131433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B4BD7086-9E6A-7CBE-AA66-56550A90C3CA}"/>
              </a:ext>
            </a:extLst>
          </p:cNvPr>
          <p:cNvSpPr/>
          <p:nvPr/>
        </p:nvSpPr>
        <p:spPr>
          <a:xfrm>
            <a:off x="533400" y="1033897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Bajo la meta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EE3A5D-0727-E6DB-463A-AE28CC2B8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5664" y="-17748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BBVA TLM OUT  |  DIAGNOSTICO Y SEGUIMIENTO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0E3854"/>
          </a:solidFill>
          <a:ln w="12700">
            <a:solidFill>
              <a:srgbClr val="0E3854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2 / 3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999744"/>
            <a:ext cx="5547360" cy="41452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920" y="999744"/>
            <a:ext cx="54254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kern="0" spc="40" dirty="0">
                <a:solidFill>
                  <a:srgbClr val="FFFFFF"/>
                </a:solidFill>
                <a:latin typeface="Calibri" panose="020F0502020204030204"/>
              </a:rPr>
              <a:t>SEGUIMIENTO PLAN SEMANA ANTERIOR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0" y="1463040"/>
            <a:ext cx="67056" cy="1589024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70688" y="1536192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70688" y="2420031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AFCB07"/>
                </a:solidFill>
                <a:latin typeface="Calibri" panose="020F0502020204030204"/>
              </a:rPr>
              <a:t>Ejecutado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0" y="3113024"/>
            <a:ext cx="67056" cy="1589024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70688" y="3186176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70688" y="4070015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AFCB07"/>
                </a:solidFill>
                <a:latin typeface="Calibri" panose="020F0502020204030204"/>
              </a:rPr>
              <a:t>En proceso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0" y="4763008"/>
            <a:ext cx="5547360" cy="158902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0" y="4763008"/>
            <a:ext cx="67056" cy="1589024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70688" y="4836160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70688" y="5719999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AFCB07"/>
                </a:solidFill>
                <a:latin typeface="Calibri" panose="020F0502020204030204"/>
              </a:rPr>
              <a:t>En proceso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657088" y="999744"/>
            <a:ext cx="24384" cy="54132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791200" y="999744"/>
            <a:ext cx="6400800" cy="41452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913120" y="999744"/>
            <a:ext cx="6278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kern="0" spc="40" dirty="0">
                <a:solidFill>
                  <a:srgbClr val="FFFFFF"/>
                </a:solidFill>
                <a:latin typeface="Calibri" panose="020F0502020204030204"/>
              </a:rPr>
              <a:t>DIAGNOSTICO — CAUSAS RAIZ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133" b="1" dirty="0">
                <a:solidFill>
                  <a:srgbClr val="DC2626"/>
                </a:solidFill>
                <a:latin typeface="Calibri" panose="020F0502020204030204"/>
              </a:rPr>
              <a:t>Impacto Alto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268224" y="6486144"/>
            <a:ext cx="11582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00" i="1" dirty="0">
                <a:solidFill>
                  <a:srgbClr val="667085"/>
                </a:solidFill>
                <a:latin typeface="Calibri" panose="020F0502020204030204"/>
              </a:rPr>
              <a:t>TU META ES NUESTRA META  ·  BBVA TLM OUT  |  DIAGNOSTICO  |  Ronny Aleman  |  Agosto 2026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5" name="Picture 8">
            <a:extLst>
              <a:ext uri="{FF2B5EF4-FFF2-40B4-BE49-F238E27FC236}">
                <a16:creationId xmlns:a16="http://schemas.microsoft.com/office/drawing/2014/main" id="{AF98D781-2B6A-88FB-F3D2-7A8EB5594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2512" y="-15361"/>
            <a:ext cx="1731264" cy="98550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0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E2CE8D-8354-4F43-EAA8-B6610A68F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729CBC-1F4E-8F58-259E-C03E87A66838}"/>
              </a:ext>
            </a:extLst>
          </p:cNvPr>
          <p:cNvSpPr/>
          <p:nvPr/>
        </p:nvSpPr>
        <p:spPr>
          <a:xfrm>
            <a:off x="0" y="0"/>
            <a:ext cx="670560" cy="6858000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DAD03E-82AC-BABC-4120-D02A397FB671}"/>
              </a:ext>
            </a:extLst>
          </p:cNvPr>
          <p:cNvSpPr/>
          <p:nvPr/>
        </p:nvSpPr>
        <p:spPr>
          <a:xfrm>
            <a:off x="914400" y="2865120"/>
            <a:ext cx="11033760" cy="304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AEB98B8-CBE7-FAF7-31CB-1ACD3C1EE72C}"/>
              </a:ext>
            </a:extLst>
          </p:cNvPr>
          <p:cNvSpPr/>
          <p:nvPr/>
        </p:nvSpPr>
        <p:spPr>
          <a:xfrm>
            <a:off x="757338" y="1554810"/>
            <a:ext cx="116433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dirty="0">
                <a:solidFill>
                  <a:srgbClr val="FFFFFF"/>
                </a:solidFill>
                <a:latin typeface="Calibri" panose="020F0502020204030204"/>
              </a:rPr>
              <a:t>UNICEF RETENCIONES Y DIGITAL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66935EE-70D7-8EC8-6A9A-F08E34CD2780}"/>
              </a:ext>
            </a:extLst>
          </p:cNvPr>
          <p:cNvSpPr/>
          <p:nvPr/>
        </p:nvSpPr>
        <p:spPr>
          <a:xfrm>
            <a:off x="914400" y="2954020"/>
            <a:ext cx="1164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dirty="0">
                <a:solidFill>
                  <a:srgbClr val="FFFFFF"/>
                </a:solidFill>
                <a:latin typeface="Calibri" panose="020F0502020204030204"/>
              </a:rPr>
              <a:t>José Jesus San Martin ·  Jefe de Ventas UNICEF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C42A01D-1FC0-CED3-B862-5B9A74B11FAD}"/>
              </a:ext>
            </a:extLst>
          </p:cNvPr>
          <p:cNvSpPr/>
          <p:nvPr/>
        </p:nvSpPr>
        <p:spPr>
          <a:xfrm>
            <a:off x="959224" y="3672124"/>
            <a:ext cx="1164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FFFFFF"/>
                </a:solidFill>
                <a:latin typeface="Calibri" panose="020F0502020204030204"/>
              </a:rPr>
              <a:t>Agosto 2026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0B98298-CD5E-E2B5-4381-ECFF1A901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320005"/>
            <a:ext cx="4876800" cy="2776084"/>
          </a:xfrm>
          <a:prstGeom prst="rect">
            <a:avLst/>
          </a:prstGeom>
        </p:spPr>
      </p:pic>
      <p:pic>
        <p:nvPicPr>
          <p:cNvPr id="4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846320"/>
            <a:ext cx="274320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617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73F51C-5E62-7778-FE5E-6DAA9526F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7BB383-8507-82EC-ADE1-A82310382101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7F0DA0D-327D-768B-91E9-16B5156307BA}"/>
              </a:ext>
            </a:extLst>
          </p:cNvPr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2575B21-F4A1-11B9-84F7-0A4D09F33FE5}"/>
              </a:ext>
            </a:extLst>
          </p:cNvPr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11BD564-4043-9A51-B3EA-2C96493D0864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RESUMEN GENERAL |  FIDELIZACION · UPGRADE LINEA · SAVING · EXTRACASH · DIGITAL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B530855-764C-AA63-F222-700CA8E7A751}"/>
              </a:ext>
            </a:extLst>
          </p:cNvPr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0E3854"/>
          </a:solidFill>
          <a:ln w="12700">
            <a:solidFill>
              <a:srgbClr val="0E3854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47880D5-0316-DEDA-C67F-0AD7ECD4DC85}"/>
              </a:ext>
            </a:extLst>
          </p:cNvPr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1 / 3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ADFBA8A-EF26-6583-CBA4-BD96CEBFBFFB}"/>
              </a:ext>
            </a:extLst>
          </p:cNvPr>
          <p:cNvSpPr/>
          <p:nvPr/>
        </p:nvSpPr>
        <p:spPr>
          <a:xfrm>
            <a:off x="268224" y="1536192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dirty="0">
                <a:solidFill>
                  <a:srgbClr val="667085"/>
                </a:solidFill>
                <a:latin typeface="Calibri" panose="020F0502020204030204"/>
              </a:rPr>
              <a:t>Sub-Gerente: Jose Jesus San Martin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D495DF1-EA6A-6C82-2171-76FB1C6C3255}"/>
              </a:ext>
            </a:extLst>
          </p:cNvPr>
          <p:cNvSpPr/>
          <p:nvPr/>
        </p:nvSpPr>
        <p:spPr>
          <a:xfrm>
            <a:off x="633984" y="1687721"/>
            <a:ext cx="4120896" cy="1853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000" b="1" dirty="0">
                <a:solidFill>
                  <a:srgbClr val="19A075"/>
                </a:solidFill>
                <a:latin typeface="Calibri" panose="020F0502020204030204"/>
              </a:rPr>
              <a:t>90%</a:t>
            </a:r>
            <a:endParaRPr lang="en-US" sz="8000" dirty="0">
              <a:solidFill>
                <a:srgbClr val="19A075"/>
              </a:solidFill>
              <a:latin typeface="Calibri" panose="020F0502020204030204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F787903-8B82-7250-2BE1-106AB1ED9084}"/>
              </a:ext>
            </a:extLst>
          </p:cNvPr>
          <p:cNvSpPr/>
          <p:nvPr/>
        </p:nvSpPr>
        <p:spPr>
          <a:xfrm>
            <a:off x="-87452" y="3597148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667085"/>
                </a:solidFill>
                <a:latin typeface="Calibri" panose="020F0502020204030204"/>
              </a:rPr>
              <a:t>Avance promedio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D209B12-B79D-91BC-85C9-4E91F7DBE3D8}"/>
              </a:ext>
            </a:extLst>
          </p:cNvPr>
          <p:cNvSpPr/>
          <p:nvPr/>
        </p:nvSpPr>
        <p:spPr>
          <a:xfrm>
            <a:off x="3511297" y="999745"/>
            <a:ext cx="60959" cy="5030825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959E8BFD-E961-49F9-9403-AC13EC0499FC}"/>
              </a:ext>
            </a:extLst>
          </p:cNvPr>
          <p:cNvSpPr/>
          <p:nvPr/>
        </p:nvSpPr>
        <p:spPr>
          <a:xfrm>
            <a:off x="3657600" y="999744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182DC85-8FA1-3A83-113D-B1F08BD36788}"/>
              </a:ext>
            </a:extLst>
          </p:cNvPr>
          <p:cNvSpPr/>
          <p:nvPr/>
        </p:nvSpPr>
        <p:spPr>
          <a:xfrm>
            <a:off x="384048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CONECTADOS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5606370-2D48-382B-500F-A9974F0206E8}"/>
              </a:ext>
            </a:extLst>
          </p:cNvPr>
          <p:cNvSpPr/>
          <p:nvPr/>
        </p:nvSpPr>
        <p:spPr>
          <a:xfrm>
            <a:off x="384048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70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F5B60288-0D6E-75E0-D6B5-96014B1A9078}"/>
              </a:ext>
            </a:extLst>
          </p:cNvPr>
          <p:cNvSpPr/>
          <p:nvPr/>
        </p:nvSpPr>
        <p:spPr>
          <a:xfrm>
            <a:off x="7894320" y="999744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940B32C-AAF9-ED44-AB25-45CA90F80AA6}"/>
              </a:ext>
            </a:extLst>
          </p:cNvPr>
          <p:cNvSpPr/>
          <p:nvPr/>
        </p:nvSpPr>
        <p:spPr>
          <a:xfrm>
            <a:off x="807720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DOTACION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1149AF9-F72C-4535-C173-4B180E54F6E2}"/>
              </a:ext>
            </a:extLst>
          </p:cNvPr>
          <p:cNvSpPr/>
          <p:nvPr/>
        </p:nvSpPr>
        <p:spPr>
          <a:xfrm>
            <a:off x="807720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50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24B037B0-6918-C181-D0F8-656D9A62EFC3}"/>
              </a:ext>
            </a:extLst>
          </p:cNvPr>
          <p:cNvSpPr/>
          <p:nvPr/>
        </p:nvSpPr>
        <p:spPr>
          <a:xfrm>
            <a:off x="3657600" y="2145792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A42EB48-7AF5-F01D-4EA8-A897999B2D6A}"/>
              </a:ext>
            </a:extLst>
          </p:cNvPr>
          <p:cNvSpPr/>
          <p:nvPr/>
        </p:nvSpPr>
        <p:spPr>
          <a:xfrm>
            <a:off x="384048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PEND. SELECCION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CBD7068-1E59-B148-5740-8629732D5132}"/>
              </a:ext>
            </a:extLst>
          </p:cNvPr>
          <p:cNvSpPr/>
          <p:nvPr/>
        </p:nvSpPr>
        <p:spPr>
          <a:xfrm>
            <a:off x="384048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445DB68-2177-A6FE-AA00-3739C2CFACD0}"/>
              </a:ext>
            </a:extLst>
          </p:cNvPr>
          <p:cNvSpPr/>
          <p:nvPr/>
        </p:nvSpPr>
        <p:spPr>
          <a:xfrm>
            <a:off x="7894320" y="2145792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7058E3D-F71F-1ACF-603D-D4C038338BBF}"/>
              </a:ext>
            </a:extLst>
          </p:cNvPr>
          <p:cNvSpPr/>
          <p:nvPr/>
        </p:nvSpPr>
        <p:spPr>
          <a:xfrm>
            <a:off x="807720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PEND. INDUCCION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90D19C5-1D3F-9635-4FC1-4F4C4939AECF}"/>
              </a:ext>
            </a:extLst>
          </p:cNvPr>
          <p:cNvSpPr/>
          <p:nvPr/>
        </p:nvSpPr>
        <p:spPr>
          <a:xfrm>
            <a:off x="807720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16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27E0F00-A81E-9B7D-08FD-ECE8897B7971}"/>
              </a:ext>
            </a:extLst>
          </p:cNvPr>
          <p:cNvSpPr/>
          <p:nvPr/>
        </p:nvSpPr>
        <p:spPr>
          <a:xfrm>
            <a:off x="3657600" y="3291840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D3E1AF3A-2468-7581-3374-D486A229E684}"/>
              </a:ext>
            </a:extLst>
          </p:cNvPr>
          <p:cNvSpPr/>
          <p:nvPr/>
        </p:nvSpPr>
        <p:spPr>
          <a:xfrm>
            <a:off x="384048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PRESUPUESTO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7E2800A9-2A81-B045-17BE-DA3CE256D854}"/>
              </a:ext>
            </a:extLst>
          </p:cNvPr>
          <p:cNvSpPr/>
          <p:nvPr/>
        </p:nvSpPr>
        <p:spPr>
          <a:xfrm>
            <a:off x="384048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100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433DFF1C-4000-CB60-4F68-B3EF029176A2}"/>
              </a:ext>
            </a:extLst>
          </p:cNvPr>
          <p:cNvSpPr/>
          <p:nvPr/>
        </p:nvSpPr>
        <p:spPr>
          <a:xfrm>
            <a:off x="7894320" y="3291840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391B216-82F6-1F27-7534-CA24333ED83E}"/>
              </a:ext>
            </a:extLst>
          </p:cNvPr>
          <p:cNvSpPr/>
          <p:nvPr/>
        </p:nvSpPr>
        <p:spPr>
          <a:xfrm>
            <a:off x="807720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667085"/>
                </a:solidFill>
                <a:latin typeface="Calibri" panose="020F0502020204030204"/>
              </a:rPr>
              <a:t>SEMANA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4C8E547E-643F-F800-FB9E-D633C0E01861}"/>
              </a:ext>
            </a:extLst>
          </p:cNvPr>
          <p:cNvSpPr/>
          <p:nvPr/>
        </p:nvSpPr>
        <p:spPr>
          <a:xfrm>
            <a:off x="807720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45078"/>
                </a:solidFill>
                <a:latin typeface="Calibri" panose="020F0502020204030204"/>
              </a:rPr>
              <a:t>05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AA0BBD82-F929-19AD-66B3-8C72A9478E61}"/>
              </a:ext>
            </a:extLst>
          </p:cNvPr>
          <p:cNvSpPr/>
          <p:nvPr/>
        </p:nvSpPr>
        <p:spPr>
          <a:xfrm>
            <a:off x="0" y="4559808"/>
            <a:ext cx="12192000" cy="31292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A8699A17-8BBF-A221-943F-38B5C913CF63}"/>
              </a:ext>
            </a:extLst>
          </p:cNvPr>
          <p:cNvSpPr/>
          <p:nvPr/>
        </p:nvSpPr>
        <p:spPr>
          <a:xfrm>
            <a:off x="243840" y="4559808"/>
            <a:ext cx="414528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Sub-campaña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1A25242D-C57A-4FBD-F2B7-4ADC2C6BD23E}"/>
              </a:ext>
            </a:extLst>
          </p:cNvPr>
          <p:cNvSpPr/>
          <p:nvPr/>
        </p:nvSpPr>
        <p:spPr>
          <a:xfrm>
            <a:off x="3415817" y="4559077"/>
            <a:ext cx="158496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Presupuesto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9199EF2B-B1E5-3D75-C6FA-B04E747EF41C}"/>
              </a:ext>
            </a:extLst>
          </p:cNvPr>
          <p:cNvSpPr/>
          <p:nvPr/>
        </p:nvSpPr>
        <p:spPr>
          <a:xfrm>
            <a:off x="6035040" y="4559808"/>
            <a:ext cx="280416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Avance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31BB62F6-4D9A-A4F7-4309-0773E84C30CA}"/>
              </a:ext>
            </a:extLst>
          </p:cNvPr>
          <p:cNvSpPr/>
          <p:nvPr/>
        </p:nvSpPr>
        <p:spPr>
          <a:xfrm>
            <a:off x="8875776" y="4559808"/>
            <a:ext cx="11582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% Logro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559A4649-1D90-ED4A-66CA-A03A5CF5B842}"/>
              </a:ext>
            </a:extLst>
          </p:cNvPr>
          <p:cNvSpPr/>
          <p:nvPr/>
        </p:nvSpPr>
        <p:spPr>
          <a:xfrm>
            <a:off x="10058400" y="4559808"/>
            <a:ext cx="195072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Proyeccion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4F8DAD10-DD3F-9B2C-440D-E6DA297E030D}"/>
              </a:ext>
            </a:extLst>
          </p:cNvPr>
          <p:cNvSpPr/>
          <p:nvPr/>
        </p:nvSpPr>
        <p:spPr>
          <a:xfrm>
            <a:off x="0" y="4872736"/>
            <a:ext cx="12192000" cy="312928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AA2421F1-57F8-71C3-4F3F-25EC93E92D25}"/>
              </a:ext>
            </a:extLst>
          </p:cNvPr>
          <p:cNvSpPr/>
          <p:nvPr/>
        </p:nvSpPr>
        <p:spPr>
          <a:xfrm>
            <a:off x="243840" y="4872736"/>
            <a:ext cx="39014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145078"/>
                </a:solidFill>
                <a:latin typeface="Calibri" panose="020F0502020204030204"/>
              </a:rPr>
              <a:t>TC Telemarketing OUT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29BE4591-6316-F514-1DC5-74870C7DE732}"/>
              </a:ext>
            </a:extLst>
          </p:cNvPr>
          <p:cNvSpPr/>
          <p:nvPr/>
        </p:nvSpPr>
        <p:spPr>
          <a:xfrm>
            <a:off x="3594583" y="4872736"/>
            <a:ext cx="158496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01828"/>
                </a:solidFill>
                <a:latin typeface="Calibri" panose="020F0502020204030204"/>
              </a:rPr>
              <a:t>50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7312BD1F-2719-645F-D506-636A6B25194B}"/>
              </a:ext>
            </a:extLst>
          </p:cNvPr>
          <p:cNvSpPr/>
          <p:nvPr/>
        </p:nvSpPr>
        <p:spPr>
          <a:xfrm>
            <a:off x="6035040" y="4960356"/>
            <a:ext cx="2560320" cy="13142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350EE0EF-E6F5-6892-51A8-50644A25E7AC}"/>
              </a:ext>
            </a:extLst>
          </p:cNvPr>
          <p:cNvSpPr/>
          <p:nvPr/>
        </p:nvSpPr>
        <p:spPr>
          <a:xfrm>
            <a:off x="6035040" y="4960356"/>
            <a:ext cx="2304288" cy="131429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9B8F2238-3927-708A-1A76-816E811DAEBB}"/>
              </a:ext>
            </a:extLst>
          </p:cNvPr>
          <p:cNvSpPr/>
          <p:nvPr/>
        </p:nvSpPr>
        <p:spPr>
          <a:xfrm>
            <a:off x="8875776" y="4872736"/>
            <a:ext cx="11582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059669"/>
                </a:solidFill>
                <a:latin typeface="Calibri" panose="020F0502020204030204"/>
              </a:rPr>
              <a:t>90%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430FDF3F-7127-1F0F-DFB0-C56B0EC8CECB}"/>
              </a:ext>
            </a:extLst>
          </p:cNvPr>
          <p:cNvSpPr/>
          <p:nvPr/>
        </p:nvSpPr>
        <p:spPr>
          <a:xfrm>
            <a:off x="10058400" y="4872736"/>
            <a:ext cx="195072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BAA2004E-5590-59BE-BA04-FB7CED4455B0}"/>
              </a:ext>
            </a:extLst>
          </p:cNvPr>
          <p:cNvSpPr/>
          <p:nvPr/>
        </p:nvSpPr>
        <p:spPr>
          <a:xfrm>
            <a:off x="0" y="5185664"/>
            <a:ext cx="12192000" cy="312928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A9379D37-5FB0-52FB-0EB0-101E498D47C0}"/>
              </a:ext>
            </a:extLst>
          </p:cNvPr>
          <p:cNvSpPr/>
          <p:nvPr/>
        </p:nvSpPr>
        <p:spPr>
          <a:xfrm>
            <a:off x="243840" y="5185664"/>
            <a:ext cx="39014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145078"/>
                </a:solidFill>
                <a:latin typeface="Calibri" panose="020F0502020204030204"/>
              </a:rPr>
              <a:t>PLD OUT (Prestamos)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00D71D73-F456-10C8-FFA2-2835EBF61458}"/>
              </a:ext>
            </a:extLst>
          </p:cNvPr>
          <p:cNvSpPr/>
          <p:nvPr/>
        </p:nvSpPr>
        <p:spPr>
          <a:xfrm>
            <a:off x="3594583" y="5185664"/>
            <a:ext cx="158496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01828"/>
                </a:solidFill>
                <a:latin typeface="Calibri" panose="020F0502020204030204"/>
              </a:rPr>
              <a:t>16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964FEC3B-880E-C75D-449A-3B25B2C05C47}"/>
              </a:ext>
            </a:extLst>
          </p:cNvPr>
          <p:cNvSpPr/>
          <p:nvPr/>
        </p:nvSpPr>
        <p:spPr>
          <a:xfrm>
            <a:off x="6035040" y="5273284"/>
            <a:ext cx="2560320" cy="13142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932138FB-B635-D59F-68A0-C94FA9B956D3}"/>
              </a:ext>
            </a:extLst>
          </p:cNvPr>
          <p:cNvSpPr/>
          <p:nvPr/>
        </p:nvSpPr>
        <p:spPr>
          <a:xfrm>
            <a:off x="6035041" y="5273284"/>
            <a:ext cx="1869033" cy="13142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21949775-450F-EAEB-3CC9-7B448E98376D}"/>
              </a:ext>
            </a:extLst>
          </p:cNvPr>
          <p:cNvSpPr/>
          <p:nvPr/>
        </p:nvSpPr>
        <p:spPr>
          <a:xfrm>
            <a:off x="8875776" y="5185664"/>
            <a:ext cx="11582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DC2626"/>
                </a:solidFill>
                <a:latin typeface="Calibri" panose="020F0502020204030204"/>
              </a:rPr>
              <a:t>73%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65BEC881-1673-C85C-9C5E-49D481706E79}"/>
              </a:ext>
            </a:extLst>
          </p:cNvPr>
          <p:cNvSpPr/>
          <p:nvPr/>
        </p:nvSpPr>
        <p:spPr>
          <a:xfrm>
            <a:off x="10058400" y="5185664"/>
            <a:ext cx="195072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EBC15288-556B-E819-0C1C-8A16CDFBABEC}"/>
              </a:ext>
            </a:extLst>
          </p:cNvPr>
          <p:cNvSpPr/>
          <p:nvPr/>
        </p:nvSpPr>
        <p:spPr>
          <a:xfrm>
            <a:off x="0" y="5498592"/>
            <a:ext cx="12192000" cy="312928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798444E0-00ED-930B-7355-683384F4523B}"/>
              </a:ext>
            </a:extLst>
          </p:cNvPr>
          <p:cNvSpPr/>
          <p:nvPr/>
        </p:nvSpPr>
        <p:spPr>
          <a:xfrm>
            <a:off x="243840" y="5498592"/>
            <a:ext cx="39014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145078"/>
                </a:solidFill>
                <a:latin typeface="Calibri" panose="020F0502020204030204"/>
              </a:rPr>
              <a:t>Operaciones OUT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82F2C6BB-8B79-EA97-34BE-216430EF8B43}"/>
              </a:ext>
            </a:extLst>
          </p:cNvPr>
          <p:cNvSpPr/>
          <p:nvPr/>
        </p:nvSpPr>
        <p:spPr>
          <a:xfrm>
            <a:off x="3594583" y="5498592"/>
            <a:ext cx="158496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01828"/>
                </a:solidFill>
                <a:latin typeface="Calibri" panose="020F0502020204030204"/>
              </a:rPr>
              <a:t>14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50A48560-92C1-CA70-4617-9616D3B1D9A8}"/>
              </a:ext>
            </a:extLst>
          </p:cNvPr>
          <p:cNvSpPr/>
          <p:nvPr/>
        </p:nvSpPr>
        <p:spPr>
          <a:xfrm>
            <a:off x="6035040" y="5586212"/>
            <a:ext cx="2560320" cy="13142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5">
            <a:extLst>
              <a:ext uri="{FF2B5EF4-FFF2-40B4-BE49-F238E27FC236}">
                <a16:creationId xmlns:a16="http://schemas.microsoft.com/office/drawing/2014/main" id="{D0E908CB-67DD-6EE0-5E61-ADE7FBC31D03}"/>
              </a:ext>
            </a:extLst>
          </p:cNvPr>
          <p:cNvSpPr/>
          <p:nvPr/>
        </p:nvSpPr>
        <p:spPr>
          <a:xfrm>
            <a:off x="6035040" y="5586212"/>
            <a:ext cx="2329891" cy="131429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6D4C827E-FF50-2174-B16E-E8F4077D4599}"/>
              </a:ext>
            </a:extLst>
          </p:cNvPr>
          <p:cNvSpPr/>
          <p:nvPr/>
        </p:nvSpPr>
        <p:spPr>
          <a:xfrm>
            <a:off x="8875776" y="5498592"/>
            <a:ext cx="11582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059669"/>
                </a:solidFill>
                <a:latin typeface="Calibri" panose="020F0502020204030204"/>
              </a:rPr>
              <a:t>91%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D086E8B5-20BE-F462-5A2C-272CE3D9F8F3}"/>
              </a:ext>
            </a:extLst>
          </p:cNvPr>
          <p:cNvSpPr/>
          <p:nvPr/>
        </p:nvSpPr>
        <p:spPr>
          <a:xfrm>
            <a:off x="10058400" y="5498592"/>
            <a:ext cx="195072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87741144-2F79-4082-F3FE-F44EFC13A68D}"/>
              </a:ext>
            </a:extLst>
          </p:cNvPr>
          <p:cNvSpPr/>
          <p:nvPr/>
        </p:nvSpPr>
        <p:spPr>
          <a:xfrm>
            <a:off x="0" y="5811520"/>
            <a:ext cx="12192000" cy="312928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FFA76F16-4658-F291-0887-2F9542AD9A50}"/>
              </a:ext>
            </a:extLst>
          </p:cNvPr>
          <p:cNvSpPr/>
          <p:nvPr/>
        </p:nvSpPr>
        <p:spPr>
          <a:xfrm>
            <a:off x="243840" y="5811520"/>
            <a:ext cx="39014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 err="1">
                <a:solidFill>
                  <a:srgbClr val="145078"/>
                </a:solidFill>
                <a:latin typeface="Calibri" panose="020F0502020204030204"/>
              </a:rPr>
              <a:t>Portafolio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0">
            <a:extLst>
              <a:ext uri="{FF2B5EF4-FFF2-40B4-BE49-F238E27FC236}">
                <a16:creationId xmlns:a16="http://schemas.microsoft.com/office/drawing/2014/main" id="{04C0FFB9-76DA-7560-F490-834FF2EC48ED}"/>
              </a:ext>
            </a:extLst>
          </p:cNvPr>
          <p:cNvSpPr/>
          <p:nvPr/>
        </p:nvSpPr>
        <p:spPr>
          <a:xfrm>
            <a:off x="3594583" y="5811520"/>
            <a:ext cx="158496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01828"/>
                </a:solidFill>
                <a:latin typeface="Calibri" panose="020F0502020204030204"/>
              </a:rPr>
              <a:t>18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177C11F4-1989-B48B-157F-FC95330891AC}"/>
              </a:ext>
            </a:extLst>
          </p:cNvPr>
          <p:cNvSpPr/>
          <p:nvPr/>
        </p:nvSpPr>
        <p:spPr>
          <a:xfrm>
            <a:off x="6035040" y="5899140"/>
            <a:ext cx="2560320" cy="13142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62">
            <a:extLst>
              <a:ext uri="{FF2B5EF4-FFF2-40B4-BE49-F238E27FC236}">
                <a16:creationId xmlns:a16="http://schemas.microsoft.com/office/drawing/2014/main" id="{8FC8538A-19DE-4BEB-BCD3-06E329639793}"/>
              </a:ext>
            </a:extLst>
          </p:cNvPr>
          <p:cNvSpPr/>
          <p:nvPr/>
        </p:nvSpPr>
        <p:spPr>
          <a:xfrm>
            <a:off x="6035040" y="5899140"/>
            <a:ext cx="2304288" cy="131429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B991F6B9-454C-0FD5-6FEA-9D35EA643198}"/>
              </a:ext>
            </a:extLst>
          </p:cNvPr>
          <p:cNvSpPr/>
          <p:nvPr/>
        </p:nvSpPr>
        <p:spPr>
          <a:xfrm>
            <a:off x="8875776" y="5811520"/>
            <a:ext cx="115824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059669"/>
                </a:solidFill>
                <a:latin typeface="Calibri" panose="020F0502020204030204"/>
              </a:rPr>
              <a:t>90%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4">
            <a:extLst>
              <a:ext uri="{FF2B5EF4-FFF2-40B4-BE49-F238E27FC236}">
                <a16:creationId xmlns:a16="http://schemas.microsoft.com/office/drawing/2014/main" id="{B3729534-24BE-16FB-8368-36FF6FAF47DC}"/>
              </a:ext>
            </a:extLst>
          </p:cNvPr>
          <p:cNvSpPr/>
          <p:nvPr/>
        </p:nvSpPr>
        <p:spPr>
          <a:xfrm>
            <a:off x="10058400" y="5811520"/>
            <a:ext cx="1950720" cy="31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700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Shape 6">
            <a:extLst>
              <a:ext uri="{FF2B5EF4-FFF2-40B4-BE49-F238E27FC236}">
                <a16:creationId xmlns:a16="http://schemas.microsoft.com/office/drawing/2014/main" id="{83D6FDB1-85E5-E916-E609-06EB10FDF9CF}"/>
              </a:ext>
            </a:extLst>
          </p:cNvPr>
          <p:cNvSpPr/>
          <p:nvPr/>
        </p:nvSpPr>
        <p:spPr>
          <a:xfrm>
            <a:off x="201168" y="1047509"/>
            <a:ext cx="310896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0D36F9D2-E71E-1205-26D8-551C12D59FDB}"/>
              </a:ext>
            </a:extLst>
          </p:cNvPr>
          <p:cNvSpPr/>
          <p:nvPr/>
        </p:nvSpPr>
        <p:spPr>
          <a:xfrm>
            <a:off x="323088" y="1145045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Text 8">
            <a:extLst>
              <a:ext uri="{FF2B5EF4-FFF2-40B4-BE49-F238E27FC236}">
                <a16:creationId xmlns:a16="http://schemas.microsoft.com/office/drawing/2014/main" id="{813D47BE-2319-8211-B235-2BCFD14BD66F}"/>
              </a:ext>
            </a:extLst>
          </p:cNvPr>
          <p:cNvSpPr/>
          <p:nvPr/>
        </p:nvSpPr>
        <p:spPr>
          <a:xfrm>
            <a:off x="615696" y="1047509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059669"/>
                </a:solidFill>
                <a:latin typeface="Calibri" panose="020F0502020204030204"/>
              </a:rPr>
              <a:t>EN AVANCE</a:t>
            </a:r>
          </a:p>
        </p:txBody>
      </p:sp>
      <p:sp>
        <p:nvSpPr>
          <p:cNvPr id="10" name="Text 39">
            <a:extLst>
              <a:ext uri="{FF2B5EF4-FFF2-40B4-BE49-F238E27FC236}">
                <a16:creationId xmlns:a16="http://schemas.microsoft.com/office/drawing/2014/main" id="{F065D574-8D43-D05A-68B1-E91D48672039}"/>
              </a:ext>
            </a:extLst>
          </p:cNvPr>
          <p:cNvSpPr/>
          <p:nvPr/>
        </p:nvSpPr>
        <p:spPr>
          <a:xfrm>
            <a:off x="6823024" y="4849004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FAB19E82-0C37-3CCD-B9D8-DE5B69AAB3BE}"/>
              </a:ext>
            </a:extLst>
          </p:cNvPr>
          <p:cNvSpPr/>
          <p:nvPr/>
        </p:nvSpPr>
        <p:spPr>
          <a:xfrm>
            <a:off x="6823024" y="5151242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320EC57E-FDA6-030A-B1F4-BD80608BAAA4}"/>
              </a:ext>
            </a:extLst>
          </p:cNvPr>
          <p:cNvSpPr/>
          <p:nvPr/>
        </p:nvSpPr>
        <p:spPr>
          <a:xfrm>
            <a:off x="6816111" y="5464170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86907E13-CFC9-0097-52F0-E9A05EF19825}"/>
              </a:ext>
            </a:extLst>
          </p:cNvPr>
          <p:cNvSpPr/>
          <p:nvPr/>
        </p:nvSpPr>
        <p:spPr>
          <a:xfrm>
            <a:off x="6845717" y="5777098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900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Text 33">
            <a:extLst>
              <a:ext uri="{FF2B5EF4-FFF2-40B4-BE49-F238E27FC236}">
                <a16:creationId xmlns:a16="http://schemas.microsoft.com/office/drawing/2014/main" id="{C2DA35FC-8862-DF88-655C-CF045DC934D6}"/>
              </a:ext>
            </a:extLst>
          </p:cNvPr>
          <p:cNvSpPr/>
          <p:nvPr/>
        </p:nvSpPr>
        <p:spPr>
          <a:xfrm>
            <a:off x="4568659" y="4527770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 err="1">
                <a:solidFill>
                  <a:srgbClr val="FFFFFF"/>
                </a:solidFill>
                <a:latin typeface="Calibri" panose="020F0502020204030204"/>
              </a:rPr>
              <a:t>Conectados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Text 39">
            <a:extLst>
              <a:ext uri="{FF2B5EF4-FFF2-40B4-BE49-F238E27FC236}">
                <a16:creationId xmlns:a16="http://schemas.microsoft.com/office/drawing/2014/main" id="{0337DEA4-6DD6-7869-C5BB-B99B675D781E}"/>
              </a:ext>
            </a:extLst>
          </p:cNvPr>
          <p:cNvSpPr/>
          <p:nvPr/>
        </p:nvSpPr>
        <p:spPr>
          <a:xfrm>
            <a:off x="4879392" y="5134473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40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" name="Text 39">
            <a:extLst>
              <a:ext uri="{FF2B5EF4-FFF2-40B4-BE49-F238E27FC236}">
                <a16:creationId xmlns:a16="http://schemas.microsoft.com/office/drawing/2014/main" id="{4CD69733-C6DB-2A21-FDDE-F13D824CE05A}"/>
              </a:ext>
            </a:extLst>
          </p:cNvPr>
          <p:cNvSpPr/>
          <p:nvPr/>
        </p:nvSpPr>
        <p:spPr>
          <a:xfrm>
            <a:off x="4868393" y="546646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20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Text 39">
            <a:extLst>
              <a:ext uri="{FF2B5EF4-FFF2-40B4-BE49-F238E27FC236}">
                <a16:creationId xmlns:a16="http://schemas.microsoft.com/office/drawing/2014/main" id="{363266AA-900D-239C-C84D-C700E71B9982}"/>
              </a:ext>
            </a:extLst>
          </p:cNvPr>
          <p:cNvSpPr/>
          <p:nvPr/>
        </p:nvSpPr>
        <p:spPr>
          <a:xfrm>
            <a:off x="4879392" y="5771588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28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576FDC28-44B1-8C1F-5C42-5F5C265E40F4}"/>
              </a:ext>
            </a:extLst>
          </p:cNvPr>
          <p:cNvSpPr/>
          <p:nvPr/>
        </p:nvSpPr>
        <p:spPr>
          <a:xfrm>
            <a:off x="4846007" y="4838314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40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0" name="Imagen 99">
            <a:extLst>
              <a:ext uri="{FF2B5EF4-FFF2-40B4-BE49-F238E27FC236}">
                <a16:creationId xmlns:a16="http://schemas.microsoft.com/office/drawing/2014/main" id="{721B0679-F29A-F0B4-756E-45AC031CE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89" y="-193290"/>
            <a:ext cx="2365251" cy="1346403"/>
          </a:xfrm>
          <a:prstGeom prst="rect">
            <a:avLst/>
          </a:prstGeom>
        </p:spPr>
      </p:pic>
      <p:pic>
        <p:nvPicPr>
          <p:cNvPr id="101" name="Panel Resum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7072"/>
            <a:ext cx="12192000" cy="5565648"/>
          </a:xfrm>
          <a:prstGeom prst="rect">
            <a:avLst/>
          </a:prstGeom>
        </p:spPr>
      </p:pic>
      <p:sp>
        <p:nvSpPr>
          <p:cNvPr id="102" name="dato_manual"/>
          <p:cNvSpPr>
            <a:spLocks noGrp="1"/>
          </p:cNvSpPr>
          <p:nvPr/>
        </p:nvSpPr>
        <p:spPr>
          <a:xfrm>
            <a:off x="3657600" y="1921844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defTabSz="1219170"/>
            <a:r>
              <a:rPr lang="es-PE" sz="2200" b="1" dirty="0">
                <a:solidFill>
                  <a:srgbClr val="103A5E"/>
                </a:solidFill>
                <a:latin typeface="Arial"/>
              </a:rPr>
              <a:t>70</a:t>
            </a:r>
          </a:p>
        </p:txBody>
      </p:sp>
      <p:sp>
        <p:nvSpPr>
          <p:cNvPr id="103" name="dato_manual"/>
          <p:cNvSpPr>
            <a:spLocks noGrp="1"/>
          </p:cNvSpPr>
          <p:nvPr/>
        </p:nvSpPr>
        <p:spPr>
          <a:xfrm>
            <a:off x="5812535" y="1921844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defTabSz="1219170"/>
            <a:r>
              <a:rPr lang="es-PE" sz="2200" b="1" dirty="0">
                <a:solidFill>
                  <a:srgbClr val="103A5E"/>
                </a:solidFill>
                <a:latin typeface="Arial"/>
              </a:rPr>
              <a:t>18</a:t>
            </a:r>
          </a:p>
        </p:txBody>
      </p:sp>
      <p:sp>
        <p:nvSpPr>
          <p:cNvPr id="104" name="dato_manual"/>
          <p:cNvSpPr>
            <a:spLocks noGrp="1"/>
          </p:cNvSpPr>
          <p:nvPr/>
        </p:nvSpPr>
        <p:spPr>
          <a:xfrm>
            <a:off x="3374745" y="4144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05" name="dato_manual"/>
          <p:cNvSpPr>
            <a:spLocks noGrp="1"/>
          </p:cNvSpPr>
          <p:nvPr/>
        </p:nvSpPr>
        <p:spPr>
          <a:xfrm>
            <a:off x="4779264" y="4144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06" name="dato_manual"/>
          <p:cNvSpPr>
            <a:spLocks noGrp="1"/>
          </p:cNvSpPr>
          <p:nvPr/>
        </p:nvSpPr>
        <p:spPr>
          <a:xfrm>
            <a:off x="3374745" y="4532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07" name="dato_manual"/>
          <p:cNvSpPr>
            <a:spLocks noGrp="1"/>
          </p:cNvSpPr>
          <p:nvPr/>
        </p:nvSpPr>
        <p:spPr>
          <a:xfrm>
            <a:off x="4779264" y="4532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08" name="dato_manual"/>
          <p:cNvSpPr>
            <a:spLocks noGrp="1"/>
          </p:cNvSpPr>
          <p:nvPr/>
        </p:nvSpPr>
        <p:spPr>
          <a:xfrm>
            <a:off x="3374745" y="4920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09" name="dato_manual"/>
          <p:cNvSpPr>
            <a:spLocks noGrp="1"/>
          </p:cNvSpPr>
          <p:nvPr/>
        </p:nvSpPr>
        <p:spPr>
          <a:xfrm>
            <a:off x="4779264" y="4920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0" name="dato_manual"/>
          <p:cNvSpPr>
            <a:spLocks noGrp="1"/>
          </p:cNvSpPr>
          <p:nvPr/>
        </p:nvSpPr>
        <p:spPr>
          <a:xfrm>
            <a:off x="3374745" y="5308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1" name="dato_manual"/>
          <p:cNvSpPr>
            <a:spLocks noGrp="1"/>
          </p:cNvSpPr>
          <p:nvPr/>
        </p:nvSpPr>
        <p:spPr>
          <a:xfrm>
            <a:off x="4779264" y="5308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2" name="dato_manual"/>
          <p:cNvSpPr>
            <a:spLocks noGrp="1"/>
          </p:cNvSpPr>
          <p:nvPr/>
        </p:nvSpPr>
        <p:spPr>
          <a:xfrm>
            <a:off x="3374745" y="5696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3" name="dato_manual"/>
          <p:cNvSpPr>
            <a:spLocks noGrp="1"/>
          </p:cNvSpPr>
          <p:nvPr/>
        </p:nvSpPr>
        <p:spPr>
          <a:xfrm>
            <a:off x="4779264" y="5696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114" name="dato_manual"/>
          <p:cNvSpPr>
            <a:spLocks noGrp="1"/>
          </p:cNvSpPr>
          <p:nvPr/>
        </p:nvSpPr>
        <p:spPr>
          <a:xfrm>
            <a:off x="3374745" y="6084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123A5E"/>
                </a:solidFill>
                <a:latin typeface="Arial"/>
              </a:rPr>
              <a:t>0</a:t>
            </a:r>
          </a:p>
        </p:txBody>
      </p:sp>
      <p:sp>
        <p:nvSpPr>
          <p:cNvPr id="115" name="dato_manual"/>
          <p:cNvSpPr>
            <a:spLocks noGrp="1"/>
          </p:cNvSpPr>
          <p:nvPr/>
        </p:nvSpPr>
        <p:spPr>
          <a:xfrm>
            <a:off x="4779264" y="6084879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123A5E"/>
                </a:solidFill>
                <a:latin typeface="Arial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883715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74AC5-3329-76D3-5FAE-C43BF968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AB4A93-D216-97A9-10B4-7BFF6D9D8085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A2B9356-B341-91B6-47F5-1BB9813745E3}"/>
              </a:ext>
            </a:extLst>
          </p:cNvPr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7F726B-F482-D49B-4CDD-A4871BE5324B}"/>
              </a:ext>
            </a:extLst>
          </p:cNvPr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D7E59CE-D87B-CCB2-D958-A310AF3F311F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DIGITAL: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EFB15FA-84DE-80C6-1325-BED80BDB0AC2}"/>
              </a:ext>
            </a:extLst>
          </p:cNvPr>
          <p:cNvSpPr/>
          <p:nvPr/>
        </p:nvSpPr>
        <p:spPr>
          <a:xfrm>
            <a:off x="268224" y="999744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3B6BCF7-0F7F-5EAE-DFD8-7137A8F73730}"/>
              </a:ext>
            </a:extLst>
          </p:cNvPr>
          <p:cNvSpPr/>
          <p:nvPr/>
        </p:nvSpPr>
        <p:spPr>
          <a:xfrm>
            <a:off x="390144" y="1097280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587CD21-D496-B599-C26B-D26DB6211D23}"/>
              </a:ext>
            </a:extLst>
          </p:cNvPr>
          <p:cNvSpPr/>
          <p:nvPr/>
        </p:nvSpPr>
        <p:spPr>
          <a:xfrm>
            <a:off x="682752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META: 240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870FEDF-3C81-7130-6476-CC1C3220DFFF}"/>
              </a:ext>
            </a:extLst>
          </p:cNvPr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Sub Gerente: Jose Jesus San Martin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223DDCC-EAAC-E1BA-F4A6-9EDBC9506EA4}"/>
              </a:ext>
            </a:extLst>
          </p:cNvPr>
          <p:cNvSpPr/>
          <p:nvPr/>
        </p:nvSpPr>
        <p:spPr>
          <a:xfrm>
            <a:off x="63572" y="2586232"/>
            <a:ext cx="3819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800" b="1" dirty="0">
                <a:solidFill>
                  <a:srgbClr val="C0392B"/>
                </a:solidFill>
                <a:latin typeface="Calibri" panose="020F0502020204030204"/>
              </a:rPr>
              <a:t>42.4%</a:t>
            </a:r>
            <a:endParaRPr lang="en-US" sz="8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A4212805-B8E0-A8C3-3928-DB1DBA858B87}"/>
              </a:ext>
            </a:extLst>
          </p:cNvPr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2058ACA4-30F8-802E-9FF4-BC9A1B5DE3E4}"/>
              </a:ext>
            </a:extLst>
          </p:cNvPr>
          <p:cNvSpPr/>
          <p:nvPr/>
        </p:nvSpPr>
        <p:spPr>
          <a:xfrm>
            <a:off x="423645" y="261281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240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6" name="Text 26">
            <a:extLst>
              <a:ext uri="{FF2B5EF4-FFF2-40B4-BE49-F238E27FC236}">
                <a16:creationId xmlns:a16="http://schemas.microsoft.com/office/drawing/2014/main" id="{0E1FE9E3-A830-D02D-6B25-B9F1E554EEC4}"/>
              </a:ext>
            </a:extLst>
          </p:cNvPr>
          <p:cNvSpPr/>
          <p:nvPr/>
        </p:nvSpPr>
        <p:spPr>
          <a:xfrm>
            <a:off x="-216110" y="4131000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25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8" name="Text 26">
            <a:extLst>
              <a:ext uri="{FF2B5EF4-FFF2-40B4-BE49-F238E27FC236}">
                <a16:creationId xmlns:a16="http://schemas.microsoft.com/office/drawing/2014/main" id="{5410E37B-A237-0E18-FCD6-5BB57C83E805}"/>
              </a:ext>
            </a:extLst>
          </p:cNvPr>
          <p:cNvSpPr/>
          <p:nvPr/>
        </p:nvSpPr>
        <p:spPr>
          <a:xfrm>
            <a:off x="1382192" y="412641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59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8" name="BARRAS_AVANCE_TARJETAS_TLM" descr="image.png">
            <a:extLst>
              <a:ext uri="{FF2B5EF4-FFF2-40B4-BE49-F238E27FC236}">
                <a16:creationId xmlns:a16="http://schemas.microsoft.com/office/drawing/2014/main" id="{95B84A48-D019-43E6-70B6-BBE942062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932" y="2346749"/>
            <a:ext cx="7845997" cy="24597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FFBC0E7D-6195-FAC3-A4EE-03551E5C2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13" y="-137127"/>
            <a:ext cx="2194564" cy="1249240"/>
          </a:xfrm>
          <a:prstGeom prst="rect">
            <a:avLst/>
          </a:prstGeom>
        </p:spPr>
      </p:pic>
      <p:pic>
        <p:nvPicPr>
          <p:cNvPr id="89" name="Cliente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00570"/>
            <a:ext cx="1783080" cy="37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873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FE234-C10B-C7EA-3402-87CBBBE7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D2FFDC-C463-3682-6F6A-A434919E1409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D8883E-2421-F1FC-671F-024B464DD1A3}"/>
              </a:ext>
            </a:extLst>
          </p:cNvPr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845873C-4E17-A84A-C27C-F55B6267945D}"/>
              </a:ext>
            </a:extLst>
          </p:cNvPr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27D361B-B23D-EDA9-1878-86B38ABE2620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FIDELIZACION: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86AFA94-B4F1-3FBD-CB5D-C87E48229183}"/>
              </a:ext>
            </a:extLst>
          </p:cNvPr>
          <p:cNvSpPr/>
          <p:nvPr/>
        </p:nvSpPr>
        <p:spPr>
          <a:xfrm>
            <a:off x="268224" y="999744"/>
            <a:ext cx="3108960" cy="438912"/>
          </a:xfrm>
          <a:prstGeom prst="rect">
            <a:avLst/>
          </a:prstGeom>
          <a:solidFill>
            <a:srgbClr val="EAF0D2"/>
          </a:solidFill>
          <a:ln w="12700">
            <a:solidFill>
              <a:srgbClr val="EAF0D2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33C30D4-1201-D51B-0555-CC478C0C41E6}"/>
              </a:ext>
            </a:extLst>
          </p:cNvPr>
          <p:cNvSpPr/>
          <p:nvPr/>
        </p:nvSpPr>
        <p:spPr>
          <a:xfrm>
            <a:off x="390144" y="1097280"/>
            <a:ext cx="219456" cy="219456"/>
          </a:xfrm>
          <a:prstGeom prst="ellipse">
            <a:avLst/>
          </a:prstGeom>
          <a:solidFill>
            <a:srgbClr val="8CA61E"/>
          </a:solidFill>
          <a:ln w="12700">
            <a:solidFill>
              <a:srgbClr val="8CA61E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3FE7798-D4A9-408A-B2EA-388404C3A5C1}"/>
              </a:ext>
            </a:extLst>
          </p:cNvPr>
          <p:cNvSpPr/>
          <p:nvPr/>
        </p:nvSpPr>
        <p:spPr>
          <a:xfrm>
            <a:off x="682752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8CA61E"/>
                </a:solidFill>
                <a:latin typeface="Calibri" panose="020F0502020204030204"/>
              </a:rPr>
              <a:t>META: 200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31DCCAC-5F71-98C4-76C9-729D5D1FD40D}"/>
              </a:ext>
            </a:extLst>
          </p:cNvPr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Sub Gerente: Jose Jesus San Martin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0B3BC00-2A15-60C1-3F17-104C9A2F6DEE}"/>
              </a:ext>
            </a:extLst>
          </p:cNvPr>
          <p:cNvSpPr/>
          <p:nvPr/>
        </p:nvSpPr>
        <p:spPr>
          <a:xfrm>
            <a:off x="63572" y="2586232"/>
            <a:ext cx="3819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800" b="1" dirty="0">
                <a:solidFill>
                  <a:srgbClr val="8CA61E"/>
                </a:solidFill>
                <a:latin typeface="Calibri" panose="020F0502020204030204"/>
              </a:rPr>
              <a:t>129%</a:t>
            </a:r>
            <a:endParaRPr lang="en-US" sz="8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3A549112-C06F-6419-74E3-BBA8B31D9826}"/>
              </a:ext>
            </a:extLst>
          </p:cNvPr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677EF628-02FE-97BB-8E7B-B494F6DCA713}"/>
              </a:ext>
            </a:extLst>
          </p:cNvPr>
          <p:cNvSpPr/>
          <p:nvPr/>
        </p:nvSpPr>
        <p:spPr>
          <a:xfrm>
            <a:off x="423645" y="261281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200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6" name="Text 26">
            <a:extLst>
              <a:ext uri="{FF2B5EF4-FFF2-40B4-BE49-F238E27FC236}">
                <a16:creationId xmlns:a16="http://schemas.microsoft.com/office/drawing/2014/main" id="{D85FEBAC-5F18-CCD5-1418-03A865233601}"/>
              </a:ext>
            </a:extLst>
          </p:cNvPr>
          <p:cNvSpPr/>
          <p:nvPr/>
        </p:nvSpPr>
        <p:spPr>
          <a:xfrm>
            <a:off x="-216110" y="4131000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62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8" name="Text 26">
            <a:extLst>
              <a:ext uri="{FF2B5EF4-FFF2-40B4-BE49-F238E27FC236}">
                <a16:creationId xmlns:a16="http://schemas.microsoft.com/office/drawing/2014/main" id="{9844D16A-C8FB-28B3-7BF4-2A885D4DF95C}"/>
              </a:ext>
            </a:extLst>
          </p:cNvPr>
          <p:cNvSpPr/>
          <p:nvPr/>
        </p:nvSpPr>
        <p:spPr>
          <a:xfrm>
            <a:off x="1382192" y="412641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48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8" name="BARRAS_AVANCE_TARJETAS_TLM" descr="image.png">
            <a:extLst>
              <a:ext uri="{FF2B5EF4-FFF2-40B4-BE49-F238E27FC236}">
                <a16:creationId xmlns:a16="http://schemas.microsoft.com/office/drawing/2014/main" id="{BDE768CE-10B1-7EFA-5E70-39232DDDD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932" y="2346749"/>
            <a:ext cx="7845997" cy="24597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22C61AE-D359-72E8-BF9D-8E8F38966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3" y="-137127"/>
            <a:ext cx="2194564" cy="1249240"/>
          </a:xfrm>
          <a:prstGeom prst="rect">
            <a:avLst/>
          </a:prstGeom>
        </p:spPr>
      </p:pic>
      <p:pic>
        <p:nvPicPr>
          <p:cNvPr id="89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300570"/>
            <a:ext cx="1783080" cy="37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893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1727-6A92-90C2-C167-5D31A2F2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2B8FD6-B373-C88A-B29F-4A99B1258597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040F7B-3F97-8436-3DE4-340A1229277E}"/>
              </a:ext>
            </a:extLst>
          </p:cNvPr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332294-037D-AF95-5776-C1399BD55CE5}"/>
              </a:ext>
            </a:extLst>
          </p:cNvPr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00686F-11DE-117E-0C25-CB69660AEE2E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UPGRADE LINEA: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943E890-614B-7C3D-A508-220ED28D8E36}"/>
              </a:ext>
            </a:extLst>
          </p:cNvPr>
          <p:cNvSpPr/>
          <p:nvPr/>
        </p:nvSpPr>
        <p:spPr>
          <a:xfrm>
            <a:off x="268224" y="999744"/>
            <a:ext cx="3108960" cy="438912"/>
          </a:xfrm>
          <a:prstGeom prst="rect">
            <a:avLst/>
          </a:prstGeom>
          <a:solidFill>
            <a:srgbClr val="EAF0D2"/>
          </a:solidFill>
          <a:ln w="12700">
            <a:solidFill>
              <a:srgbClr val="EAF0D2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90CE656-282F-7581-6413-AF7D6B3650A6}"/>
              </a:ext>
            </a:extLst>
          </p:cNvPr>
          <p:cNvSpPr/>
          <p:nvPr/>
        </p:nvSpPr>
        <p:spPr>
          <a:xfrm>
            <a:off x="390144" y="1097280"/>
            <a:ext cx="219456" cy="219456"/>
          </a:xfrm>
          <a:prstGeom prst="ellipse">
            <a:avLst/>
          </a:prstGeom>
          <a:solidFill>
            <a:srgbClr val="8CA61E"/>
          </a:solidFill>
          <a:ln w="12700">
            <a:solidFill>
              <a:srgbClr val="8CA61E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C49CCDA-DDC8-96D2-F88A-DF8128FFC3EA}"/>
              </a:ext>
            </a:extLst>
          </p:cNvPr>
          <p:cNvSpPr/>
          <p:nvPr/>
        </p:nvSpPr>
        <p:spPr>
          <a:xfrm>
            <a:off x="682752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8CA61E"/>
                </a:solidFill>
                <a:latin typeface="Calibri" panose="020F0502020204030204"/>
              </a:rPr>
              <a:t>META: 2.40K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8A6537C-BB79-D359-C43F-01199A749227}"/>
              </a:ext>
            </a:extLst>
          </p:cNvPr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Sub Gerente: Jose Jesus San Martin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86D64CF-C7A9-F775-C2F2-80EC5DFE8080}"/>
              </a:ext>
            </a:extLst>
          </p:cNvPr>
          <p:cNvSpPr/>
          <p:nvPr/>
        </p:nvSpPr>
        <p:spPr>
          <a:xfrm>
            <a:off x="63572" y="2586232"/>
            <a:ext cx="3819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800" b="1" dirty="0">
                <a:solidFill>
                  <a:srgbClr val="8CA61E"/>
                </a:solidFill>
                <a:latin typeface="Calibri" panose="020F0502020204030204"/>
              </a:rPr>
              <a:t>100%</a:t>
            </a:r>
            <a:endParaRPr lang="en-US" sz="8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F7F015BE-0320-B077-59C0-C07FA0E2801D}"/>
              </a:ext>
            </a:extLst>
          </p:cNvPr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C31E8D89-6F23-A1C5-3CE3-D5FB7F98A93C}"/>
              </a:ext>
            </a:extLst>
          </p:cNvPr>
          <p:cNvSpPr/>
          <p:nvPr/>
        </p:nvSpPr>
        <p:spPr>
          <a:xfrm>
            <a:off x="423645" y="261281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2.40K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6" name="Text 26">
            <a:extLst>
              <a:ext uri="{FF2B5EF4-FFF2-40B4-BE49-F238E27FC236}">
                <a16:creationId xmlns:a16="http://schemas.microsoft.com/office/drawing/2014/main" id="{83900041-3A68-7048-1720-7317179F3B77}"/>
              </a:ext>
            </a:extLst>
          </p:cNvPr>
          <p:cNvSpPr/>
          <p:nvPr/>
        </p:nvSpPr>
        <p:spPr>
          <a:xfrm>
            <a:off x="-216110" y="4131000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460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8" name="Text 26">
            <a:extLst>
              <a:ext uri="{FF2B5EF4-FFF2-40B4-BE49-F238E27FC236}">
                <a16:creationId xmlns:a16="http://schemas.microsoft.com/office/drawing/2014/main" id="{F8BB73D2-1980-B46E-59E7-B96C6D840F2A}"/>
              </a:ext>
            </a:extLst>
          </p:cNvPr>
          <p:cNvSpPr/>
          <p:nvPr/>
        </p:nvSpPr>
        <p:spPr>
          <a:xfrm>
            <a:off x="1382192" y="412641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460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8" name="BARRAS_AVANCE_TARJETAS_TLM" descr="image.png">
            <a:extLst>
              <a:ext uri="{FF2B5EF4-FFF2-40B4-BE49-F238E27FC236}">
                <a16:creationId xmlns:a16="http://schemas.microsoft.com/office/drawing/2014/main" id="{4F1DECBA-8BDD-7481-F0D3-745925947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932" y="2346749"/>
            <a:ext cx="7845997" cy="24597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C911ABA5-0079-24A9-C166-C58415AFF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3" y="-137127"/>
            <a:ext cx="2194564" cy="1249240"/>
          </a:xfrm>
          <a:prstGeom prst="rect">
            <a:avLst/>
          </a:prstGeom>
        </p:spPr>
      </p:pic>
      <p:pic>
        <p:nvPicPr>
          <p:cNvPr id="89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300570"/>
            <a:ext cx="1783080" cy="37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627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0ED80-BE5D-2947-34C1-3FE1D525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93CBD0-A894-9BCC-5217-50C2211907D9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E98232-6A90-9C7D-DF01-166894F8766E}"/>
              </a:ext>
            </a:extLst>
          </p:cNvPr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E5A9C44-CC43-3F68-C1C7-875A4C7962B5}"/>
              </a:ext>
            </a:extLst>
          </p:cNvPr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27AE940-B13E-2244-90AD-2C57053ABEC3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SAVING: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77F9931-88AD-FDF4-1E99-8505B1365C42}"/>
              </a:ext>
            </a:extLst>
          </p:cNvPr>
          <p:cNvSpPr/>
          <p:nvPr/>
        </p:nvSpPr>
        <p:spPr>
          <a:xfrm>
            <a:off x="268224" y="999744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1D5004C-DA7D-6C00-E3AF-CE759862CD82}"/>
              </a:ext>
            </a:extLst>
          </p:cNvPr>
          <p:cNvSpPr/>
          <p:nvPr/>
        </p:nvSpPr>
        <p:spPr>
          <a:xfrm>
            <a:off x="390144" y="1097280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961F994-4C47-EEDA-D1AB-AA8AD16FD910}"/>
              </a:ext>
            </a:extLst>
          </p:cNvPr>
          <p:cNvSpPr/>
          <p:nvPr/>
        </p:nvSpPr>
        <p:spPr>
          <a:xfrm>
            <a:off x="682752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META: 11.70K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00C238C-2C88-B159-CA14-0D2F166AFAB2}"/>
              </a:ext>
            </a:extLst>
          </p:cNvPr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Sub Gerente: Jose Jesus San Martin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67FFFF1-8B1D-3C90-E278-82F22747EBD6}"/>
              </a:ext>
            </a:extLst>
          </p:cNvPr>
          <p:cNvSpPr/>
          <p:nvPr/>
        </p:nvSpPr>
        <p:spPr>
          <a:xfrm>
            <a:off x="63572" y="2586232"/>
            <a:ext cx="3819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800" b="1" dirty="0">
                <a:solidFill>
                  <a:srgbClr val="C0392B"/>
                </a:solidFill>
                <a:latin typeface="Calibri" panose="020F0502020204030204"/>
              </a:rPr>
              <a:t>63.4%</a:t>
            </a:r>
            <a:endParaRPr lang="en-US" sz="8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62642501-DA34-BEBC-E69F-A1C67D5FDD92}"/>
              </a:ext>
            </a:extLst>
          </p:cNvPr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A6EC92E7-3AF3-D28B-83E2-C56B500F15DE}"/>
              </a:ext>
            </a:extLst>
          </p:cNvPr>
          <p:cNvSpPr/>
          <p:nvPr/>
        </p:nvSpPr>
        <p:spPr>
          <a:xfrm>
            <a:off x="423645" y="261281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11.70K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6" name="Text 26">
            <a:extLst>
              <a:ext uri="{FF2B5EF4-FFF2-40B4-BE49-F238E27FC236}">
                <a16:creationId xmlns:a16="http://schemas.microsoft.com/office/drawing/2014/main" id="{930F9745-379C-50D8-8B70-2E6345CFF29A}"/>
              </a:ext>
            </a:extLst>
          </p:cNvPr>
          <p:cNvSpPr/>
          <p:nvPr/>
        </p:nvSpPr>
        <p:spPr>
          <a:xfrm>
            <a:off x="-216110" y="4131000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1.56K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88" name="Text 26">
            <a:extLst>
              <a:ext uri="{FF2B5EF4-FFF2-40B4-BE49-F238E27FC236}">
                <a16:creationId xmlns:a16="http://schemas.microsoft.com/office/drawing/2014/main" id="{DB60CEB0-01A5-74D1-0F4B-AD2F8BF43C2A}"/>
              </a:ext>
            </a:extLst>
          </p:cNvPr>
          <p:cNvSpPr/>
          <p:nvPr/>
        </p:nvSpPr>
        <p:spPr>
          <a:xfrm>
            <a:off x="1382192" y="412641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2.46K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8" name="BARRAS_AVANCE_TARJETAS_TLM" descr="image.png">
            <a:extLst>
              <a:ext uri="{FF2B5EF4-FFF2-40B4-BE49-F238E27FC236}">
                <a16:creationId xmlns:a16="http://schemas.microsoft.com/office/drawing/2014/main" id="{AEC5EE60-F2FE-06A3-1698-ED4493F19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932" y="2346749"/>
            <a:ext cx="7845997" cy="24597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DE4C9C4-BB56-6BBB-C92C-AE6A74F82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3" y="-137127"/>
            <a:ext cx="2194564" cy="1249240"/>
          </a:xfrm>
          <a:prstGeom prst="rect">
            <a:avLst/>
          </a:prstGeom>
        </p:spPr>
      </p:pic>
      <p:pic>
        <p:nvPicPr>
          <p:cNvPr id="89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300570"/>
            <a:ext cx="1783080" cy="37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124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74AC5-3329-76D3-5FAE-C43BF968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AB4A93-D216-97A9-10B4-7BFF6D9D8085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A2B9356-B341-91B6-47F5-1BB9813745E3}"/>
              </a:ext>
            </a:extLst>
          </p:cNvPr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7F726B-F482-D49B-4CDD-A4871BE5324B}"/>
              </a:ext>
            </a:extLst>
          </p:cNvPr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D7E59CE-D87B-CCB2-D958-A310AF3F311F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EXTRACASH: Información al 8 de Agosto</a:t>
            </a:r>
            <a:endParaRPr lang="en-US" sz="1667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EFB15FA-84DE-80C6-1325-BED80BDB0AC2}"/>
              </a:ext>
            </a:extLst>
          </p:cNvPr>
          <p:cNvSpPr/>
          <p:nvPr/>
        </p:nvSpPr>
        <p:spPr>
          <a:xfrm>
            <a:off x="268224" y="999744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3B6BCF7-0F7F-5EAE-DFD8-7137A8F73730}"/>
              </a:ext>
            </a:extLst>
          </p:cNvPr>
          <p:cNvSpPr/>
          <p:nvPr/>
        </p:nvSpPr>
        <p:spPr>
          <a:xfrm>
            <a:off x="390144" y="1097280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587CD21-D496-B599-C26B-D26DB6211D23}"/>
              </a:ext>
            </a:extLst>
          </p:cNvPr>
          <p:cNvSpPr/>
          <p:nvPr/>
        </p:nvSpPr>
        <p:spPr>
          <a:xfrm>
            <a:off x="682752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0392B"/>
                </a:solidFill>
              </a:rPr>
              <a:t>META: 60.00K</a:t>
            </a:r>
            <a:endParaRPr lang="en-US" sz="1267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870FEDF-3C81-7130-6476-CC1C3220DFFF}"/>
              </a:ext>
            </a:extLst>
          </p:cNvPr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667085"/>
                </a:solidFill>
              </a:rPr>
              <a:t>Sub Gerente: Jose Jesus San Martin</a:t>
            </a:r>
            <a:endParaRPr lang="en-US" sz="1133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223DDCC-EAAC-E1BA-F4A6-9EDBC9506EA4}"/>
              </a:ext>
            </a:extLst>
          </p:cNvPr>
          <p:cNvSpPr/>
          <p:nvPr/>
        </p:nvSpPr>
        <p:spPr>
          <a:xfrm>
            <a:off x="63572" y="2586232"/>
            <a:ext cx="3819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0" b="1" dirty="0">
                <a:solidFill>
                  <a:srgbClr val="C0392B"/>
                </a:solidFill>
              </a:rPr>
              <a:t>19.8%</a:t>
            </a:r>
            <a:endParaRPr lang="en-US" sz="880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A4212805-B8E0-A8C3-3928-DB1DBA858B87}"/>
              </a:ext>
            </a:extLst>
          </p:cNvPr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2058ACA4-30F8-802E-9FF4-BC9A1B5DE3E4}"/>
              </a:ext>
            </a:extLst>
          </p:cNvPr>
          <p:cNvSpPr/>
          <p:nvPr/>
        </p:nvSpPr>
        <p:spPr>
          <a:xfrm>
            <a:off x="423645" y="261281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60.00K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6" name="Text 26">
            <a:extLst>
              <a:ext uri="{FF2B5EF4-FFF2-40B4-BE49-F238E27FC236}">
                <a16:creationId xmlns:a16="http://schemas.microsoft.com/office/drawing/2014/main" id="{0E1FE9E3-A830-D02D-6B25-B9F1E554EEC4}"/>
              </a:ext>
            </a:extLst>
          </p:cNvPr>
          <p:cNvSpPr/>
          <p:nvPr/>
        </p:nvSpPr>
        <p:spPr>
          <a:xfrm>
            <a:off x="-216110" y="4131000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3.83K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8" name="Text 26">
            <a:extLst>
              <a:ext uri="{FF2B5EF4-FFF2-40B4-BE49-F238E27FC236}">
                <a16:creationId xmlns:a16="http://schemas.microsoft.com/office/drawing/2014/main" id="{5410E37B-A237-0E18-FCD6-5BB57C83E805}"/>
              </a:ext>
            </a:extLst>
          </p:cNvPr>
          <p:cNvSpPr/>
          <p:nvPr/>
        </p:nvSpPr>
        <p:spPr>
          <a:xfrm>
            <a:off x="1382192" y="412641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19.33K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BARRAS_AVANCE_TARJETAS_TLM" descr="image.png">
            <a:extLst>
              <a:ext uri="{FF2B5EF4-FFF2-40B4-BE49-F238E27FC236}">
                <a16:creationId xmlns:a16="http://schemas.microsoft.com/office/drawing/2014/main" id="{95B84A48-D019-43E6-70B6-BBE942062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932" y="2346749"/>
            <a:ext cx="7845997" cy="24597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FFBC0E7D-6195-FAC3-A4EE-03551E5C2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3" y="-137127"/>
            <a:ext cx="2194564" cy="1249240"/>
          </a:xfrm>
          <a:prstGeom prst="rect">
            <a:avLst/>
          </a:prstGeom>
        </p:spPr>
      </p:pic>
      <p:pic>
        <p:nvPicPr>
          <p:cNvPr id="89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300570"/>
            <a:ext cx="1783080" cy="37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031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9E539-EA1E-29F8-E1EE-5FDED82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F8158E-749D-E526-85DF-E54EAE2B4374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90AEBA-F7DB-7615-F73E-25C957227BF8}"/>
              </a:ext>
            </a:extLst>
          </p:cNvPr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B49187-F1D4-0478-F94D-24E9D3553E50}"/>
              </a:ext>
            </a:extLst>
          </p:cNvPr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24D0FB1-CF98-05F0-47BC-EFAC429A0B6F}"/>
              </a:ext>
            </a:extLst>
          </p:cNvPr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UNICEF  |  DIAGNOSTICO Y SEGUIMIENTO</a:t>
            </a:r>
            <a:endParaRPr lang="en-US" sz="1667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A1FC2EF-2D12-05D5-710A-35B4FB97F669}"/>
              </a:ext>
            </a:extLst>
          </p:cNvPr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0E3854"/>
          </a:solidFill>
          <a:ln w="12700">
            <a:solidFill>
              <a:srgbClr val="0E3854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FF9265D-1367-B8F7-70DC-A763D916710C}"/>
              </a:ext>
            </a:extLst>
          </p:cNvPr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2 / 3</a:t>
            </a:r>
            <a:endParaRPr lang="en-US" sz="1067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69A7D52-88B3-F0B8-E39C-258AEF6F3BCC}"/>
              </a:ext>
            </a:extLst>
          </p:cNvPr>
          <p:cNvSpPr/>
          <p:nvPr/>
        </p:nvSpPr>
        <p:spPr>
          <a:xfrm>
            <a:off x="0" y="999744"/>
            <a:ext cx="5547360" cy="41452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190EF2E-CBA8-5B18-7B3B-035D59CD5870}"/>
              </a:ext>
            </a:extLst>
          </p:cNvPr>
          <p:cNvSpPr/>
          <p:nvPr/>
        </p:nvSpPr>
        <p:spPr>
          <a:xfrm>
            <a:off x="121920" y="999744"/>
            <a:ext cx="54254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" dirty="0">
                <a:solidFill>
                  <a:srgbClr val="FFFFFF"/>
                </a:solidFill>
              </a:rPr>
              <a:t>SEGUIMIENTO PLAN SEMANA ANTERIOR</a:t>
            </a:r>
            <a:endParaRPr lang="en-US" sz="1067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77D1AB1-E5D5-04F0-D800-538FC4DA791E}"/>
              </a:ext>
            </a:extLst>
          </p:cNvPr>
          <p:cNvSpPr/>
          <p:nvPr/>
        </p:nvSpPr>
        <p:spPr>
          <a:xfrm>
            <a:off x="0" y="1463040"/>
            <a:ext cx="5547360" cy="158902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21A1495-2C18-BA50-AD25-C5D0E9C966E9}"/>
              </a:ext>
            </a:extLst>
          </p:cNvPr>
          <p:cNvSpPr/>
          <p:nvPr/>
        </p:nvSpPr>
        <p:spPr>
          <a:xfrm>
            <a:off x="0" y="1463040"/>
            <a:ext cx="67056" cy="1589024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6F6348A-41F5-B2B4-A677-06C89FB088C3}"/>
              </a:ext>
            </a:extLst>
          </p:cNvPr>
          <p:cNvSpPr/>
          <p:nvPr/>
        </p:nvSpPr>
        <p:spPr>
          <a:xfrm>
            <a:off x="170688" y="1536192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267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FEE629C-E8D9-A277-74E9-B64079F26ED4}"/>
              </a:ext>
            </a:extLst>
          </p:cNvPr>
          <p:cNvSpPr/>
          <p:nvPr/>
        </p:nvSpPr>
        <p:spPr>
          <a:xfrm>
            <a:off x="170688" y="2420031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AFCB07"/>
                </a:solidFill>
              </a:rPr>
              <a:t>Ejecutado</a:t>
            </a:r>
            <a:endParaRPr lang="en-US" sz="12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8105EAC-C474-9171-5E09-C95644DD206D}"/>
              </a:ext>
            </a:extLst>
          </p:cNvPr>
          <p:cNvSpPr/>
          <p:nvPr/>
        </p:nvSpPr>
        <p:spPr>
          <a:xfrm>
            <a:off x="33528" y="3962400"/>
            <a:ext cx="5547360" cy="158902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fontAlgn="t"/>
            <a:r>
              <a:rPr lang="es-ES" sz="1400" dirty="0">
                <a:solidFill>
                  <a:srgbClr val="101828"/>
                </a:solidFill>
              </a:rPr>
              <a:t>Igualar/superar junio en Saving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9A03C9F-C5A0-63E2-CB20-9FF65B156118}"/>
              </a:ext>
            </a:extLst>
          </p:cNvPr>
          <p:cNvSpPr/>
          <p:nvPr/>
        </p:nvSpPr>
        <p:spPr>
          <a:xfrm>
            <a:off x="0" y="3113024"/>
            <a:ext cx="67056" cy="1589024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7D817F1-2084-1E4D-241F-018511048F25}"/>
              </a:ext>
            </a:extLst>
          </p:cNvPr>
          <p:cNvSpPr/>
          <p:nvPr/>
        </p:nvSpPr>
        <p:spPr>
          <a:xfrm>
            <a:off x="170688" y="3186176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267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F988CCB-3CBF-7C21-61EB-A7B3615050C3}"/>
              </a:ext>
            </a:extLst>
          </p:cNvPr>
          <p:cNvSpPr/>
          <p:nvPr/>
        </p:nvSpPr>
        <p:spPr>
          <a:xfrm>
            <a:off x="195072" y="5597347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AFCB07"/>
                </a:solidFill>
              </a:rPr>
              <a:t>En proceso</a:t>
            </a:r>
            <a:endParaRPr lang="en-US" sz="12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4BF49F7-8E85-BED4-C7D8-FEA8AEEE53B3}"/>
              </a:ext>
            </a:extLst>
          </p:cNvPr>
          <p:cNvSpPr/>
          <p:nvPr/>
        </p:nvSpPr>
        <p:spPr>
          <a:xfrm>
            <a:off x="0" y="4763008"/>
            <a:ext cx="67056" cy="1589024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CCB81E2-F059-E127-553B-D5C5350E94BD}"/>
              </a:ext>
            </a:extLst>
          </p:cNvPr>
          <p:cNvSpPr/>
          <p:nvPr/>
        </p:nvSpPr>
        <p:spPr>
          <a:xfrm>
            <a:off x="170688" y="4836160"/>
            <a:ext cx="5279136" cy="907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267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8632D91-B7F2-8F26-4673-FFE340204C67}"/>
              </a:ext>
            </a:extLst>
          </p:cNvPr>
          <p:cNvSpPr/>
          <p:nvPr/>
        </p:nvSpPr>
        <p:spPr>
          <a:xfrm>
            <a:off x="5657088" y="999744"/>
            <a:ext cx="24384" cy="54132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66B2FDF-9628-DC17-3FD8-5A9AFC889B59}"/>
              </a:ext>
            </a:extLst>
          </p:cNvPr>
          <p:cNvSpPr/>
          <p:nvPr/>
        </p:nvSpPr>
        <p:spPr>
          <a:xfrm>
            <a:off x="5791200" y="999744"/>
            <a:ext cx="6400800" cy="41452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D09BD62-18C9-3AA2-8201-5B3E05D42976}"/>
              </a:ext>
            </a:extLst>
          </p:cNvPr>
          <p:cNvSpPr/>
          <p:nvPr/>
        </p:nvSpPr>
        <p:spPr>
          <a:xfrm>
            <a:off x="5913120" y="999744"/>
            <a:ext cx="6278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" dirty="0">
                <a:solidFill>
                  <a:srgbClr val="FFFFFF"/>
                </a:solidFill>
              </a:rPr>
              <a:t>DIAGNOSTICO — CAUSAS RAIZ</a:t>
            </a:r>
            <a:endParaRPr lang="en-US" sz="1067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617A0B9-6B65-6DBB-D1BF-102AD481D338}"/>
              </a:ext>
            </a:extLst>
          </p:cNvPr>
          <p:cNvSpPr/>
          <p:nvPr/>
        </p:nvSpPr>
        <p:spPr>
          <a:xfrm>
            <a:off x="6264537" y="1422700"/>
            <a:ext cx="5903079" cy="2429972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240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74A759BD-5949-EEE9-E9A7-01036B602F7C}"/>
              </a:ext>
            </a:extLst>
          </p:cNvPr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2720377-8EA0-15A6-444C-5AB864AFB9FF}"/>
              </a:ext>
            </a:extLst>
          </p:cNvPr>
          <p:cNvSpPr/>
          <p:nvPr/>
        </p:nvSpPr>
        <p:spPr>
          <a:xfrm>
            <a:off x="5791200" y="1463040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DC3659DF-96A2-C406-05C3-C35494F49761}"/>
              </a:ext>
            </a:extLst>
          </p:cNvPr>
          <p:cNvSpPr/>
          <p:nvPr/>
        </p:nvSpPr>
        <p:spPr>
          <a:xfrm>
            <a:off x="6583680" y="158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67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9A3818AF-8744-E94A-FC1E-4BAA0705FF1F}"/>
              </a:ext>
            </a:extLst>
          </p:cNvPr>
          <p:cNvSpPr/>
          <p:nvPr/>
        </p:nvSpPr>
        <p:spPr>
          <a:xfrm>
            <a:off x="6583680" y="1926337"/>
            <a:ext cx="5486400" cy="10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BEF27566-7BDD-AC33-CEA8-AD6517596075}"/>
              </a:ext>
            </a:extLst>
          </p:cNvPr>
          <p:cNvSpPr/>
          <p:nvPr/>
        </p:nvSpPr>
        <p:spPr>
          <a:xfrm>
            <a:off x="6583680" y="3486912"/>
            <a:ext cx="134112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E42FFA78-5226-3BB5-E9EA-3F2AB5D3F2F0}"/>
              </a:ext>
            </a:extLst>
          </p:cNvPr>
          <p:cNvSpPr/>
          <p:nvPr/>
        </p:nvSpPr>
        <p:spPr>
          <a:xfrm>
            <a:off x="6583680" y="3486912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DC2626"/>
                </a:solidFill>
              </a:rPr>
              <a:t>Impacto Alto</a:t>
            </a:r>
            <a:endParaRPr lang="en-US" sz="1133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BEC225B9-D88C-6637-207B-EC36FBC0340C}"/>
              </a:ext>
            </a:extLst>
          </p:cNvPr>
          <p:cNvSpPr/>
          <p:nvPr/>
        </p:nvSpPr>
        <p:spPr>
          <a:xfrm>
            <a:off x="6583680" y="4324216"/>
            <a:ext cx="3937299" cy="10605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14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1AA52ED7-C8D2-1D35-5E8D-D836582DD359}"/>
              </a:ext>
            </a:extLst>
          </p:cNvPr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8FE961B8-22D3-3796-1D39-94CD10A571E7}"/>
              </a:ext>
            </a:extLst>
          </p:cNvPr>
          <p:cNvSpPr/>
          <p:nvPr/>
        </p:nvSpPr>
        <p:spPr>
          <a:xfrm>
            <a:off x="5791200" y="3938016"/>
            <a:ext cx="670560" cy="238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DBEA2F3A-AB83-979C-2429-61BA831A577E}"/>
              </a:ext>
            </a:extLst>
          </p:cNvPr>
          <p:cNvSpPr/>
          <p:nvPr/>
        </p:nvSpPr>
        <p:spPr>
          <a:xfrm>
            <a:off x="6583680" y="40599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67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8FD86D12-9F86-5E77-65F5-54A4BA7B8159}"/>
              </a:ext>
            </a:extLst>
          </p:cNvPr>
          <p:cNvSpPr/>
          <p:nvPr/>
        </p:nvSpPr>
        <p:spPr>
          <a:xfrm>
            <a:off x="6583680" y="4401313"/>
            <a:ext cx="5486400" cy="10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551E0EDE-4842-2D2D-CBB2-AA34A4E21C56}"/>
              </a:ext>
            </a:extLst>
          </p:cNvPr>
          <p:cNvSpPr/>
          <p:nvPr/>
        </p:nvSpPr>
        <p:spPr>
          <a:xfrm>
            <a:off x="6571488" y="5670865"/>
            <a:ext cx="134112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C411D48F-0587-983A-34C7-7492F70DDE85}"/>
              </a:ext>
            </a:extLst>
          </p:cNvPr>
          <p:cNvSpPr/>
          <p:nvPr/>
        </p:nvSpPr>
        <p:spPr>
          <a:xfrm>
            <a:off x="6583680" y="5670865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b="1" dirty="0">
                <a:solidFill>
                  <a:srgbClr val="DC2626"/>
                </a:solidFill>
              </a:rPr>
              <a:t>Impacto Alto</a:t>
            </a:r>
            <a:endParaRPr lang="en-US" sz="1133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A0D737DA-6C4C-954F-215A-0E1D7125BB9F}"/>
              </a:ext>
            </a:extLst>
          </p:cNvPr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 sz="240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04F14925-C383-657B-9C85-5C09CAC15AE8}"/>
              </a:ext>
            </a:extLst>
          </p:cNvPr>
          <p:cNvSpPr/>
          <p:nvPr/>
        </p:nvSpPr>
        <p:spPr>
          <a:xfrm>
            <a:off x="268224" y="6486144"/>
            <a:ext cx="11582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67085"/>
                </a:solidFill>
              </a:rPr>
              <a:t>TU META ES NUESTRA META  ·  UNICEF  |  DIAGNOSTICO  |  Jose Jesus San Martin  |   Agosto 2026</a:t>
            </a:r>
            <a:endParaRPr lang="en-US" sz="1000" dirty="0"/>
          </a:p>
        </p:txBody>
      </p:sp>
      <p:pic>
        <p:nvPicPr>
          <p:cNvPr id="45" name="Picture 8">
            <a:extLst>
              <a:ext uri="{FF2B5EF4-FFF2-40B4-BE49-F238E27FC236}">
                <a16:creationId xmlns:a16="http://schemas.microsoft.com/office/drawing/2014/main" id="{11BA17C1-F315-D75F-1951-FCD0339BA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2512" y="-15361"/>
            <a:ext cx="1731264" cy="985509"/>
          </a:xfrm>
          <a:prstGeom prst="rect">
            <a:avLst/>
          </a:prstGeom>
        </p:spPr>
      </p:pic>
      <p:sp>
        <p:nvSpPr>
          <p:cNvPr id="40" name="Shape 12">
            <a:extLst>
              <a:ext uri="{FF2B5EF4-FFF2-40B4-BE49-F238E27FC236}">
                <a16:creationId xmlns:a16="http://schemas.microsoft.com/office/drawing/2014/main" id="{8A7481B4-F99B-DA41-3BFE-DF0D56448BC5}"/>
              </a:ext>
            </a:extLst>
          </p:cNvPr>
          <p:cNvSpPr/>
          <p:nvPr/>
        </p:nvSpPr>
        <p:spPr>
          <a:xfrm>
            <a:off x="121920" y="1524000"/>
            <a:ext cx="5230368" cy="871647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pPr fontAlgn="t"/>
            <a:r>
              <a:rPr lang="es-ES" sz="1400" dirty="0">
                <a:solidFill>
                  <a:srgbClr val="101828"/>
                </a:solidFill>
              </a:rPr>
              <a:t>Cerrar Digital en la meta</a:t>
            </a: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192FD573-9785-5141-DD6B-A8A02316E1DF}"/>
              </a:ext>
            </a:extLst>
          </p:cNvPr>
          <p:cNvSpPr/>
          <p:nvPr/>
        </p:nvSpPr>
        <p:spPr>
          <a:xfrm>
            <a:off x="6669741" y="40344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078"/>
                </a:solidFill>
              </a:rPr>
              <a:t>CERRAR SAVING CON + DE 8700</a:t>
            </a:r>
            <a:endParaRPr lang="en-US" sz="1400" dirty="0"/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60CEE97D-0182-911D-F2B0-841022589DAE}"/>
              </a:ext>
            </a:extLst>
          </p:cNvPr>
          <p:cNvSpPr/>
          <p:nvPr/>
        </p:nvSpPr>
        <p:spPr>
          <a:xfrm>
            <a:off x="6669741" y="1591057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600" b="1" dirty="0">
                <a:solidFill>
                  <a:srgbClr val="145078"/>
                </a:solidFill>
              </a:rPr>
              <a:t>Cerrar 240 en cantidad al 09/08.</a:t>
            </a:r>
            <a:endParaRPr lang="en-US" sz="1600" b="1" dirty="0">
              <a:solidFill>
                <a:srgbClr val="1450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5952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15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46304" y="2881025"/>
            <a:ext cx="11704320" cy="304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402336" y="1854002"/>
            <a:ext cx="11643360" cy="1072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defTabSz="1219170"/>
            <a:r>
              <a:rPr lang="en-US" sz="4267" b="1" dirty="0">
                <a:solidFill>
                  <a:srgbClr val="FFFFFF"/>
                </a:solidFill>
                <a:latin typeface="Calibri" panose="020F0502020204030204"/>
              </a:rPr>
              <a:t>SANNA SEGUROS</a:t>
            </a:r>
            <a:endParaRPr lang="en-US" sz="4267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268224" y="2976433"/>
            <a:ext cx="1164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dirty="0">
                <a:solidFill>
                  <a:srgbClr val="FFFFFF"/>
                </a:solidFill>
                <a:latin typeface="Calibri" panose="020F0502020204030204"/>
              </a:rPr>
              <a:t>Claudia Nuñez: Jefa de Ventas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268224" y="3741264"/>
            <a:ext cx="116433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FFFFFF"/>
                </a:solidFill>
                <a:latin typeface="Calibri" panose="020F0502020204030204"/>
              </a:rPr>
              <a:t>Agosto 2026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277C8468-0A3E-3EC2-4F2C-7DC598DAE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105" y="4894385"/>
            <a:ext cx="2411404" cy="2411404"/>
          </a:xfrm>
          <a:prstGeom prst="rect">
            <a:avLst/>
          </a:prstGeom>
        </p:spPr>
      </p:pic>
      <p:pic>
        <p:nvPicPr>
          <p:cNvPr id="4" name="Picture 2" descr="Busca trabajo en SANNA . Encuentra empleo en SANNA incluyendo sueldos,  ratings y reviews compartidos anónimanete por colaboradores de SANNA .">
            <a:extLst>
              <a:ext uri="{FF2B5EF4-FFF2-40B4-BE49-F238E27FC236}">
                <a16:creationId xmlns:a16="http://schemas.microsoft.com/office/drawing/2014/main" id="{1613AFE6-3234-365E-4BCC-B08FF8EBB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8640" y="5193791"/>
            <a:ext cx="3657600" cy="111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77825"/>
            <a:ext cx="12192000" cy="34137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RESUMEN GENERAL|  SANNA SEGUROS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4A0E07"/>
          </a:solidFill>
          <a:ln w="12700">
            <a:solidFill>
              <a:srgbClr val="4A0E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1 / 3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6329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43840" cy="2438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7136" y="999744"/>
            <a:ext cx="264566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D97706"/>
                </a:solidFill>
                <a:latin typeface="Calibri" panose="020F0502020204030204"/>
              </a:rPr>
              <a:t>EN SEGUIMIENTO</a:t>
            </a:r>
          </a:p>
        </p:txBody>
      </p:sp>
      <p:sp>
        <p:nvSpPr>
          <p:cNvPr id="12" name="Text 9"/>
          <p:cNvSpPr/>
          <p:nvPr/>
        </p:nvSpPr>
        <p:spPr>
          <a:xfrm>
            <a:off x="268224" y="1536192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dirty="0">
                <a:solidFill>
                  <a:srgbClr val="9A9189"/>
                </a:solidFill>
                <a:latin typeface="Calibri" panose="020F0502020204030204"/>
              </a:rPr>
              <a:t>Jefa de Ventas: Claudia Nuñez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68224" y="1950720"/>
            <a:ext cx="3108960" cy="1853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66" b="1" dirty="0">
                <a:solidFill>
                  <a:srgbClr val="D97706"/>
                </a:solidFill>
                <a:latin typeface="Calibri" panose="020F0502020204030204"/>
              </a:rPr>
              <a:t>89%</a:t>
            </a:r>
            <a:endParaRPr lang="en-US" sz="106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-37795" y="3509048"/>
            <a:ext cx="3108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9A9189"/>
                </a:solidFill>
                <a:latin typeface="Calibri" panose="020F0502020204030204"/>
              </a:rPr>
              <a:t>Avance promedio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511297" y="999744"/>
            <a:ext cx="26823" cy="5425440"/>
          </a:xfrm>
          <a:prstGeom prst="rect">
            <a:avLst/>
          </a:prstGeom>
          <a:solidFill>
            <a:srgbClr val="E5DFD8"/>
          </a:solidFill>
          <a:ln w="1270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657600" y="999744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84048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9A9189"/>
                </a:solidFill>
                <a:latin typeface="Calibri" panose="020F0502020204030204"/>
              </a:rPr>
              <a:t>CONECTADOS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4048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120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894320" y="999744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077200" y="1121664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9A9189"/>
                </a:solidFill>
                <a:latin typeface="Calibri" panose="020F0502020204030204"/>
              </a:rPr>
              <a:t>DOTACION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077200" y="1365504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130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657600" y="2145792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84048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9A9189"/>
                </a:solidFill>
                <a:latin typeface="Calibri" panose="020F0502020204030204"/>
              </a:rPr>
              <a:t>PEND. SELECCION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84048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894320" y="2145792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077200" y="2267712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9A9189"/>
                </a:solidFill>
                <a:latin typeface="Calibri" panose="020F0502020204030204"/>
              </a:rPr>
              <a:t>PEND. INDUCCION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077200" y="2511552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12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657600" y="3291840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84048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9A9189"/>
                </a:solidFill>
                <a:latin typeface="Calibri" panose="020F0502020204030204"/>
              </a:rPr>
              <a:t>PRESUPUESTO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4048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140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894320" y="3291840"/>
            <a:ext cx="4114800" cy="1048512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077200" y="3413760"/>
            <a:ext cx="3870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40" kern="0" spc="53" dirty="0">
                <a:solidFill>
                  <a:srgbClr val="9A9189"/>
                </a:solidFill>
                <a:latin typeface="Calibri" panose="020F0502020204030204"/>
              </a:rPr>
              <a:t>SEMANA</a:t>
            </a:r>
            <a:endParaRPr lang="en-US" sz="10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077200" y="3657600"/>
            <a:ext cx="387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6B150B"/>
                </a:solidFill>
                <a:latin typeface="Calibri" panose="020F0502020204030204"/>
              </a:rPr>
              <a:t>05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0" y="4559809"/>
            <a:ext cx="12192000" cy="375513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43840" y="4559809"/>
            <a:ext cx="414528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Sub-campaña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562503" y="4553713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Presupuesto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035040" y="4559809"/>
            <a:ext cx="28041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Avance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8875776" y="4559809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% Logro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0058400" y="4559809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>
                <a:solidFill>
                  <a:srgbClr val="FFFFFF"/>
                </a:solidFill>
                <a:latin typeface="Calibri" panose="020F0502020204030204"/>
              </a:rPr>
              <a:t>Proyeccion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0" y="4935322"/>
            <a:ext cx="12192000" cy="375513"/>
          </a:xfrm>
          <a:prstGeom prst="rect">
            <a:avLst/>
          </a:prstGeom>
          <a:solidFill>
            <a:srgbClr val="FFFFFF"/>
          </a:solidFill>
          <a:ln w="381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43840" y="4935322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6B150B"/>
                </a:solidFill>
                <a:latin typeface="Calibri" panose="020F0502020204030204"/>
              </a:rPr>
              <a:t>SANNA Seguros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3866608" y="4935322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50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035040" y="5040466"/>
            <a:ext cx="2560320" cy="157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035040" y="5040466"/>
            <a:ext cx="2176272" cy="1577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8875776" y="4935322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D97706"/>
                </a:solidFill>
                <a:latin typeface="Calibri" panose="020F0502020204030204"/>
              </a:rPr>
              <a:t>85%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10058400" y="4935322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9A9189"/>
                </a:solidFill>
                <a:latin typeface="Calibri" panose="020F0502020204030204"/>
              </a:rPr>
              <a:t>820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243840" y="5310836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3866608" y="5310836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875776" y="5310836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10058400" y="5310836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243840" y="5686350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3866608" y="5686350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8875776" y="5686350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10058400" y="5686350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243840" y="6061864"/>
            <a:ext cx="39014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3866608" y="6061864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8875776" y="6061864"/>
            <a:ext cx="115824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10058400" y="6061864"/>
            <a:ext cx="195072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Shape 66"/>
          <p:cNvSpPr/>
          <p:nvPr/>
        </p:nvSpPr>
        <p:spPr>
          <a:xfrm flipV="1">
            <a:off x="0" y="6365962"/>
            <a:ext cx="12192000" cy="120183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33">
            <a:extLst>
              <a:ext uri="{FF2B5EF4-FFF2-40B4-BE49-F238E27FC236}">
                <a16:creationId xmlns:a16="http://schemas.microsoft.com/office/drawing/2014/main" id="{1FEADA45-2A4C-A74C-7E13-45E36139D062}"/>
              </a:ext>
            </a:extLst>
          </p:cNvPr>
          <p:cNvSpPr/>
          <p:nvPr/>
        </p:nvSpPr>
        <p:spPr>
          <a:xfrm>
            <a:off x="4507036" y="4556053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dirty="0" err="1">
                <a:solidFill>
                  <a:srgbClr val="FFFFFF"/>
                </a:solidFill>
                <a:latin typeface="Calibri" panose="020F0502020204030204"/>
              </a:rPr>
              <a:t>Conectados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2BBFCF78-CEF4-871D-6475-75D1D7F70882}"/>
              </a:ext>
            </a:extLst>
          </p:cNvPr>
          <p:cNvSpPr/>
          <p:nvPr/>
        </p:nvSpPr>
        <p:spPr>
          <a:xfrm>
            <a:off x="4777004" y="489508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40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150685D9-7BB8-48CF-2190-A720A6B3D794}"/>
              </a:ext>
            </a:extLst>
          </p:cNvPr>
          <p:cNvSpPr/>
          <p:nvPr/>
        </p:nvSpPr>
        <p:spPr>
          <a:xfrm>
            <a:off x="6709604" y="4942852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dirty="0">
                <a:solidFill>
                  <a:srgbClr val="111010"/>
                </a:solidFill>
                <a:latin typeface="Calibri" panose="020F0502020204030204"/>
              </a:rPr>
              <a:t>700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39">
            <a:extLst>
              <a:ext uri="{FF2B5EF4-FFF2-40B4-BE49-F238E27FC236}">
                <a16:creationId xmlns:a16="http://schemas.microsoft.com/office/drawing/2014/main" id="{C5AC93AD-5A08-6987-88BA-E57100E9C387}"/>
              </a:ext>
            </a:extLst>
          </p:cNvPr>
          <p:cNvSpPr/>
          <p:nvPr/>
        </p:nvSpPr>
        <p:spPr>
          <a:xfrm>
            <a:off x="4795269" y="5333729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BAF3BBE1-A491-554B-D7CC-56E9D1420CCB}"/>
              </a:ext>
            </a:extLst>
          </p:cNvPr>
          <p:cNvSpPr/>
          <p:nvPr/>
        </p:nvSpPr>
        <p:spPr>
          <a:xfrm>
            <a:off x="4817769" y="5707860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Text 39">
            <a:extLst>
              <a:ext uri="{FF2B5EF4-FFF2-40B4-BE49-F238E27FC236}">
                <a16:creationId xmlns:a16="http://schemas.microsoft.com/office/drawing/2014/main" id="{56EF3E9B-2C63-1B8D-F512-148C0552D520}"/>
              </a:ext>
            </a:extLst>
          </p:cNvPr>
          <p:cNvSpPr/>
          <p:nvPr/>
        </p:nvSpPr>
        <p:spPr>
          <a:xfrm>
            <a:off x="4850112" y="6083373"/>
            <a:ext cx="1584960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0" name="Imagen 89">
            <a:extLst>
              <a:ext uri="{FF2B5EF4-FFF2-40B4-BE49-F238E27FC236}">
                <a16:creationId xmlns:a16="http://schemas.microsoft.com/office/drawing/2014/main" id="{F6672D11-DCE6-2755-A6C0-69C3EA094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96" b="91034" l="5526" r="89929">
                        <a14:foregroundMark x1="5526" y1="55901" x2="8556" y2="77951"/>
                        <a14:foregroundMark x1="33333" y1="65691" x2="33512" y2="78774"/>
                        <a14:foregroundMark x1="17291" y1="76212" x2="14706" y2="85819"/>
                        <a14:foregroundMark x1="14706" y1="60384" x2="14528" y2="84446"/>
                        <a14:foregroundMark x1="35383" y1="63312" x2="28253" y2="91034"/>
                        <a14:foregroundMark x1="50178" y1="50686" x2="51426" y2="61665"/>
                        <a14:foregroundMark x1="85740" y1="6496" x2="84759" y2="10796"/>
                        <a14:foregroundMark x1="77629" y1="43550" x2="64973" y2="47667"/>
                        <a14:foregroundMark x1="78610" y1="28728" x2="72727" y2="33303"/>
                        <a14:foregroundMark x1="80214" y1="18573" x2="77451" y2="26715"/>
                        <a14:foregroundMark x1="82086" y1="30009" x2="85294" y2="34401"/>
                        <a14:foregroundMark x1="85918" y1="9790" x2="85918" y2="9790"/>
                        <a14:foregroundMark x1="85472" y1="10887" x2="86185" y2="18298"/>
                        <a14:foregroundMark x1="45365" y1="45197" x2="22638" y2="48582"/>
                        <a14:foregroundMark x1="53832" y1="55261" x2="54011" y2="762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08736" y="6537330"/>
            <a:ext cx="315872" cy="307708"/>
          </a:xfrm>
          <a:prstGeom prst="rect">
            <a:avLst/>
          </a:prstGeom>
        </p:spPr>
      </p:pic>
      <p:pic>
        <p:nvPicPr>
          <p:cNvPr id="92" name="Picture 76">
            <a:extLst>
              <a:ext uri="{FF2B5EF4-FFF2-40B4-BE49-F238E27FC236}">
                <a16:creationId xmlns:a16="http://schemas.microsoft.com/office/drawing/2014/main" id="{76438E3E-66CC-890A-DEE3-99CCE2DCB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122" y="-193091"/>
            <a:ext cx="1264005" cy="1264005"/>
          </a:xfrm>
          <a:prstGeom prst="rect">
            <a:avLst/>
          </a:prstGeom>
        </p:spPr>
      </p:pic>
      <p:sp>
        <p:nvSpPr>
          <p:cNvPr id="5" name="Text 39">
            <a:extLst>
              <a:ext uri="{FF2B5EF4-FFF2-40B4-BE49-F238E27FC236}">
                <a16:creationId xmlns:a16="http://schemas.microsoft.com/office/drawing/2014/main" id="{9C3C4FD9-A956-E798-2965-0B24A80E8071}"/>
              </a:ext>
            </a:extLst>
          </p:cNvPr>
          <p:cNvSpPr/>
          <p:nvPr/>
        </p:nvSpPr>
        <p:spPr>
          <a:xfrm>
            <a:off x="6845717" y="5318365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277059CD-1B47-1223-9703-71893B86DE14}"/>
              </a:ext>
            </a:extLst>
          </p:cNvPr>
          <p:cNvSpPr/>
          <p:nvPr/>
        </p:nvSpPr>
        <p:spPr>
          <a:xfrm>
            <a:off x="7011965" y="5693878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39">
            <a:extLst>
              <a:ext uri="{FF2B5EF4-FFF2-40B4-BE49-F238E27FC236}">
                <a16:creationId xmlns:a16="http://schemas.microsoft.com/office/drawing/2014/main" id="{7C2A76F4-D25F-B41A-FAFC-572F9DD9E162}"/>
              </a:ext>
            </a:extLst>
          </p:cNvPr>
          <p:cNvSpPr/>
          <p:nvPr/>
        </p:nvSpPr>
        <p:spPr>
          <a:xfrm>
            <a:off x="7064232" y="6061864"/>
            <a:ext cx="1680931" cy="37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3" name="Panel Resum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30250"/>
            <a:ext cx="12192000" cy="5592471"/>
          </a:xfrm>
          <a:prstGeom prst="rect">
            <a:avLst/>
          </a:prstGeom>
        </p:spPr>
      </p:pic>
      <p:sp>
        <p:nvSpPr>
          <p:cNvPr id="94" name="dato_manual"/>
          <p:cNvSpPr>
            <a:spLocks noGrp="1"/>
          </p:cNvSpPr>
          <p:nvPr/>
        </p:nvSpPr>
        <p:spPr>
          <a:xfrm>
            <a:off x="3657600" y="1899848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defTabSz="1219170"/>
            <a:r>
              <a:rPr lang="es-PE" sz="2200" b="1" dirty="0">
                <a:solidFill>
                  <a:srgbClr val="103A5E"/>
                </a:solidFill>
                <a:latin typeface="Arial"/>
              </a:rPr>
              <a:t>120</a:t>
            </a:r>
          </a:p>
        </p:txBody>
      </p:sp>
      <p:sp>
        <p:nvSpPr>
          <p:cNvPr id="95" name="dato_manual"/>
          <p:cNvSpPr>
            <a:spLocks noGrp="1"/>
          </p:cNvSpPr>
          <p:nvPr/>
        </p:nvSpPr>
        <p:spPr>
          <a:xfrm>
            <a:off x="5812535" y="1899848"/>
            <a:ext cx="1679448" cy="4632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defTabSz="1219170"/>
            <a:r>
              <a:rPr lang="es-PE" sz="2200" b="1" dirty="0">
                <a:solidFill>
                  <a:srgbClr val="103A5E"/>
                </a:solidFill>
                <a:latin typeface="Arial"/>
              </a:rPr>
              <a:t>14</a:t>
            </a:r>
          </a:p>
        </p:txBody>
      </p:sp>
      <p:sp>
        <p:nvSpPr>
          <p:cNvPr id="96" name="dato_manual"/>
          <p:cNvSpPr>
            <a:spLocks noGrp="1"/>
          </p:cNvSpPr>
          <p:nvPr/>
        </p:nvSpPr>
        <p:spPr>
          <a:xfrm>
            <a:off x="3374745" y="4522216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97" name="dato_manual"/>
          <p:cNvSpPr>
            <a:spLocks noGrp="1"/>
          </p:cNvSpPr>
          <p:nvPr/>
        </p:nvSpPr>
        <p:spPr>
          <a:xfrm>
            <a:off x="4779264" y="4522216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4A5A6A"/>
                </a:solidFill>
                <a:latin typeface="Arial"/>
              </a:rPr>
              <a:t>0</a:t>
            </a:r>
          </a:p>
        </p:txBody>
      </p:sp>
      <p:sp>
        <p:nvSpPr>
          <p:cNvPr id="98" name="dato_manual"/>
          <p:cNvSpPr>
            <a:spLocks noGrp="1"/>
          </p:cNvSpPr>
          <p:nvPr/>
        </p:nvSpPr>
        <p:spPr>
          <a:xfrm>
            <a:off x="3374745" y="5693325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123A5E"/>
                </a:solidFill>
                <a:latin typeface="Arial"/>
              </a:rPr>
              <a:t>0</a:t>
            </a:r>
          </a:p>
        </p:txBody>
      </p:sp>
      <p:sp>
        <p:nvSpPr>
          <p:cNvPr id="99" name="dato_manual"/>
          <p:cNvSpPr>
            <a:spLocks noGrp="1"/>
          </p:cNvSpPr>
          <p:nvPr/>
        </p:nvSpPr>
        <p:spPr>
          <a:xfrm>
            <a:off x="4779264" y="5693325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 defTabSz="1219170"/>
            <a:r>
              <a:rPr lang="es-PE" sz="1240" b="1" dirty="0">
                <a:solidFill>
                  <a:srgbClr val="123A5E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77825"/>
            <a:ext cx="12192000" cy="34137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SANNA SEGUROS:  Información al 8 de Agosto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1 / 5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8224" y="999744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0144" y="1097280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2752" y="999744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Bajo la meta</a:t>
            </a:r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9A9189"/>
                </a:solidFill>
                <a:latin typeface="Calibri" panose="020F0502020204030204"/>
              </a:rPr>
              <a:t>Sub </a:t>
            </a:r>
            <a:r>
              <a:rPr lang="en-US" sz="1133" i="1" dirty="0" err="1">
                <a:solidFill>
                  <a:srgbClr val="9A9189"/>
                </a:solidFill>
                <a:latin typeface="Calibri" panose="020F0502020204030204"/>
              </a:rPr>
              <a:t>Gerenta</a:t>
            </a:r>
            <a:r>
              <a:rPr lang="en-US" sz="1133" i="1" dirty="0">
                <a:solidFill>
                  <a:srgbClr val="9A9189"/>
                </a:solidFill>
                <a:latin typeface="Calibri" panose="020F0502020204030204"/>
              </a:rPr>
              <a:t>: Claudia Nuñez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0471" y="2754623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8800" b="1" dirty="0">
                <a:solidFill>
                  <a:srgbClr val="C0392B"/>
                </a:solidFill>
                <a:latin typeface="Calibri" panose="020F0502020204030204"/>
              </a:rPr>
              <a:t>3.0%</a:t>
            </a:r>
            <a:endParaRPr lang="en-US" sz="8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E5DFD8"/>
          </a:solidFill>
          <a:ln w="1270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998976" y="6193536"/>
            <a:ext cx="7815072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998976" y="4673600"/>
            <a:ext cx="7815072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998976" y="3153664"/>
            <a:ext cx="7815072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998976" y="1633728"/>
            <a:ext cx="7815072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8F6"/>
          </a:solidFill>
          <a:ln w="381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0" y="6486145"/>
            <a:ext cx="12192000" cy="21945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26">
            <a:extLst>
              <a:ext uri="{FF2B5EF4-FFF2-40B4-BE49-F238E27FC236}">
                <a16:creationId xmlns:a16="http://schemas.microsoft.com/office/drawing/2014/main" id="{A1FBE876-C87E-44F6-1B09-E7352548F12B}"/>
              </a:ext>
            </a:extLst>
          </p:cNvPr>
          <p:cNvSpPr/>
          <p:nvPr/>
        </p:nvSpPr>
        <p:spPr>
          <a:xfrm>
            <a:off x="540227" y="2671436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140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D2917A25-1176-7DD4-70EF-B4DA7CE6BC4A}"/>
              </a:ext>
            </a:extLst>
          </p:cNvPr>
          <p:cNvSpPr/>
          <p:nvPr/>
        </p:nvSpPr>
        <p:spPr>
          <a:xfrm>
            <a:off x="-99528" y="4189621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1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3" name="Text 26">
            <a:extLst>
              <a:ext uri="{FF2B5EF4-FFF2-40B4-BE49-F238E27FC236}">
                <a16:creationId xmlns:a16="http://schemas.microsoft.com/office/drawing/2014/main" id="{0B7D283D-A65C-1B11-E3D8-76028B73D1D6}"/>
              </a:ext>
            </a:extLst>
          </p:cNvPr>
          <p:cNvSpPr/>
          <p:nvPr/>
        </p:nvSpPr>
        <p:spPr>
          <a:xfrm>
            <a:off x="1498773" y="4185035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33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77A02C71-D92C-5CAC-3EF0-C7BBB4135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281" y="6508090"/>
            <a:ext cx="335673" cy="326997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06390E95-FB8C-6D12-75F9-804BB7F4D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1926" y="-217956"/>
            <a:ext cx="1264005" cy="1264005"/>
          </a:xfrm>
          <a:prstGeom prst="rect">
            <a:avLst/>
          </a:prstGeom>
        </p:spPr>
      </p:pic>
      <p:pic>
        <p:nvPicPr>
          <p:cNvPr id="5" name="BARRAS_AVANCE_FONO" descr="image.png">
            <a:extLst>
              <a:ext uri="{FF2B5EF4-FFF2-40B4-BE49-F238E27FC236}">
                <a16:creationId xmlns:a16="http://schemas.microsoft.com/office/drawing/2014/main" id="{72CBE53E-979D-41F8-9C26-0EFC33642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554" y="1873703"/>
            <a:ext cx="8665916" cy="3467821"/>
          </a:xfrm>
          <a:prstGeom prst="rect">
            <a:avLst/>
          </a:prstGeom>
        </p:spPr>
      </p:pic>
      <p:pic>
        <p:nvPicPr>
          <p:cNvPr id="78" name="Cliente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" y="5006340"/>
            <a:ext cx="117348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77825"/>
            <a:ext cx="12192000" cy="34137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SANNA |  DIAGNOSTICO Y SEGUIMIENTO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solidFill>
            <a:srgbClr val="4A0E07"/>
          </a:solidFill>
          <a:ln w="12700">
            <a:solidFill>
              <a:srgbClr val="4A0E0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2 / 3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999744"/>
            <a:ext cx="5547360" cy="414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920" y="999744"/>
            <a:ext cx="54254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kern="0" spc="40" dirty="0">
                <a:solidFill>
                  <a:srgbClr val="FFFFFF"/>
                </a:solidFill>
                <a:latin typeface="Calibri" panose="020F0502020204030204"/>
              </a:rPr>
              <a:t>SEGUIMIENTO PLAN SEMANA ANTERIOR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0" y="1463040"/>
            <a:ext cx="5547360" cy="1237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0" y="1463040"/>
            <a:ext cx="67056" cy="1176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70688" y="1536192"/>
            <a:ext cx="5279136" cy="6806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r>
              <a:rPr lang="es-ES" sz="1267" dirty="0">
                <a:solidFill>
                  <a:srgbClr val="111010"/>
                </a:solidFill>
                <a:latin typeface="Calibri" panose="020F0502020204030204"/>
              </a:rPr>
              <a:t>Incorporar ejecutivo(a) de relacionamiento </a:t>
            </a:r>
            <a:endParaRPr lang="en-US" sz="1267" dirty="0">
              <a:solidFill>
                <a:srgbClr val="111010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34112" y="2750624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 err="1">
                <a:solidFill>
                  <a:srgbClr val="E30713"/>
                </a:solidFill>
              </a:rPr>
              <a:t>Ejecutado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8392" y="3123083"/>
            <a:ext cx="5547360" cy="1554581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r>
              <a:rPr lang="es-ES" sz="1267" dirty="0">
                <a:solidFill>
                  <a:srgbClr val="111010"/>
                </a:solidFill>
                <a:latin typeface="Calibri" panose="020F0502020204030204"/>
              </a:rPr>
              <a:t>Replicar mejores prácticas y resolver bienvenida 48 h</a:t>
            </a:r>
            <a:endParaRPr lang="es-PE" sz="1267" dirty="0">
              <a:solidFill>
                <a:srgbClr val="111010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0" y="2700528"/>
            <a:ext cx="67056" cy="1176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19456" y="3750845"/>
            <a:ext cx="5279136" cy="6806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46304" y="4677664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 err="1">
                <a:solidFill>
                  <a:srgbClr val="E30713"/>
                </a:solidFill>
                <a:latin typeface="Calibri" panose="020F0502020204030204"/>
              </a:rPr>
              <a:t>Ejecutado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0" y="3938016"/>
            <a:ext cx="67056" cy="1176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0" y="5175504"/>
            <a:ext cx="67056" cy="1176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70688" y="5893247"/>
            <a:ext cx="5279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E30713"/>
                </a:solidFill>
                <a:latin typeface="Calibri" panose="020F0502020204030204"/>
              </a:rPr>
              <a:t>Ejecutado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657088" y="999744"/>
            <a:ext cx="24384" cy="5413248"/>
          </a:xfrm>
          <a:prstGeom prst="rect">
            <a:avLst/>
          </a:prstGeom>
          <a:solidFill>
            <a:srgbClr val="E5DFD8"/>
          </a:solidFill>
          <a:ln w="1270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791200" y="999744"/>
            <a:ext cx="6400800" cy="414528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913120" y="999744"/>
            <a:ext cx="6278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b="1" kern="0" spc="40" dirty="0">
                <a:solidFill>
                  <a:srgbClr val="FFFFFF"/>
                </a:solidFill>
                <a:latin typeface="Calibri" panose="020F0502020204030204"/>
              </a:rPr>
              <a:t>DIAGNOSTICO MES ACTUAL — CAUSAS RAIZ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791200" y="1463040"/>
            <a:ext cx="6400800" cy="156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791200" y="1463040"/>
            <a:ext cx="670560" cy="1564640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791200" y="1463040"/>
            <a:ext cx="670560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583680" y="158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6B150B"/>
                </a:solidFill>
                <a:latin typeface="Calibri" panose="020F0502020204030204"/>
              </a:rPr>
              <a:t>Objetivo del mes: 140 pólizas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583680" y="1926337"/>
            <a:ext cx="5486400" cy="692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111010"/>
                </a:solidFill>
                <a:latin typeface="Calibri" panose="020F0502020204030204"/>
              </a:rPr>
              <a:t>Buscar más empresas para colocar pólizas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583680" y="2661920"/>
            <a:ext cx="134112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583680" y="2661920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133" b="1" dirty="0">
                <a:solidFill>
                  <a:srgbClr val="DC2626"/>
                </a:solidFill>
                <a:latin typeface="Calibri" panose="020F0502020204030204"/>
              </a:rPr>
              <a:t>Impacto Alto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791200" y="3113024"/>
            <a:ext cx="6400800" cy="156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791200" y="3113024"/>
            <a:ext cx="670560" cy="1564640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791200" y="3113024"/>
            <a:ext cx="670560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583680" y="323494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 err="1">
                <a:solidFill>
                  <a:srgbClr val="6B150B"/>
                </a:solidFill>
                <a:latin typeface="Calibri" panose="020F0502020204030204"/>
              </a:rPr>
              <a:t>Cumplir</a:t>
            </a:r>
            <a:r>
              <a:rPr lang="en-US" sz="1467" b="1" dirty="0">
                <a:solidFill>
                  <a:srgbClr val="6B150B"/>
                </a:solidFill>
                <a:latin typeface="Calibri" panose="020F0502020204030204"/>
              </a:rPr>
              <a:t> la </a:t>
            </a:r>
            <a:r>
              <a:rPr lang="en-US" sz="1467" b="1" dirty="0" err="1">
                <a:solidFill>
                  <a:srgbClr val="6B150B"/>
                </a:solidFill>
                <a:latin typeface="Calibri" panose="020F0502020204030204"/>
              </a:rPr>
              <a:t>bienvenida</a:t>
            </a:r>
            <a:r>
              <a:rPr lang="en-US" sz="1467" b="1" dirty="0">
                <a:solidFill>
                  <a:srgbClr val="6B150B"/>
                </a:solidFill>
                <a:latin typeface="Calibri" panose="020F0502020204030204"/>
              </a:rPr>
              <a:t> </a:t>
            </a:r>
            <a:r>
              <a:rPr lang="en-US" sz="1467" b="1" dirty="0" err="1">
                <a:solidFill>
                  <a:srgbClr val="6B150B"/>
                </a:solidFill>
                <a:latin typeface="Calibri" panose="020F0502020204030204"/>
              </a:rPr>
              <a:t>en</a:t>
            </a:r>
            <a:r>
              <a:rPr lang="en-US" sz="1467" b="1" dirty="0">
                <a:solidFill>
                  <a:srgbClr val="6B150B"/>
                </a:solidFill>
                <a:latin typeface="Calibri" panose="020F0502020204030204"/>
              </a:rPr>
              <a:t> 48 </a:t>
            </a:r>
            <a:r>
              <a:rPr lang="en-US" sz="1467" b="1" dirty="0" err="1">
                <a:solidFill>
                  <a:srgbClr val="6B150B"/>
                </a:solidFill>
                <a:latin typeface="Calibri" panose="020F0502020204030204"/>
              </a:rPr>
              <a:t>hrs</a:t>
            </a:r>
            <a:r>
              <a:rPr lang="en-US" sz="1467" b="1" dirty="0">
                <a:solidFill>
                  <a:srgbClr val="6B150B"/>
                </a:solidFill>
                <a:latin typeface="Calibri" panose="020F0502020204030204"/>
              </a:rPr>
              <a:t> con </a:t>
            </a:r>
            <a:r>
              <a:rPr lang="en-US" sz="1467" b="1" dirty="0" err="1">
                <a:solidFill>
                  <a:srgbClr val="6B150B"/>
                </a:solidFill>
                <a:latin typeface="Calibri" panose="020F0502020204030204"/>
              </a:rPr>
              <a:t>los</a:t>
            </a:r>
            <a:r>
              <a:rPr lang="en-US" sz="1467" b="1" dirty="0">
                <a:solidFill>
                  <a:srgbClr val="6B150B"/>
                </a:solidFill>
                <a:latin typeface="Calibri" panose="020F0502020204030204"/>
              </a:rPr>
              <a:t> </a:t>
            </a:r>
            <a:r>
              <a:rPr lang="en-US" sz="1467" b="1" dirty="0" err="1">
                <a:solidFill>
                  <a:srgbClr val="6B150B"/>
                </a:solidFill>
                <a:latin typeface="Calibri" panose="020F0502020204030204"/>
              </a:rPr>
              <a:t>referidos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583680" y="3576321"/>
            <a:ext cx="5486400" cy="692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583680" y="4311904"/>
            <a:ext cx="1341120" cy="292608"/>
          </a:xfrm>
          <a:prstGeom prst="rect">
            <a:avLst/>
          </a:prstGeom>
          <a:solidFill>
            <a:srgbClr val="FEECEE"/>
          </a:solidFill>
          <a:ln w="12700">
            <a:solidFill>
              <a:srgbClr val="FEECEE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583680" y="4311904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133" b="1" dirty="0">
                <a:solidFill>
                  <a:srgbClr val="E30713"/>
                </a:solidFill>
                <a:latin typeface="Calibri" panose="020F0502020204030204"/>
              </a:rPr>
              <a:t>Impacto Bajo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6583680" y="5226305"/>
            <a:ext cx="5486400" cy="692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solidFill>
            <a:srgbClr val="FEF9E7"/>
          </a:solidFill>
          <a:ln w="12700">
            <a:solidFill>
              <a:srgbClr val="FEF9E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583680" y="5961888"/>
            <a:ext cx="134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133" b="1" dirty="0">
                <a:solidFill>
                  <a:srgbClr val="C97A0C"/>
                </a:solidFill>
                <a:latin typeface="Calibri" panose="020F0502020204030204"/>
              </a:rPr>
              <a:t>Impacto Medio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0" y="5876544"/>
            <a:ext cx="12192000" cy="487680"/>
          </a:xfrm>
          <a:prstGeom prst="rect">
            <a:avLst/>
          </a:prstGeom>
          <a:solidFill>
            <a:srgbClr val="FBF2F0"/>
          </a:solidFill>
          <a:ln w="635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219456" y="5876544"/>
            <a:ext cx="11826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B150B"/>
                </a:solidFill>
                <a:latin typeface="Calibri" panose="020F0502020204030204"/>
              </a:rPr>
              <a:t>Nota: BanBif cumplido al 100% (S/ 1,503,083). Foco en Tarjetas e induccion pendiente.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8F6"/>
          </a:solidFill>
          <a:ln w="3810">
            <a:solidFill>
              <a:srgbClr val="E5DFD8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0" y="6486145"/>
            <a:ext cx="12192000" cy="21945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219456" y="6486144"/>
            <a:ext cx="104851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00" dirty="0">
                <a:solidFill>
                  <a:srgbClr val="9A9189"/>
                </a:solidFill>
                <a:latin typeface="Calibri" panose="020F0502020204030204"/>
              </a:rPr>
              <a:t>DIAGNOSTICO  |  Claudia Nuñez  |  Agosto 2026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8" name="Picture 76">
            <a:extLst>
              <a:ext uri="{FF2B5EF4-FFF2-40B4-BE49-F238E27FC236}">
                <a16:creationId xmlns:a16="http://schemas.microsoft.com/office/drawing/2014/main" id="{F4C3F8F0-14D7-07DF-2372-ED3640609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026" y="-141756"/>
            <a:ext cx="1264005" cy="1264005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95D9564F-9BCB-77FA-43C3-4015E7CBD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96" b="91034" l="5526" r="89929">
                        <a14:foregroundMark x1="5526" y1="55901" x2="8556" y2="77951"/>
                        <a14:foregroundMark x1="33333" y1="65691" x2="33512" y2="78774"/>
                        <a14:foregroundMark x1="17291" y1="76212" x2="14706" y2="85819"/>
                        <a14:foregroundMark x1="14706" y1="60384" x2="14528" y2="84446"/>
                        <a14:foregroundMark x1="35383" y1="63312" x2="28253" y2="91034"/>
                        <a14:foregroundMark x1="50178" y1="50686" x2="51426" y2="61665"/>
                        <a14:foregroundMark x1="85740" y1="6496" x2="84759" y2="10796"/>
                        <a14:foregroundMark x1="77629" y1="43550" x2="64973" y2="47667"/>
                        <a14:foregroundMark x1="78610" y1="28728" x2="72727" y2="33303"/>
                        <a14:foregroundMark x1="80214" y1="18573" x2="77451" y2="26715"/>
                        <a14:foregroundMark x1="82086" y1="30009" x2="85294" y2="34401"/>
                        <a14:foregroundMark x1="85918" y1="9790" x2="85918" y2="9790"/>
                        <a14:foregroundMark x1="85472" y1="10887" x2="86185" y2="18298"/>
                        <a14:foregroundMark x1="45365" y1="45197" x2="22638" y2="48582"/>
                        <a14:foregroundMark x1="53832" y1="55261" x2="54011" y2="762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08736" y="6537330"/>
            <a:ext cx="315872" cy="307708"/>
          </a:xfrm>
          <a:prstGeom prst="rect">
            <a:avLst/>
          </a:prstGeom>
        </p:spPr>
      </p:pic>
      <p:sp>
        <p:nvSpPr>
          <p:cNvPr id="4" name="Text 31">
            <a:extLst>
              <a:ext uri="{FF2B5EF4-FFF2-40B4-BE49-F238E27FC236}">
                <a16:creationId xmlns:a16="http://schemas.microsoft.com/office/drawing/2014/main" id="{7561DE02-26FD-2DBF-6E4C-F778270D9516}"/>
              </a:ext>
            </a:extLst>
          </p:cNvPr>
          <p:cNvSpPr/>
          <p:nvPr/>
        </p:nvSpPr>
        <p:spPr>
          <a:xfrm>
            <a:off x="6461760" y="3540320"/>
            <a:ext cx="5486400" cy="692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s-ES" sz="1200" dirty="0">
                <a:solidFill>
                  <a:srgbClr val="111010"/>
                </a:solidFill>
                <a:latin typeface="Calibri" panose="020F0502020204030204"/>
              </a:rPr>
              <a:t>Asesora top (26 pólizas) comparta factores clave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45078"/>
          </a:solidFill>
          <a:ln w="16933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AFCB07"/>
          </a:solidFill>
          <a:ln w="16933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BBVA CONVENIOS  | GENERAL: Información al 8 de Agosto </a:t>
            </a:r>
            <a:endParaRPr lang="en-US" sz="1667" dirty="0"/>
          </a:p>
        </p:txBody>
      </p:sp>
      <p:sp>
        <p:nvSpPr>
          <p:cNvPr id="8" name="Text 5"/>
          <p:cNvSpPr/>
          <p:nvPr/>
        </p:nvSpPr>
        <p:spPr>
          <a:xfrm>
            <a:off x="11436096" y="950976"/>
            <a:ext cx="694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</a:rPr>
              <a:t>2 / 4</a:t>
            </a:r>
            <a:endParaRPr lang="en-US" sz="1067" dirty="0"/>
          </a:p>
        </p:txBody>
      </p:sp>
      <p:sp>
        <p:nvSpPr>
          <p:cNvPr id="12" name="Text 9"/>
          <p:cNvSpPr/>
          <p:nvPr/>
        </p:nvSpPr>
        <p:spPr>
          <a:xfrm>
            <a:off x="268224" y="148742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667085"/>
                </a:solidFill>
              </a:rPr>
              <a:t>Sub Gerente : Sheyla Ramos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499872" y="2693035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C0392B"/>
                </a:solidFill>
              </a:rPr>
              <a:t>63.2%</a:t>
            </a:r>
            <a:endParaRPr lang="en-US" sz="96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27EA2489-7279-F978-D858-EE8912551351}"/>
              </a:ext>
            </a:extLst>
          </p:cNvPr>
          <p:cNvSpPr/>
          <p:nvPr/>
        </p:nvSpPr>
        <p:spPr>
          <a:xfrm>
            <a:off x="564611" y="2700881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6.50M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610F36D7-6934-4762-36C4-25EB5CC397D4}"/>
              </a:ext>
            </a:extLst>
          </p:cNvPr>
          <p:cNvSpPr/>
          <p:nvPr/>
        </p:nvSpPr>
        <p:spPr>
          <a:xfrm>
            <a:off x="-75144" y="4219067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500.9K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470AAE93-3E6D-6ABC-978C-0EBA14A72CA4}"/>
              </a:ext>
            </a:extLst>
          </p:cNvPr>
          <p:cNvSpPr/>
          <p:nvPr/>
        </p:nvSpPr>
        <p:spPr>
          <a:xfrm>
            <a:off x="1523157" y="4214480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792.1K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5" name="Imagen_barras" descr="image.png">
            <a:extLst>
              <a:ext uri="{FF2B5EF4-FFF2-40B4-BE49-F238E27FC236}">
                <a16:creationId xmlns:a16="http://schemas.microsoft.com/office/drawing/2014/main" id="{A3B3A0DA-44FD-69D2-8D56-F057EFDAB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1234571"/>
            <a:ext cx="7837469" cy="3245425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3213149F-0CF0-EF74-5FE2-D13E756455B8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E877B0F1-27DA-4E32-C4EE-4F4F411F4FCA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E6607949-A43B-8073-1A4C-3B902659B7AF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0392B"/>
                </a:solidFill>
              </a:rPr>
              <a:t>Bajo la meta</a:t>
            </a:r>
            <a:endParaRPr lang="en-US" sz="1267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372A4D65-94DD-9C93-0BCD-B3C2450C16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7" name="Cliente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212682"/>
            <a:ext cx="1783080" cy="547436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2700">
            <a:solidFill>
              <a:srgbClr val="6B150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2700">
            <a:solidFill>
              <a:srgbClr val="E30713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kern="0" spc="40" dirty="0">
                <a:solidFill>
                  <a:srgbClr val="FFFFFF"/>
                </a:solidFill>
                <a:latin typeface="Calibri" panose="020F0502020204030204"/>
              </a:rPr>
              <a:t>BCP CONVENIOS  | GENERAL: Informacion al 8 de Agosto  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1920" y="1452471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i="1" dirty="0">
                <a:solidFill>
                  <a:srgbClr val="667085"/>
                </a:solidFill>
                <a:latin typeface="Calibri" panose="020F0502020204030204"/>
              </a:rPr>
              <a:t>Sub Gerente: Jhonny Vega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1653" y="2952803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9600" b="1" dirty="0">
                <a:solidFill>
                  <a:srgbClr val="C0392B"/>
                </a:solidFill>
                <a:latin typeface="Calibri" panose="020F0502020204030204"/>
              </a:rPr>
              <a:t>40.7%</a:t>
            </a:r>
            <a:endParaRPr lang="en-US" sz="9600" dirty="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8480DA6F-65FA-B069-34CD-9AA6C627D6DC}"/>
              </a:ext>
            </a:extLst>
          </p:cNvPr>
          <p:cNvSpPr/>
          <p:nvPr/>
        </p:nvSpPr>
        <p:spPr>
          <a:xfrm>
            <a:off x="610619" y="284265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META: 8.50M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7C8E20B4-2106-61B7-614C-6736DAF7EF5F}"/>
              </a:ext>
            </a:extLst>
          </p:cNvPr>
          <p:cNvSpPr/>
          <p:nvPr/>
        </p:nvSpPr>
        <p:spPr>
          <a:xfrm>
            <a:off x="-98148" y="438384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AVANCE: 893.4K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741327E9-B672-3DCB-C2E1-A7265FAA11FC}"/>
              </a:ext>
            </a:extLst>
          </p:cNvPr>
          <p:cNvSpPr/>
          <p:nvPr/>
        </p:nvSpPr>
        <p:spPr>
          <a:xfrm>
            <a:off x="1523157" y="4402261"/>
            <a:ext cx="2036907" cy="352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b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META AVANCE: 2.19M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pic>
        <p:nvPicPr>
          <p:cNvPr id="8" name="Imagen_barras" descr="image.png">
            <a:extLst>
              <a:ext uri="{FF2B5EF4-FFF2-40B4-BE49-F238E27FC236}">
                <a16:creationId xmlns:a16="http://schemas.microsoft.com/office/drawing/2014/main" id="{9B074277-10BE-3B3E-3741-ED0214CF2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338" y="935736"/>
            <a:ext cx="7585285" cy="3473054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5E2F0946-28EF-962B-4113-EE13E9AF55C5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2700">
            <a:solidFill>
              <a:srgbClr val="F7DDDA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6A077831-C390-D5A5-FA6A-1FEC2314D1E9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1219170"/>
            <a:endParaRPr lang="es-P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F7A403F1-17A5-172C-D72C-E235F0491CA5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67" b="1" dirty="0">
                <a:solidFill>
                  <a:srgbClr val="C0392B"/>
                </a:solidFill>
                <a:latin typeface="Calibri" panose="020F0502020204030204"/>
              </a:rPr>
              <a:t>Bajo la meta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0332C3-2CA6-5458-CC22-55C4D67D8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258537"/>
            <a:ext cx="1783080" cy="45572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6B150B"/>
          </a:solidFill>
          <a:ln w="16933">
            <a:solidFill>
              <a:srgbClr val="6B150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877824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12192000" cy="42672"/>
          </a:xfrm>
          <a:prstGeom prst="rect">
            <a:avLst/>
          </a:prstGeom>
          <a:solidFill>
            <a:srgbClr val="E30713"/>
          </a:solidFill>
          <a:ln w="16933">
            <a:solidFill>
              <a:srgbClr val="E3071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68224" y="0"/>
            <a:ext cx="999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kern="0" spc="40" dirty="0">
                <a:solidFill>
                  <a:srgbClr val="FFFFFF"/>
                </a:solidFill>
              </a:rPr>
              <a:t>SBP CONVENIOS  | GENERAL: Información al 8 de Agosto  </a:t>
            </a:r>
            <a:endParaRPr lang="en-US" sz="1667" dirty="0"/>
          </a:p>
        </p:txBody>
      </p:sp>
      <p:sp>
        <p:nvSpPr>
          <p:cNvPr id="12" name="Text 9"/>
          <p:cNvSpPr/>
          <p:nvPr/>
        </p:nvSpPr>
        <p:spPr>
          <a:xfrm>
            <a:off x="182880" y="1670304"/>
            <a:ext cx="3108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3" i="1" dirty="0">
                <a:solidFill>
                  <a:srgbClr val="667085"/>
                </a:solidFill>
              </a:rPr>
              <a:t>Gerente: Ivan Vilcapoma</a:t>
            </a:r>
            <a:endParaRPr lang="en-US" sz="1133" dirty="0"/>
          </a:p>
        </p:txBody>
      </p:sp>
      <p:sp>
        <p:nvSpPr>
          <p:cNvPr id="13" name="Text 10"/>
          <p:cNvSpPr/>
          <p:nvPr/>
        </p:nvSpPr>
        <p:spPr>
          <a:xfrm>
            <a:off x="321653" y="2952803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C0392B"/>
                </a:solidFill>
              </a:rPr>
              <a:t>29.8%</a:t>
            </a:r>
            <a:endParaRPr lang="en-US" sz="96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35680" y="999744"/>
            <a:ext cx="24384" cy="5437632"/>
          </a:xfrm>
          <a:prstGeom prst="rect">
            <a:avLst/>
          </a:prstGeom>
          <a:solidFill>
            <a:srgbClr val="F2F4F7"/>
          </a:solidFill>
          <a:ln w="16933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6486144"/>
            <a:ext cx="12192000" cy="341376"/>
          </a:xfrm>
          <a:prstGeom prst="rect">
            <a:avLst/>
          </a:prstGeom>
          <a:solidFill>
            <a:srgbClr val="FAFBFC"/>
          </a:solidFill>
          <a:ln w="508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8480DA6F-65FA-B069-34CD-9AA6C627D6DC}"/>
              </a:ext>
            </a:extLst>
          </p:cNvPr>
          <p:cNvSpPr/>
          <p:nvPr/>
        </p:nvSpPr>
        <p:spPr>
          <a:xfrm>
            <a:off x="610619" y="284265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META: 1.80M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7C8E20B4-2106-61B7-614C-6736DAF7EF5F}"/>
              </a:ext>
            </a:extLst>
          </p:cNvPr>
          <p:cNvSpPr/>
          <p:nvPr/>
        </p:nvSpPr>
        <p:spPr>
          <a:xfrm>
            <a:off x="-98148" y="4383843"/>
            <a:ext cx="1854027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AVANCE: 73.51K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741327E9-B672-3DCB-C2E1-A7265FAA11FC}"/>
              </a:ext>
            </a:extLst>
          </p:cNvPr>
          <p:cNvSpPr/>
          <p:nvPr/>
        </p:nvSpPr>
        <p:spPr>
          <a:xfrm>
            <a:off x="1523157" y="4402260"/>
            <a:ext cx="2036907" cy="352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7" b="1" dirty="0">
                <a:solidFill>
                  <a:schemeClr val="bg2">
                    <a:lumMod val="50000"/>
                  </a:schemeClr>
                </a:solidFill>
              </a:rPr>
              <a:t>META AVANCE: 246.4K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Imagen_barras" descr="image.png">
            <a:extLst>
              <a:ext uri="{FF2B5EF4-FFF2-40B4-BE49-F238E27FC236}">
                <a16:creationId xmlns:a16="http://schemas.microsoft.com/office/drawing/2014/main" id="{9B074277-10BE-3B3E-3741-ED0214CF2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875" y="1012940"/>
            <a:ext cx="6321509" cy="2894412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5E2F0946-28EF-962B-4113-EE13E9AF55C5}"/>
              </a:ext>
            </a:extLst>
          </p:cNvPr>
          <p:cNvSpPr/>
          <p:nvPr/>
        </p:nvSpPr>
        <p:spPr>
          <a:xfrm>
            <a:off x="121920" y="1047605"/>
            <a:ext cx="3108960" cy="438912"/>
          </a:xfrm>
          <a:prstGeom prst="rect">
            <a:avLst/>
          </a:prstGeom>
          <a:solidFill>
            <a:srgbClr val="F7DDDA"/>
          </a:solidFill>
          <a:ln w="16933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6A077831-C390-D5A5-FA6A-1FEC2314D1E9}"/>
              </a:ext>
            </a:extLst>
          </p:cNvPr>
          <p:cNvSpPr/>
          <p:nvPr/>
        </p:nvSpPr>
        <p:spPr>
          <a:xfrm>
            <a:off x="243840" y="1145141"/>
            <a:ext cx="219456" cy="219456"/>
          </a:xfrm>
          <a:prstGeom prst="ellipse">
            <a:avLst/>
          </a:prstGeom>
          <a:solidFill>
            <a:srgbClr val="C0392B"/>
          </a:solidFill>
          <a:ln w="16933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F7A403F1-17A5-172C-D72C-E235F0491CA5}"/>
              </a:ext>
            </a:extLst>
          </p:cNvPr>
          <p:cNvSpPr/>
          <p:nvPr/>
        </p:nvSpPr>
        <p:spPr>
          <a:xfrm>
            <a:off x="536448" y="1047605"/>
            <a:ext cx="2670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C0392B"/>
                </a:solidFill>
              </a:rPr>
              <a:t>META: 1.80M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0332C3-2CA6-5458-CC22-55C4D67D8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893" y="-49773"/>
            <a:ext cx="1731264" cy="985509"/>
          </a:xfrm>
          <a:prstGeom prst="rect">
            <a:avLst/>
          </a:prstGeom>
        </p:spPr>
      </p:pic>
      <p:pic>
        <p:nvPicPr>
          <p:cNvPr id="75" name="Cliente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520" y="5006340"/>
            <a:ext cx="867320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1bec757-b8d9-4f0d-86eb-78a37ed8c863}" enabled="0" method="" siteId="{51bec757-b8d9-4f0d-86eb-78a37ed8c86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2016</TotalTime>
  <Words>2766</Words>
  <Application>Microsoft Office PowerPoint</Application>
  <PresentationFormat>Panorámica</PresentationFormat>
  <Paragraphs>1003</Paragraphs>
  <Slides>65</Slides>
  <Notes>43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9</vt:i4>
      </vt:variant>
      <vt:variant>
        <vt:lpstr>Títulos de diapositiva</vt:lpstr>
      </vt:variant>
      <vt:variant>
        <vt:i4>65</vt:i4>
      </vt:variant>
    </vt:vector>
  </HeadingPairs>
  <TitlesOfParts>
    <vt:vector size="76" baseType="lpstr">
      <vt:lpstr>Arial</vt:lpstr>
      <vt:lpstr>Calibri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Comité Agosto 2026 — Consolidado (todas las campañas)</dc:title>
  <dc:subject>SBP Convenios · BBVA Convenios · SBP TC · BCP Convenios · Efectiva-Diners-BanBif · BBVA TLM Digital · BBVA TLM Out · UNICEF · SANNA</dc:subject>
  <dc:creator>PptxGenJS</dc:creator>
  <cp:lastModifiedBy>Jose Martin Fabricio Sanchez</cp:lastModifiedBy>
  <cp:revision>22</cp:revision>
  <dcterms:created xsi:type="dcterms:W3CDTF">2026-06-10T17:53:50Z</dcterms:created>
  <dcterms:modified xsi:type="dcterms:W3CDTF">2026-08-11T00:59:42Z</dcterms:modified>
</cp:coreProperties>
</file>