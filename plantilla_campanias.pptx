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9" r:id="rId3"/>
    <p:sldId id="260" r:id="rId4"/>
    <p:sldId id="261" r:id="rId5"/>
    <p:sldId id="266" r:id="rId6"/>
    <p:sldId id="324" r:id="rId7"/>
    <p:sldId id="325" r:id="rId8"/>
    <p:sldId id="262" r:id="rId9"/>
    <p:sldId id="263" r:id="rId10"/>
    <p:sldId id="320" r:id="rId11"/>
    <p:sldId id="310" r:id="rId12"/>
    <p:sldId id="311" r:id="rId13"/>
    <p:sldId id="265" r:id="rId14"/>
    <p:sldId id="322" r:id="rId15"/>
    <p:sldId id="326" r:id="rId16"/>
    <p:sldId id="327" r:id="rId17"/>
    <p:sldId id="328" r:id="rId18"/>
    <p:sldId id="329" r:id="rId19"/>
    <p:sldId id="330" r:id="rId20"/>
    <p:sldId id="331" r:id="rId21"/>
    <p:sldId id="333" r:id="rId50"/>
    <p:sldId id="332" r:id="rId22"/>
    <p:sldId id="268" r:id="rId23"/>
    <p:sldId id="269" r:id="rId24"/>
    <p:sldId id="270" r:id="rId25"/>
    <p:sldId id="271" r:id="rId26"/>
    <p:sldId id="272" r:id="rId27"/>
    <p:sldId id="274" r:id="rId28"/>
    <p:sldId id="275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5" r:id="rId37"/>
    <p:sldId id="286" r:id="rId38"/>
    <p:sldId id="288" r:id="rId39"/>
    <p:sldId id="334" r:id="rId51"/>
    <p:sldId id="287" r:id="rId40"/>
    <p:sldId id="289" r:id="rId41"/>
    <p:sldId id="319" r:id="rId42"/>
    <p:sldId id="290" r:id="rId43"/>
    <p:sldId id="291" r:id="rId44"/>
    <p:sldId id="335" r:id="rId52"/>
    <p:sldId id="336" r:id="rId53"/>
    <p:sldId id="337" r:id="rId54"/>
    <p:sldId id="338" r:id="rId55"/>
    <p:sldId id="339" r:id="rId56"/>
    <p:sldId id="340" r:id="rId57"/>
    <p:sldId id="341" r:id="rId58"/>
    <p:sldId id="342" r:id="rId59"/>
    <p:sldId id="343" r:id="rId60"/>
    <p:sldId id="344" r:id="rId61"/>
    <p:sldId id="345" r:id="rId62"/>
    <p:sldId id="346" r:id="rId63"/>
    <p:sldId id="347" r:id="rId64"/>
    <p:sldId id="348" r:id="rId65"/>
    <p:sldId id="349" r:id="rId66"/>
    <p:sldId id="350" r:id="rId67"/>
    <p:sldId id="351" r:id="rId68"/>
    <p:sldId id="352" r:id="rId69"/>
    <p:sldId id="353" r:id="rId70"/>
    <p:sldId id="354" r:id="rId7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1.png"/><Relationship Id="rId4" Type="http://schemas.openxmlformats.org/officeDocument/2006/relationships/image" Target="../media/image7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1.png"/><Relationship Id="rId4" Type="http://schemas.microsoft.com/office/2007/relationships/hdphoto" Target="../media/image83.wdp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image88.wdp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57045" y="1353312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24097" y="1515387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400" b="1" kern="0" spc="-50" dirty="0">
                <a:solidFill>
                  <a:srgbClr val="FFFFFF"/>
                </a:solidFill>
              </a:rPr>
              <a:t>COMITÉ SEMANAL DE CAMPAÑAS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82880" y="2978427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Consolidado · Julio 2026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24825" y="370332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Julio 2026  ·  MF Asesoría y </a:t>
            </a:r>
            <a:r>
              <a:rPr lang="en-US" sz="1100" dirty="0" err="1">
                <a:solidFill>
                  <a:srgbClr val="FFFFFF"/>
                </a:solidFill>
              </a:rPr>
              <a:t>Consultoría</a:t>
            </a:r>
            <a:r>
              <a:rPr lang="en-US" sz="1100" dirty="0">
                <a:solidFill>
                  <a:srgbClr val="FFFFFF"/>
                </a:solidFill>
              </a:rPr>
              <a:t>  &amp;  PlusMetas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7" y="-186309"/>
            <a:ext cx="1808553" cy="1808553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6537960" y="256032"/>
            <a:ext cx="2377440" cy="13533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Christian </a:t>
            </a:r>
            <a:r>
              <a:rPr lang="en-US" sz="3200" b="1" dirty="0" err="1">
                <a:solidFill>
                  <a:srgbClr val="FFFFFF"/>
                </a:solidFill>
              </a:rPr>
              <a:t>Passara</a:t>
            </a:r>
            <a:r>
              <a:rPr lang="en-US" sz="3200" b="1" dirty="0">
                <a:solidFill>
                  <a:srgbClr val="FFFFFF"/>
                </a:solidFill>
              </a:rPr>
              <a:t>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</a:t>
            </a:r>
            <a:endParaRPr lang="en-US" sz="3200" b="1" dirty="0"/>
          </a:p>
        </p:txBody>
      </p:sp>
      <p:sp>
        <p:nvSpPr>
          <p:cNvPr id="8" name="Text 5"/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Christian </a:t>
            </a:r>
            <a:r>
              <a:rPr lang="en-US" sz="1400" dirty="0" err="1">
                <a:solidFill>
                  <a:srgbClr val="FFFFFF"/>
                </a:solidFill>
              </a:rPr>
              <a:t>Passara</a:t>
            </a:r>
            <a:r>
              <a:rPr lang="en-US" sz="1400" dirty="0">
                <a:solidFill>
                  <a:srgbClr val="FFFFFF"/>
                </a:solidFill>
              </a:rPr>
              <a:t> : Sub Gerente de Ventas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Scotiabank Tarjetas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63220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820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/>
          <p:cNvSpPr/>
          <p:nvPr/>
        </p:nvSpPr>
        <p:spPr>
          <a:xfrm flipV="1">
            <a:off x="0" y="4774471"/>
            <a:ext cx="9144000" cy="90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3582753" y="367131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5032203" y="370713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700</a:t>
            </a:r>
            <a:endParaRPr lang="en-US" sz="9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97687"/>
            <a:ext cx="9144000" cy="4194353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SCOTIABANK TARJETAS: 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85353" y="2065967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08A1E"/>
                </a:solidFill>
              </a:rPr>
              <a:t>97.2%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787099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SCOTIABANK TARJETAS  |  Monica Mogollon  |  Cierre Julio 2026</a:t>
            </a:r>
            <a:endParaRPr lang="en-US" sz="750" dirty="0"/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405170" y="200357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74646" y="314221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621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124080" y="31387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639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0" y="4881067"/>
            <a:ext cx="251755" cy="24524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0165" y="1405277"/>
            <a:ext cx="6499437" cy="2600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SBP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Monica Mogollon: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 - Fonocompras - </a:t>
            </a:r>
            <a:r>
              <a:rPr lang="en-US" sz="3200" b="1" dirty="0" err="1">
                <a:solidFill>
                  <a:srgbClr val="FFFFFF"/>
                </a:solidFill>
              </a:rPr>
              <a:t>Efectivo</a:t>
            </a:r>
            <a:r>
              <a:rPr lang="en-US" sz="3200" b="1" dirty="0">
                <a:solidFill>
                  <a:srgbClr val="FFFFFF"/>
                </a:solidFill>
              </a:rPr>
              <a:t> - BanBif</a:t>
            </a:r>
            <a:endParaRPr lang="en-US" sz="3200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Monica Mogollon: Subgerenta de Ventas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Fonocompras 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24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4526280" y="4061984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88%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1´500,000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Efectivo (</a:t>
            </a:r>
            <a:r>
              <a:rPr lang="en-US" sz="950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950" b="1" dirty="0">
                <a:solidFill>
                  <a:srgbClr val="6B150B"/>
                </a:solidFill>
              </a:rPr>
              <a:t>)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39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4526280" y="4343619"/>
            <a:ext cx="1785823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93%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8’200,000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6B150B"/>
                </a:solidFill>
              </a:rPr>
              <a:t>BanBif</a:t>
            </a:r>
            <a:r>
              <a:rPr lang="en-US" sz="950" b="1" dirty="0">
                <a:solidFill>
                  <a:srgbClr val="6B150B"/>
                </a:solidFill>
              </a:rPr>
              <a:t> 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1,500,000</a:t>
            </a:r>
            <a:endParaRPr lang="en-US" sz="850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17804"/>
            <a:ext cx="9144000" cy="4174236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1377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1377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34869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34869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2531059" y="38361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584448" y="38361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2531059" y="41853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3584448" y="41853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2531059" y="45345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3584448" y="45345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EFECTIVA (DORMIDOS + NUEVOS + RECURRENTES):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0482" y="1905299"/>
            <a:ext cx="24012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C0392B"/>
                </a:solidFill>
              </a:rPr>
              <a:t>75.4%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OB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386534" y="189083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45871" y="29943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072545" y="2975117"/>
            <a:ext cx="1536598" cy="3383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4.92M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6557" y="1456620"/>
            <a:ext cx="6393038" cy="2584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5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99869" y="2033125"/>
            <a:ext cx="29597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123%</a:t>
            </a:r>
            <a:endParaRPr lang="en-US" sz="6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798721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IB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401769" y="197736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78047" y="311600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918.7K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120679" y="3112560"/>
            <a:ext cx="1585952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749.7K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FONOCOMPRAS (</a:t>
            </a:r>
            <a:r>
              <a:rPr lang="es-ES" sz="1400" b="1" dirty="0">
                <a:solidFill>
                  <a:schemeClr val="bg1"/>
                </a:solidFill>
              </a:rPr>
              <a:t>OUTBOUND  + INBOUD)</a:t>
            </a:r>
            <a:r>
              <a:rPr lang="en-US" sz="1250" b="1" kern="0" spc="30" dirty="0">
                <a:solidFill>
                  <a:srgbClr val="FFFFFF"/>
                </a:solidFill>
              </a:rPr>
              <a:t>: Información al 18 de Julio</a:t>
            </a:r>
            <a:endParaRPr lang="en-US" sz="1250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5768" y="1453896"/>
            <a:ext cx="6391656" cy="2587752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34169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225609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445065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02F8562-1638-9C6A-D9F0-15417663777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2A23E7E-4539-E6F5-1502-78FF8817F8F8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AC2A0A-C385-A19C-7370-43080F470B5D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1C2B0AD-A340-522A-AE3C-6D1FDD9C5D6F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08874E7-3A7F-C84C-F099-48422C19A42D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5ECA30-3937-1D1E-E3B6-6D8275528C16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D5E6A2F1-4745-234E-6F7A-2DE5347FE022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B555759-E1C5-FDDF-D76E-DA8F38008CF8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B5F1FAC-F05F-2C31-AD0F-A205F48456F9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E99228C-BAE7-A1D3-4F30-A64965511433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ADD83951-9FB8-5085-D085-91431C496B37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BCFDF2D-83EF-CD99-6F0B-85E04F90D7ED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F241DA4-9F4B-6515-ECBE-6D02CEBB0F1D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E48C422-573B-79DA-EEFC-DEE123F857B3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2C52C031-66FA-6E6F-410D-EE91D62989D5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58D4F7EC-3C1C-8093-F555-759C090F41F0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1D8E8564-35D1-B8EA-4F1E-1AA164FBAA7A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DINERS  |  TARJETAS DE CREDITO: 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Gerente: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4532" y="204472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16.0%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TARJETAS DE CREDITO  |  Monica Mogollon  |  Cierre Julio 2026</a:t>
            </a:r>
            <a:endParaRPr lang="en-US" sz="750" dirty="0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46" y="1455415"/>
            <a:ext cx="4257269" cy="2108916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423458" y="202108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56358" y="315972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142368" y="31562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88388" y="4889859"/>
            <a:ext cx="236904" cy="230781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DINNERS  | DIAGNOSTICO Y SEGUIMIENTO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Convocatorias y acciones de campo para completar dotacion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Ampliar perfil de asesores para facilitar contratacion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Talleres de tasa de cierre con equipo activo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Headcount incompleto — causa raiz principal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Solo 4 de 10 activos. 5 en seleccion + 1 en induccion. La tasa de cierre no compensa la brecha.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Estrategia de captacion sin resultados suficientes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Perfil ampliado pero sin resultado. Se necesita nuevos canales de reclutamiento urgente.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DIAGNOSTICO  |  Bruno Rivera  |  Cierre Julio 2026</a:t>
            </a:r>
            <a:endParaRPr lang="en-US" sz="75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4882896"/>
            <a:ext cx="310896" cy="219456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BANBIF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2265" y="205340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288%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BANBIF  |  PRESTAMOS  |  Monica Mogollon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419108" y="196166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71830" y="313510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2.09M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138018" y="3096867"/>
            <a:ext cx="1532030" cy="36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726.2K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2698" y="1696416"/>
            <a:ext cx="5147160" cy="18880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BANBIF|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B61C0A3-B571-4A3C-E8B6-585D9F875C57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9BA3EEE-0B97-A4C3-45F9-C02820ABA7C6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9B66926-6B9B-D6E6-B16D-F374FA337EB8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D601FA8-E8EB-0A13-477C-C9FCFE5B19AC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C814E69-20DA-332F-C04F-9755E76EDABF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501EB6D-8ACA-596D-CF28-BB593E1F159C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E8B3F796-15CE-3542-0328-D6454EF07E57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5A61D975-9C35-59E7-42B5-D76783D28157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B9B5A259-1BC0-3711-DD3C-9BEA73114869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BE66334E-1265-C800-B73B-79597AA386D3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B78E90A2-AD03-1A65-CA73-DF9F0FF13E81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3F36021C-BB35-A22E-F8E1-C1E979EFA7EA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5EDE63CF-D60A-65EB-5D98-005F53EF91A6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Jose Jesus San Martin: UNICEF RETENCIONES Y DIGITAL</a:t>
            </a:r>
            <a:endParaRPr lang="en-US" sz="3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Jose Jesus San Martin ·  Jefe de Ventas UNICEF</a:t>
            </a:r>
            <a:endParaRPr lang="en-US" sz="1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FIDELIZACION · UPGRADE LINEA · SAVING · EXTRACASH · DIGITAL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Jose Jesus San Martin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E146EBDD-1D06-215F-AC84-8AC07443C636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0F518599-F5EB-D868-F8E9-974ED152C069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UNICEF  |  JOSE JESUS SAN MARTIN  |  Jose Jesus San Martin  |  Cierre Julio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  <p:pic>
        <p:nvPicPr>
          <p:cNvPr id="101" name="Panel Resumen">
            <a:extLst>
              <a:ext uri="{FF2B5EF4-FFF2-40B4-BE49-F238E27FC236}">
                <a16:creationId xmlns:a16="http://schemas.microsoft.com/office/drawing/2014/main" id="{9D21D5AA-8466-4A17-DB71-42DECE517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102" name="dato_manual">
            <a:extLst>
              <a:ext uri="{FF2B5EF4-FFF2-40B4-BE49-F238E27FC236}">
                <a16:creationId xmlns:a16="http://schemas.microsoft.com/office/drawing/2014/main" id="{7681BEB5-7710-8726-5A9D-28B33275E4E9}"/>
              </a:ext>
            </a:extLst>
          </p:cNvPr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>
            <a:extLst>
              <a:ext uri="{FF2B5EF4-FFF2-40B4-BE49-F238E27FC236}">
                <a16:creationId xmlns:a16="http://schemas.microsoft.com/office/drawing/2014/main" id="{BB7B5314-D43B-6D8A-33A3-13A25F4450D5}"/>
              </a:ext>
            </a:extLst>
          </p:cNvPr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>
            <a:extLst>
              <a:ext uri="{FF2B5EF4-FFF2-40B4-BE49-F238E27FC236}">
                <a16:creationId xmlns:a16="http://schemas.microsoft.com/office/drawing/2014/main" id="{6B059FDB-CAA8-3BA2-8C4D-C9CCC867F332}"/>
              </a:ext>
            </a:extLst>
          </p:cNvPr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>
            <a:extLst>
              <a:ext uri="{FF2B5EF4-FFF2-40B4-BE49-F238E27FC236}">
                <a16:creationId xmlns:a16="http://schemas.microsoft.com/office/drawing/2014/main" id="{B8B423AF-CB08-FDF6-3D1C-27D8A24B0E58}"/>
              </a:ext>
            </a:extLst>
          </p:cNvPr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>
            <a:extLst>
              <a:ext uri="{FF2B5EF4-FFF2-40B4-BE49-F238E27FC236}">
                <a16:creationId xmlns:a16="http://schemas.microsoft.com/office/drawing/2014/main" id="{347945F3-59ED-93D7-2C20-7B77BE70152F}"/>
              </a:ext>
            </a:extLst>
          </p:cNvPr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>
            <a:extLst>
              <a:ext uri="{FF2B5EF4-FFF2-40B4-BE49-F238E27FC236}">
                <a16:creationId xmlns:a16="http://schemas.microsoft.com/office/drawing/2014/main" id="{0619D8FC-36C7-647D-7C4E-FEF436ED797C}"/>
              </a:ext>
            </a:extLst>
          </p:cNvPr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>
            <a:extLst>
              <a:ext uri="{FF2B5EF4-FFF2-40B4-BE49-F238E27FC236}">
                <a16:creationId xmlns:a16="http://schemas.microsoft.com/office/drawing/2014/main" id="{7B4C6B93-8C2D-9326-02A5-EAC63815FC96}"/>
              </a:ext>
            </a:extLst>
          </p:cNvPr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>
            <a:extLst>
              <a:ext uri="{FF2B5EF4-FFF2-40B4-BE49-F238E27FC236}">
                <a16:creationId xmlns:a16="http://schemas.microsoft.com/office/drawing/2014/main" id="{8A840093-578D-626B-B1E6-2E73E58E183D}"/>
              </a:ext>
            </a:extLst>
          </p:cNvPr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>
            <a:extLst>
              <a:ext uri="{FF2B5EF4-FFF2-40B4-BE49-F238E27FC236}">
                <a16:creationId xmlns:a16="http://schemas.microsoft.com/office/drawing/2014/main" id="{74D6D9E7-0917-3BDB-AC05-5EAA5F9F01C0}"/>
              </a:ext>
            </a:extLst>
          </p:cNvPr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>
            <a:extLst>
              <a:ext uri="{FF2B5EF4-FFF2-40B4-BE49-F238E27FC236}">
                <a16:creationId xmlns:a16="http://schemas.microsoft.com/office/drawing/2014/main" id="{80CEB776-95C0-71A2-73FC-4D00BF116E6C}"/>
              </a:ext>
            </a:extLst>
          </p:cNvPr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>
            <a:extLst>
              <a:ext uri="{FF2B5EF4-FFF2-40B4-BE49-F238E27FC236}">
                <a16:creationId xmlns:a16="http://schemas.microsoft.com/office/drawing/2014/main" id="{2BE15348-9616-38B8-80C2-FA4231FE17B4}"/>
              </a:ext>
            </a:extLst>
          </p:cNvPr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>
            <a:extLst>
              <a:ext uri="{FF2B5EF4-FFF2-40B4-BE49-F238E27FC236}">
                <a16:creationId xmlns:a16="http://schemas.microsoft.com/office/drawing/2014/main" id="{E68C327E-0E79-74F7-2464-5989A2D9E2EE}"/>
              </a:ext>
            </a:extLst>
          </p:cNvPr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FIDELIZACION: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3DC45A36-AF37-B7EE-B4B5-68D24E3E401A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55E8F661-D8ED-E0AB-9D8E-7C42603B14F9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UPGRADE LINEA: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3D61F761-9597-A488-92CA-85755CEE80A7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06A00EEF-0C4F-2C40-9198-5D760688EEE8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SAVING: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71187CDF-7692-581B-9C18-6428574AEC6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AFA46D24-0114-049A-B5EA-F8B84F0C899C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EXTRACASH: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AE6DBB8B-30C0-5DB9-FAEB-FD10AAFB6EFD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F0B3CD1F-E34B-AE90-CA37-EE9305B78DB0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UNICEF  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546D19F-0FDA-266A-86A8-CB86416FC6FA}"/>
              </a:ext>
            </a:extLst>
          </p:cNvPr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5C2A061-C0C9-7948-0FE2-814F4509AEBE}"/>
              </a:ext>
            </a:extLst>
          </p:cNvPr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UNICEF  |  DIAGNOSTICO  |  Jose Jesus San Martin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Ronny Aleman: TC TLM - PLD - Operaciones - </a:t>
            </a:r>
            <a:r>
              <a:rPr lang="en-US" sz="3200" b="1" dirty="0" err="1">
                <a:solidFill>
                  <a:srgbClr val="FFFFFF"/>
                </a:solidFill>
              </a:rPr>
              <a:t>Portafolio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Ronny Aleman  ·  Subgerente BBVA TLM OUT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TLM · PLD OUT · OPERACIONES OUT · PORTAFOLIO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Ronny Aleman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RONNY ALEMAN  |  Ronny Aleman  |  Cierre Julio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TELEMARKETING OUT: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Ronny Aleman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PLD OUT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Lider: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01168" y="208031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71.0%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PLD OUT (PRESTAMOS)  |  Ronny Aleman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372071" y="201901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360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07745" y="315765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176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090981" y="315421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248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576" y="1697652"/>
            <a:ext cx="5385290" cy="1819364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13970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OPERACIONES OUT: 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8782" y="2079549"/>
            <a:ext cx="282839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106%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OPERACIONES OUT  |  Ronny Aleman  |  Cierre Julio 2026</a:t>
            </a:r>
            <a:endParaRPr lang="en-US" sz="750" dirty="0"/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317734" y="20484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5.25K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162082" y="318712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4.07K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036644" y="3183687"/>
            <a:ext cx="15236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3.82K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182" y="1804481"/>
            <a:ext cx="4899760" cy="167181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354" y="-107818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PORTAFOLIO: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1445" y="2192975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08A1E"/>
                </a:solidFill>
              </a:rPr>
              <a:t>98.0%</a:t>
            </a:r>
            <a:endParaRPr lang="en-US" sz="6600" dirty="0">
              <a:solidFill>
                <a:srgbClr val="D97706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PORTAFOLIO EFECTIVO  |  Ronny Aleman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403403" y="2120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12.50M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92742" y="3275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7.56M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024339" y="3255860"/>
            <a:ext cx="1624998" cy="354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7.72M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51" y="1500402"/>
            <a:ext cx="6160051" cy="2489957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89154" y="775423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180594" y="848575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400050" y="77542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1E"/>
                </a:solidFill>
              </a:rPr>
              <a:t>Cerca de la meta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331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TLM OUT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DIAGNOSTICO  |  Ronny Aleman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106984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Norma Levano: TC </a:t>
            </a:r>
            <a:r>
              <a:rPr lang="en-US" sz="3200" b="1" dirty="0" err="1">
                <a:solidFill>
                  <a:srgbClr val="FFFFFF"/>
                </a:solidFill>
              </a:rPr>
              <a:t>Hibrido</a:t>
            </a:r>
            <a:r>
              <a:rPr lang="en-US" sz="3200" b="1" dirty="0">
                <a:solidFill>
                  <a:srgbClr val="FFFFFF"/>
                </a:solidFill>
              </a:rPr>
              <a:t> - PLD Digital - Operaciones - TC Respaldada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4485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Norma Levano  ·  Sub-Gerente BBVA Digital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66822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F17E0B2-9198-3AF4-16E7-F636B621D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496" y="3197352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HIBRIDO · PLD DIGITAL · OPERACIONES DIGITAL · TC RESPALDADA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Norma Levano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82%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57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13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351570" y="34198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Hibrido (Tarjetas Digital)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498212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25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45938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76%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Digital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498212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20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4061984"/>
            <a:ext cx="153619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80%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Digital (Prestamos)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498212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10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103%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Respaldada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498212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625255"/>
            <a:ext cx="155539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81%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NORMA LEVANO  |  Norma Levano  |  Cierre Julio 2026</a:t>
            </a:r>
            <a:endParaRPr lang="en-US" sz="75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5060549" y="3710636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5224718" y="4261944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5084665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3328305" y="339969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3530781" y="365397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3544480" y="39829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3561355" y="42635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3585612" y="454518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HIBRIDO — TARJETAS DIGITAL: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3458" y="204956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0.0%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HIBRIDO (TARJETAS)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423458" y="204525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2.80K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56358" y="31838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142368" y="31804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1.79K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982" y="1572768"/>
            <a:ext cx="5125159" cy="207164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91440" y="759213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182880" y="832365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402336" y="75921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OPERACIONES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8225" y="207098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116%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OPERACIONES HIBRIDO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470518" y="203537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9298" y="317401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189428" y="317057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1.86K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81" y="1551395"/>
            <a:ext cx="5442291" cy="2695939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PLD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0371" y="2135808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222%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PLD DIGITAL (PRESTAMOS)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434906" y="208874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400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44910" y="32273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610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153816" y="322394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275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391" y="1800375"/>
            <a:ext cx="6019577" cy="2191154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TC RESPALDADA: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95301" y="11584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95743" y="202025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88.6%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RESPALDADA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408671" y="203422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650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71145" y="31728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379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127581" y="316942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428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104" y="1825824"/>
            <a:ext cx="6254896" cy="207331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DIGITAL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 para focalizar esfuerzos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continuo: script y manejo de objeciones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Fortalecimiento de convenios estrategicos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9728" y="4174236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Hibrido al 76% — caida del CET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CET cayo -5.7pp vs abril. Incremento cierre sin formaliz. equivalente. Cliente no concreta deposito.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Respaldada al 81% — 3 pendientes de formalizacion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Falta de seguimiento &lt;24h. Desistimiento posterior a la aceptacion.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DIAGNOSTICO Y SEGUIMIENTO  |  Norma Levano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6AC55FDF-5738-EA47-B4F2-68596CE6A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Sheyla Ramos: BBVA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Sheyla Ramos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BBVA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Sheyla Ramos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BBVA CONVENIOS  |  SHEYLA RAMOS  |  Sheyla Ramos  |  Cierre Julio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232807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2743200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4359401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2531059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12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584448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2531059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584448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2531059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25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3584448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2531059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3584448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2531059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3584448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2531059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101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3584448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TELECAMPO: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Sheyla Ramos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CALL LIMA + PROVINCIA  |  Sheyla Ramos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LIMA CAMPO: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 Ramos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79.1%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LIMA CAMPO  |  Sheyla Ramos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3.47M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4.38M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NORTE: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 Ramos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148%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Ramos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5.89M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3.99M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SUR:  Información al 18 de Julio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 Ramos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73.0%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Ramos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1.65M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PROVINCIA ORIENTE: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 Ramos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08A1E"/>
                </a:solidFill>
              </a:rPr>
              <a:t>96.2%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COA  |  Sheyla Ramos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2.49M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2.59M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DIAGNOSTICO  |  Sheyla Ramos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DIGITAL: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AE6DBB8B-30C0-5DB9-FAEB-FD10AAFB6EFD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F0B3CD1F-E34B-AE90-CA37-EE9305B78DB0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CENTRO: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Sheyla Ramos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CALL LIMA + PROVINCIA  |  Sheyla Ramos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Jhonny Vega: BCP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Jhonny Vega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BCP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BCP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 Gerente: Jhonny Vega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BCP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BCP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BCP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BCP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BCP CONVENIOS  |  JHONNY VEGA  |  Jhonny Vega  |  Cierre Julio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BCP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232807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2743200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4359401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2531059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12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584448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2531059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584448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2531059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25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3584448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2531059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3584448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2531059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3584448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2531059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101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3584448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BCP CONVENIOS  | TELECAMPO: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Jhonny Vega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CALL LIMA + PROVINCIA  |  Jhonny Vega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BCP CONVENIOS  | LIMA: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Jhonny Vega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79.1%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LIMA  |  Jhonny Vega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3.47M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4.38M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BCP CONVENIOS  | NORTE I: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Jhonny Vega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148%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NORTE  |  Jhonny Vega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5.89M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3.99M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BCP CONVENIOS  | NORTE II:  Información al 18 de Julio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Jhonny Vega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73.0%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NORTE  |  Jhonny Vega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1.65M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BCP CONVENIOS  |  SUR/ORIENTE: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Jhonny Vega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08A1E"/>
                </a:solidFill>
              </a:rPr>
              <a:t>96.2%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COA  |  Jhonny Vega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2.49M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2.59M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BCP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BCP CONVENIOS  |  DIAGNOSTICO  |  Jhonny Vega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Ivan Vilcapoma: SBP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Ivan Vilcapoma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SBP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SBP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Gerente: Ivan Vilcapoma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SBP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SBP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SBP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SBP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SBP CONVENIOS  |  IVAN VILCAPOMA  |  Ivan Vilcapoma  |  Cierre Julio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150B"/>
                </a:solidFill>
              </a:rPr>
              <a:t>SBP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232807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2743200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4359401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2531059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12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584448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2531059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584448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2531059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25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3584448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2531059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3584448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2531059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3584448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2531059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101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3584448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SBP CONVENIOS  | TELECAMPO: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Gerente : Ivan Vilcapoma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CALL LIMA + PROVINCIA  |  Ivan Vilcapoma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SBP CONVENIOS  | LIMA: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Gerente: Ivan Vilcapoma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79.1%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LIMA  |  Ivan Vilcapoma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3.47M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4.38M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SBP CONVENIOS  | NORTE: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Ivan Vilcapoma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148%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NORTE  |  Ivan Vilcapoma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5.89M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3.99M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SBP CONVENIOS  | SUR:  Información al 18 de Julio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Ivan Vilcapoma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73.0%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NORTE  |  Ivan Vilcapoma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1.65M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SBP CONVENIOS  |  COA: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Gerente: Ivan Vilcapoma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08A1E"/>
                </a:solidFill>
              </a:rPr>
              <a:t>96.2%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COA  |  Ivan Vilcapoma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2.49M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2.59M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SBP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SBP CONVENIOS  |  DIAGNOSTICO  |  Ivan Vilcapoma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Claudia </a:t>
            </a:r>
            <a:r>
              <a:rPr lang="en-US" sz="3200" b="1" dirty="0" err="1">
                <a:solidFill>
                  <a:srgbClr val="FFFFFF"/>
                </a:solidFill>
              </a:rPr>
              <a:t>Nuñez</a:t>
            </a:r>
            <a:r>
              <a:rPr lang="en-US" sz="3200" b="1" dirty="0">
                <a:solidFill>
                  <a:srgbClr val="FFFFFF"/>
                </a:solidFill>
              </a:rPr>
              <a:t>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</a:t>
            </a:r>
            <a:endParaRPr lang="en-US" sz="3200" b="1" dirty="0"/>
          </a:p>
        </p:txBody>
      </p:sp>
      <p:sp>
        <p:nvSpPr>
          <p:cNvPr id="8" name="Text 5"/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Claudia </a:t>
            </a:r>
            <a:r>
              <a:rPr lang="en-US" sz="1400" dirty="0" err="1">
                <a:solidFill>
                  <a:srgbClr val="FFFFFF"/>
                </a:solidFill>
              </a:rPr>
              <a:t>Nuñez</a:t>
            </a:r>
            <a:r>
              <a:rPr lang="en-US" sz="1400" dirty="0">
                <a:solidFill>
                  <a:srgbClr val="FFFFFF"/>
                </a:solidFill>
              </a:rPr>
              <a:t> : Jefa de Ventas de Ventas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SANNA SEGUROS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Jefa de Ventas: Claudia Nuñez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SANNA Seguros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63220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820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/>
          <p:cNvSpPr/>
          <p:nvPr/>
        </p:nvSpPr>
        <p:spPr>
          <a:xfrm flipV="1">
            <a:off x="0" y="4774471"/>
            <a:ext cx="9144000" cy="90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CLAUDIA NUÑEZ  |  Claudia Nuñez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3582753" y="367131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5032203" y="370713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700</a:t>
            </a:r>
            <a:endParaRPr lang="en-US" sz="9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97687"/>
            <a:ext cx="9144000" cy="4194353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SANNA SEGUROS: 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Claudia Nuñez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85353" y="2065967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08A1E"/>
                </a:solidFill>
              </a:rPr>
              <a:t>97.2%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787099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SANNA SEGUROS  |  Claudia Nuñez  |  Cierre Julio 2026</a:t>
            </a:r>
            <a:endParaRPr lang="en-US" sz="750" dirty="0"/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405170" y="200357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74646" y="314221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621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124080" y="31387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639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0" y="4881067"/>
            <a:ext cx="251755" cy="24524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0165" y="1405277"/>
            <a:ext cx="6499437" cy="260086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SANNA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CLAUDIA NUÑEZ  —  DIAGNOSTICO  |  Claudia Nuñez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1948</TotalTime>
  <Words>2919</Words>
  <Application>Microsoft Office PowerPoint</Application>
  <PresentationFormat>Presentación en pantalla (16:9)</PresentationFormat>
  <Paragraphs>765</Paragraphs>
  <Slides>43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43</vt:i4>
      </vt:variant>
    </vt:vector>
  </HeadingPairs>
  <TitlesOfParts>
    <vt:vector size="45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Comite Semanal de Campanas — Cierre Mayo 2026</dc:title>
  <dc:subject>PptxGenJS Presentation</dc:subject>
  <dc:creator>PptxGenJS</dc:creator>
  <cp:lastModifiedBy>Jeampiere Manuel Pocomucha Toribio</cp:lastModifiedBy>
  <cp:revision>18</cp:revision>
  <dcterms:created xsi:type="dcterms:W3CDTF">2026-06-10T17:53:50Z</dcterms:created>
  <dcterms:modified xsi:type="dcterms:W3CDTF">2026-08-07T17:44:52Z</dcterms:modified>
</cp:coreProperties>
</file>