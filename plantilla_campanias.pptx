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</p:sldMasterIdLst>
  <p:notesMasterIdLst>
    <p:notesMasterId r:id="rId75"/>
  </p:notesMasterIdLst>
  <p:sldIdLst>
    <p:sldId id="256" r:id="rId10"/>
    <p:sldId id="343" r:id="rId11"/>
    <p:sldId id="344" r:id="rId12"/>
    <p:sldId id="409" r:id="rId82"/>
    <p:sldId id="346" r:id="rId13"/>
    <p:sldId id="345" r:id="rId14"/>
    <p:sldId id="347" r:id="rId15"/>
    <p:sldId id="349" r:id="rId16"/>
    <p:sldId id="348" r:id="rId17"/>
    <p:sldId id="350" r:id="rId18"/>
    <p:sldId id="351" r:id="rId19"/>
    <p:sldId id="352" r:id="rId20"/>
    <p:sldId id="407" r:id="rId80"/>
    <p:sldId id="353" r:id="rId21"/>
    <p:sldId id="354" r:id="rId22"/>
    <p:sldId id="355" r:id="rId23"/>
    <p:sldId id="356" r:id="rId24"/>
    <p:sldId id="357" r:id="rId25"/>
    <p:sldId id="358" r:id="rId26"/>
    <p:sldId id="359" r:id="rId27"/>
    <p:sldId id="360" r:id="rId28"/>
    <p:sldId id="361" r:id="rId29"/>
    <p:sldId id="362" r:id="rId30"/>
    <p:sldId id="363" r:id="rId31"/>
    <p:sldId id="364" r:id="rId32"/>
    <p:sldId id="365" r:id="rId33"/>
    <p:sldId id="408" r:id="rId81"/>
    <p:sldId id="366" r:id="rId34"/>
    <p:sldId id="367" r:id="rId35"/>
    <p:sldId id="368" r:id="rId36"/>
    <p:sldId id="369" r:id="rId37"/>
    <p:sldId id="370" r:id="rId38"/>
    <p:sldId id="371" r:id="rId39"/>
    <p:sldId id="372" r:id="rId40"/>
    <p:sldId id="373" r:id="rId41"/>
    <p:sldId id="374" r:id="rId42"/>
    <p:sldId id="375" r:id="rId43"/>
    <p:sldId id="376" r:id="rId44"/>
    <p:sldId id="377" r:id="rId45"/>
    <p:sldId id="378" r:id="rId46"/>
    <p:sldId id="379" r:id="rId47"/>
    <p:sldId id="380" r:id="rId48"/>
    <p:sldId id="381" r:id="rId49"/>
    <p:sldId id="382" r:id="rId50"/>
    <p:sldId id="383" r:id="rId51"/>
    <p:sldId id="384" r:id="rId52"/>
    <p:sldId id="385" r:id="rId53"/>
    <p:sldId id="386" r:id="rId54"/>
    <p:sldId id="387" r:id="rId55"/>
    <p:sldId id="388" r:id="rId56"/>
    <p:sldId id="389" r:id="rId57"/>
    <p:sldId id="390" r:id="rId58"/>
    <p:sldId id="391" r:id="rId59"/>
    <p:sldId id="392" r:id="rId60"/>
    <p:sldId id="393" r:id="rId61"/>
    <p:sldId id="394" r:id="rId62"/>
    <p:sldId id="395" r:id="rId63"/>
    <p:sldId id="396" r:id="rId64"/>
    <p:sldId id="397" r:id="rId65"/>
    <p:sldId id="398" r:id="rId66"/>
    <p:sldId id="399" r:id="rId67"/>
    <p:sldId id="400" r:id="rId68"/>
    <p:sldId id="401" r:id="rId69"/>
    <p:sldId id="402" r:id="rId70"/>
    <p:sldId id="403" r:id="rId71"/>
    <p:sldId id="404" r:id="rId72"/>
    <p:sldId id="405" r:id="rId73"/>
    <p:sldId id="406" r:id="rId74"/>
  </p:sldIdLst>
  <p:sldSz cx="12192000" cy="68580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3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7.xml"/><Relationship Id="rId21" Type="http://schemas.openxmlformats.org/officeDocument/2006/relationships/slide" Target="slides/slide12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63" Type="http://schemas.openxmlformats.org/officeDocument/2006/relationships/slide" Target="slides/slide54.xml"/><Relationship Id="rId68" Type="http://schemas.openxmlformats.org/officeDocument/2006/relationships/slide" Target="slides/slide59.xml"/><Relationship Id="rId16" Type="http://schemas.openxmlformats.org/officeDocument/2006/relationships/slide" Target="slides/slide7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66" Type="http://schemas.openxmlformats.org/officeDocument/2006/relationships/slide" Target="slides/slide57.xml"/><Relationship Id="rId74" Type="http://schemas.openxmlformats.org/officeDocument/2006/relationships/slide" Target="slides/slide65.xml"/><Relationship Id="rId79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2.xml"/><Relationship Id="rId19" Type="http://schemas.openxmlformats.org/officeDocument/2006/relationships/slide" Target="slides/slide10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slide" Target="slides/slide55.xml"/><Relationship Id="rId69" Type="http://schemas.openxmlformats.org/officeDocument/2006/relationships/slide" Target="slides/slide60.xml"/><Relationship Id="rId77" Type="http://schemas.openxmlformats.org/officeDocument/2006/relationships/viewProps" Target="viewProp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2.xml"/><Relationship Id="rId72" Type="http://schemas.openxmlformats.org/officeDocument/2006/relationships/slide" Target="slides/slide63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67" Type="http://schemas.openxmlformats.org/officeDocument/2006/relationships/slide" Target="slides/slide58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slide" Target="slides/slide53.xml"/><Relationship Id="rId70" Type="http://schemas.openxmlformats.org/officeDocument/2006/relationships/slide" Target="slides/slide61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Relationship Id="rId10" Type="http://schemas.openxmlformats.org/officeDocument/2006/relationships/slide" Target="slides/slide1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slide" Target="slides/slide56.xml"/><Relationship Id="rId73" Type="http://schemas.openxmlformats.org/officeDocument/2006/relationships/slide" Target="slides/slide64.xml"/><Relationship Id="rId78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39" Type="http://schemas.openxmlformats.org/officeDocument/2006/relationships/slide" Target="slides/slide30.xml"/><Relationship Id="rId34" Type="http://schemas.openxmlformats.org/officeDocument/2006/relationships/slide" Target="slides/slide25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76" Type="http://schemas.openxmlformats.org/officeDocument/2006/relationships/presProps" Target="presProps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2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0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B6699-E119-FF9C-9666-53409F3A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13FBA-652A-5ADC-22C8-61EF5126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91704-515A-0CBD-DCE4-E23B621AB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D0E7-15C6-713F-5D3D-6C8D26E2A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481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0536B-AD6E-C4E5-CE2E-1DF83446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C1914-47E6-FB71-60A9-BBD0BD3AB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7A601-6FB7-089E-28FC-33F2D3A07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2A18E-443B-402D-E9C9-90C8AC727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55601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0671F-669A-830E-B499-D081C4292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B7E2E-3610-5E35-6B0D-6AABF7FF7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A1A79-9E18-FE54-7811-4AABAD3B1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DDF73-3B25-DD34-362F-4363D0716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59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E95F-EAF5-188C-0937-9F269BA39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2AED5-D977-B564-B39E-0D95DBFE37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781C6B-5011-AD3B-4BFE-10FCD448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BF83-2CD1-8840-D75B-EAA48BAF3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012622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72A0-000C-4A1A-FBE7-ABA47338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B2875-48BA-486E-0C26-0B8091A77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8A456-1256-E31F-D5C4-A45B5D23E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E65D1-64AA-FBAB-80DA-56F967A34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1602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0539-FA09-E5E6-1C37-F3CD4FAF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1C8C5-62B5-A15A-91B1-8A004828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7C9D6E-7771-C539-4F12-AA03792AA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16E4C-9F58-5994-E722-965AF91CCC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823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097C-C4FF-9036-4170-CA16C873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0A574-7C0D-AB74-5BEF-A69E51A7A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FFDE2-13A2-FCC7-6691-FB9AD0CD9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834F3-867D-FF81-7B09-735801E94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52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6888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0841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8864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484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068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02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206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7207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_scotia_white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7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0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3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6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9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27.png"/><Relationship Id="rId6" Type="http://schemas.openxmlformats.org/officeDocument/2006/relationships/image" Target="../media/logo_bbva.png"/><Relationship Id="rId7" Type="http://schemas.openxmlformats.org/officeDocument/2006/relationships/image" Target="../media/logo_bbva.png"/></Relationships>
</file>

<file path=ppt/slides/_rels/slide14.xml.rels><?xml version="1.0" encoding="UTF-8" standalone="yes"?>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5.xml.rels><?xml version="1.0" encoding="UTF-8" standalone="yes"?>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6.xml.rels><?xml version="1.0" encoding="UTF-8" standalone="yes"?>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7.xml.rels><?xml version="1.0" encoding="UTF-8" standalone="yes"?>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_scotia_white.png"/></Relationships>
</file>

<file path=ppt/slides/_rels/slide20.xml.rels><?xml version="1.0" encoding="UTF-8" standalone="yes"?>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1.png"/><Relationship Id="rId4" Type="http://schemas.microsoft.com/office/2007/relationships/hdphoto" Target="../media/hdphoto1.wdp"/><Relationship Id="rId7" Type="http://schemas.openxmlformats.org/officeDocument/2006/relationships/image" Target="../media/logo_scotiabank.png"/></Relationships>
</file>

<file path=ppt/slides/_rels/slide21.xml.rels><?xml version="1.0" encoding="UTF-8" standalone="yes"?>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3.png"/><Relationship Id="rId4" Type="http://schemas.openxmlformats.org/officeDocument/2006/relationships/image" Target="../media/image1.png"/><Relationship Id="rId6" Type="http://schemas.openxmlformats.org/officeDocument/2006/relationships/image" Target="../media/logo_scotiabank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8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1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7.xml.rels><?xml version="1.0" encoding="UTF-8" standalone="yes"?>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4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8.xml.rels><?xml version="1.0" encoding="UTF-8" standalone="yes"?>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7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9.xml.rels><?xml version="1.0" encoding="UTF-8" standalone="yes"?>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60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logo_efectiva.png"/><Relationship Id="rId5" Type="http://schemas.openxmlformats.org/officeDocument/2006/relationships/image" Target="../media/logo_efe.png"/><Relationship Id="rId6" Type="http://schemas.openxmlformats.org/officeDocument/2006/relationships/image" Target="../media/logo_diners.png"/><Relationship Id="rId7" Type="http://schemas.openxmlformats.org/officeDocument/2006/relationships/image" Target="../media/logo_banbif.png"/><Relationship Id="rId8" Type="http://schemas.openxmlformats.org/officeDocument/2006/relationships/image" Target="../media/logo_efe.png"/><Relationship Id="rId9" Type="http://schemas.openxmlformats.org/officeDocument/2006/relationships/image" Target="../media/logo_efectiva.png"/><Relationship Id="rId10" Type="http://schemas.openxmlformats.org/officeDocument/2006/relationships/image" Target="../media/logo_banbif.png"/><Relationship Id="rId11" Type="http://schemas.openxmlformats.org/officeDocument/2006/relationships/image" Target="../media/logo_diners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3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2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efectiva.png"/><Relationship Id="rId8" Type="http://schemas.openxmlformats.org/officeDocument/2006/relationships/image" Target="../media/logo_efectiva.png"/></Relationships>
</file>

<file path=ppt/slides/_rels/slide34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3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efe.png"/><Relationship Id="rId8" Type="http://schemas.openxmlformats.org/officeDocument/2006/relationships/image" Target="../media/logo_efe.png"/></Relationships>
</file>

<file path=ppt/slides/_rels/slide35.xml.rels><?xml version="1.0" encoding="UTF-8" standalone="yes"?>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diners.png"/><Relationship Id="rId8" Type="http://schemas.openxmlformats.org/officeDocument/2006/relationships/image" Target="../media/logo_diners.png"/></Relationships>
</file>

<file path=ppt/slides/_rels/slide36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5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banbif.png"/><Relationship Id="rId8" Type="http://schemas.openxmlformats.org/officeDocument/2006/relationships/image" Target="../media/logo_banbif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7.png"/></Relationships>
</file>

<file path=ppt/slides/_rels/slide42.xml.rels><?xml version="1.0" encoding="UTF-8" standalone="yes"?>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3.xml.rels><?xml version="1.0" encoding="UTF-8" standalone="yes"?>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4.xml.rels><?xml version="1.0" encoding="UTF-8" standalone="yes"?>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5.xml.rels><?xml version="1.0" encoding="UTF-8" standalone="yes"?>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49.xml.rels><?xml version="1.0" encoding="UTF-8" standalone="yes"?>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0.xml.rels><?xml version="1.0" encoding="UTF-8" standalone="yes"?>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_unicef_white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8.png"/></Relationships>
</file>

<file path=ppt/slides/_rels/slide56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logo_unicef.png"/><Relationship Id="rId5" Type="http://schemas.openxmlformats.org/officeDocument/2006/relationships/image" Target="../media/logo_unicef.png"/></Relationships>
</file>

<file path=ppt/slides/_rels/slide57.xml.rels><?xml version="1.0" encoding="UTF-8" standalone="yes"?>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58.xml.rels><?xml version="1.0" encoding="UTF-8" standalone="yes"?>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59.xml.rels><?xml version="1.0" encoding="UTF-8" standalone="yes"?>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60.xml.rels><?xml version="1.0" encoding="UTF-8" standalone="yes"?>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
<Relationships xmlns="http://schemas.openxmlformats.org/package/2006/relationships"><Relationship Id="rId3" Type="http://schemas.openxmlformats.org/officeDocument/2006/relationships/image" Target="../media/image_sanna_w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5.png"/><Relationship Id="rId4" Type="http://schemas.openxmlformats.org/officeDocument/2006/relationships/image" Target="../media/image1.png"/></Relationships>
</file>

<file path=ppt/slides/_rels/slide64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6.png"/><Relationship Id="rId5" Type="http://schemas.openxmlformats.org/officeDocument/2006/relationships/image" Target="../media/logo_sanna.png"/><Relationship Id="rId6" Type="http://schemas.openxmlformats.org/officeDocument/2006/relationships/image" Target="../media/logo_sanna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4" Type="http://schemas.microsoft.com/office/2007/relationships/hdphoto" Target="../media/hdphoto1.wdp"/></Relationships>
</file>

<file path=ppt/slides/_rels/slide66.xml.rels><?xml version="1.0" encoding="UTF-8" standalone="yes"?>
<Relationships xmlns="http://schemas.openxmlformats.org/package/2006/relationships"><Relationship Id="rId3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8.png"/><Relationship Id="rId4" Type="http://schemas.openxmlformats.org/officeDocument/2006/relationships/image" Target="../media/image89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67.xml.rels><?xml version="1.0" encoding="UTF-8" standalone="yes"?>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92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68.xml.rels><?xml version="1.0" encoding="UTF-8" standalone="yes"?>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95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6060" y="1804416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165463" y="2020516"/>
            <a:ext cx="11704320" cy="1950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5867" b="1" kern="0" spc="-67" dirty="0">
                <a:solidFill>
                  <a:srgbClr val="FFFFFF"/>
                </a:solidFill>
                <a:latin typeface="Calibri" panose="020F0502020204030204"/>
              </a:rPr>
              <a:t>COMITÉ SEMANAL DE CAMPAÑAS</a:t>
            </a:r>
            <a:endParaRPr lang="en-US" sz="5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243840" y="3971236"/>
            <a:ext cx="117043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267" dirty="0">
                <a:solidFill>
                  <a:srgbClr val="FFFFFF"/>
                </a:solidFill>
                <a:latin typeface="Calibri" panose="020F0502020204030204"/>
              </a:rPr>
              <a:t>Consolidado · Agosto 2026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99767" y="4937760"/>
            <a:ext cx="117043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dirty="0">
                <a:solidFill>
                  <a:srgbClr val="FFFFFF"/>
                </a:solidFill>
                <a:latin typeface="Calibri" panose="020F0502020204030204"/>
              </a:rPr>
              <a:t>Agosto 2026  ·  MF Asesoría y Consultoría  &amp;  PlusMetas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63" y="-248411"/>
            <a:ext cx="2411404" cy="2411404"/>
          </a:xfrm>
          <a:prstGeom prst="rect">
            <a:avLst/>
          </a:prstGeom>
        </p:spPr>
      </p:pic>
      <p:pic>
        <p:nvPicPr>
          <p:cNvPr id="11" name="LogoPlusMetas"/>
          <p:cNvPicPr/>
          <p:nvPr/>
        </p:nvPicPr>
        <p:blipFill>
          <a:blip r:embed="rId4"/>
          <a:stretch>
            <a:fillRect/>
          </a:stretch>
        </p:blipFill>
        <p:spPr>
          <a:xfrm>
            <a:off x="8717280" y="341377"/>
            <a:ext cx="3169920" cy="18044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370584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Scotiabank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Iván Vilcapoma  ·  Gerente de SBP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E947DDDF-F7B2-D8C9-A611-5C35853CF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SBP CONVENIOS  |LIMA · TELECAMPO + PROV. · NORTE · COA· SUR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Gerente: Ivan Vilcapoma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·  SBP CONVENIOS  |  Iván Vilcapoma  |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473" y="9219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LIMA: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Gerente 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83.9%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767.9K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914.9K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55.1%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584.9K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1.06M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COA: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35.6%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4.70M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370.5K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1.04M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Ivan Vilcapoma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500.0K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129.0K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DIAGNÓSTICO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/>
              <a:t>Rescatar la plaza de Trujillo</a:t>
            </a: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>
                <a:solidFill>
                  <a:srgbClr val="101828"/>
                </a:solidFill>
              </a:rPr>
              <a:t>Completar la dotación del COA</a:t>
            </a: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Recuperar plaza Trujillo en Norte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Dotación al 100% en COA</a:t>
            </a: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>
                <a:solidFill>
                  <a:srgbClr val="101828"/>
                </a:solidFill>
              </a:rPr>
              <a:t>Completar la dotación del COA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  SBP CONVENIOS  / Iván Vilcapoma  |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sp>
        <p:nvSpPr>
          <p:cNvPr id="40" name="Text 34">
            <a:extLst>
              <a:ext uri="{FF2B5EF4-FFF2-40B4-BE49-F238E27FC236}">
                <a16:creationId xmlns:a16="http://schemas.microsoft.com/office/drawing/2014/main" id="{C42B5418-EDDE-7005-E049-24FF2A3FA716}"/>
              </a:ext>
            </a:extLst>
          </p:cNvPr>
          <p:cNvSpPr/>
          <p:nvPr/>
        </p:nvSpPr>
        <p:spPr>
          <a:xfrm>
            <a:off x="6583680" y="182315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 err="1">
                <a:solidFill>
                  <a:srgbClr val="101828"/>
                </a:solidFill>
              </a:rPr>
              <a:t>Re-prospectar</a:t>
            </a:r>
            <a:r>
              <a:rPr lang="es-ES" sz="1200" dirty="0">
                <a:solidFill>
                  <a:srgbClr val="101828"/>
                </a:solidFill>
              </a:rPr>
              <a:t> (maduración ~10 días); nueva política: luchar cada rechazo.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70560" y="2487492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58960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BBVA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Sheyla Ramos  ·  Sub Gerenta de BBVA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B900F1C-9A00-42F4-8F13-6C3836BD9D8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2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Sub-Gerente: Sheyla Ramos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TU META ES NUESTRA META  ·  BBVA CONVENIOS  |   Sheyla Ramos  |  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3" name="dato_manual"/>
          <p:cNvSpPr>
            <a:spLocks noGrp="1"/>
          </p:cNvSpPr>
          <p:nvPr/>
        </p:nvSpPr>
        <p:spPr>
          <a:xfrm>
            <a:off x="3374745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4" name="dato_manual"/>
          <p:cNvSpPr>
            <a:spLocks noGrp="1"/>
          </p:cNvSpPr>
          <p:nvPr/>
        </p:nvSpPr>
        <p:spPr>
          <a:xfrm>
            <a:off x="4779264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CENTRO: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387.1K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LIMA CAMPO: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8CA61E"/>
                </a:solidFill>
              </a:rPr>
              <a:t>104%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950.5K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918.1K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76.2%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TU META ES NUESTRA META  ·  BBVA CONVENIOS  |  SHEYLA RAMOS  |  Sheyla Ramos  |   Agosto 2026</a:t>
            </a:r>
            <a:endParaRPr lang="en-US" sz="933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825.8K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1.08M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Sheyla Ramos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16.0%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3.80M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106.5K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667.5K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PROVINCIA ORIENTE: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8CA61E"/>
                </a:solidFill>
              </a:rPr>
              <a:t>157%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80491" y="1048512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886.2K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565.7K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DIAGNOSTICO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·  BBVA CONVENIOS  |  Sheyla Ramos  |  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176784" y="1605443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Scotiabank Tarjetas de Crédito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Christian Passara : Sub Gerente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A00C97D8-5704-2398-DCDF-3C515195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SCOTIABANK TARJETAS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Sub-Gerente: Monica Mogollon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Scotiabank Tarjetas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DB73DF2-1531-786C-804D-6E358661C57B}"/>
              </a:ext>
            </a:extLst>
          </p:cNvPr>
          <p:cNvSpPr/>
          <p:nvPr/>
        </p:nvSpPr>
        <p:spPr>
          <a:xfrm>
            <a:off x="390144" y="3413761"/>
            <a:ext cx="2152235" cy="129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es-PE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88.0%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390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Superar las 1,000 tarjetas aprobadas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Sostener la productividad y completar al equipo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467" b="1" dirty="0">
                <a:solidFill>
                  <a:srgbClr val="6B150B"/>
                </a:solidFill>
                <a:latin typeface="Calibri" panose="020F0502020204030204"/>
              </a:rPr>
              <a:t>Meta 1,000 tarjetas en agosto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Superar la meta de 1000 tarjetas aprobadas.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Completar la dotación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Dotación 100% completa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3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6690" y="251788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86931" y="15180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BCP Convenios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Jhonny Vega  ·  Sub Gerente de BCP Convenios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8C003E7-D288-9D3B-BB30-D56C0BF91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5166360"/>
            <a:ext cx="3325897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GENERAL: BCP CONVENIOS  |LIMA · TELECAMPO +PROV. · NORTE · SUR · ORIENTE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87%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ACTIVOS TOTAL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69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364286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364286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009933" y="435002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364286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36428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36428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08808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08808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Lima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274475" y="48060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12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1" y="4913951"/>
            <a:ext cx="212506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08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83%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08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4321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432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Telecampo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274475" y="518156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8946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289465"/>
            <a:ext cx="2304288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432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4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559836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559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Norte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274475" y="555707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664978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1" y="5664978"/>
            <a:ext cx="2253081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559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88%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559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53367" y="620939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Oriente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274475" y="59325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040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040493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935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935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800" i="1" dirty="0">
                <a:solidFill>
                  <a:srgbClr val="667085"/>
                </a:solidFill>
                <a:latin typeface="Calibri" panose="020F0502020204030204"/>
              </a:rPr>
              <a:t>TU META ES NUESTRA META  ·  BCP CONVENIOS  |  JHONNY VEGA  |  Jhonny Vega  |  Cierre Agosto 2026</a:t>
            </a:r>
            <a:endParaRPr lang="en-US" sz="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5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Sur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87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LIMA: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TELECAMPO: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 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28.4%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219.8K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774.2K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23.9%</a:t>
            </a:r>
            <a:endParaRPr lang="en-US" sz="88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370.7K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36.9%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571.5K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SUR/ORIENTE: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23.6%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395.7K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1.68M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79008" y="983179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0A024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207264" y="145867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267" b="1" dirty="0">
                <a:solidFill>
                  <a:srgbClr val="FFFFFF"/>
                </a:solidFill>
              </a:rPr>
              <a:t>Efectiva - Fonocompras - Diners - BanBif</a:t>
            </a:r>
            <a:endParaRPr lang="en-US" sz="4267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Monica Mogollon: Subgerenta de Ventas</a:t>
            </a:r>
            <a:endParaRPr lang="en-US" sz="1867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4" y="4894384"/>
            <a:ext cx="2411404" cy="2411404"/>
          </a:xfrm>
          <a:prstGeom prst="rect">
            <a:avLst/>
          </a:prstGeom>
        </p:spPr>
      </p:pic>
      <p:pic>
        <p:nvPicPr>
          <p:cNvPr id="14" name="Cli_ef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623560"/>
            <a:ext cx="640080" cy="640080"/>
          </a:xfrm>
          <a:prstGeom prst="rect">
            <a:avLst/>
          </a:prstGeom>
        </p:spPr>
      </p:pic>
      <p:sp>
        <p:nvSpPr>
          <p:cNvPr id="15" name="Cli_card"/>
          <p:cNvSpPr/>
          <p:nvPr/>
        </p:nvSpPr>
        <p:spPr>
          <a:xfrm>
            <a:off x="1874519" y="5623560"/>
            <a:ext cx="1463039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16" name="Cli_efectiva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57400" y="5742432"/>
            <a:ext cx="1097279" cy="402335"/>
          </a:xfrm>
          <a:prstGeom prst="rect">
            <a:avLst/>
          </a:prstGeom>
        </p:spPr>
      </p:pic>
      <p:sp>
        <p:nvSpPr>
          <p:cNvPr id="17" name="Cli_card"/>
          <p:cNvSpPr/>
          <p:nvPr/>
        </p:nvSpPr>
        <p:spPr>
          <a:xfrm>
            <a:off x="3794760" y="5623560"/>
            <a:ext cx="1837553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18" name="Cli_banbif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77640" y="5742432"/>
            <a:ext cx="1471793" cy="402335"/>
          </a:xfrm>
          <a:prstGeom prst="rect">
            <a:avLst/>
          </a:prstGeom>
        </p:spPr>
      </p:pic>
      <p:sp>
        <p:nvSpPr>
          <p:cNvPr id="19" name="Cli_card"/>
          <p:cNvSpPr/>
          <p:nvPr/>
        </p:nvSpPr>
        <p:spPr>
          <a:xfrm>
            <a:off x="5897880" y="5623560"/>
            <a:ext cx="1937931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20" name="Cli_diners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0760" y="5742432"/>
            <a:ext cx="1572171" cy="40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RESUMEN GENERAL|  EFECTIVA· FONOCOMPRAS · DINERS TC · BANBIF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A9189"/>
                </a:solidFill>
              </a:rPr>
              <a:t>Sub-Gerente: Monica Mogollon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89%</a:t>
            </a:r>
            <a:endParaRPr lang="en-US" sz="106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9189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CONECTADOS</a:t>
            </a:r>
            <a:endParaRPr lang="en-US" sz="104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120</a:t>
            </a:r>
            <a:endParaRPr lang="en-US" sz="2933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130</a:t>
            </a:r>
            <a:endParaRPr lang="en-US" sz="2933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2</a:t>
            </a:r>
            <a:endParaRPr lang="en-US" sz="2933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</a:t>
            </a:r>
            <a:endParaRPr lang="en-US" sz="2933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140</a:t>
            </a:r>
            <a:endParaRPr lang="en-US" sz="2933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4559808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243840" y="4559808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3562503" y="455371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6035040" y="4559808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8875776" y="4559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10058400" y="4559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3866608" y="493532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10058400" y="4935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5310835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243840" y="5310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Fonocompras </a:t>
            </a:r>
            <a:endParaRPr lang="en-US" sz="1267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3866608" y="531083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24</a:t>
            </a:r>
            <a:endParaRPr lang="en-US" sz="1267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6035040" y="5415979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8875776" y="5310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88%</a:t>
            </a:r>
            <a:endParaRPr lang="en-US" sz="1333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10058400" y="5310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1´500,000</a:t>
            </a:r>
            <a:endParaRPr lang="en-US" sz="1133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5686349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243840" y="5686349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Efectivo (</a:t>
            </a:r>
            <a:r>
              <a:rPr lang="en-US" sz="1267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1267" b="1" dirty="0">
                <a:solidFill>
                  <a:srgbClr val="6B150B"/>
                </a:solidFill>
              </a:rPr>
              <a:t>)</a:t>
            </a:r>
            <a:endParaRPr lang="en-US" sz="1267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3866608" y="568634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39</a:t>
            </a:r>
            <a:endParaRPr lang="en-US" sz="1267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6035040" y="5791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6035040" y="5791492"/>
            <a:ext cx="2381097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8875776" y="5686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93%</a:t>
            </a:r>
            <a:endParaRPr lang="en-US" sz="1333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10058400" y="5686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8’200,000</a:t>
            </a:r>
            <a:endParaRPr lang="en-US" sz="1133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6061863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243840" y="6061863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 err="1">
                <a:solidFill>
                  <a:srgbClr val="6B150B"/>
                </a:solidFill>
              </a:rPr>
              <a:t>BanBif</a:t>
            </a:r>
            <a:r>
              <a:rPr lang="en-US" sz="1267" b="1" dirty="0">
                <a:solidFill>
                  <a:srgbClr val="6B150B"/>
                </a:solidFill>
              </a:rPr>
              <a:t> </a:t>
            </a:r>
            <a:endParaRPr lang="en-US" sz="1267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3866608" y="606186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5</a:t>
            </a:r>
            <a:endParaRPr lang="en-US" sz="1267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8875776" y="6061863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100%</a:t>
            </a:r>
            <a:endParaRPr lang="en-US" sz="1333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10058400" y="6061863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1,500,000</a:t>
            </a:r>
            <a:endParaRPr lang="en-US" sz="1133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GRUPO EFE  | Monica Mogollon  |  Agosto 2026</a:t>
            </a:r>
            <a:endParaRPr lang="en-US" sz="100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4507036" y="455605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4795269" y="533372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20</a:t>
            </a:r>
            <a:endParaRPr lang="en-US" sz="1267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4817769" y="570785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28</a:t>
            </a:r>
            <a:endParaRPr lang="en-US" sz="1267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4850112" y="608337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</a:t>
            </a:r>
            <a:endParaRPr lang="en-US" sz="1267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6845717" y="53183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7011965" y="56938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7064232" y="606186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24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3374745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4779264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3374745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4779264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EFECTIVA (DORMIDOS + NUEVOS + RECURRENTES): Información al 8 de Agosto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58.8%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1.45M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2.46M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97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18760"/>
            <a:ext cx="22860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5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55.9%</a:t>
            </a:r>
            <a:endParaRPr lang="en-US" sz="88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31628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1.57M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161.7K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289.5K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FONOCOMPRAS (</a:t>
            </a:r>
            <a:r>
              <a:rPr lang="es-ES" sz="1867" b="1" dirty="0">
                <a:solidFill>
                  <a:schemeClr val="bg1"/>
                </a:solidFill>
              </a:rPr>
              <a:t>OUTBOUND  + INBOUD)</a:t>
            </a:r>
            <a:r>
              <a:rPr lang="en-US" sz="1667" b="1" kern="0" spc="40" dirty="0">
                <a:solidFill>
                  <a:srgbClr val="FFFFFF"/>
                </a:solidFill>
              </a:rPr>
              <a:t>: Información al 8 de Agosto</a:t>
            </a:r>
            <a:endParaRPr lang="en-US" sz="1667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5" y="-217956"/>
            <a:ext cx="1264005" cy="1264005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78892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300812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0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572" y="5120640"/>
            <a:ext cx="123444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DINERS  |  TARJETAS DE CREDITO: 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1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Gerente: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3.1%</a:t>
            </a:r>
            <a:endParaRPr lang="en-US" sz="96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2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65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51184" y="6519812"/>
            <a:ext cx="315872" cy="307708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445354"/>
            <a:ext cx="2286000" cy="5850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BANBIF PRESTAMOS: Información al 8 de Agosto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5 / 5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80.1%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2.10M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647.8K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809.0K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425405"/>
            <a:ext cx="2286000" cy="62491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EFECTIVA Y FONOCOMPRAS|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6933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C97A0C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8467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DINNERS  | DIAGNOSTICO Y SEGUIMIENTO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DINERS  |  DIAGNOSTICO  | Agosto 2026</a:t>
            </a:r>
            <a:endParaRPr lang="en-US" sz="100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9936" y="6510528"/>
            <a:ext cx="414528" cy="292608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BANBIF|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6583680" y="1926336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6583680" y="3576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8096" y="2367409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rgbClr val="FFFFFF"/>
                </a:solidFill>
              </a:rPr>
              <a:t>Norma Lévano  ·  Sub </a:t>
            </a:r>
            <a:r>
              <a:rPr lang="en-US" sz="2000" dirty="0" err="1">
                <a:solidFill>
                  <a:srgbClr val="FFFFFF"/>
                </a:solidFill>
              </a:rPr>
              <a:t>Gerente</a:t>
            </a:r>
            <a:r>
              <a:rPr lang="en-US" sz="2000" dirty="0">
                <a:solidFill>
                  <a:srgbClr val="FFFFFF"/>
                </a:solidFill>
              </a:rPr>
              <a:t> BBVA Digital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HIBRIDO · PLD DIGITAL · OPERACIONES DIGITAL · TC SMART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Norma Levano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82%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57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13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135427" y="45598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Hibrido (Tarjetas Digital)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330949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1945843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76%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310836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Digital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330949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415979"/>
            <a:ext cx="2048256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686350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Digital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330949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103%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6061864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SMART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330949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167007"/>
            <a:ext cx="2073859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DIGITAL  |  NORMA LEVANO  |  Norma Levano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6747399" y="494751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6966291" y="568259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6779553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4437740" y="45329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4707708" y="48719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4725973" y="53106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4748473" y="568474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4780816" y="60602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90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91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57</a:t>
            </a:r>
          </a:p>
        </p:txBody>
      </p:sp>
      <p:sp>
        <p:nvSpPr>
          <p:cNvPr id="92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3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4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16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36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400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8CA61E"/>
                </a:solidFill>
                <a:latin typeface="Calibri" panose="020F0502020204030204"/>
              </a:rPr>
              <a:t>188%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400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229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122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SMART: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401" y="15446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Sub-</a:t>
            </a:r>
            <a:r>
              <a:rPr lang="en-US" sz="1067" i="1" dirty="0" err="1">
                <a:solidFill>
                  <a:srgbClr val="667085"/>
                </a:solidFill>
                <a:latin typeface="Calibri" panose="020F0502020204030204"/>
              </a:rPr>
              <a:t>Gerente</a:t>
            </a:r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 </a:t>
            </a:r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: Norma Levano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65.1%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650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123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189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algn="ctr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650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HIBRIDO — TARJETAS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52.2%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55902" y="1048512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2.80K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374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716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121920" y="101228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243840" y="110982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algn="ctr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2800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DIGITALES: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56.7%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346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610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algn="ctr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3.000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DIGITAL 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DIGITAL  |  DIAGNOSTICO  |  Norma Lévano|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OUT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Ronny Aleman  ·  Subgerente BBVA TLM OUT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TLM · PLD OUT · OPERACIONES OUT · PORTAFOLIO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Ronny Aleman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73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RONNY ALEMAN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TELEMARKETING OUT: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E08A1E"/>
                </a:solidFill>
                <a:latin typeface="Calibri" panose="020F0502020204030204"/>
              </a:rPr>
              <a:t>META: 2.90K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E08A1E"/>
                </a:solidFill>
                <a:latin typeface="Calibri" panose="020F0502020204030204"/>
              </a:rPr>
              <a:t>96.7%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2.90K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989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1.02K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OUT PRESTAMOS: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Lider: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117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51960"/>
            <a:ext cx="2194564" cy="1249240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OUT: 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5.25K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82.9%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5.25K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1.55K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1.88K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139" y="-143757"/>
            <a:ext cx="2194564" cy="1249240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PORTAFOLIO: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89.7%</a:t>
            </a:r>
            <a:endParaRPr lang="en-US" sz="8800" dirty="0">
              <a:solidFill>
                <a:srgbClr val="D97706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12.50M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2.95M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3.28M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118872" y="1033897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240792" y="1131433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17748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OUT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DIAGNOSTICO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2CE8D-8354-4F43-EAA8-B6610A68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29CBC-1F4E-8F58-259E-C03E87A66838}"/>
              </a:ext>
            </a:extLst>
          </p:cNvPr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4DAD03E-82AC-BABC-4120-D02A397FB671}"/>
              </a:ext>
            </a:extLst>
          </p:cNvPr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AEB98B8-CBE7-FAF7-31CB-1ACD3C1EE72C}"/>
              </a:ext>
            </a:extLst>
          </p:cNvPr>
          <p:cNvSpPr/>
          <p:nvPr/>
        </p:nvSpPr>
        <p:spPr>
          <a:xfrm>
            <a:off x="757338" y="155481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UNICEF RETENCIONES Y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66935EE-70D7-8EC8-6A9A-F08E34CD2780}"/>
              </a:ext>
            </a:extLst>
          </p:cNvPr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José Jesus San Martin ·  Jefe de Ventas UNICEF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42A01D-1FC0-CED3-B862-5B9A74B11FAD}"/>
              </a:ext>
            </a:extLst>
          </p:cNvPr>
          <p:cNvSpPr/>
          <p:nvPr/>
        </p:nvSpPr>
        <p:spPr>
          <a:xfrm>
            <a:off x="959224" y="367212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0B98298-CD5E-E2B5-4381-ECFF1A901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846320"/>
            <a:ext cx="2743200" cy="1508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6179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3F51C-5E62-7778-FE5E-6DAA9526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7BB383-8507-82EC-ADE1-A82310382101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7F0DA0D-327D-768B-91E9-16B5156307BA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575B21-F4A1-11B9-84F7-0A4D09F33F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11BD564-4043-9A51-B3EA-2C96493D0864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 |  FIDELIZACION · UPGRADE LINEA · SAVING · EXTRACASH · DIGITAL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B530855-764C-AA63-F222-700CA8E7A751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47880D5-0316-DEDA-C67F-0AD7ECD4DC85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ADFBA8A-EF26-6583-CBA4-BD96CEBFBFFB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495DF1-EA6A-6C82-2171-76FB1C6C3255}"/>
              </a:ext>
            </a:extLst>
          </p:cNvPr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F787903-8B82-7250-2BE1-106AB1ED9084}"/>
              </a:ext>
            </a:extLst>
          </p:cNvPr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D209B12-B79D-91BC-85C9-4E91F7DBE3D8}"/>
              </a:ext>
            </a:extLst>
          </p:cNvPr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59E8BFD-E961-49F9-9403-AC13EC0499FC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82DC85-8FA1-3A83-113D-B1F08BD36788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5606370-2D48-382B-500F-A9974F0206E8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5B60288-0D6E-75E0-D6B5-96014B1A9078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940B32C-AAF9-ED44-AB25-45CA90F80AA6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1149AF9-F72C-4535-C173-4B180E54F6E2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4B037B0-6918-C181-D0F8-656D9A62EFC3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A42EB48-7AF5-F01D-4EA8-A897999B2D6A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CBD7068-1E59-B148-5740-8629732D5132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445DB68-2177-A6FE-AA00-3739C2CFACD0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7058E3D-F71F-1ACF-603D-D4C038338BBF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90D19C5-1D3F-9635-4FC1-4F4C4939AECF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27E0F00-A81E-9B7D-08FD-ECE8897B7971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3E1AF3A-2468-7581-3374-D486A229E68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7E2800A9-2A81-B045-17BE-DA3CE256D854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33DFF1C-4000-CB60-4F68-B3EF029176A2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A391B216-82F6-1F27-7534-CA24333ED83E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C8E547E-643F-F800-FB9E-D633C0E01861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AA0BBD82-F929-19AD-66B3-8C72A9478E61}"/>
              </a:ext>
            </a:extLst>
          </p:cNvPr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8699A17-8BBF-A221-943F-38B5C913CF63}"/>
              </a:ext>
            </a:extLst>
          </p:cNvPr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A25242D-C57A-4FBD-F2B7-4ADC2C6BD23E}"/>
              </a:ext>
            </a:extLst>
          </p:cNvPr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199EF2B-B1E5-3D75-C6FA-B04E747EF41C}"/>
              </a:ext>
            </a:extLst>
          </p:cNvPr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1BB62F6-4D9A-A4F7-4309-0773E84C30CA}"/>
              </a:ext>
            </a:extLst>
          </p:cNvPr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559A4649-1D90-ED4A-66CA-A03A5CF5B842}"/>
              </a:ext>
            </a:extLst>
          </p:cNvPr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4F8DAD10-DD3F-9B2C-440D-E6DA297E030D}"/>
              </a:ext>
            </a:extLst>
          </p:cNvPr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AA2421F1-57F8-71C3-4F3F-25EC93E92D25}"/>
              </a:ext>
            </a:extLst>
          </p:cNvPr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29BE4591-6316-F514-1DC5-74870C7DE732}"/>
              </a:ext>
            </a:extLst>
          </p:cNvPr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7312BD1F-2719-645F-D506-636A6B25194B}"/>
              </a:ext>
            </a:extLst>
          </p:cNvPr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350EE0EF-E6F5-6892-51A8-50644A25E7AC}"/>
              </a:ext>
            </a:extLst>
          </p:cNvPr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9B8F2238-3927-708A-1A76-816E811DAEBB}"/>
              </a:ext>
            </a:extLst>
          </p:cNvPr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430FDF3F-7127-1F0F-DFB0-C56B0EC8CECB}"/>
              </a:ext>
            </a:extLst>
          </p:cNvPr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BAA2004E-5590-59BE-BA04-FB7CED4455B0}"/>
              </a:ext>
            </a:extLst>
          </p:cNvPr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A9379D37-5FB0-52FB-0EB0-101E498D47C0}"/>
              </a:ext>
            </a:extLst>
          </p:cNvPr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0D71D73-F456-10C8-FFA2-2835EBF61458}"/>
              </a:ext>
            </a:extLst>
          </p:cNvPr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964FEC3B-880E-C75D-449A-3B25B2C05C47}"/>
              </a:ext>
            </a:extLst>
          </p:cNvPr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932138FB-B635-D59F-68A0-C94FA9B956D3}"/>
              </a:ext>
            </a:extLst>
          </p:cNvPr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1949775-450F-EAEB-3CC9-7B448E98376D}"/>
              </a:ext>
            </a:extLst>
          </p:cNvPr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65BEC881-1673-C85C-9C5E-49D481706E79}"/>
              </a:ext>
            </a:extLst>
          </p:cNvPr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EBC15288-556B-E819-0C1C-8A16CDFBABEC}"/>
              </a:ext>
            </a:extLst>
          </p:cNvPr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798444E0-00ED-930B-7355-683384F4523B}"/>
              </a:ext>
            </a:extLst>
          </p:cNvPr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2F2C6BB-8B79-EA97-34BE-216430EF8B43}"/>
              </a:ext>
            </a:extLst>
          </p:cNvPr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50A48560-92C1-CA70-4617-9616D3B1D9A8}"/>
              </a:ext>
            </a:extLst>
          </p:cNvPr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D0E908CB-67DD-6EE0-5E61-ADE7FBC31D03}"/>
              </a:ext>
            </a:extLst>
          </p:cNvPr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D4C827E-FF50-2174-B16E-E8F4077D4599}"/>
              </a:ext>
            </a:extLst>
          </p:cNvPr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D086E8B5-20BE-F462-5A2C-272CE3D9F8F3}"/>
              </a:ext>
            </a:extLst>
          </p:cNvPr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87741144-2F79-4082-F3FE-F44EFC13A68D}"/>
              </a:ext>
            </a:extLst>
          </p:cNvPr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FFA76F16-4658-F291-0887-2F9542AD9A50}"/>
              </a:ext>
            </a:extLst>
          </p:cNvPr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04C0FFB9-76DA-7560-F490-834FF2EC48ED}"/>
              </a:ext>
            </a:extLst>
          </p:cNvPr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177C11F4-1989-B48B-157F-FC95330891AC}"/>
              </a:ext>
            </a:extLst>
          </p:cNvPr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FC8538A-19DE-4BEB-BCD3-06E329639793}"/>
              </a:ext>
            </a:extLst>
          </p:cNvPr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B991F6B9-454C-0FD5-6FEA-9D35EA643198}"/>
              </a:ext>
            </a:extLst>
          </p:cNvPr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B3729534-24BE-16FB-8368-36FF6FAF47DC}"/>
              </a:ext>
            </a:extLst>
          </p:cNvPr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83D6FDB1-85E5-E916-E609-06EB10FDF9CF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0D36F9D2-E71E-1205-26D8-551C12D59FDB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813D47BE-2319-8211-B235-2BCFD14BD66F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F065D574-8D43-D05A-68B1-E91D48672039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FAB19E82-0C37-3CCD-B9D8-DE5B69AAB3BE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20EC57E-FDA6-030A-B1F4-BD80608BAAA4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86907E13-CFC9-0097-52F0-E9A05EF1982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C2DA35FC-8862-DF88-655C-CF045DC934D6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0337DEA4-6DD6-7869-C5BB-B99B675D781E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4CD69733-C6DB-2A21-FDDE-F13D824CE05A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363266AA-900D-239C-C84D-C700E71B9982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6FDC28-44B1-8C1F-5C42-5F5C265E40F4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21B0679-F29A-F0B4-756E-45AC031CE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374745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4779264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6883715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42.4%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25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59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873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FE234-C10B-C7EA-3402-87CBBBE78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D2FFDC-C463-3682-6F6A-A434919E140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D8883E-2421-F1FC-671F-024B464DD1A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845873C-4E17-A84A-C27C-F55B6267945D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27D361B-B23D-EDA9-1878-86B38ABE2620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FIDELIZACION: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6AFA94-B4F1-3FBD-CB5D-C87E48229183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33C30D4-1201-D51B-0555-CC478C0C41E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3FE7798-D4A9-408A-B2EA-388404C3A5C1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31DCCAC-5F71-98C4-76C9-729D5D1FD40D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0B3BC00-2A15-60C1-3F17-104C9A2F6DEE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129%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A549112-C06F-6419-74E3-BBA8B31D9826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77EF628-02FE-97BB-8E7B-B494F6DCA713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D85FEBAC-5F18-CCD5-1418-03A86523360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62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9844D16A-C8FB-28B3-7BF4-2A885D4DF95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48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BDE768CE-10B1-7EFA-5E70-39232DDDD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622C61AE-D359-72E8-BF9D-8E8F38966C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789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1727-6A92-90C2-C167-5D31A2F2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2B8FD6-B373-C88A-B29F-4A99B12585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1040F7B-3F97-8436-3DE4-340A1229277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332294-037D-AF95-5776-C1399BD55C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00686F-11DE-117E-0C25-CB69660AEE2E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UPGRADE LINEA: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943E890-614B-7C3D-A508-220ED28D8E36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90CE656-282F-7581-6413-AF7D6B3650A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C49CCDA-DDC8-96D2-F88A-DF8128FFC3EA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2.40K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8A6537C-BB79-D359-C43F-01199A749227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86D64CF-C7A9-F775-C2F2-80EC5DFE8080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100%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F7F015BE-0320-B077-59C0-C07FA0E2801D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31E8D89-6F23-A1C5-3CE3-D5FB7F98A93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2.40K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83900041-3A68-7048-1720-7317179F3B77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460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F8BB73D2-1980-B46E-59E7-B96C6D840F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460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F1DECBA-8BDD-7481-F0D3-745925947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C911ABA5-0079-24A9-C166-C58415AFF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962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ED80-BE5D-2947-34C1-3FE1D525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93CBD0-A894-9BCC-5217-50C2211907D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E98232-6A90-9C7D-DF01-166894F8766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E5A9C44-CC43-3F68-C1C7-875A4C7962B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7AE940-B13E-2244-90AD-2C57053ABEC3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SAVING: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7F9931-88AD-FDF4-1E99-8505B1365C4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1D5004C-DA7D-6C00-E3AF-CE759862CD82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961F994-4C47-EEDA-D1AB-AA8AD16FD910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11.70K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00C238C-2C88-B159-CA14-0D2F166AFAB2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67FFFF1-8B1D-3C90-E278-82F22747EBD6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63.4%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2642501-DA34-BEBC-E69F-A1C67D5FDD92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A6EC92E7-3AF3-D28B-83E2-C56B500F15DE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11.70K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30F9745-379C-50D8-8B70-2E6345CFF29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1.56K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DB60CEB0-01A5-74D1-0F4B-AD2F8BF43C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2.46K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AEC5EE60-F2FE-06A3-1698-ED4493F19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DE4C9C4-BB56-6BBB-C92C-AE6A74F8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51241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EXTRACASH: Información al 8 de Agosto</a:t>
            </a:r>
            <a:endParaRPr lang="en-US" sz="16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60.00K</a:t>
            </a:r>
            <a:endParaRPr lang="en-US" sz="12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Jefe de Ventas: Jose Jesus San Martin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800" b="1" dirty="0">
                <a:solidFill>
                  <a:srgbClr val="C0392B"/>
                </a:solidFill>
              </a:rPr>
              <a:t>19.8%</a:t>
            </a:r>
            <a:endParaRPr lang="en-US" sz="88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60.00K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3.83K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19.33K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E539-EA1E-29F8-E1EE-5FDED82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F8158E-749D-E526-85DF-E54EAE2B4374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0AEBA-F7DB-7615-F73E-25C957227BF8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4B49187-F1D4-0478-F94D-24E9D3553E50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4D0FB1-CF98-05F0-47BC-EFAC429A0B6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UNICEF  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A1FC2EF-2D12-05D5-710A-35B4FB97F669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FF9265D-1367-B8F7-70DC-A763D916710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369A7D52-88B3-F0B8-E39C-258AEF6F3BCC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90EF2E-CBA8-5B18-7B3B-035D59CD5870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77D1AB1-E5D5-04F0-D800-538FC4DA791E}"/>
              </a:ext>
            </a:extLst>
          </p:cNvPr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21A1495-2C18-BA50-AD25-C5D0E9C966E9}"/>
              </a:ext>
            </a:extLst>
          </p:cNvPr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6F6348A-41F5-B2B4-A677-06C89FB088C3}"/>
              </a:ext>
            </a:extLst>
          </p:cNvPr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FEE629C-E8D9-A277-74E9-B64079F26ED4}"/>
              </a:ext>
            </a:extLst>
          </p:cNvPr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8105EAC-C474-9171-5E09-C95644DD206D}"/>
              </a:ext>
            </a:extLst>
          </p:cNvPr>
          <p:cNvSpPr/>
          <p:nvPr/>
        </p:nvSpPr>
        <p:spPr>
          <a:xfrm>
            <a:off x="33528" y="396240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Igualar/superar junio en Saving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9A03C9F-C5A0-63E2-CB20-9FF65B156118}"/>
              </a:ext>
            </a:extLst>
          </p:cNvPr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7D817F1-2084-1E4D-241F-018511048F25}"/>
              </a:ext>
            </a:extLst>
          </p:cNvPr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F988CCB-3CBF-7C21-61EB-A7B3615050C3}"/>
              </a:ext>
            </a:extLst>
          </p:cNvPr>
          <p:cNvSpPr/>
          <p:nvPr/>
        </p:nvSpPr>
        <p:spPr>
          <a:xfrm>
            <a:off x="195072" y="55973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4BF49F7-8E85-BED4-C7D8-FEA8AEEE53B3}"/>
              </a:ext>
            </a:extLst>
          </p:cNvPr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CCB81E2-F059-E127-553B-D5C5350E94BD}"/>
              </a:ext>
            </a:extLst>
          </p:cNvPr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632D91-B7F2-8F26-4673-FFE340204C67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66B2FDF-9628-DC17-3FD8-5A9AFC889B59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D09BD62-18C9-3AA2-8201-5B3E05D4297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D617A0B9-6B65-6DBB-D1BF-102AD481D338}"/>
              </a:ext>
            </a:extLst>
          </p:cNvPr>
          <p:cNvSpPr/>
          <p:nvPr/>
        </p:nvSpPr>
        <p:spPr>
          <a:xfrm>
            <a:off x="6264537" y="1422700"/>
            <a:ext cx="5903079" cy="242997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74A759BD-5949-EEE9-E9A7-01036B602F7C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2720377-8EA0-15A6-444C-5AB864AFB9FF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C3659DF-96A2-C406-05C3-C35494F49761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9A3818AF-8744-E94A-FC1E-4BAA0705FF1F}"/>
              </a:ext>
            </a:extLst>
          </p:cNvPr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EF27566-7BDD-AC33-CEA8-AD6517596075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2FFA78-5226-3BB5-E9EA-3F2AB5D3F2F0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BEC225B9-D88C-6637-207B-EC36FBC0340C}"/>
              </a:ext>
            </a:extLst>
          </p:cNvPr>
          <p:cNvSpPr/>
          <p:nvPr/>
        </p:nvSpPr>
        <p:spPr>
          <a:xfrm>
            <a:off x="6583680" y="4324216"/>
            <a:ext cx="3937299" cy="10605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1AA52ED7-C8D2-1D35-5E8D-D836582DD359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8FE961B8-22D3-3796-1D39-94CD10A571E7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BEA2F3A-AB83-979C-2429-61BA831A577E}"/>
              </a:ext>
            </a:extLst>
          </p:cNvPr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FD86D12-9F86-5E77-65F5-54A4BA7B8159}"/>
              </a:ext>
            </a:extLst>
          </p:cNvPr>
          <p:cNvSpPr/>
          <p:nvPr/>
        </p:nvSpPr>
        <p:spPr>
          <a:xfrm>
            <a:off x="6583680" y="4401313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551E0EDE-4842-2D2D-CBB2-AA34A4E21C56}"/>
              </a:ext>
            </a:extLst>
          </p:cNvPr>
          <p:cNvSpPr/>
          <p:nvPr/>
        </p:nvSpPr>
        <p:spPr>
          <a:xfrm>
            <a:off x="6571488" y="5670865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411D48F-0587-983A-34C7-7492F70DDE85}"/>
              </a:ext>
            </a:extLst>
          </p:cNvPr>
          <p:cNvSpPr/>
          <p:nvPr/>
        </p:nvSpPr>
        <p:spPr>
          <a:xfrm>
            <a:off x="6583680" y="5670865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A0D737DA-6C4C-954F-215A-0E1D7125BB9F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04F14925-C383-657B-9C85-5C09CAC15AE8}"/>
              </a:ext>
            </a:extLst>
          </p:cNvPr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67085"/>
                </a:solidFill>
              </a:rPr>
              <a:t>TU META ES NUESTRA META  ·  UNICEF  |  DIAGNOSTICO  |  Jose Jesus San Martin  |   Agosto 2026</a:t>
            </a:r>
            <a:endParaRPr lang="en-US" sz="100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11BA17C1-F315-D75F-1951-FCD0339BA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  <p:sp>
        <p:nvSpPr>
          <p:cNvPr id="40" name="Shape 12">
            <a:extLst>
              <a:ext uri="{FF2B5EF4-FFF2-40B4-BE49-F238E27FC236}">
                <a16:creationId xmlns:a16="http://schemas.microsoft.com/office/drawing/2014/main" id="{8A7481B4-F99B-DA41-3BFE-DF0D56448BC5}"/>
              </a:ext>
            </a:extLst>
          </p:cNvPr>
          <p:cNvSpPr/>
          <p:nvPr/>
        </p:nvSpPr>
        <p:spPr>
          <a:xfrm>
            <a:off x="121920" y="1524000"/>
            <a:ext cx="5230368" cy="871647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Cerrar Digital en la meta</a:t>
            </a: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192FD573-9785-5141-DD6B-A8A02316E1DF}"/>
              </a:ext>
            </a:extLst>
          </p:cNvPr>
          <p:cNvSpPr/>
          <p:nvPr/>
        </p:nvSpPr>
        <p:spPr>
          <a:xfrm>
            <a:off x="6669741" y="403447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078"/>
                </a:solidFill>
              </a:rPr>
              <a:t>CERRAR SAVING CON + DE 8700</a:t>
            </a:r>
            <a:endParaRPr lang="en-US" sz="1400" dirty="0"/>
          </a:p>
        </p:txBody>
      </p:sp>
      <p:sp>
        <p:nvSpPr>
          <p:cNvPr id="44" name="Text 33">
            <a:extLst>
              <a:ext uri="{FF2B5EF4-FFF2-40B4-BE49-F238E27FC236}">
                <a16:creationId xmlns:a16="http://schemas.microsoft.com/office/drawing/2014/main" id="{60CEE97D-0182-911D-F2B0-841022589DAE}"/>
              </a:ext>
            </a:extLst>
          </p:cNvPr>
          <p:cNvSpPr/>
          <p:nvPr/>
        </p:nvSpPr>
        <p:spPr>
          <a:xfrm>
            <a:off x="6669741" y="1591057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600" b="1" dirty="0">
                <a:solidFill>
                  <a:srgbClr val="145078"/>
                </a:solidFill>
              </a:rPr>
              <a:t>Cerrar 240 en cantidad al 09/08.</a:t>
            </a:r>
            <a:endParaRPr lang="en-US" sz="1600" b="1" dirty="0">
              <a:solidFill>
                <a:srgbClr val="1450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15952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402336" y="185400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SANNA SEGUROS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Claudia Nuñez: Jefa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Busca trabajo en SANNA . Encuentra empleo en SANNA incluyendo sueldos,  ratings y reviews compartidos anónimanete por colaboradores de SANNA .">
            <a:extLst>
              <a:ext uri="{FF2B5EF4-FFF2-40B4-BE49-F238E27FC236}">
                <a16:creationId xmlns:a16="http://schemas.microsoft.com/office/drawing/2014/main" id="{1613AFE6-3234-365E-4BCC-B08FF8EBB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5193791"/>
            <a:ext cx="3657600" cy="111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SANNA SEGUROS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Jefa de Ventas: Claudia Nuñez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SANNA Seguros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SEGUROS: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Sub </a:t>
            </a:r>
            <a:r>
              <a:rPr lang="en-US" sz="1133" i="1" dirty="0" err="1">
                <a:solidFill>
                  <a:srgbClr val="9A9189"/>
                </a:solidFill>
                <a:latin typeface="Calibri" panose="020F0502020204030204"/>
              </a:rPr>
              <a:t>Gerenta</a:t>
            </a:r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: Claudia Nuñez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3.0%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2" y="5120640"/>
            <a:ext cx="150876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23748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Incorporar ejecutivo(a) de relacionamiento </a:t>
            </a:r>
            <a:endParaRPr lang="en-US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34112" y="275062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8392" y="3123083"/>
            <a:ext cx="5547360" cy="1554581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Replicar mejores prácticas y resolver bienvenida 48 h</a:t>
            </a:r>
            <a:endParaRPr lang="es-PE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219456" y="3750845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46304" y="467766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Objetivo del mes: 140 pólizas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Buscar más empresas para colocar pólizas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Cumplir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la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bienvenida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en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48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hrs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con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los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referidos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6583680" y="5226305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B150B"/>
                </a:solidFill>
                <a:latin typeface="Calibri" panose="020F0502020204030204"/>
              </a:rPr>
              <a:t>Nota: BanBif cumplido al 100% (S/ 1,503,083). Foco en Tarjetas e induccion pendiente.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DIAGNOSTICO  |  Claudia Nuñez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sp>
        <p:nvSpPr>
          <p:cNvPr id="4" name="Text 31">
            <a:extLst>
              <a:ext uri="{FF2B5EF4-FFF2-40B4-BE49-F238E27FC236}">
                <a16:creationId xmlns:a16="http://schemas.microsoft.com/office/drawing/2014/main" id="{7561DE02-26FD-2DBF-6E4C-F778270D9516}"/>
              </a:ext>
            </a:extLst>
          </p:cNvPr>
          <p:cNvSpPr/>
          <p:nvPr/>
        </p:nvSpPr>
        <p:spPr>
          <a:xfrm>
            <a:off x="6461760" y="3540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200" dirty="0">
                <a:solidFill>
                  <a:srgbClr val="111010"/>
                </a:solidFill>
                <a:latin typeface="Calibri" panose="020F0502020204030204"/>
              </a:rPr>
              <a:t>Asesora top (26 pólizas) comparta factores clave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GENERAL: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GENERAL: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GENERAL: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2016</TotalTime>
  <Words>2766</Words>
  <Application>Microsoft Office PowerPoint</Application>
  <PresentationFormat>Panorámica</PresentationFormat>
  <Paragraphs>1003</Paragraphs>
  <Slides>65</Slides>
  <Notes>43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9</vt:i4>
      </vt:variant>
      <vt:variant>
        <vt:lpstr>Títulos de diapositiva</vt:lpstr>
      </vt:variant>
      <vt:variant>
        <vt:i4>65</vt:i4>
      </vt:variant>
    </vt:vector>
  </HeadingPairs>
  <TitlesOfParts>
    <vt:vector size="76" baseType="lpstr">
      <vt:lpstr>Arial</vt:lpstr>
      <vt:lpstr>Calibri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Agosto 2026 — Consolidado (todas las campañas)</dc:title>
  <dc:subject>SBP Convenios · BBVA Convenios · SBP TC · BCP Convenios · Efectiva-Diners-BanBif · BBVA TLM Digital · BBVA TLM Out · UNICEF · SANNA</dc:subject>
  <dc:creator>PptxGenJS</dc:creator>
  <cp:lastModifiedBy>Jose Martin Fabricio Sanchez</cp:lastModifiedBy>
  <cp:revision>22</cp:revision>
  <dcterms:created xsi:type="dcterms:W3CDTF">2026-06-10T17:53:50Z</dcterms:created>
  <dcterms:modified xsi:type="dcterms:W3CDTF">2026-08-11T00:59:42Z</dcterms:modified>
</cp:coreProperties>
</file>