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9" r:id="rId3"/>
    <p:sldId id="260" r:id="rId4"/>
    <p:sldId id="261" r:id="rId5"/>
    <p:sldId id="266" r:id="rId6"/>
    <p:sldId id="324" r:id="rId7"/>
    <p:sldId id="325" r:id="rId8"/>
    <p:sldId id="262" r:id="rId9"/>
    <p:sldId id="263" r:id="rId10"/>
    <p:sldId id="320" r:id="rId11"/>
    <p:sldId id="265" r:id="rId12"/>
    <p:sldId id="322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5" r:id="rId28"/>
    <p:sldId id="286" r:id="rId29"/>
    <p:sldId id="288" r:id="rId30"/>
    <p:sldId id="287" r:id="rId31"/>
    <p:sldId id="289" r:id="rId32"/>
    <p:sldId id="319" r:id="rId33"/>
    <p:sldId id="290" r:id="rId34"/>
    <p:sldId id="291" r:id="rId35"/>
    <p:sldId id="308" r:id="rId36"/>
    <p:sldId id="309" r:id="rId37"/>
    <p:sldId id="310" r:id="rId38"/>
    <p:sldId id="311" r:id="rId3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A075"/>
    <a:srgbClr val="D97706"/>
    <a:srgbClr val="A8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0" autoAdjust="0"/>
    <p:restoredTop sz="94610"/>
  </p:normalViewPr>
  <p:slideViewPr>
    <p:cSldViewPr snapToGrid="0" snapToObjects="1">
      <p:cViewPr>
        <p:scale>
          <a:sx n="75" d="100"/>
          <a:sy n="75" d="100"/>
        </p:scale>
        <p:origin x="1440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72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49D2-720A-B44B-9E80-E06DFDFE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97268-F9AD-A27B-D5D4-4C58A9273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C3F-CA68-BFD5-CB62-81FB8073E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A4C7-97E7-81BB-B14C-C42EB3CE7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429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7CA5-C6B7-1EF2-0C40-7706E772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7ED1-86E8-4732-6996-31F21533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236FF-4DEB-268A-D161-F664F6DC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D2C9-F18A-5CEF-BA7A-5EAFB2ED1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760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73D3-56E6-59CD-329B-9F0D2398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CBFA9-F4C1-F409-2823-0934E2C5F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9D587-D068-4C9A-8983-B5629ACB7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86900-3E23-47BE-CA79-E51C6BACE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352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1DFF7-143D-5CAD-9A98-EDA383ED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F77F-F449-C0BF-5F37-904BBA1BC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0B0A3-F5B5-2990-A87A-A2920A2E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8D817-88E8-1500-D09E-F295A46CC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9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596C-901E-BE66-BF58-E2B4B4BB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77CE6-0A99-FF46-4152-5FD1B52D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38BED-B980-11E4-5A77-614E6D4D6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3A50-523E-AA94-1B3D-4A96E9BCF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064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2"/>
          <p:cNvSpPr/>
          <p:nvPr/>
        </p:nvSpPr>
        <p:spPr>
          <a:xfrm>
            <a:off x="57045" y="1353312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124097" y="1515387"/>
            <a:ext cx="8778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4400" b="1" kern="0" spc="-50" dirty="0">
                <a:solidFill>
                  <a:srgbClr val="FFFFFF"/>
                </a:solidFill>
              </a:rPr>
              <a:t>COMITÉ SEMANAL DE CAMPAÑAS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82880" y="2978427"/>
            <a:ext cx="8778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</a:rPr>
              <a:t>Consolidado · Julio 2026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24825" y="3703320"/>
            <a:ext cx="8778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Julio 2026  ·  MF Asesoría y </a:t>
            </a:r>
            <a:r>
              <a:rPr lang="en-US" sz="1100" dirty="0" err="1">
                <a:solidFill>
                  <a:srgbClr val="FFFFFF"/>
                </a:solidFill>
              </a:rPr>
              <a:t>Consultoría</a:t>
            </a:r>
            <a:r>
              <a:rPr lang="en-US" sz="1100" dirty="0">
                <a:solidFill>
                  <a:srgbClr val="FFFFFF"/>
                </a:solidFill>
              </a:rPr>
              <a:t>  &amp;  PlusMetas</a:t>
            </a:r>
            <a:endParaRPr lang="en-US" sz="11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19C7-3194-4AD2-FC53-73E90CB7E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97" y="-186309"/>
            <a:ext cx="1808553" cy="18085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9728" y="2160769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155448" y="1094004"/>
            <a:ext cx="8732520" cy="8042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3200" b="1" dirty="0">
                <a:solidFill>
                  <a:srgbClr val="FFFFFF"/>
                </a:solidFill>
              </a:rPr>
              <a:t>Christian </a:t>
            </a:r>
            <a:r>
              <a:rPr lang="en-US" sz="3200" b="1" dirty="0" err="1">
                <a:solidFill>
                  <a:srgbClr val="FFFFFF"/>
                </a:solidFill>
              </a:rPr>
              <a:t>Passara</a:t>
            </a:r>
            <a:r>
              <a:rPr lang="en-US" sz="3200" b="1" dirty="0">
                <a:solidFill>
                  <a:srgbClr val="FFFFFF"/>
                </a:solidFill>
              </a:rPr>
              <a:t>: </a:t>
            </a:r>
            <a:r>
              <a:rPr lang="en-US" sz="3200" b="1" dirty="0" err="1">
                <a:solidFill>
                  <a:srgbClr val="FFFFFF"/>
                </a:solidFill>
              </a:rPr>
              <a:t>Tarjetas</a:t>
            </a:r>
            <a:r>
              <a:rPr lang="en-US" sz="3200" b="1" dirty="0">
                <a:solidFill>
                  <a:srgbClr val="FFFFFF"/>
                </a:solidFill>
              </a:rPr>
              <a:t> SBP</a:t>
            </a:r>
            <a:endParaRPr lang="en-US" sz="3200" b="1" dirty="0"/>
          </a:p>
        </p:txBody>
      </p:sp>
      <p:sp>
        <p:nvSpPr>
          <p:cNvPr id="8" name="Text 5"/>
          <p:cNvSpPr/>
          <p:nvPr/>
        </p:nvSpPr>
        <p:spPr>
          <a:xfrm>
            <a:off x="201168" y="223232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Christian </a:t>
            </a:r>
            <a:r>
              <a:rPr lang="en-US" sz="1400" dirty="0" err="1">
                <a:solidFill>
                  <a:srgbClr val="FFFFFF"/>
                </a:solidFill>
              </a:rPr>
              <a:t>Passara</a:t>
            </a:r>
            <a:r>
              <a:rPr lang="en-US" sz="1400" dirty="0">
                <a:solidFill>
                  <a:srgbClr val="FFFFFF"/>
                </a:solidFill>
              </a:rPr>
              <a:t> : Subgerenta de Ventas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01168" y="2805948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Cierre: Mayo 2026</a:t>
            </a:r>
            <a:endParaRPr lang="en-US" sz="12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3670788"/>
            <a:ext cx="1808553" cy="18085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SCOTIABANK TARJETAS · FONOCOMPRAS · EFECTIVO · BANBIF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189"/>
                </a:solidFill>
              </a:rPr>
              <a:t>Sub-Gerente: Monica Mogollon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89%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-28346" y="263178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189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120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140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671877" y="341528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701491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70149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Scotiabank Tarjetas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899956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50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8034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80349"/>
            <a:ext cx="1632204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70149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85%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820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899956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899956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899956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6" name="Text 63"/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/>
          <p:cNvSpPr/>
          <p:nvPr/>
        </p:nvSpPr>
        <p:spPr>
          <a:xfrm flipV="1">
            <a:off x="0" y="4774471"/>
            <a:ext cx="9144000" cy="90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|  Monica Mogollon  |  Cierre Mayo 2026</a:t>
            </a:r>
            <a:endParaRPr lang="en-US" sz="75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3380277" y="341703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3582753" y="367131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5032203" y="370713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700</a:t>
            </a:r>
            <a:endParaRPr lang="en-US" sz="950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3596452" y="400029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3613327" y="428089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3637584" y="456252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5258974" y="427040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5298174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SCOTIABANK TARJETAS:  Información al 30 de Mayo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85353" y="2065967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D97706"/>
                </a:solidFill>
              </a:rPr>
              <a:t>88.4%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2999232" y="3505200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2999232" y="1225296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2787099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SCOTIABANK TARJETAS  |  Monica Mogollon  |  Cierre Mayo 2026</a:t>
            </a:r>
            <a:endParaRPr lang="en-US" sz="750" dirty="0"/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405170" y="200357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800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-74646" y="314221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124080" y="313877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363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210" y="4881067"/>
            <a:ext cx="251755" cy="245248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1444" y="-163467"/>
            <a:ext cx="948004" cy="948004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0165" y="1405277"/>
            <a:ext cx="6499437" cy="26008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TC SBP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/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/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/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/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/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0" y="4407408"/>
            <a:ext cx="9144000" cy="36576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164592" y="4407408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150B"/>
                </a:solidFill>
              </a:rPr>
              <a:t>Nota: BanBif cumplido al 100% (S/ 1,503,083). Foco en Tarjetas e induccion pendiente.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—  DIAGNOSTICO  |  Monica Mogollon  |  Cierre Mayo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2DF0E-F57E-C9F5-5336-EC7F1A44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15AA25-F72D-5150-08F5-60206D9963EC}"/>
              </a:ext>
            </a:extLst>
          </p:cNvPr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C3F819-DF0B-D7CE-1797-1A717578BDB3}"/>
              </a:ext>
            </a:extLst>
          </p:cNvPr>
          <p:cNvSpPr/>
          <p:nvPr/>
        </p:nvSpPr>
        <p:spPr>
          <a:xfrm>
            <a:off x="109728" y="2160769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98D3B3-47F7-5380-6388-7F3ADB9A971B}"/>
              </a:ext>
            </a:extLst>
          </p:cNvPr>
          <p:cNvSpPr/>
          <p:nvPr/>
        </p:nvSpPr>
        <p:spPr>
          <a:xfrm>
            <a:off x="155448" y="1094004"/>
            <a:ext cx="8732520" cy="8042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3200" b="1" dirty="0">
                <a:solidFill>
                  <a:srgbClr val="FFFFFF"/>
                </a:solidFill>
              </a:rPr>
              <a:t>Monica Mogollon: </a:t>
            </a:r>
            <a:r>
              <a:rPr lang="en-US" sz="3200" b="1" dirty="0" err="1">
                <a:solidFill>
                  <a:srgbClr val="FFFFFF"/>
                </a:solidFill>
              </a:rPr>
              <a:t>Tarjetas</a:t>
            </a:r>
            <a:r>
              <a:rPr lang="en-US" sz="3200" b="1" dirty="0">
                <a:solidFill>
                  <a:srgbClr val="FFFFFF"/>
                </a:solidFill>
              </a:rPr>
              <a:t> SBP - Fonocompras - </a:t>
            </a:r>
            <a:r>
              <a:rPr lang="en-US" sz="3200" b="1" dirty="0" err="1">
                <a:solidFill>
                  <a:srgbClr val="FFFFFF"/>
                </a:solidFill>
              </a:rPr>
              <a:t>Efectivo</a:t>
            </a:r>
            <a:r>
              <a:rPr lang="en-US" sz="3200" b="1" dirty="0">
                <a:solidFill>
                  <a:srgbClr val="FFFFFF"/>
                </a:solidFill>
              </a:rPr>
              <a:t> - BanBif</a:t>
            </a:r>
            <a:endParaRPr lang="en-US" sz="3200" b="1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9B1D3E3-BDE8-D2DF-8421-095E522E08C5}"/>
              </a:ext>
            </a:extLst>
          </p:cNvPr>
          <p:cNvSpPr/>
          <p:nvPr/>
        </p:nvSpPr>
        <p:spPr>
          <a:xfrm>
            <a:off x="201168" y="223232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Monica Mogollon: Subgerenta de Ventas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F31DB3B-0AAF-D39E-DA27-EF09E04142F3}"/>
              </a:ext>
            </a:extLst>
          </p:cNvPr>
          <p:cNvSpPr/>
          <p:nvPr/>
        </p:nvSpPr>
        <p:spPr>
          <a:xfrm>
            <a:off x="201168" y="2805948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Cierre: Mayo 2026</a:t>
            </a:r>
            <a:endParaRPr lang="en-US" sz="12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7F75E1CB-250B-D3FA-C0A2-A428CB7C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3670788"/>
            <a:ext cx="1808553" cy="1808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9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0D6E-CDC0-B010-1957-79A16B61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CE81A-8ABE-3701-8137-51C5ED130897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EB4725-6E02-DF02-2C70-3C387342A309}"/>
              </a:ext>
            </a:extLst>
          </p:cNvPr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2FBDCCF-F583-3F8B-F7AA-61E2DE71CD11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SCOTIABANK TARJETAS · FONOCOMPRAS · EFECTIVO · BANBIF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01581A-1597-B21E-CC08-74613789B7BE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1E7B4F-AC39-9147-1F67-144B64370197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1433E-2E0C-2287-D03C-302FE6412BA9}"/>
              </a:ext>
            </a:extLst>
          </p:cNvPr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7EDC5BA-DF03-4B47-2C55-8FB8B04921DA}"/>
              </a:ext>
            </a:extLst>
          </p:cNvPr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2BE60F1-9D2F-C70F-F468-2DD5F6E9EDD4}"/>
              </a:ext>
            </a:extLst>
          </p:cNvPr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0D5E7-FFF3-ADDF-C606-5081A9BF09F3}"/>
              </a:ext>
            </a:extLst>
          </p:cNvPr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189"/>
                </a:solidFill>
              </a:rPr>
              <a:t>Sub-Gerente: Monica Mogollon</a:t>
            </a:r>
            <a:endParaRPr lang="en-US" sz="9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19ACD99-17D0-0CC4-8240-C861561E9FAC}"/>
              </a:ext>
            </a:extLst>
          </p:cNvPr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89%</a:t>
            </a:r>
            <a:endParaRPr lang="en-US" sz="80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C7FE0B-6F20-7A96-032C-E948703C4D39}"/>
              </a:ext>
            </a:extLst>
          </p:cNvPr>
          <p:cNvSpPr/>
          <p:nvPr/>
        </p:nvSpPr>
        <p:spPr>
          <a:xfrm>
            <a:off x="-28346" y="263178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189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E2ABED9-7BBD-AC16-1B41-EEA551C14D8F}"/>
              </a:ext>
            </a:extLst>
          </p:cNvPr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439B5A9-638D-09CB-96D0-2EEC542FF4A5}"/>
              </a:ext>
            </a:extLst>
          </p:cNvPr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2C1C8EE-5340-D80A-715F-0940F4561C73}"/>
              </a:ext>
            </a:extLst>
          </p:cNvPr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D56DF93-BBFD-03CA-09BF-31E4BE953885}"/>
              </a:ext>
            </a:extLst>
          </p:cNvPr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120</a:t>
            </a:r>
            <a:endParaRPr lang="en-US" sz="22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BDDEDC0-65A6-97BE-E585-F66AD6DD0266}"/>
              </a:ext>
            </a:extLst>
          </p:cNvPr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EAC6006-29A3-6B19-31B3-18022430D149}"/>
              </a:ext>
            </a:extLst>
          </p:cNvPr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82A72C2-5DCC-9A69-72E8-8B572758520F}"/>
              </a:ext>
            </a:extLst>
          </p:cNvPr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130</a:t>
            </a:r>
            <a:endParaRPr lang="en-US" sz="22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95B4EFC-A42E-238F-D52B-700D3A99032C}"/>
              </a:ext>
            </a:extLst>
          </p:cNvPr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95839A0-00D2-C004-B75A-9AFAD5E7EAC6}"/>
              </a:ext>
            </a:extLst>
          </p:cNvPr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19FCB19-1C60-B7E1-0FBE-6CBC6E3805EE}"/>
              </a:ext>
            </a:extLst>
          </p:cNvPr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64EF2FD-7AB7-B80D-BD48-E0C019820995}"/>
              </a:ext>
            </a:extLst>
          </p:cNvPr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EA6659A-F4CD-BF60-2061-C64534DC1383}"/>
              </a:ext>
            </a:extLst>
          </p:cNvPr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6AAEC47-14FC-B1F5-E8DB-23E6DBB87C3C}"/>
              </a:ext>
            </a:extLst>
          </p:cNvPr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</a:t>
            </a:r>
            <a:endParaRPr lang="en-US" sz="2200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56FF5F1-2656-2F0B-5AB3-5C0EE6259747}"/>
              </a:ext>
            </a:extLst>
          </p:cNvPr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AF54009-81D3-7F4C-DCAB-0BCEA399F554}"/>
              </a:ext>
            </a:extLst>
          </p:cNvPr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8E0A71D-3E87-F4B3-E2C1-EF53E3D5BCB3}"/>
              </a:ext>
            </a:extLst>
          </p:cNvPr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140</a:t>
            </a:r>
            <a:endParaRPr lang="en-US" sz="2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C3BE525-B666-DA21-7B84-E35F78F639B0}"/>
              </a:ext>
            </a:extLst>
          </p:cNvPr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D9D8001-DD1A-43AA-C8DA-7C0835411281}"/>
              </a:ext>
            </a:extLst>
          </p:cNvPr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91284AA-06D8-AA08-B76F-519EC6991703}"/>
              </a:ext>
            </a:extLst>
          </p:cNvPr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D6FFB7B-9BA5-CB8D-A859-03B11391AAC3}"/>
              </a:ext>
            </a:extLst>
          </p:cNvPr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7A6D6F65-528C-1C01-9FB3-6592403964C7}"/>
              </a:ext>
            </a:extLst>
          </p:cNvPr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AAC91FE-2CBB-C4E9-3D53-D491106C0A50}"/>
              </a:ext>
            </a:extLst>
          </p:cNvPr>
          <p:cNvSpPr/>
          <p:nvPr/>
        </p:nvSpPr>
        <p:spPr>
          <a:xfrm>
            <a:off x="2671877" y="341528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E20C154-1282-EC30-5E2A-5FF0DC225872}"/>
              </a:ext>
            </a:extLst>
          </p:cNvPr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2F2DF42-D16C-733A-9B64-A9CEA61D5B7F}"/>
              </a:ext>
            </a:extLst>
          </p:cNvPr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B5B82CA9-B8B4-A7F4-9951-B896181BFD87}"/>
              </a:ext>
            </a:extLst>
          </p:cNvPr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A33226-54A2-AD63-283E-CBCFA7A19D1E}"/>
              </a:ext>
            </a:extLst>
          </p:cNvPr>
          <p:cNvSpPr/>
          <p:nvPr/>
        </p:nvSpPr>
        <p:spPr>
          <a:xfrm>
            <a:off x="2899956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5476ECC9-FB70-F37F-7EC9-94FE7727F1FC}"/>
              </a:ext>
            </a:extLst>
          </p:cNvPr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1ED4455-B211-DE91-62FA-1F94D050764D}"/>
              </a:ext>
            </a:extLst>
          </p:cNvPr>
          <p:cNvSpPr/>
          <p:nvPr/>
        </p:nvSpPr>
        <p:spPr>
          <a:xfrm>
            <a:off x="0" y="3983126"/>
            <a:ext cx="9144000" cy="281635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3C6C54AB-AE0F-D427-10C5-8C4C25788172}"/>
              </a:ext>
            </a:extLst>
          </p:cNvPr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Fonocompras </a:t>
            </a:r>
            <a:endParaRPr lang="en-US" sz="950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84B6892D-25A4-36D2-4A64-D14E6258AC8F}"/>
              </a:ext>
            </a:extLst>
          </p:cNvPr>
          <p:cNvSpPr/>
          <p:nvPr/>
        </p:nvSpPr>
        <p:spPr>
          <a:xfrm>
            <a:off x="2899956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24</a:t>
            </a:r>
            <a:endParaRPr lang="en-US" sz="950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BEBBB499-0356-6066-42F5-FA92CFC49464}"/>
              </a:ext>
            </a:extLst>
          </p:cNvPr>
          <p:cNvSpPr/>
          <p:nvPr/>
        </p:nvSpPr>
        <p:spPr>
          <a:xfrm>
            <a:off x="4526280" y="4061984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C8C1B586-EAAD-FB10-B970-91A4E1BA7378}"/>
              </a:ext>
            </a:extLst>
          </p:cNvPr>
          <p:cNvSpPr/>
          <p:nvPr/>
        </p:nvSpPr>
        <p:spPr>
          <a:xfrm>
            <a:off x="4526280" y="4061984"/>
            <a:ext cx="1689811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AB3CFE4-D2D1-22B4-4982-171AE33B1970}"/>
              </a:ext>
            </a:extLst>
          </p:cNvPr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88%</a:t>
            </a:r>
            <a:endParaRPr lang="en-US" sz="1000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F89ADD6F-CC64-B9BB-B638-B802187AC70A}"/>
              </a:ext>
            </a:extLst>
          </p:cNvPr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1´500,000</a:t>
            </a:r>
            <a:endParaRPr lang="en-US" sz="850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DF3E905-913C-1542-8CD1-99F847DAD56C}"/>
              </a:ext>
            </a:extLst>
          </p:cNvPr>
          <p:cNvSpPr/>
          <p:nvPr/>
        </p:nvSpPr>
        <p:spPr>
          <a:xfrm>
            <a:off x="0" y="4264762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F8E6F6BB-B31B-2B07-8B75-00EDEB51AE10}"/>
              </a:ext>
            </a:extLst>
          </p:cNvPr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Efectivo (</a:t>
            </a:r>
            <a:r>
              <a:rPr lang="en-US" sz="950" b="1" dirty="0" err="1">
                <a:solidFill>
                  <a:srgbClr val="6B150B"/>
                </a:solidFill>
              </a:rPr>
              <a:t>Dormido+Recurrente+Nuevos</a:t>
            </a:r>
            <a:r>
              <a:rPr lang="en-US" sz="950" b="1" dirty="0">
                <a:solidFill>
                  <a:srgbClr val="6B150B"/>
                </a:solidFill>
              </a:rPr>
              <a:t>)</a:t>
            </a:r>
            <a:endParaRPr lang="en-US" sz="950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DDF9BC2-80D1-07C2-7F3D-C00C56F94FD0}"/>
              </a:ext>
            </a:extLst>
          </p:cNvPr>
          <p:cNvSpPr/>
          <p:nvPr/>
        </p:nvSpPr>
        <p:spPr>
          <a:xfrm>
            <a:off x="2899956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39</a:t>
            </a:r>
            <a:endParaRPr lang="en-US" sz="950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FACBA088-81BF-329F-45AD-A5A7B759E401}"/>
              </a:ext>
            </a:extLst>
          </p:cNvPr>
          <p:cNvSpPr/>
          <p:nvPr/>
        </p:nvSpPr>
        <p:spPr>
          <a:xfrm>
            <a:off x="4526280" y="434361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CB7C41B7-2919-7A2E-BD13-4F31A0326188}"/>
              </a:ext>
            </a:extLst>
          </p:cNvPr>
          <p:cNvSpPr/>
          <p:nvPr/>
        </p:nvSpPr>
        <p:spPr>
          <a:xfrm>
            <a:off x="4526280" y="4343619"/>
            <a:ext cx="1785823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BF4EB3FC-E023-26C9-CF96-93D58600C3D4}"/>
              </a:ext>
            </a:extLst>
          </p:cNvPr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93%</a:t>
            </a:r>
            <a:endParaRPr lang="en-US" sz="1000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2F855612-6949-39D7-7AD5-26108E836141}"/>
              </a:ext>
            </a:extLst>
          </p:cNvPr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8’200,000</a:t>
            </a:r>
            <a:endParaRPr lang="en-US" sz="850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FAC7CF1D-024C-A048-48FB-DC899F89EC5C}"/>
              </a:ext>
            </a:extLst>
          </p:cNvPr>
          <p:cNvSpPr/>
          <p:nvPr/>
        </p:nvSpPr>
        <p:spPr>
          <a:xfrm>
            <a:off x="0" y="4546397"/>
            <a:ext cx="9144000" cy="281635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BF94E060-62D9-9A03-3F5F-84D965914F36}"/>
              </a:ext>
            </a:extLst>
          </p:cNvPr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6B150B"/>
                </a:solidFill>
              </a:rPr>
              <a:t>BanBif</a:t>
            </a:r>
            <a:r>
              <a:rPr lang="en-US" sz="950" b="1" dirty="0">
                <a:solidFill>
                  <a:srgbClr val="6B150B"/>
                </a:solidFill>
              </a:rPr>
              <a:t> </a:t>
            </a:r>
            <a:endParaRPr lang="en-US" sz="950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A5508137-5DA9-809A-6792-F7BC7355AAAA}"/>
              </a:ext>
            </a:extLst>
          </p:cNvPr>
          <p:cNvSpPr/>
          <p:nvPr/>
        </p:nvSpPr>
        <p:spPr>
          <a:xfrm>
            <a:off x="2899956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5</a:t>
            </a:r>
            <a:endParaRPr lang="en-US" sz="950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99FEB9E4-99A7-25DC-8A89-AC898CFA1F12}"/>
              </a:ext>
            </a:extLst>
          </p:cNvPr>
          <p:cNvSpPr/>
          <p:nvPr/>
        </p:nvSpPr>
        <p:spPr>
          <a:xfrm>
            <a:off x="4526280" y="4625255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94FE5A07-C44C-13F0-1AF7-A40B2FE0FED1}"/>
              </a:ext>
            </a:extLst>
          </p:cNvPr>
          <p:cNvSpPr/>
          <p:nvPr/>
        </p:nvSpPr>
        <p:spPr>
          <a:xfrm>
            <a:off x="4526280" y="4625255"/>
            <a:ext cx="1920240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69CDC250-7C88-8A78-E621-1D86B605D8CB}"/>
              </a:ext>
            </a:extLst>
          </p:cNvPr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100%</a:t>
            </a:r>
            <a:endParaRPr lang="en-US" sz="1000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A00ADDB-30A1-8E25-D9D3-C322483C1B52}"/>
              </a:ext>
            </a:extLst>
          </p:cNvPr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1,500,000</a:t>
            </a:r>
            <a:endParaRPr lang="en-US" sz="850" dirty="0"/>
          </a:p>
        </p:txBody>
      </p:sp>
      <p:sp>
        <p:nvSpPr>
          <p:cNvPr id="68" name="Shape 65">
            <a:extLst>
              <a:ext uri="{FF2B5EF4-FFF2-40B4-BE49-F238E27FC236}">
                <a16:creationId xmlns:a16="http://schemas.microsoft.com/office/drawing/2014/main" id="{8E92A864-F541-F475-14F3-B6661E319641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C35B0139-422C-FA77-5966-889C7E2A5A80}"/>
              </a:ext>
            </a:extLst>
          </p:cNvPr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>
            <a:extLst>
              <a:ext uri="{FF2B5EF4-FFF2-40B4-BE49-F238E27FC236}">
                <a16:creationId xmlns:a16="http://schemas.microsoft.com/office/drawing/2014/main" id="{F98E7C80-8943-1281-F4E5-6027635CA71E}"/>
              </a:ext>
            </a:extLst>
          </p:cNvPr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|  Monica Mogollon  |  Cierre Mayo 2026</a:t>
            </a:r>
            <a:endParaRPr lang="en-US" sz="75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B599B23-6EE0-470D-F55D-CD0911175A26}"/>
              </a:ext>
            </a:extLst>
          </p:cNvPr>
          <p:cNvSpPr/>
          <p:nvPr/>
        </p:nvSpPr>
        <p:spPr>
          <a:xfrm>
            <a:off x="3380277" y="341703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81C1BA1C-65D2-03D7-5D18-AB47CE5CA46F}"/>
              </a:ext>
            </a:extLst>
          </p:cNvPr>
          <p:cNvSpPr/>
          <p:nvPr/>
        </p:nvSpPr>
        <p:spPr>
          <a:xfrm>
            <a:off x="3596452" y="400029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50400527-0269-9043-E6D5-59A22005A22D}"/>
              </a:ext>
            </a:extLst>
          </p:cNvPr>
          <p:cNvSpPr/>
          <p:nvPr/>
        </p:nvSpPr>
        <p:spPr>
          <a:xfrm>
            <a:off x="3613327" y="428089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D1961235-D9D5-DDBC-C4A1-99352DC453F6}"/>
              </a:ext>
            </a:extLst>
          </p:cNvPr>
          <p:cNvSpPr/>
          <p:nvPr/>
        </p:nvSpPr>
        <p:spPr>
          <a:xfrm>
            <a:off x="3637584" y="456252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</a:t>
            </a:r>
            <a:endParaRPr lang="en-US" sz="950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7AFECDBC-9AD2-9B6D-DFEE-C18C4CFC3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01D3C902-A22F-0D12-B901-358A6D8A3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E55A6494-0B09-85A0-338D-5910F49BD43B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08342046-0DFA-3BF2-006C-DF3C6C34468C}"/>
              </a:ext>
            </a:extLst>
          </p:cNvPr>
          <p:cNvSpPr/>
          <p:nvPr/>
        </p:nvSpPr>
        <p:spPr>
          <a:xfrm>
            <a:off x="5258974" y="427040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AB25939E-CEAF-978E-361A-9D8434D4DC4B}"/>
              </a:ext>
            </a:extLst>
          </p:cNvPr>
          <p:cNvSpPr/>
          <p:nvPr/>
        </p:nvSpPr>
        <p:spPr>
          <a:xfrm>
            <a:off x="5298174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1179712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EFECTIVA (DORMIDOS + NUEVOS + RECURRENTES): Información al 30 de Mayo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EN SEGUIMIENTO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50482" y="1905299"/>
            <a:ext cx="24012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D97706"/>
                </a:solidFill>
              </a:rPr>
              <a:t>85.5%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4" name="Text 71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FONOCOMPRAS OB  |  Monica Mogollon  |  Cierre Mayo 2026</a:t>
            </a:r>
            <a:endParaRPr lang="en-US" sz="750" dirty="0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5A95A43B-8C1B-E7A9-3F8A-F8832210E4EC}"/>
              </a:ext>
            </a:extLst>
          </p:cNvPr>
          <p:cNvSpPr/>
          <p:nvPr/>
        </p:nvSpPr>
        <p:spPr>
          <a:xfrm>
            <a:off x="386534" y="189083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7.20 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78515AE-5431-E16A-0558-6D3EBE41CA32}"/>
              </a:ext>
            </a:extLst>
          </p:cNvPr>
          <p:cNvSpPr/>
          <p:nvPr/>
        </p:nvSpPr>
        <p:spPr>
          <a:xfrm>
            <a:off x="-45871" y="29943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1.64 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D22012C6-8E82-1724-8567-32DAD424347C}"/>
              </a:ext>
            </a:extLst>
          </p:cNvPr>
          <p:cNvSpPr/>
          <p:nvPr/>
        </p:nvSpPr>
        <p:spPr>
          <a:xfrm>
            <a:off x="1072545" y="2975117"/>
            <a:ext cx="1536598" cy="3383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1.92 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94" name="Picture 76">
            <a:extLst>
              <a:ext uri="{FF2B5EF4-FFF2-40B4-BE49-F238E27FC236}">
                <a16:creationId xmlns:a16="http://schemas.microsoft.com/office/drawing/2014/main" id="{C378C096-3B27-1ACC-5814-70E7AD98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pic>
        <p:nvPicPr>
          <p:cNvPr id="96" name="Imagen 95">
            <a:extLst>
              <a:ext uri="{FF2B5EF4-FFF2-40B4-BE49-F238E27FC236}">
                <a16:creationId xmlns:a16="http://schemas.microsoft.com/office/drawing/2014/main" id="{BD613C91-CE49-A213-6746-E2942781B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30" name="BARRAS_AVANCE_GENE" descr="image.png">
            <a:extLst>
              <a:ext uri="{FF2B5EF4-FFF2-40B4-BE49-F238E27FC236}">
                <a16:creationId xmlns:a16="http://schemas.microsoft.com/office/drawing/2014/main" id="{B684F4F9-EA71-8A8C-AC5E-31362EE95C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6557" y="1456620"/>
            <a:ext cx="6393038" cy="25841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5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99869" y="2033125"/>
            <a:ext cx="29597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C00000"/>
                </a:solidFill>
              </a:rPr>
              <a:t>76.08%</a:t>
            </a:r>
            <a:endParaRPr lang="en-US" sz="6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798721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2999232" y="1225296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4" name="Text 71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FONOCOMPRAS IB  |  Monica Mogollon  |  Cierre Mayo 2026</a:t>
            </a:r>
            <a:endParaRPr lang="en-US" sz="750" dirty="0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EACF6FC-D8B2-D9B1-CDCF-B1A1D7239020}"/>
              </a:ext>
            </a:extLst>
          </p:cNvPr>
          <p:cNvSpPr/>
          <p:nvPr/>
        </p:nvSpPr>
        <p:spPr>
          <a:xfrm>
            <a:off x="401769" y="197736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1.35 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3BEF903F-6E02-B677-1B0E-518C48BECC56}"/>
              </a:ext>
            </a:extLst>
          </p:cNvPr>
          <p:cNvSpPr/>
          <p:nvPr/>
        </p:nvSpPr>
        <p:spPr>
          <a:xfrm>
            <a:off x="-78047" y="311600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209.6 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98CBD1BF-558A-CE57-7DB7-54E38E9C9EDF}"/>
              </a:ext>
            </a:extLst>
          </p:cNvPr>
          <p:cNvSpPr/>
          <p:nvPr/>
        </p:nvSpPr>
        <p:spPr>
          <a:xfrm>
            <a:off x="1120679" y="3112560"/>
            <a:ext cx="1585952" cy="340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273.1 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2CA298DF-18B6-7A10-9BA2-E676AA00C02D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FONOCOMPRAS (</a:t>
            </a:r>
            <a:r>
              <a:rPr lang="es-ES" sz="1400" b="1" dirty="0">
                <a:solidFill>
                  <a:schemeClr val="bg1"/>
                </a:solidFill>
              </a:rPr>
              <a:t>OUTBOUND  + INBOUD)</a:t>
            </a:r>
            <a:r>
              <a:rPr lang="en-US" sz="1250" b="1" kern="0" spc="30" dirty="0">
                <a:solidFill>
                  <a:srgbClr val="FFFFFF"/>
                </a:solidFill>
              </a:rPr>
              <a:t>: Información al 30 de Mayo</a:t>
            </a:r>
            <a:endParaRPr lang="en-US" sz="1250" dirty="0"/>
          </a:p>
        </p:txBody>
      </p:sp>
      <p:pic>
        <p:nvPicPr>
          <p:cNvPr id="87" name="Picture 76">
            <a:extLst>
              <a:ext uri="{FF2B5EF4-FFF2-40B4-BE49-F238E27FC236}">
                <a16:creationId xmlns:a16="http://schemas.microsoft.com/office/drawing/2014/main" id="{864F06DD-164B-E44A-CA51-240D32214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1444" y="-163467"/>
            <a:ext cx="948004" cy="948004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E88D4D88-E14E-C376-CAA4-B52DB5C5F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93403B95-B57B-CBC4-FF41-9350A8712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5571" y="1016094"/>
            <a:ext cx="3800580" cy="1120619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6D6FFEC3-9CDC-ACCC-09D5-E64DD649870D}"/>
              </a:ext>
            </a:extLst>
          </p:cNvPr>
          <p:cNvSpPr/>
          <p:nvPr/>
        </p:nvSpPr>
        <p:spPr>
          <a:xfrm>
            <a:off x="134169" y="749808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8EB2B28-7F64-66E3-37D2-62DF37DD5C5D}"/>
              </a:ext>
            </a:extLst>
          </p:cNvPr>
          <p:cNvSpPr/>
          <p:nvPr/>
        </p:nvSpPr>
        <p:spPr>
          <a:xfrm>
            <a:off x="225609" y="822960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7BC38A4-FB55-131C-E699-D860CE9B25B2}"/>
              </a:ext>
            </a:extLst>
          </p:cNvPr>
          <p:cNvSpPr/>
          <p:nvPr/>
        </p:nvSpPr>
        <p:spPr>
          <a:xfrm>
            <a:off x="445065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83087-F7EB-E87E-DFA9-A1CF0605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A025FA-FA9F-2133-4A58-73FA393A2F0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791697-C660-94E5-A1A8-8D7064ADA38E}"/>
              </a:ext>
            </a:extLst>
          </p:cNvPr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34F1300-59BF-0049-9F17-BA4D369FC8EA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EFECTIVA Y FONOCOMPRAS|  DIAGNOSTICO Y SEGUIMIENTO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16C696-95AD-DA1B-134C-E3A4800C965D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CD059E5-1C48-D24C-B419-8AEE66358A2B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3D63F7-589C-60E2-A21B-CF1A5715C5E8}"/>
              </a:ext>
            </a:extLst>
          </p:cNvPr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CCD22F-0A25-CDF8-CB54-BF6262B0B6BE}"/>
              </a:ext>
            </a:extLst>
          </p:cNvPr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A02F8562-1638-9C6A-D9F0-15417663777A}"/>
              </a:ext>
            </a:extLst>
          </p:cNvPr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856A065-A66C-2B42-CDAB-189153046711}"/>
              </a:ext>
            </a:extLst>
          </p:cNvPr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72A23E7E-4539-E6F5-1502-78FF8817F8F8}"/>
              </a:ext>
            </a:extLst>
          </p:cNvPr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84C78BF-265C-30F0-4BE3-627D52D43AAE}"/>
              </a:ext>
            </a:extLst>
          </p:cNvPr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594C9B-0196-DB65-98AE-E71150BDE06A}"/>
              </a:ext>
            </a:extLst>
          </p:cNvPr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2494AF-B537-B7E1-9E74-EB666F03B22F}"/>
              </a:ext>
            </a:extLst>
          </p:cNvPr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7AC2A0A-C385-A19C-7370-43080F470B5D}"/>
              </a:ext>
            </a:extLst>
          </p:cNvPr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2372521-86CE-2170-113B-B33F6A5B2CC3}"/>
              </a:ext>
            </a:extLst>
          </p:cNvPr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1C2B0AD-A340-522A-AE3C-6D1FDD9C5D6F}"/>
              </a:ext>
            </a:extLst>
          </p:cNvPr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760219C-0161-E58B-5CFE-279CBC8C274A}"/>
              </a:ext>
            </a:extLst>
          </p:cNvPr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08874E7-3A7F-C84C-F099-48422C19A42D}"/>
              </a:ext>
            </a:extLst>
          </p:cNvPr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4E5ECA30-3937-1D1E-E3B6-6D8275528C16}"/>
              </a:ext>
            </a:extLst>
          </p:cNvPr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D5E6A2F1-4745-234E-6F7A-2DE5347FE022}"/>
              </a:ext>
            </a:extLst>
          </p:cNvPr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CCF7376A-8F8F-F922-2F9F-D25055D6D126}"/>
              </a:ext>
            </a:extLst>
          </p:cNvPr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EB555759-E1C5-FDDF-D76E-DA8F38008CF8}"/>
              </a:ext>
            </a:extLst>
          </p:cNvPr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08FD6D9-4757-E19F-D152-068E6EFC0A16}"/>
              </a:ext>
            </a:extLst>
          </p:cNvPr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B5EB40-F0D7-B967-CFB7-772ACB59FA13}"/>
              </a:ext>
            </a:extLst>
          </p:cNvPr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577D150-F49B-748B-5D45-A30360722C4A}"/>
              </a:ext>
            </a:extLst>
          </p:cNvPr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9DFD249-DDF3-B911-7FA0-4305845D93D6}"/>
              </a:ext>
            </a:extLst>
          </p:cNvPr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7E15F6C-015B-6E2A-6194-2DE36D1E62CB}"/>
              </a:ext>
            </a:extLst>
          </p:cNvPr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2A5AFD-F91F-53BC-6E62-9C998831936A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44F2494-C489-B8FA-F2DF-9F965817934F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9B5F1FAC-F05F-2C31-AD0F-A205F48456F9}"/>
              </a:ext>
            </a:extLst>
          </p:cNvPr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E99228C-BAE7-A1D3-4F30-A64965511433}"/>
              </a:ext>
            </a:extLst>
          </p:cNvPr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04686CE-0131-1663-A01E-B067BFC67CDF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8B06C0-AF82-B732-D748-109ED55DB9D6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D800B76-E9C5-AF6C-B1C5-50ED04C3F451}"/>
              </a:ext>
            </a:extLst>
          </p:cNvPr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28470CA-FDF8-BB32-928C-4B6C14A82AD3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0176589-B3C1-100A-8FC9-D85F49E50111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ADD83951-9FB8-5085-D085-91431C496B37}"/>
              </a:ext>
            </a:extLst>
          </p:cNvPr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0BCFDF2D-83EF-CD99-6F0B-85E04F90D7ED}"/>
              </a:ext>
            </a:extLst>
          </p:cNvPr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56D53DE-05ED-88F9-0F6F-AA5A6CF4B98C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251122E-37E0-170B-0E31-F7B146C60385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BF241DA4-9F4B-6515-ECBE-6D02CEBB0F1D}"/>
              </a:ext>
            </a:extLst>
          </p:cNvPr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0E48C422-573B-79DA-EEFC-DEE123F857B3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503A433-9E4C-5943-610A-10357D48B3AE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2C52C031-66FA-6E6F-410D-EE91D62989D5}"/>
              </a:ext>
            </a:extLst>
          </p:cNvPr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58D4F7EC-3C1C-8093-F555-759C090F41F0}"/>
              </a:ext>
            </a:extLst>
          </p:cNvPr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5570C27-A0D8-E4B0-10CD-443173FAA70C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81A0FE7-527F-2FEC-CDC6-2C0ABCFC444E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76394A6-3F4C-1465-F509-08187E957C5F}"/>
              </a:ext>
            </a:extLst>
          </p:cNvPr>
          <p:cNvSpPr/>
          <p:nvPr/>
        </p:nvSpPr>
        <p:spPr>
          <a:xfrm>
            <a:off x="0" y="4407408"/>
            <a:ext cx="9144000" cy="36576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FCDC0EAA-717F-5140-4D8E-41B76DDEA1EC}"/>
              </a:ext>
            </a:extLst>
          </p:cNvPr>
          <p:cNvSpPr/>
          <p:nvPr/>
        </p:nvSpPr>
        <p:spPr>
          <a:xfrm>
            <a:off x="164592" y="4407408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150B"/>
                </a:solidFill>
              </a:rPr>
              <a:t>Nota: BanBif cumplido al 100% (S/ 1,503,083). Foco en Tarjetas e induccion pendiente.</a:t>
            </a:r>
            <a:endParaRPr lang="en-US" sz="85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2C9D7E13-64E1-D4AB-8D67-F0C7E6D5E33C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E25665-97A4-9A3E-BFC3-100B15E1C673}"/>
              </a:ext>
            </a:extLst>
          </p:cNvPr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1D8E8564-35D1-B8EA-4F1E-1AA164FBAA7A}"/>
              </a:ext>
            </a:extLst>
          </p:cNvPr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—  DIAGNOSTICO  |  Monica Mogollon  |  Cierre Mayo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BD549FAA-CC46-D6F4-9FC9-C85F40C25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C66F6BA0-751F-A43D-0C8B-47DF27B1F1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76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BANBIF PRESTAMOS: Información al 30 de Mayo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5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72265" y="2053403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059669"/>
                </a:solidFill>
              </a:rPr>
              <a:t>122%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BANBIF  |  PRESTAMOS  |  Monica Mogollon  |  Cierre Mayo 2026</a:t>
            </a:r>
            <a:endParaRPr lang="en-US" sz="750" dirty="0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F186F93C-1212-7F73-C2A8-2563F7F30917}"/>
              </a:ext>
            </a:extLst>
          </p:cNvPr>
          <p:cNvSpPr/>
          <p:nvPr/>
        </p:nvSpPr>
        <p:spPr>
          <a:xfrm>
            <a:off x="419108" y="196166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1.50 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08A8B44C-F582-631D-38D0-637D5E19CD9F}"/>
              </a:ext>
            </a:extLst>
          </p:cNvPr>
          <p:cNvSpPr/>
          <p:nvPr/>
        </p:nvSpPr>
        <p:spPr>
          <a:xfrm>
            <a:off x="-71830" y="313510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368.3K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A6996A04-3402-7D3F-3903-6E1A341E0AD4}"/>
              </a:ext>
            </a:extLst>
          </p:cNvPr>
          <p:cNvSpPr/>
          <p:nvPr/>
        </p:nvSpPr>
        <p:spPr>
          <a:xfrm>
            <a:off x="1138018" y="3096867"/>
            <a:ext cx="1532030" cy="364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300K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8" name="Picture 76">
            <a:extLst>
              <a:ext uri="{FF2B5EF4-FFF2-40B4-BE49-F238E27FC236}">
                <a16:creationId xmlns:a16="http://schemas.microsoft.com/office/drawing/2014/main" id="{190A273A-383B-1297-AB08-C55E36029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280531C-3C3E-CB62-2F78-D3C23B57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5" name="BARRAS_AVANCE__BANBIF" descr="image.png">
            <a:extLst>
              <a:ext uri="{FF2B5EF4-FFF2-40B4-BE49-F238E27FC236}">
                <a16:creationId xmlns:a16="http://schemas.microsoft.com/office/drawing/2014/main" id="{151AA825-F237-D26A-82DB-B030EF9A3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2698" y="1696416"/>
            <a:ext cx="5147160" cy="18880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9A33E-943C-1A33-DB39-81B8DA5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2E0E90-6741-E572-68E7-96CC7C531BEB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4D09C4-4C3E-9044-AB32-9A1DF87B3D95}"/>
              </a:ext>
            </a:extLst>
          </p:cNvPr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92CF2C0-0393-0ADA-0B24-F1D49FAF11D2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BANBIF|  DIAGNOSTICO Y SEGUIMIENTO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861B3F3-B5EF-94F1-3C23-7FC115DCF533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EF0AA7-2563-082F-0007-632DABBEEFEC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A3212B5-E73E-43DB-7AF6-D7C741ACC113}"/>
              </a:ext>
            </a:extLst>
          </p:cNvPr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68090B3-0CBE-EB02-AD9E-6173F78C6F2A}"/>
              </a:ext>
            </a:extLst>
          </p:cNvPr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D2685E1-96B7-71EC-9E7B-85026B4A8F8A}"/>
              </a:ext>
            </a:extLst>
          </p:cNvPr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9E3263F-8FDA-F29E-9987-FB0AFC9A2F6C}"/>
              </a:ext>
            </a:extLst>
          </p:cNvPr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FCDD34-F68C-AA1F-14CC-31E7E294D12B}"/>
              </a:ext>
            </a:extLst>
          </p:cNvPr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3E0E26-3E58-FB3D-615E-008F2E5613EE}"/>
              </a:ext>
            </a:extLst>
          </p:cNvPr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002715-A955-999D-0C4D-5F639183C007}"/>
              </a:ext>
            </a:extLst>
          </p:cNvPr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1C15D7D-4D52-0CFF-ED13-977664B7980A}"/>
              </a:ext>
            </a:extLst>
          </p:cNvPr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39B208B-7563-C777-3918-A448A5F8B5E8}"/>
              </a:ext>
            </a:extLst>
          </p:cNvPr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B3174E-7E17-45D3-0E60-C73F27F6E33C}"/>
              </a:ext>
            </a:extLst>
          </p:cNvPr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8B61C0A3-B571-4A3C-E8B6-585D9F875C57}"/>
              </a:ext>
            </a:extLst>
          </p:cNvPr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311B2FA-E84C-2B63-0080-7C87B6AC4664}"/>
              </a:ext>
            </a:extLst>
          </p:cNvPr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9BA3EEE-0B97-A4C3-45F9-C02820ABA7C6}"/>
              </a:ext>
            </a:extLst>
          </p:cNvPr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9B66926-6B9B-D6E6-B16D-F374FA337EB8}"/>
              </a:ext>
            </a:extLst>
          </p:cNvPr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CD601FA8-E8EB-0A13-477C-C9FCFE5B19AC}"/>
              </a:ext>
            </a:extLst>
          </p:cNvPr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B8E5ECCF-AF55-16F1-7E70-35F2B6BDB2E7}"/>
              </a:ext>
            </a:extLst>
          </p:cNvPr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C814E69-20DA-332F-C04F-9755E76EDABF}"/>
              </a:ext>
            </a:extLst>
          </p:cNvPr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8501EB6D-8ACA-596D-CF28-BB593E1F159C}"/>
              </a:ext>
            </a:extLst>
          </p:cNvPr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8DB68C3-57DA-189B-B1E6-763F21AC8A2D}"/>
              </a:ext>
            </a:extLst>
          </p:cNvPr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B19A855-E79D-3C01-ED8E-850D646D6084}"/>
              </a:ext>
            </a:extLst>
          </p:cNvPr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01AFBB4-787D-965B-D0FE-8264F144A533}"/>
              </a:ext>
            </a:extLst>
          </p:cNvPr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C67E2BD-DEBA-CE12-4BD8-00E19043CACE}"/>
              </a:ext>
            </a:extLst>
          </p:cNvPr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EE82AAA-AC76-F72C-D192-A0961C0C5EDE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E9EE858-06E5-D9C6-1C99-A34F1BA63075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788E9B5-FC08-5244-BDDC-306397964C65}"/>
              </a:ext>
            </a:extLst>
          </p:cNvPr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AA09C33-EFC1-226F-4ED9-5D75D5C1C1F9}"/>
              </a:ext>
            </a:extLst>
          </p:cNvPr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C0DB8E5-12A4-6A6E-29CF-9FFC3F17B2A3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4440258-D0EC-0C77-18A7-2C947AAFC0A4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DA04810D-2459-4F4F-8E16-66016E09695E}"/>
              </a:ext>
            </a:extLst>
          </p:cNvPr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A08F51D-1A45-1D7E-03D6-2DE193A66CBD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2D6829BC-8972-F1F2-3B01-10D9438877E9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97C9C0B-E3FD-7EB6-9BC7-B596D839BD09}"/>
              </a:ext>
            </a:extLst>
          </p:cNvPr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E98947F-F647-CDBF-906A-036C97C1F8C9}"/>
              </a:ext>
            </a:extLst>
          </p:cNvPr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CD67FAF-95B7-8D8E-3F5D-01F6AB604E70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183AAAAE-10CA-C78F-DBF3-AA0FAC03EF68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E8B3F796-15CE-3542-0328-D6454EF07E57}"/>
              </a:ext>
            </a:extLst>
          </p:cNvPr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5A61D975-9C35-59E7-42B5-D76783D28157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99BFD1B-17EE-97BD-697A-C3DA5C8F499D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B9B5A259-1BC0-3711-DD3C-9BEA73114869}"/>
              </a:ext>
            </a:extLst>
          </p:cNvPr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BE66334E-1265-C800-B73B-79597AA386D3}"/>
              </a:ext>
            </a:extLst>
          </p:cNvPr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B78E90A2-AD03-1A65-CA73-DF9F0FF13E81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3F36021C-BB35-A22E-F8E1-C1E979EFA7EA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35939AE-DBC0-9C10-55E9-EFE99B88B421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AF96A76C-120E-61AD-FB91-59708D06F98E}"/>
              </a:ext>
            </a:extLst>
          </p:cNvPr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5EDE63CF-D60A-65EB-5D98-005F53EF91A6}"/>
              </a:ext>
            </a:extLst>
          </p:cNvPr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—  DIAGNOSTICO  |  Monica Mogollon  |  Cierre Mayo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A6CDCB05-50D5-3747-E797-42DA053DA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655D3760-F71B-2EE8-CC7D-03E0CD847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211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576072" y="1043940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Ronny Aleman: TC TLM - PLD - Operaciones - </a:t>
            </a:r>
            <a:r>
              <a:rPr lang="en-US" sz="3200" b="1" dirty="0" err="1">
                <a:solidFill>
                  <a:srgbClr val="FFFFFF"/>
                </a:solidFill>
              </a:rPr>
              <a:t>Portafolio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221551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Ronny Aleman  ·  Subgerente BBVA TLM OUT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700147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Cierre Mayo 2026</a:t>
            </a:r>
            <a:endParaRPr lang="en-US" sz="120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3240003"/>
            <a:ext cx="3657600" cy="208206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TC TLM · PLD OUT · OPERACIONES OUT · PORTAFOLIO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Ronny Aleman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" y="1265791"/>
            <a:ext cx="309067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19A075"/>
                </a:solidFill>
              </a:rPr>
              <a:t>90%</a:t>
            </a:r>
            <a:endParaRPr lang="en-US" sz="6000" dirty="0">
              <a:solidFill>
                <a:srgbClr val="19A075"/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-65589" y="2697861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45719" cy="3773119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70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16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100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346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561863" y="3419308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654552"/>
            <a:ext cx="9144000" cy="234696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654552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Telemarketing OUT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695937" y="3654552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50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20267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20267"/>
            <a:ext cx="1728216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654552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90%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654552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0" y="3889248"/>
            <a:ext cx="9144000" cy="23469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/>
          <p:cNvSpPr/>
          <p:nvPr/>
        </p:nvSpPr>
        <p:spPr>
          <a:xfrm>
            <a:off x="182880" y="3889248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PLD OUT (Prestamos)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695937" y="3889248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16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526280" y="3954963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/>
          <p:cNvSpPr/>
          <p:nvPr/>
        </p:nvSpPr>
        <p:spPr>
          <a:xfrm>
            <a:off x="4526280" y="3954963"/>
            <a:ext cx="1401775" cy="985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6656832" y="3889248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73%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889248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0" y="4123944"/>
            <a:ext cx="9144000" cy="234696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82880" y="4123944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Operaciones OUT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695937" y="4123944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14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526280" y="4189659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/>
          <p:cNvSpPr/>
          <p:nvPr/>
        </p:nvSpPr>
        <p:spPr>
          <a:xfrm>
            <a:off x="4526280" y="4189659"/>
            <a:ext cx="1747418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/>
          <p:cNvSpPr/>
          <p:nvPr/>
        </p:nvSpPr>
        <p:spPr>
          <a:xfrm>
            <a:off x="6656832" y="4123944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91%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123944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0" y="4358640"/>
            <a:ext cx="9144000" cy="23469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/>
          <p:cNvSpPr/>
          <p:nvPr/>
        </p:nvSpPr>
        <p:spPr>
          <a:xfrm>
            <a:off x="182880" y="4358640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145078"/>
                </a:solidFill>
              </a:rPr>
              <a:t>Portafolio</a:t>
            </a: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695937" y="4358640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18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4526280" y="4424355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/>
          <p:cNvSpPr/>
          <p:nvPr/>
        </p:nvSpPr>
        <p:spPr>
          <a:xfrm>
            <a:off x="4526280" y="4424355"/>
            <a:ext cx="1728216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/>
          <p:cNvSpPr/>
          <p:nvPr/>
        </p:nvSpPr>
        <p:spPr>
          <a:xfrm>
            <a:off x="6656832" y="4358640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90%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358640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75" name="Shape 72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6" name="Text 73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OUT  |  RONNY ALEMAN  |  Ronny Aleman  |  Cierre Mayo 2026</a:t>
            </a:r>
            <a:endParaRPr lang="en-US" sz="750" dirty="0"/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1E55FB29-2C7A-3DF5-E1C1-495612494CC7}"/>
              </a:ext>
            </a:extLst>
          </p:cNvPr>
          <p:cNvSpPr/>
          <p:nvPr/>
        </p:nvSpPr>
        <p:spPr>
          <a:xfrm>
            <a:off x="150876" y="785632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670DE5C5-466E-0434-E549-07443ECBCDEA}"/>
              </a:ext>
            </a:extLst>
          </p:cNvPr>
          <p:cNvSpPr/>
          <p:nvPr/>
        </p:nvSpPr>
        <p:spPr>
          <a:xfrm>
            <a:off x="242316" y="858784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5D52E78-6D8B-03BB-4AC6-1C261FE7C63D}"/>
              </a:ext>
            </a:extLst>
          </p:cNvPr>
          <p:cNvSpPr/>
          <p:nvPr/>
        </p:nvSpPr>
        <p:spPr>
          <a:xfrm>
            <a:off x="461772" y="785632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5F92946E-1D69-F6E6-2C88-56D8E60AE516}"/>
              </a:ext>
            </a:extLst>
          </p:cNvPr>
          <p:cNvSpPr/>
          <p:nvPr/>
        </p:nvSpPr>
        <p:spPr>
          <a:xfrm>
            <a:off x="5117268" y="3636752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5B730E9C-AA80-E186-C853-2B5A3F158C92}"/>
              </a:ext>
            </a:extLst>
          </p:cNvPr>
          <p:cNvSpPr/>
          <p:nvPr/>
        </p:nvSpPr>
        <p:spPr>
          <a:xfrm>
            <a:off x="5117268" y="3863431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9C92EC7-43C5-93A3-ED45-17C5DD507E03}"/>
              </a:ext>
            </a:extLst>
          </p:cNvPr>
          <p:cNvSpPr/>
          <p:nvPr/>
        </p:nvSpPr>
        <p:spPr>
          <a:xfrm>
            <a:off x="5112083" y="409812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290F34D1-83D5-6F68-33F7-F0CEEC135045}"/>
              </a:ext>
            </a:extLst>
          </p:cNvPr>
          <p:cNvSpPr/>
          <p:nvPr/>
        </p:nvSpPr>
        <p:spPr>
          <a:xfrm>
            <a:off x="5134288" y="433282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51739359-080A-87AC-E263-2B1F7386CDC2}"/>
              </a:ext>
            </a:extLst>
          </p:cNvPr>
          <p:cNvSpPr/>
          <p:nvPr/>
        </p:nvSpPr>
        <p:spPr>
          <a:xfrm>
            <a:off x="3426494" y="339582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A45C6784-DEFA-6A05-0C12-ACEB39062D5D}"/>
              </a:ext>
            </a:extLst>
          </p:cNvPr>
          <p:cNvSpPr/>
          <p:nvPr/>
        </p:nvSpPr>
        <p:spPr>
          <a:xfrm>
            <a:off x="3659544" y="385085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B316B709-51A4-52D3-CA68-4E901C66D448}"/>
              </a:ext>
            </a:extLst>
          </p:cNvPr>
          <p:cNvSpPr/>
          <p:nvPr/>
        </p:nvSpPr>
        <p:spPr>
          <a:xfrm>
            <a:off x="3651295" y="409985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DA737AF7-796F-F563-8F6E-7DE3DBA1BE14}"/>
              </a:ext>
            </a:extLst>
          </p:cNvPr>
          <p:cNvSpPr/>
          <p:nvPr/>
        </p:nvSpPr>
        <p:spPr>
          <a:xfrm>
            <a:off x="3659544" y="4328690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DD7FE2D-1574-A852-9D78-84797E63A60B}"/>
              </a:ext>
            </a:extLst>
          </p:cNvPr>
          <p:cNvSpPr/>
          <p:nvPr/>
        </p:nvSpPr>
        <p:spPr>
          <a:xfrm>
            <a:off x="3634505" y="36287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C9C3F1A-8CBE-17D2-6A39-C0A2FBC71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2" y="-144967"/>
            <a:ext cx="1773938" cy="10098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TC TELEMARKETING OUT: Información al 30 de Mayo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059669"/>
                </a:solidFill>
              </a:rPr>
              <a:t>131.1%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Ronny Aleman  |  Cierre Mayo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A52EC1A-ECE5-7429-EB2B-53DDC576150A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 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19304F58-7AC2-FD96-3E5B-D3891140C0ED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8DC758B8-8C77-33D6-72A9-856DE757EDDF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855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2A79ACB-DCF5-C9C4-DE27-9C7BCD938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D118CC7-1577-BE8C-D36C-D9875A02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PLD OUT PRESTAMOS: Información al 30 de Mayo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Lider: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01168" y="2080313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DC2626"/>
                </a:solidFill>
              </a:rPr>
              <a:t>72.4%</a:t>
            </a:r>
            <a:endParaRPr lang="en-US" sz="72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Text 7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PLD OUT (PRESTAMOS)  |  Ronny Aleman  |  Cierre Mayo 2026</a:t>
            </a:r>
            <a:endParaRPr lang="en-US" sz="750" dirty="0"/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A3CE5A69-2D8A-DEC3-224F-DC959E3CE084}"/>
              </a:ext>
            </a:extLst>
          </p:cNvPr>
          <p:cNvSpPr/>
          <p:nvPr/>
        </p:nvSpPr>
        <p:spPr>
          <a:xfrm>
            <a:off x="372071" y="201901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360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0A0BCA2-1D05-DDB4-7B19-ACF1A687F615}"/>
              </a:ext>
            </a:extLst>
          </p:cNvPr>
          <p:cNvSpPr/>
          <p:nvPr/>
        </p:nvSpPr>
        <p:spPr>
          <a:xfrm>
            <a:off x="-107745" y="315765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71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07A0A797-C2A0-0C0F-F1C9-7AB6F9DFA654}"/>
              </a:ext>
            </a:extLst>
          </p:cNvPr>
          <p:cNvSpPr/>
          <p:nvPr/>
        </p:nvSpPr>
        <p:spPr>
          <a:xfrm>
            <a:off x="1090981" y="315421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98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BARRAS_AVANCE_PRESTAMOS_OUT" descr="image.png">
            <a:extLst>
              <a:ext uri="{FF2B5EF4-FFF2-40B4-BE49-F238E27FC236}">
                <a16:creationId xmlns:a16="http://schemas.microsoft.com/office/drawing/2014/main" id="{44F9A783-719F-6E0E-CB32-278EB6E24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576" y="1697652"/>
            <a:ext cx="5385290" cy="1819364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632DD9D-BBCB-FF88-8097-E7A86917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13970"/>
            <a:ext cx="1645923" cy="9369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OPERACIONES OUT: : Información al 30 de Mayo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8782" y="2079549"/>
            <a:ext cx="282839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059669"/>
                </a:solidFill>
              </a:rPr>
              <a:t>107.7%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OPERACIONES OUT  |  Ronny Aleman  |  Cierre Mayo 2026</a:t>
            </a:r>
            <a:endParaRPr lang="en-US" sz="750" dirty="0"/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19DC7FAC-F2C8-7C50-C52D-609D7BDC37C7}"/>
              </a:ext>
            </a:extLst>
          </p:cNvPr>
          <p:cNvSpPr/>
          <p:nvPr/>
        </p:nvSpPr>
        <p:spPr>
          <a:xfrm>
            <a:off x="317734" y="204848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5.25K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8A18A742-CA04-9FB6-9013-10B872A82677}"/>
              </a:ext>
            </a:extLst>
          </p:cNvPr>
          <p:cNvSpPr/>
          <p:nvPr/>
        </p:nvSpPr>
        <p:spPr>
          <a:xfrm>
            <a:off x="-162082" y="318712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1.98K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8A3E5AD3-EA77-5D27-6691-7BA2A6BCDDC2}"/>
              </a:ext>
            </a:extLst>
          </p:cNvPr>
          <p:cNvSpPr/>
          <p:nvPr/>
        </p:nvSpPr>
        <p:spPr>
          <a:xfrm>
            <a:off x="1036644" y="3183687"/>
            <a:ext cx="15236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1.84K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0" name="BARRAS_AVANCE_OPERACIONES" descr="image.png">
            <a:extLst>
              <a:ext uri="{FF2B5EF4-FFF2-40B4-BE49-F238E27FC236}">
                <a16:creationId xmlns:a16="http://schemas.microsoft.com/office/drawing/2014/main" id="{FBD52858-531C-6FF7-88EB-E80D74F8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182" y="1804481"/>
            <a:ext cx="4899760" cy="1671814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83EE3A7F-9640-B14C-05BA-B13F0401C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354" y="-107818"/>
            <a:ext cx="1645923" cy="9369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PORTAFOLIO: Información al 30 de Mayo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1445" y="2192975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D97706"/>
                </a:solidFill>
              </a:rPr>
              <a:t>82.3%</a:t>
            </a:r>
            <a:endParaRPr lang="en-US" sz="6600" dirty="0">
              <a:solidFill>
                <a:srgbClr val="D97706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PORTAFOLIO EFECTIVO  |  Ronny Aleman  |  Cierre Mayo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47F183FE-CFFB-69E3-3EA0-0A139F9F9FBC}"/>
              </a:ext>
            </a:extLst>
          </p:cNvPr>
          <p:cNvSpPr/>
          <p:nvPr/>
        </p:nvSpPr>
        <p:spPr>
          <a:xfrm>
            <a:off x="403403" y="21206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3.00 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B2955AC3-DCA7-84EF-4488-32597A99A94B}"/>
              </a:ext>
            </a:extLst>
          </p:cNvPr>
          <p:cNvSpPr/>
          <p:nvPr/>
        </p:nvSpPr>
        <p:spPr>
          <a:xfrm>
            <a:off x="-92742" y="327562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552.5K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4633EEC3-E4C1-EBE0-DE74-E75CC831C279}"/>
              </a:ext>
            </a:extLst>
          </p:cNvPr>
          <p:cNvSpPr/>
          <p:nvPr/>
        </p:nvSpPr>
        <p:spPr>
          <a:xfrm>
            <a:off x="1024339" y="3255860"/>
            <a:ext cx="1624998" cy="354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671.7K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EFECTIVO" descr="image.png">
            <a:extLst>
              <a:ext uri="{FF2B5EF4-FFF2-40B4-BE49-F238E27FC236}">
                <a16:creationId xmlns:a16="http://schemas.microsoft.com/office/drawing/2014/main" id="{54B66F17-D06F-2B6B-E662-6755E700F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051" y="1500402"/>
            <a:ext cx="6160051" cy="2489957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21A3CA72-0301-57BA-CCEC-D057CA6B3B4E}"/>
              </a:ext>
            </a:extLst>
          </p:cNvPr>
          <p:cNvSpPr/>
          <p:nvPr/>
        </p:nvSpPr>
        <p:spPr>
          <a:xfrm>
            <a:off x="89154" y="775423"/>
            <a:ext cx="233172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F653980-A1C1-A5E7-8548-D79EA748600E}"/>
              </a:ext>
            </a:extLst>
          </p:cNvPr>
          <p:cNvSpPr/>
          <p:nvPr/>
        </p:nvSpPr>
        <p:spPr>
          <a:xfrm>
            <a:off x="180594" y="848575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4BD7086-9E6A-7CBE-AA66-56550A90C3CA}"/>
              </a:ext>
            </a:extLst>
          </p:cNvPr>
          <p:cNvSpPr/>
          <p:nvPr/>
        </p:nvSpPr>
        <p:spPr>
          <a:xfrm>
            <a:off x="400050" y="775423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EN SEGUIMIENTO</a:t>
            </a:r>
            <a:endParaRPr lang="en-US" sz="9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EE3A5D-0727-E6DB-463A-AE28CC2B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-13311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TLM OUT 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Calibracion de pitch + ajuste de guion y roleplay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Talleres conversion + dinamica Strategy_7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Completar dotacion Portafolio Efectivo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PLD OUT al 73% — conversion desembolso al 40%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Oferta maxima cliente ejecutada al 40%. Gap en pitch de cierre y seguimiento de promesas.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Portafolio Efectivo al 20% — solo 2 activos de 8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Plan de crecimiento escalonado sin completar. Sin dotacion no hay produccion.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OUT  |  DIAGNOSTICO  |  Ronny Aleman  |  Cierre Mayo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-11521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85800" y="1069848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Norma Levano: TC </a:t>
            </a:r>
            <a:r>
              <a:rPr lang="en-US" sz="3200" b="1" dirty="0" err="1">
                <a:solidFill>
                  <a:srgbClr val="FFFFFF"/>
                </a:solidFill>
              </a:rPr>
              <a:t>Hibrido</a:t>
            </a:r>
            <a:r>
              <a:rPr lang="en-US" sz="3200" b="1" dirty="0">
                <a:solidFill>
                  <a:srgbClr val="FFFFFF"/>
                </a:solidFill>
              </a:rPr>
              <a:t> - PLD Digital - Operaciones - TC Respaldada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2244852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Norma Levano  ·  Sub-Gerente BBVA Digital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766822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Cierre Mayo 2026</a:t>
            </a:r>
            <a:endParaRPr lang="en-US" sz="12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6F17E0B2-9198-3AF4-16E7-F636B621D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496" y="3197352"/>
            <a:ext cx="3785624" cy="21549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TC HIBRIDO · PLD DIGITAL · OPERACIONES DIGITAL · TC RESPALDADA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D97706"/>
                </a:solidFill>
              </a:rPr>
              <a:t>EN SEGUIMIENTO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Norma Levano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82%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201168" y="290779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57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71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13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71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351570" y="341985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701491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70149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Hibrido (Tarjetas Digital)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498212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25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8034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80349"/>
            <a:ext cx="1459382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70149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76%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0" y="3983126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/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Operaciones Digital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498212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20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526280" y="4061984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/>
          <p:cNvSpPr/>
          <p:nvPr/>
        </p:nvSpPr>
        <p:spPr>
          <a:xfrm>
            <a:off x="4526280" y="4061984"/>
            <a:ext cx="1536192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80%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0" y="4264762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PLD Digital (Prestamos)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498212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10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526280" y="434361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/>
          <p:cNvSpPr/>
          <p:nvPr/>
        </p:nvSpPr>
        <p:spPr>
          <a:xfrm>
            <a:off x="4526280" y="4343619"/>
            <a:ext cx="1920240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/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103%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0" y="4546397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/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Respaldada</a:t>
            </a: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498212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16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4526280" y="4625255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/>
          <p:cNvSpPr/>
          <p:nvPr/>
        </p:nvSpPr>
        <p:spPr>
          <a:xfrm>
            <a:off x="4526280" y="4625255"/>
            <a:ext cx="1555394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/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81%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NORMA LEVANO  |  Norma Levano  |  Cierre Mayo 2026</a:t>
            </a:r>
            <a:endParaRPr lang="en-US" sz="75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EDB46277-5DFE-41CA-1D0F-8607DDACB47C}"/>
              </a:ext>
            </a:extLst>
          </p:cNvPr>
          <p:cNvSpPr/>
          <p:nvPr/>
        </p:nvSpPr>
        <p:spPr>
          <a:xfrm>
            <a:off x="5060549" y="3710636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16D5521A-7387-FF67-F06A-F8B3DB17D9C2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5E6D863A-D9F8-DABA-51E9-6A141B079082}"/>
              </a:ext>
            </a:extLst>
          </p:cNvPr>
          <p:cNvSpPr/>
          <p:nvPr/>
        </p:nvSpPr>
        <p:spPr>
          <a:xfrm>
            <a:off x="5224718" y="4261944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734381A0-16F3-499C-91FB-57637AE08174}"/>
              </a:ext>
            </a:extLst>
          </p:cNvPr>
          <p:cNvSpPr/>
          <p:nvPr/>
        </p:nvSpPr>
        <p:spPr>
          <a:xfrm>
            <a:off x="5084665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EE6159A9-E90D-225C-BE9F-3193D446CBFD}"/>
              </a:ext>
            </a:extLst>
          </p:cNvPr>
          <p:cNvSpPr/>
          <p:nvPr/>
        </p:nvSpPr>
        <p:spPr>
          <a:xfrm>
            <a:off x="3328305" y="339969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5069EF4-EF82-2351-6446-1AD3FC907DB8}"/>
              </a:ext>
            </a:extLst>
          </p:cNvPr>
          <p:cNvSpPr/>
          <p:nvPr/>
        </p:nvSpPr>
        <p:spPr>
          <a:xfrm>
            <a:off x="3530781" y="365397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ED12223E-687F-9E78-F20F-888642B45EC3}"/>
              </a:ext>
            </a:extLst>
          </p:cNvPr>
          <p:cNvSpPr/>
          <p:nvPr/>
        </p:nvSpPr>
        <p:spPr>
          <a:xfrm>
            <a:off x="3544480" y="398295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744C982A-CC8C-5C69-CED9-0D2A261DFB08}"/>
              </a:ext>
            </a:extLst>
          </p:cNvPr>
          <p:cNvSpPr/>
          <p:nvPr/>
        </p:nvSpPr>
        <p:spPr>
          <a:xfrm>
            <a:off x="3561355" y="426355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B5DFDEA4-93A8-540B-CE5F-627403DF028F}"/>
              </a:ext>
            </a:extLst>
          </p:cNvPr>
          <p:cNvSpPr/>
          <p:nvPr/>
        </p:nvSpPr>
        <p:spPr>
          <a:xfrm>
            <a:off x="3585612" y="454518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</a:t>
            </a:r>
            <a:endParaRPr lang="en-US" sz="950" dirty="0"/>
          </a:p>
        </p:txBody>
      </p:sp>
      <p:pic>
        <p:nvPicPr>
          <p:cNvPr id="89" name="Picture 8">
            <a:extLst>
              <a:ext uri="{FF2B5EF4-FFF2-40B4-BE49-F238E27FC236}">
                <a16:creationId xmlns:a16="http://schemas.microsoft.com/office/drawing/2014/main" id="{DB335D8E-DAD0-8DAF-3C94-76A1564C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8" y="-15232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TC HIBRIDO — TARJETAS DIGITAL: Información al 30 de Mayo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23458" y="2049562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19A075"/>
                </a:solidFill>
              </a:rPr>
              <a:t>99%</a:t>
            </a:r>
            <a:endParaRPr lang="en-US" sz="72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TC HIBRIDO (TARJETAS)  |  Norma Levano  |  Cierre Mayo 2026</a:t>
            </a:r>
            <a:endParaRPr lang="en-US" sz="750" dirty="0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CE342462-AEF5-27AF-9D0A-8C61BD68C57E}"/>
              </a:ext>
            </a:extLst>
          </p:cNvPr>
          <p:cNvSpPr/>
          <p:nvPr/>
        </p:nvSpPr>
        <p:spPr>
          <a:xfrm>
            <a:off x="423458" y="204525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2.80k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B6116E27-65FF-2E4A-FCED-FB340C6A370A}"/>
              </a:ext>
            </a:extLst>
          </p:cNvPr>
          <p:cNvSpPr/>
          <p:nvPr/>
        </p:nvSpPr>
        <p:spPr>
          <a:xfrm>
            <a:off x="-56358" y="318389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595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26A8E09-D220-F7F0-8529-A345739179C5}"/>
              </a:ext>
            </a:extLst>
          </p:cNvPr>
          <p:cNvSpPr/>
          <p:nvPr/>
        </p:nvSpPr>
        <p:spPr>
          <a:xfrm>
            <a:off x="1142368" y="31804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601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BARRAS_AVANCE_TARJETAS_DIGITAL" descr="image.png">
            <a:extLst>
              <a:ext uri="{FF2B5EF4-FFF2-40B4-BE49-F238E27FC236}">
                <a16:creationId xmlns:a16="http://schemas.microsoft.com/office/drawing/2014/main" id="{D06EBFBE-36CC-A076-403C-6D4F5F6E9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982" y="1572768"/>
            <a:ext cx="5125159" cy="207164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FB3879E5-13D0-7CAE-00D7-94114AFA0339}"/>
              </a:ext>
            </a:extLst>
          </p:cNvPr>
          <p:cNvSpPr/>
          <p:nvPr/>
        </p:nvSpPr>
        <p:spPr>
          <a:xfrm>
            <a:off x="91440" y="759213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10B6BD4F-7FA6-3688-AC63-DF3B989E6203}"/>
              </a:ext>
            </a:extLst>
          </p:cNvPr>
          <p:cNvSpPr/>
          <p:nvPr/>
        </p:nvSpPr>
        <p:spPr>
          <a:xfrm>
            <a:off x="182880" y="832365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FF34D-0E5E-428F-A548-E95DA37926D9}"/>
              </a:ext>
            </a:extLst>
          </p:cNvPr>
          <p:cNvSpPr/>
          <p:nvPr/>
        </p:nvSpPr>
        <p:spPr>
          <a:xfrm>
            <a:off x="402336" y="759213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C6A1E59-F2DC-0ABF-AC77-32F124B8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-15232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OPERACIONES DIGITAL: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30 de Mayo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78225" y="207098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0000"/>
                </a:solidFill>
              </a:rPr>
              <a:t>41.1%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OPERACIONES HIBRIDO  |  Norma Levano  |  Cierre Mayo 2026</a:t>
            </a:r>
            <a:endParaRPr lang="en-US" sz="750" dirty="0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5D4F52AB-42F3-60EA-D4DD-893480880F78}"/>
              </a:ext>
            </a:extLst>
          </p:cNvPr>
          <p:cNvSpPr/>
          <p:nvPr/>
        </p:nvSpPr>
        <p:spPr>
          <a:xfrm>
            <a:off x="470518" y="2035375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4.00k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E2101963-994E-1919-D127-79AF54582F0F}"/>
              </a:ext>
            </a:extLst>
          </p:cNvPr>
          <p:cNvSpPr/>
          <p:nvPr/>
        </p:nvSpPr>
        <p:spPr>
          <a:xfrm>
            <a:off x="-9298" y="317401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319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E0134AAA-27D6-DE6B-A951-F2716CDCB379}"/>
              </a:ext>
            </a:extLst>
          </p:cNvPr>
          <p:cNvSpPr/>
          <p:nvPr/>
        </p:nvSpPr>
        <p:spPr>
          <a:xfrm>
            <a:off x="1189428" y="317057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777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1" name="BARRAS_AVANCE_OPERACIONES_DIGITAL" descr="image.png">
            <a:extLst>
              <a:ext uri="{FF2B5EF4-FFF2-40B4-BE49-F238E27FC236}">
                <a16:creationId xmlns:a16="http://schemas.microsoft.com/office/drawing/2014/main" id="{D45A250F-2AD2-C233-A518-D90AFE28A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4781" y="1551395"/>
            <a:ext cx="5442291" cy="2695939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B26CD5DB-3AD5-DB03-D98B-2AC2E5B65F16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A1648BD7-9CB8-3964-45BA-22E0C0F32935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0D2FC64-771F-2BBE-BE27-D89178315431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1A0F12F0-DE73-A8A8-A8CE-76D05780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PLD DIGITAL: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30 de Mayo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60371" y="2135808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59669"/>
                </a:solidFill>
              </a:rPr>
              <a:t>117%</a:t>
            </a:r>
            <a:endParaRPr lang="en-US" sz="72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Text 7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PLD DIGITAL (PRESTAMOS)  |  Norma Levano  |  Cierre Mayo 2026</a:t>
            </a:r>
            <a:endParaRPr lang="en-US" sz="750" dirty="0"/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F3EBCCF7-7214-2130-1FA9-E31457629BA3}"/>
              </a:ext>
            </a:extLst>
          </p:cNvPr>
          <p:cNvSpPr/>
          <p:nvPr/>
        </p:nvSpPr>
        <p:spPr>
          <a:xfrm>
            <a:off x="434906" y="2088745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400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737E61C-88FB-907B-E8F9-897CF8B11E72}"/>
              </a:ext>
            </a:extLst>
          </p:cNvPr>
          <p:cNvSpPr/>
          <p:nvPr/>
        </p:nvSpPr>
        <p:spPr>
          <a:xfrm>
            <a:off x="-44910" y="322738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124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FD4EF03-1C60-CA28-7777-90A8034C19F4}"/>
              </a:ext>
            </a:extLst>
          </p:cNvPr>
          <p:cNvSpPr/>
          <p:nvPr/>
        </p:nvSpPr>
        <p:spPr>
          <a:xfrm>
            <a:off x="1153816" y="322394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106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9C1213A0-702B-B32F-1472-0CDB816C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9532"/>
          <a:stretch>
            <a:fillRect/>
          </a:stretch>
        </p:blipFill>
        <p:spPr>
          <a:xfrm>
            <a:off x="2868391" y="1800375"/>
            <a:ext cx="6019577" cy="2191154"/>
          </a:xfrm>
          <a:prstGeom prst="rect">
            <a:avLst/>
          </a:prstGeom>
        </p:spPr>
      </p:pic>
      <p:pic>
        <p:nvPicPr>
          <p:cNvPr id="28" name="Picture 8">
            <a:extLst>
              <a:ext uri="{FF2B5EF4-FFF2-40B4-BE49-F238E27FC236}">
                <a16:creationId xmlns:a16="http://schemas.microsoft.com/office/drawing/2014/main" id="{986FBAAE-887A-E83F-7775-2CFA2935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TC RESPALDADA: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30 de Mayo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95301" y="11584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95743" y="2020256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19A075"/>
                </a:solidFill>
              </a:rPr>
              <a:t>97.7%</a:t>
            </a:r>
            <a:endParaRPr lang="en-US" sz="72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Text 7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TC RESPALDADA  |  Norma Levano  |  Cierre Mayo 2026</a:t>
            </a:r>
            <a:endParaRPr lang="en-US" sz="750" dirty="0"/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6E3927B6-2417-2C78-5D87-B31C9ED86135}"/>
              </a:ext>
            </a:extLst>
          </p:cNvPr>
          <p:cNvSpPr/>
          <p:nvPr/>
        </p:nvSpPr>
        <p:spPr>
          <a:xfrm>
            <a:off x="408671" y="203422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650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CC5CD9B7-B5CD-51E4-B10B-5216F9AEA9F1}"/>
              </a:ext>
            </a:extLst>
          </p:cNvPr>
          <p:cNvSpPr/>
          <p:nvPr/>
        </p:nvSpPr>
        <p:spPr>
          <a:xfrm>
            <a:off x="-71145" y="31728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167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3C7C78C-13B4-3463-B3C3-3D0578367B1B}"/>
              </a:ext>
            </a:extLst>
          </p:cNvPr>
          <p:cNvSpPr/>
          <p:nvPr/>
        </p:nvSpPr>
        <p:spPr>
          <a:xfrm>
            <a:off x="1127581" y="316942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171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E59611B-4DBF-56EB-CA01-09719364A8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538"/>
          <a:stretch>
            <a:fillRect/>
          </a:stretch>
        </p:blipFill>
        <p:spPr>
          <a:xfrm>
            <a:off x="2889104" y="1825824"/>
            <a:ext cx="6254896" cy="2073316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51A25C9F-58FE-AA95-32C6-0839F97D73A4}"/>
              </a:ext>
            </a:extLst>
          </p:cNvPr>
          <p:cNvSpPr/>
          <p:nvPr/>
        </p:nvSpPr>
        <p:spPr>
          <a:xfrm>
            <a:off x="195301" y="777008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3D5D5F47-C893-B137-447B-D16F78E33F7B}"/>
              </a:ext>
            </a:extLst>
          </p:cNvPr>
          <p:cNvSpPr/>
          <p:nvPr/>
        </p:nvSpPr>
        <p:spPr>
          <a:xfrm>
            <a:off x="286741" y="850160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607C4E0-CFB8-3DB1-6E3A-D9661C2D97A8}"/>
              </a:ext>
            </a:extLst>
          </p:cNvPr>
          <p:cNvSpPr/>
          <p:nvPr/>
        </p:nvSpPr>
        <p:spPr>
          <a:xfrm>
            <a:off x="506197" y="777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67708AED-FBF2-EF2D-185D-801DB0DE0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DIGITAL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Segmentacion y analisis de base de datos para focalizar esfuerzos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Entrenamiento continuo: script y manejo de objeciones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Fortalecimiento de convenios estrategicos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9728" y="4174236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TC Hibrido al 76% — caida del CET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CET cayo -5.7pp vs abril. Incremento cierre sin formaliz. equivalente. Cliente no concreta deposito.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TC Respaldada al 81% — 3 pendientes de formalizacion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Falta de seguimiento &lt;24h. Desistimiento posterior a la aceptacion.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DIAGNOSTICO Y SEGUIMIENTO  |  Norma Levano  |  Cierre Mayo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6AC55FDF-5738-EA47-B4F2-68596CE6A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502920" y="1027938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Sheyla: BBVA Convenios Lima - Call - Norte - Oriente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10743" y="2313432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Sheyla  ·  Sub </a:t>
            </a:r>
            <a:r>
              <a:rPr lang="en-US" sz="1400" dirty="0" err="1">
                <a:solidFill>
                  <a:srgbClr val="FFFFFF"/>
                </a:solidFill>
              </a:rPr>
              <a:t>Gerenta</a:t>
            </a:r>
            <a:r>
              <a:rPr lang="en-US" sz="1400" dirty="0">
                <a:solidFill>
                  <a:srgbClr val="FFFFFF"/>
                </a:solidFill>
              </a:rPr>
              <a:t> de BBVA Convenios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0743" y="2844546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Cierre Mayo 2026</a:t>
            </a:r>
            <a:endParaRPr lang="en-US" sz="12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76" y="3164586"/>
            <a:ext cx="3785624" cy="21549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RESUMEN GENERAL: BBVA CONVENIOS  |LIMA · TELECAMPO +PROV. · NORTE · SUR · ORIENTE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D97706"/>
                </a:solidFill>
              </a:rPr>
              <a:t>EN SEGUIMIENTO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Sheyla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87%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201168" y="290779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ACTIVOS TOTAL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69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79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10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79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273214"/>
            <a:ext cx="9144000" cy="281635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273214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257450" y="3262518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273214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273214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273214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606605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1" name="Text 38"/>
          <p:cNvSpPr/>
          <p:nvPr/>
        </p:nvSpPr>
        <p:spPr>
          <a:xfrm>
            <a:off x="182880" y="3606605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Lima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2455856" y="36045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12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4526280" y="368546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4" name="Shape 41"/>
          <p:cNvSpPr/>
          <p:nvPr/>
        </p:nvSpPr>
        <p:spPr>
          <a:xfrm>
            <a:off x="4526280" y="3685463"/>
            <a:ext cx="1593799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5" name="Text 42"/>
          <p:cNvSpPr/>
          <p:nvPr/>
        </p:nvSpPr>
        <p:spPr>
          <a:xfrm>
            <a:off x="6656832" y="3606605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83%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543800" y="3606605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0" y="3888240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8" name="Text 45"/>
          <p:cNvSpPr/>
          <p:nvPr/>
        </p:nvSpPr>
        <p:spPr>
          <a:xfrm>
            <a:off x="182880" y="3888240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Telecampo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2455856" y="3886170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20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4526280" y="3967098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1" name="Shape 48"/>
          <p:cNvSpPr/>
          <p:nvPr/>
        </p:nvSpPr>
        <p:spPr>
          <a:xfrm>
            <a:off x="4526280" y="3967098"/>
            <a:ext cx="1728216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2" name="Text 49"/>
          <p:cNvSpPr/>
          <p:nvPr/>
        </p:nvSpPr>
        <p:spPr>
          <a:xfrm>
            <a:off x="6656832" y="3888240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90%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7543800" y="3888240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54" name="Shape 51"/>
          <p:cNvSpPr/>
          <p:nvPr/>
        </p:nvSpPr>
        <p:spPr>
          <a:xfrm>
            <a:off x="0" y="4169876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 dirty="0"/>
          </a:p>
        </p:txBody>
      </p:sp>
      <p:sp>
        <p:nvSpPr>
          <p:cNvPr id="55" name="Text 52"/>
          <p:cNvSpPr/>
          <p:nvPr/>
        </p:nvSpPr>
        <p:spPr>
          <a:xfrm>
            <a:off x="182880" y="416987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Norte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2455856" y="416780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25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4526280" y="424873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8" name="Shape 55"/>
          <p:cNvSpPr/>
          <p:nvPr/>
        </p:nvSpPr>
        <p:spPr>
          <a:xfrm>
            <a:off x="4526280" y="4248733"/>
            <a:ext cx="1689811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9" name="Text 56"/>
          <p:cNvSpPr/>
          <p:nvPr/>
        </p:nvSpPr>
        <p:spPr>
          <a:xfrm>
            <a:off x="6656832" y="416987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88%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7543800" y="416987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190025" y="465704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Oriente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2455856" y="444944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22</a:t>
            </a:r>
            <a:endParaRPr lang="en-US" sz="800" dirty="0"/>
          </a:p>
        </p:txBody>
      </p:sp>
      <p:sp>
        <p:nvSpPr>
          <p:cNvPr id="64" name="Shape 61"/>
          <p:cNvSpPr/>
          <p:nvPr/>
        </p:nvSpPr>
        <p:spPr>
          <a:xfrm>
            <a:off x="4526280" y="453036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65" name="Shape 62"/>
          <p:cNvSpPr/>
          <p:nvPr/>
        </p:nvSpPr>
        <p:spPr>
          <a:xfrm>
            <a:off x="4526280" y="4530369"/>
            <a:ext cx="1651406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66" name="Text 63"/>
          <p:cNvSpPr/>
          <p:nvPr/>
        </p:nvSpPr>
        <p:spPr>
          <a:xfrm>
            <a:off x="6656832" y="445151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86%</a:t>
            </a:r>
            <a:endParaRPr lang="en-US" sz="800" dirty="0"/>
          </a:p>
        </p:txBody>
      </p:sp>
      <p:sp>
        <p:nvSpPr>
          <p:cNvPr id="67" name="Text 64"/>
          <p:cNvSpPr/>
          <p:nvPr/>
        </p:nvSpPr>
        <p:spPr>
          <a:xfrm>
            <a:off x="7543800" y="445151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-11430" y="4950611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i="1" dirty="0">
                <a:solidFill>
                  <a:srgbClr val="667085"/>
                </a:solidFill>
              </a:rPr>
              <a:t>TU META ES NUESTRA META  ·  BBVA CONVENIOS  |  SHEYLA  |  Sheyla  |  Cierre Mayo 2026</a:t>
            </a:r>
            <a:endParaRPr lang="en-US" sz="6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5090775" y="3608382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5134288" y="389388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5116000" y="416705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5116000" y="444236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3103612" y="327512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3306088" y="3676043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3319787" y="391013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20</a:t>
            </a:r>
            <a:endParaRPr lang="en-US" sz="80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3336662" y="41907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28</a:t>
            </a:r>
            <a:endParaRPr lang="en-US" sz="800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3360919" y="444649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4</a:t>
            </a:r>
            <a:endParaRPr lang="en-US" sz="800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185537" y="442077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Sur</a:t>
            </a:r>
            <a:endParaRPr lang="en-US" sz="800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2462624" y="4662343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22</a:t>
            </a:r>
            <a:endParaRPr lang="en-US" sz="800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3366672" y="468515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4</a:t>
            </a:r>
            <a:endParaRPr lang="en-US" sz="800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4566542" y="476040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4552434" y="4761089"/>
            <a:ext cx="1651406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5142154" y="467308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6671213" y="467292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86%</a:t>
            </a:r>
            <a:endParaRPr lang="en-US" sz="800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7558181" y="467292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TELECAMPO: Información al 30 de Mayo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i="1" dirty="0">
                <a:solidFill>
                  <a:srgbClr val="667085"/>
                </a:solidFill>
              </a:rPr>
              <a:t>Sub Gerente : Sheyla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74904" y="2019776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0000"/>
                </a:solidFill>
              </a:rPr>
              <a:t>51%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CALL LIMA + PROVINCIA  |  Sheyla  |  Cierre Mayo 2026</a:t>
            </a:r>
            <a:endParaRPr lang="en-US" sz="750" dirty="0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423458" y="20256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800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56358" y="316430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600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142368" y="316086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700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496" y="925928"/>
            <a:ext cx="5878102" cy="2434069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775" y="3532237"/>
            <a:ext cx="1967304" cy="1314083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033" y="3487048"/>
            <a:ext cx="2355565" cy="146104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LIMA CAMPO: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30 de Mayo  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37160" y="125272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Sheyla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41240" y="2214602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0000"/>
                </a:solidFill>
              </a:rPr>
              <a:t>70.8%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LIMA CAMPO  |  Sheyla  |  Cierre Mayo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457964" y="213199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8.00 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73611" y="328788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670.21K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142368" y="3301695"/>
            <a:ext cx="1527680" cy="264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946.7K 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2156" y="759705"/>
            <a:ext cx="4741132" cy="2170809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662" y="3063856"/>
            <a:ext cx="2719034" cy="1816210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5339" y="3063856"/>
            <a:ext cx="2844284" cy="176417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PROVINCIA NORTE:  Información al 30 de Mayo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</a:t>
            </a:r>
            <a:r>
              <a:rPr lang="en-US" sz="850" i="1" dirty="0" err="1">
                <a:solidFill>
                  <a:srgbClr val="667085"/>
                </a:solidFill>
              </a:rPr>
              <a:t>Gerenta</a:t>
            </a:r>
            <a:r>
              <a:rPr lang="en-US" sz="850" i="1" dirty="0">
                <a:solidFill>
                  <a:srgbClr val="667085"/>
                </a:solidFill>
              </a:rPr>
              <a:t>: Sheyla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1541" y="2107333"/>
            <a:ext cx="27706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19A075"/>
                </a:solidFill>
              </a:rPr>
              <a:t>121.3%</a:t>
            </a:r>
            <a:endParaRPr lang="en-US" sz="66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70048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NORTE  |  Sheyla  |  Cierre Mayo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497069" y="209369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8.00M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326684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1.23M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215979" y="3228894"/>
            <a:ext cx="1491104" cy="3562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1.01M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742" y="801048"/>
            <a:ext cx="5376730" cy="2205819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613" y="3324441"/>
            <a:ext cx="2331720" cy="1557499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3488" y="3228894"/>
            <a:ext cx="2651639" cy="164468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195301" y="777008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286741" y="850160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06197" y="777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PROVINCIA SUR:  Información al 30 de Mayo </a:t>
            </a:r>
            <a:endParaRPr lang="en-US" sz="125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</a:t>
            </a:r>
            <a:r>
              <a:rPr lang="en-US" sz="850" i="1" dirty="0" err="1">
                <a:solidFill>
                  <a:srgbClr val="667085"/>
                </a:solidFill>
              </a:rPr>
              <a:t>Gerenta</a:t>
            </a:r>
            <a:r>
              <a:rPr lang="en-US" sz="850" i="1" dirty="0">
                <a:solidFill>
                  <a:srgbClr val="667085"/>
                </a:solidFill>
              </a:rPr>
              <a:t>: Sheyla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249457" y="2144374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0000"/>
                </a:solidFill>
              </a:rPr>
              <a:t>30.1%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2670048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DE704FB0-D0CE-88BD-0085-EE00C688AB4F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NORTE  |  Sheyla  |  Cierre Mayo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391350" y="211348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05719" y="328662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98.95K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075754" y="3248682"/>
            <a:ext cx="1536824" cy="343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328.9K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973" y="897372"/>
            <a:ext cx="5441049" cy="2034856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7333" y="3248682"/>
            <a:ext cx="2198689" cy="1468639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7754" y="3248682"/>
            <a:ext cx="2361203" cy="1464544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CONVENIOS  |  PROVINCIA ORIENTE: Información al 30 de Mayo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Sheyla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66347" y="196885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0000"/>
                </a:solidFill>
              </a:rPr>
              <a:t>33.1%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COA  |  Sheyla  |  Cierre Mayo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506544" y="190547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5634" y="312474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208.05K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227598" y="3104049"/>
            <a:ext cx="1424162" cy="331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629K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7424" y="956497"/>
            <a:ext cx="4946214" cy="1832423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8885" y="3124742"/>
            <a:ext cx="2211430" cy="1477150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7434" y="3124742"/>
            <a:ext cx="2374886" cy="147303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CONVENIOS 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Segmentacion y analisis de base de datos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Entrenamiento continuo al equipo de ventas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Plan visitas presenciales + operativos por plaza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Impacto Ley 32561 — Rechazos PNP/FF.AA al 50.1%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3,422 leads retirados. Impacto S/ 488K neto. COA: renuncias TOP y desistimientos PNP.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Lima Campo con 5 pendientes de seleccion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La zona mas afectada. Sin completar dotacion Lima no cierra la brecha del 17%.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DIAGNOSTICO  |  Sheyla  |  Cierre Mayo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82880" y="2148840"/>
            <a:ext cx="8778240" cy="2286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201168" y="1005840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Bruno Rivera — Diners TC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201168" y="2240280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Bruno Rivera  ·  Jefe de Ventas Unidad Diners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01168" y="2724912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Cierre Mayo 2026</a:t>
            </a:r>
            <a:endParaRPr lang="en-US" sz="1200" dirty="0"/>
          </a:p>
        </p:txBody>
      </p:sp>
      <p:pic>
        <p:nvPicPr>
          <p:cNvPr id="11" name="Picture 9">
            <a:extLst>
              <a:ext uri="{FF2B5EF4-FFF2-40B4-BE49-F238E27FC236}">
                <a16:creationId xmlns:a16="http://schemas.microsoft.com/office/drawing/2014/main" id="{4085B804-5ADB-2F26-A9BA-31264FD81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829" y="3612065"/>
            <a:ext cx="1808553" cy="180855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RESUMEN GENERAL: DINNERS  |  TARJETAS DE CREDITO  -  TC APROBADAS: :  Información al 30 de Mayo 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189"/>
                </a:solidFill>
              </a:rPr>
              <a:t>Sub-Gerente: Bruno Rivera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C2626"/>
                </a:solidFill>
              </a:rPr>
              <a:t>55%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201168" y="290779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189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</a:rPr>
              <a:t>4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</a:rPr>
              <a:t>10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</a:rPr>
              <a:t>1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</a:rPr>
              <a:t>10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7040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1894961" y="3394253"/>
            <a:ext cx="118872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8626" y="4123944"/>
            <a:ext cx="9144000" cy="704088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4123944"/>
            <a:ext cx="29260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</a:rPr>
              <a:t>TC Diners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054066" y="4089197"/>
            <a:ext cx="118872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10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4321089"/>
            <a:ext cx="1920240" cy="29571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4321089"/>
            <a:ext cx="1056132" cy="295717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4123944"/>
            <a:ext cx="8686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55%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4123944"/>
            <a:ext cx="146304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700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Shape 4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Text 46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DINERS  |  TARJETAS DE CREDITO  |  Bruno Rivera  |  Cierre Mayo 2026</a:t>
            </a:r>
            <a:endParaRPr lang="en-US" sz="750" dirty="0"/>
          </a:p>
        </p:txBody>
      </p:sp>
      <p:sp>
        <p:nvSpPr>
          <p:cNvPr id="52" name="Shape 6">
            <a:extLst>
              <a:ext uri="{FF2B5EF4-FFF2-40B4-BE49-F238E27FC236}">
                <a16:creationId xmlns:a16="http://schemas.microsoft.com/office/drawing/2014/main" id="{D3F3F6FF-C17A-20FF-F052-56194F5354A1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7">
            <a:extLst>
              <a:ext uri="{FF2B5EF4-FFF2-40B4-BE49-F238E27FC236}">
                <a16:creationId xmlns:a16="http://schemas.microsoft.com/office/drawing/2014/main" id="{F0C77567-84BE-6F12-7A7F-7E38DE521051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6" name="Text 8">
            <a:extLst>
              <a:ext uri="{FF2B5EF4-FFF2-40B4-BE49-F238E27FC236}">
                <a16:creationId xmlns:a16="http://schemas.microsoft.com/office/drawing/2014/main" id="{7644D534-35CD-69A4-0886-D23E87C45A2E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0156BA45-4726-258B-9D3F-570C2CB1D257}"/>
              </a:ext>
            </a:extLst>
          </p:cNvPr>
          <p:cNvSpPr/>
          <p:nvPr/>
        </p:nvSpPr>
        <p:spPr>
          <a:xfrm>
            <a:off x="4923716" y="4321089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62" name="Text 33">
            <a:extLst>
              <a:ext uri="{FF2B5EF4-FFF2-40B4-BE49-F238E27FC236}">
                <a16:creationId xmlns:a16="http://schemas.microsoft.com/office/drawing/2014/main" id="{5C4BB89F-AB23-03C1-3ED1-14EB6A052AA9}"/>
              </a:ext>
            </a:extLst>
          </p:cNvPr>
          <p:cNvSpPr/>
          <p:nvPr/>
        </p:nvSpPr>
        <p:spPr>
          <a:xfrm>
            <a:off x="2948732" y="359980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66" name="Text 39">
            <a:extLst>
              <a:ext uri="{FF2B5EF4-FFF2-40B4-BE49-F238E27FC236}">
                <a16:creationId xmlns:a16="http://schemas.microsoft.com/office/drawing/2014/main" id="{E53A03A3-A442-D1DF-B5D3-116082DF15CF}"/>
              </a:ext>
            </a:extLst>
          </p:cNvPr>
          <p:cNvSpPr/>
          <p:nvPr/>
        </p:nvSpPr>
        <p:spPr>
          <a:xfrm>
            <a:off x="3213908" y="432034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pic>
        <p:nvPicPr>
          <p:cNvPr id="70" name="Imagen 69">
            <a:extLst>
              <a:ext uri="{FF2B5EF4-FFF2-40B4-BE49-F238E27FC236}">
                <a16:creationId xmlns:a16="http://schemas.microsoft.com/office/drawing/2014/main" id="{807F6C37-55F3-01A7-49F6-5FFD034566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88388" y="4889859"/>
            <a:ext cx="236904" cy="230781"/>
          </a:xfrm>
          <a:prstGeom prst="rect">
            <a:avLst/>
          </a:prstGeom>
        </p:spPr>
      </p:pic>
      <p:pic>
        <p:nvPicPr>
          <p:cNvPr id="72" name="Picture 76">
            <a:extLst>
              <a:ext uri="{FF2B5EF4-FFF2-40B4-BE49-F238E27FC236}">
                <a16:creationId xmlns:a16="http://schemas.microsoft.com/office/drawing/2014/main" id="{EB61FE31-A065-673C-BC43-2F13FF96A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DINERS  |  TARJETAS DE CREDITO: :  Información al 30 de Mayo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1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Gerente: Bruno Rivera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74532" y="2044724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DC2626"/>
                </a:solidFill>
              </a:rPr>
              <a:t>16.0%</a:t>
            </a:r>
            <a:endParaRPr lang="en-US" sz="72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2999232" y="3505200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DINERS  |  TARJETAS DE CREDITO  |  Bruno Rivera  |  Cierre Mayo 2026</a:t>
            </a:r>
            <a:endParaRPr lang="en-US" sz="750" dirty="0"/>
          </a:p>
        </p:txBody>
      </p:sp>
      <p:pic>
        <p:nvPicPr>
          <p:cNvPr id="74" name="BARRAS_AVANCE__DINERS" descr="image.png">
            <a:extLst>
              <a:ext uri="{FF2B5EF4-FFF2-40B4-BE49-F238E27FC236}">
                <a16:creationId xmlns:a16="http://schemas.microsoft.com/office/drawing/2014/main" id="{D29437BB-A5F9-4BE0-FACC-4950DFF7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5946" y="1455415"/>
            <a:ext cx="4257269" cy="2108916"/>
          </a:xfrm>
          <a:prstGeom prst="rect">
            <a:avLst/>
          </a:prstGeom>
        </p:spPr>
      </p:pic>
      <p:sp>
        <p:nvSpPr>
          <p:cNvPr id="76" name="Text 26">
            <a:extLst>
              <a:ext uri="{FF2B5EF4-FFF2-40B4-BE49-F238E27FC236}">
                <a16:creationId xmlns:a16="http://schemas.microsoft.com/office/drawing/2014/main" id="{B5492910-93CF-F632-24C2-027A944467A9}"/>
              </a:ext>
            </a:extLst>
          </p:cNvPr>
          <p:cNvSpPr/>
          <p:nvPr/>
        </p:nvSpPr>
        <p:spPr>
          <a:xfrm>
            <a:off x="423458" y="202108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250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6C8FFC6B-CB1A-806D-494F-C4B88CBEDB82}"/>
              </a:ext>
            </a:extLst>
          </p:cNvPr>
          <p:cNvSpPr/>
          <p:nvPr/>
        </p:nvSpPr>
        <p:spPr>
          <a:xfrm>
            <a:off x="-56358" y="315972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8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F714999-69CD-CC6F-5515-C2BA075B6AD8}"/>
              </a:ext>
            </a:extLst>
          </p:cNvPr>
          <p:cNvSpPr/>
          <p:nvPr/>
        </p:nvSpPr>
        <p:spPr>
          <a:xfrm>
            <a:off x="1142368" y="315628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50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6525DB75-6F15-86BA-01EC-0CC7CCE71B99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B0D3565D-B575-B585-CBF0-DBF1C2665CBB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595AA07-493D-DFF0-659C-44A50CAA82D3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75972B-9360-97AD-7259-6259A4728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88388" y="4889859"/>
            <a:ext cx="236904" cy="230781"/>
          </a:xfrm>
          <a:prstGeom prst="rect">
            <a:avLst/>
          </a:prstGeom>
        </p:spPr>
      </p:pic>
      <p:pic>
        <p:nvPicPr>
          <p:cNvPr id="11" name="Picture 76">
            <a:extLst>
              <a:ext uri="{FF2B5EF4-FFF2-40B4-BE49-F238E27FC236}">
                <a16:creationId xmlns:a16="http://schemas.microsoft.com/office/drawing/2014/main" id="{552743A1-1A5D-5F3D-5141-E4FE43CBA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DINNERS  | DIAGNOSTICO Y SEGUIMIENTO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Convocatorias y acciones de campo para completar dotacion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150B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Ampliar perfil de asesores para facilitar contratacion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150B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Talleres de tasa de cierre con equipo activo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150B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Headcount incompleto — causa raiz principal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Solo 4 de 10 activos. 5 en seleccion + 1 en induccion. La tasa de cierre no compensa la brecha.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Estrategia de captacion sin resultados suficientes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Perfil ampliado pero sin resultado. Se necesita nuevos canales de reclutamiento urgente.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Shape 40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DINERS  |  DIAGNOSTICO  |  Bruno Rivera  |  Cierre Mayo 2026</a:t>
            </a:r>
            <a:endParaRPr lang="en-US" sz="75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4882896"/>
            <a:ext cx="310896" cy="219456"/>
          </a:xfrm>
          <a:prstGeom prst="rect">
            <a:avLst/>
          </a:prstGeom>
        </p:spPr>
      </p:pic>
      <p:pic>
        <p:nvPicPr>
          <p:cNvPr id="47" name="Picture 76">
            <a:extLst>
              <a:ext uri="{FF2B5EF4-FFF2-40B4-BE49-F238E27FC236}">
                <a16:creationId xmlns:a16="http://schemas.microsoft.com/office/drawing/2014/main" id="{A2B0674A-CA80-C3CC-246A-335EE6EED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1bec757-b8d9-4f0d-86eb-78a37ed8c863}" enabled="0" method="" siteId="{51bec757-b8d9-4f0d-86eb-78a37ed8c86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1919</TotalTime>
  <Words>2511</Words>
  <Application>Microsoft Office PowerPoint</Application>
  <PresentationFormat>Presentación en pantalla (16:9)</PresentationFormat>
  <Paragraphs>623</Paragraphs>
  <Slides>38</Slides>
  <Notes>38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0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Comite Semanal de Campanas — Cierre Mayo 2026</dc:title>
  <dc:subject>PptxGenJS Presentation</dc:subject>
  <dc:creator>PptxGenJS</dc:creator>
  <cp:lastModifiedBy>Jeampiere Manuel Pocomucha Toribio</cp:lastModifiedBy>
  <cp:revision>16</cp:revision>
  <dcterms:created xsi:type="dcterms:W3CDTF">2026-06-10T17:53:50Z</dcterms:created>
  <dcterms:modified xsi:type="dcterms:W3CDTF">2026-07-22T23:02:59Z</dcterms:modified>
</cp:coreProperties>
</file>