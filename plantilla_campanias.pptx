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8"/>
  </p:notesMasterIdLst>
  <p:sldIdLst>
    <p:sldId id="256" r:id="rId2"/>
    <p:sldId id="259" r:id="rId3"/>
    <p:sldId id="260" r:id="rId4"/>
    <p:sldId id="261" r:id="rId5"/>
    <p:sldId id="266" r:id="rId6"/>
    <p:sldId id="324" r:id="rId7"/>
    <p:sldId id="325" r:id="rId8"/>
    <p:sldId id="262" r:id="rId9"/>
    <p:sldId id="263" r:id="rId10"/>
    <p:sldId id="320" r:id="rId11"/>
    <p:sldId id="310" r:id="rId12"/>
    <p:sldId id="311" r:id="rId13"/>
    <p:sldId id="265" r:id="rId14"/>
    <p:sldId id="322" r:id="rId15"/>
    <p:sldId id="268" r:id="rId16"/>
    <p:sldId id="269" r:id="rId17"/>
    <p:sldId id="270" r:id="rId18"/>
    <p:sldId id="271" r:id="rId19"/>
    <p:sldId id="272" r:id="rId20"/>
    <p:sldId id="274" r:id="rId21"/>
    <p:sldId id="275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5" r:id="rId30"/>
    <p:sldId id="286" r:id="rId31"/>
    <p:sldId id="288" r:id="rId32"/>
    <p:sldId id="287" r:id="rId33"/>
    <p:sldId id="289" r:id="rId34"/>
    <p:sldId id="319" r:id="rId35"/>
    <p:sldId id="290" r:id="rId36"/>
    <p:sldId id="291" r:id="rId3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9A075"/>
    <a:srgbClr val="D97706"/>
    <a:srgbClr val="A84D4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0600" autoAdjust="0"/>
    <p:restoredTop sz="94610"/>
  </p:normalViewPr>
  <p:slideViewPr>
    <p:cSldViewPr snapToGrid="0" snapToObjects="1">
      <p:cViewPr>
        <p:scale>
          <a:sx n="100" d="100"/>
          <a:sy n="100" d="100"/>
        </p:scale>
        <p:origin x="720" y="-4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207225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9549D2-720A-B44B-9E80-E06DFDFE16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FB97268-F9AD-A27B-D5D4-4C58A92733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330BC3F-CA68-BFD5-CB62-81FB8073E5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43A4C7-97E7-81BB-B14C-C42EB3CE7FF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204290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6C7CA5-C6B7-1EF2-0C40-7706E7728F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AA37ED1-86E8-4732-6996-31F21533CA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11236FF-4DEB-268A-D161-F664F6DCB7F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D0FD2C9-F18A-5CEF-BA7A-5EAFB2ED1DE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947607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3773D3-56E6-59CD-329B-9F0D2398D0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33CBFA9-F4C1-F409-2823-0934E2C5F0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B89D587-D068-4C9A-8983-B5629ACB75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0B86900-3E23-47BE-CA79-E51C6BACED4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553522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B1DFF7-143D-5CAD-9A98-EDA383ED22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8A9F77F-F449-C0BF-5F37-904BBA1BC4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40B0A3-F5B5-2990-A87A-A2920A2E2B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48D817-88E8-1500-D09E-F295A46CC51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93592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F2596C-901E-BE66-BF58-E2B4B4BBB8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0177CE6-0A99-FF46-4152-5FD1B52D622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6538BED-B980-11E4-5A77-614E6D4D6EB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DD3A50-523E-AA94-1B3D-4A96E9BCFE4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4606466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1.png"/><Relationship Id="rId4" Type="http://schemas.microsoft.com/office/2007/relationships/hdphoto" Target="../media/hdphoto1.wdp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1.png"/><Relationship Id="rId4" Type="http://schemas.microsoft.com/office/2007/relationships/hdphoto" Target="../media/hdphoto1.wdp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8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3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6B150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0292" cy="5143500"/>
          </a:xfrm>
          <a:prstGeom prst="rect">
            <a:avLst/>
          </a:prstGeom>
          <a:solidFill>
            <a:srgbClr val="FF0000"/>
          </a:solidFill>
          <a:ln w="12700">
            <a:solidFill>
              <a:srgbClr val="FF0000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" name="Shape 2"/>
          <p:cNvSpPr/>
          <p:nvPr/>
        </p:nvSpPr>
        <p:spPr>
          <a:xfrm>
            <a:off x="57045" y="1353312"/>
            <a:ext cx="8778240" cy="22860"/>
          </a:xfrm>
          <a:prstGeom prst="rect">
            <a:avLst/>
          </a:prstGeom>
          <a:solidFill>
            <a:srgbClr val="FF0000"/>
          </a:solidFill>
          <a:ln w="12700">
            <a:solidFill>
              <a:srgbClr val="FF0000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124097" y="1515387"/>
            <a:ext cx="87782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just">
              <a:buNone/>
            </a:pPr>
            <a:r>
              <a:rPr lang="en-US" sz="4400" b="1" kern="0" spc="-50" dirty="0">
                <a:solidFill>
                  <a:srgbClr val="FFFFFF"/>
                </a:solidFill>
              </a:rPr>
              <a:t>COMITÉ SEMANAL DE CAMPAÑAS</a:t>
            </a:r>
            <a:endParaRPr lang="en-US" sz="4400" dirty="0"/>
          </a:p>
        </p:txBody>
      </p:sp>
      <p:sp>
        <p:nvSpPr>
          <p:cNvPr id="7" name="Text 4"/>
          <p:cNvSpPr/>
          <p:nvPr/>
        </p:nvSpPr>
        <p:spPr>
          <a:xfrm>
            <a:off x="182880" y="2978427"/>
            <a:ext cx="8778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FFFFFF"/>
                </a:solidFill>
              </a:rPr>
              <a:t>Consolidado · Julio 2026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224825" y="3703320"/>
            <a:ext cx="8778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</a:rPr>
              <a:t>Julio 2026  ·  MF Asesoría y </a:t>
            </a:r>
            <a:r>
              <a:rPr lang="en-US" sz="1100" dirty="0" err="1">
                <a:solidFill>
                  <a:srgbClr val="FFFFFF"/>
                </a:solidFill>
              </a:rPr>
              <a:t>Consultoría</a:t>
            </a:r>
            <a:r>
              <a:rPr lang="en-US" sz="1100" dirty="0">
                <a:solidFill>
                  <a:srgbClr val="FFFFFF"/>
                </a:solidFill>
              </a:rPr>
              <a:t>  &amp;  PlusMetas</a:t>
            </a:r>
            <a:endParaRPr lang="en-US" sz="110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85F19C7-3194-4AD2-FC53-73E90CB7EB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097" y="-186309"/>
            <a:ext cx="1808553" cy="180855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6B150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0292" cy="5143500"/>
          </a:xfrm>
          <a:prstGeom prst="rect">
            <a:avLst/>
          </a:prstGeom>
          <a:solidFill>
            <a:srgbClr val="FF0000"/>
          </a:solidFill>
          <a:ln w="12700">
            <a:solidFill>
              <a:srgbClr val="FF0000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109728" y="2160769"/>
            <a:ext cx="8778240" cy="22860"/>
          </a:xfrm>
          <a:prstGeom prst="rect">
            <a:avLst/>
          </a:prstGeom>
          <a:solidFill>
            <a:srgbClr val="FF0000"/>
          </a:solidFill>
          <a:ln w="12700">
            <a:solidFill>
              <a:srgbClr val="FF0000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" name="Text 4"/>
          <p:cNvSpPr/>
          <p:nvPr/>
        </p:nvSpPr>
        <p:spPr>
          <a:xfrm>
            <a:off x="155448" y="1094004"/>
            <a:ext cx="8732520" cy="80421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just">
              <a:buNone/>
            </a:pPr>
            <a:r>
              <a:rPr lang="en-US" sz="3200" b="1" dirty="0">
                <a:solidFill>
                  <a:srgbClr val="FFFFFF"/>
                </a:solidFill>
              </a:rPr>
              <a:t>Christian </a:t>
            </a:r>
            <a:r>
              <a:rPr lang="en-US" sz="3200" b="1" dirty="0" err="1">
                <a:solidFill>
                  <a:srgbClr val="FFFFFF"/>
                </a:solidFill>
              </a:rPr>
              <a:t>Passara</a:t>
            </a:r>
            <a:r>
              <a:rPr lang="en-US" sz="3200" b="1" dirty="0">
                <a:solidFill>
                  <a:srgbClr val="FFFFFF"/>
                </a:solidFill>
              </a:rPr>
              <a:t>: </a:t>
            </a:r>
            <a:r>
              <a:rPr lang="en-US" sz="3200" b="1" dirty="0" err="1">
                <a:solidFill>
                  <a:srgbClr val="FFFFFF"/>
                </a:solidFill>
              </a:rPr>
              <a:t>Tarjetas</a:t>
            </a:r>
            <a:r>
              <a:rPr lang="en-US" sz="3200" b="1" dirty="0">
                <a:solidFill>
                  <a:srgbClr val="FFFFFF"/>
                </a:solidFill>
              </a:rPr>
              <a:t> SBP</a:t>
            </a:r>
            <a:endParaRPr lang="en-US" sz="3200" b="1" dirty="0"/>
          </a:p>
        </p:txBody>
      </p:sp>
      <p:sp>
        <p:nvSpPr>
          <p:cNvPr id="8" name="Text 5"/>
          <p:cNvSpPr/>
          <p:nvPr/>
        </p:nvSpPr>
        <p:spPr>
          <a:xfrm>
            <a:off x="201168" y="2232325"/>
            <a:ext cx="8732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</a:rPr>
              <a:t>Christian </a:t>
            </a:r>
            <a:r>
              <a:rPr lang="en-US" sz="1400" dirty="0" err="1">
                <a:solidFill>
                  <a:srgbClr val="FFFFFF"/>
                </a:solidFill>
              </a:rPr>
              <a:t>Passara</a:t>
            </a:r>
            <a:r>
              <a:rPr lang="en-US" sz="1400" dirty="0">
                <a:solidFill>
                  <a:srgbClr val="FFFFFF"/>
                </a:solidFill>
              </a:rPr>
              <a:t> : Subgerenta de Ventas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201168" y="2805948"/>
            <a:ext cx="8732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</a:rPr>
              <a:t>Julio 2026</a:t>
            </a:r>
            <a:endParaRPr lang="en-US" sz="1200" dirty="0"/>
          </a:p>
        </p:txBody>
      </p:sp>
      <p:pic>
        <p:nvPicPr>
          <p:cNvPr id="13" name="Picture 9">
            <a:extLst>
              <a:ext uri="{FF2B5EF4-FFF2-40B4-BE49-F238E27FC236}">
                <a16:creationId xmlns:a16="http://schemas.microsoft.com/office/drawing/2014/main" id="{277C8468-0A3E-3EC2-4F2C-7DC598DAED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96328" y="3670788"/>
            <a:ext cx="1808553" cy="1808553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658368"/>
            <a:ext cx="9144000" cy="25603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01168" y="0"/>
            <a:ext cx="7498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30" dirty="0">
                <a:solidFill>
                  <a:srgbClr val="FFFFFF"/>
                </a:solidFill>
              </a:rPr>
              <a:t>RESUMEN GENERAL|  SCOTIABANK TARJETAS · FONOCOMPRAS · EFECTIVO · BANBIF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77072" y="713232"/>
            <a:ext cx="521208" cy="228600"/>
          </a:xfrm>
          <a:prstGeom prst="rect">
            <a:avLst/>
          </a:prstGeom>
          <a:solidFill>
            <a:srgbClr val="4A0E07"/>
          </a:solidFill>
          <a:ln w="12700">
            <a:solidFill>
              <a:srgbClr val="4A0E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ext 5"/>
          <p:cNvSpPr/>
          <p:nvPr/>
        </p:nvSpPr>
        <p:spPr>
          <a:xfrm>
            <a:off x="8577072" y="713232"/>
            <a:ext cx="5212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1 / 3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201168" y="749808"/>
            <a:ext cx="2331720" cy="347472"/>
          </a:xfrm>
          <a:prstGeom prst="rect">
            <a:avLst/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0" name="Shape 7"/>
          <p:cNvSpPr/>
          <p:nvPr/>
        </p:nvSpPr>
        <p:spPr>
          <a:xfrm>
            <a:off x="292608" y="822960"/>
            <a:ext cx="182880" cy="182880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Text 8"/>
          <p:cNvSpPr/>
          <p:nvPr/>
        </p:nvSpPr>
        <p:spPr>
          <a:xfrm>
            <a:off x="530352" y="749808"/>
            <a:ext cx="19842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97706"/>
                </a:solidFill>
              </a:rPr>
              <a:t>EN SEGUIMIENTO</a:t>
            </a:r>
          </a:p>
        </p:txBody>
      </p:sp>
      <p:sp>
        <p:nvSpPr>
          <p:cNvPr id="12" name="Text 9"/>
          <p:cNvSpPr/>
          <p:nvPr/>
        </p:nvSpPr>
        <p:spPr>
          <a:xfrm>
            <a:off x="201168" y="1152144"/>
            <a:ext cx="2331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9A9189"/>
                </a:solidFill>
              </a:rPr>
              <a:t>Sub-Gerente: Monica Mogollon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201168" y="1463040"/>
            <a:ext cx="2331720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0" b="1" dirty="0">
                <a:solidFill>
                  <a:srgbClr val="D97706"/>
                </a:solidFill>
              </a:rPr>
              <a:t>89%</a:t>
            </a:r>
            <a:endParaRPr lang="en-US" sz="8000" dirty="0"/>
          </a:p>
        </p:txBody>
      </p:sp>
      <p:sp>
        <p:nvSpPr>
          <p:cNvPr id="14" name="Text 11"/>
          <p:cNvSpPr/>
          <p:nvPr/>
        </p:nvSpPr>
        <p:spPr>
          <a:xfrm>
            <a:off x="-28346" y="2631786"/>
            <a:ext cx="2331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A9189"/>
                </a:solidFill>
              </a:rPr>
              <a:t>Avance promedio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2633472" y="749808"/>
            <a:ext cx="20117" cy="4069080"/>
          </a:xfrm>
          <a:prstGeom prst="rect">
            <a:avLst/>
          </a:prstGeom>
          <a:solidFill>
            <a:srgbClr val="E5DFD8"/>
          </a:solidFill>
          <a:ln w="1270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6" name="Shape 13"/>
          <p:cNvSpPr/>
          <p:nvPr/>
        </p:nvSpPr>
        <p:spPr>
          <a:xfrm>
            <a:off x="2743200" y="749808"/>
            <a:ext cx="3086100" cy="786384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7" name="Text 14"/>
          <p:cNvSpPr/>
          <p:nvPr/>
        </p:nvSpPr>
        <p:spPr>
          <a:xfrm>
            <a:off x="2880360" y="841248"/>
            <a:ext cx="29032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80" kern="0" spc="40" dirty="0">
                <a:solidFill>
                  <a:srgbClr val="9A9189"/>
                </a:solidFill>
              </a:rPr>
              <a:t>CONECTADOS</a:t>
            </a:r>
            <a:endParaRPr lang="en-US" sz="780" dirty="0"/>
          </a:p>
        </p:txBody>
      </p:sp>
      <p:sp>
        <p:nvSpPr>
          <p:cNvPr id="18" name="Text 15"/>
          <p:cNvSpPr/>
          <p:nvPr/>
        </p:nvSpPr>
        <p:spPr>
          <a:xfrm>
            <a:off x="2880360" y="1024128"/>
            <a:ext cx="29032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6B150B"/>
                </a:solidFill>
              </a:rPr>
              <a:t>120</a:t>
            </a:r>
            <a:endParaRPr lang="en-US" sz="2200" dirty="0"/>
          </a:p>
        </p:txBody>
      </p:sp>
      <p:sp>
        <p:nvSpPr>
          <p:cNvPr id="19" name="Shape 16"/>
          <p:cNvSpPr/>
          <p:nvPr/>
        </p:nvSpPr>
        <p:spPr>
          <a:xfrm>
            <a:off x="5920740" y="749808"/>
            <a:ext cx="3086100" cy="786384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0" name="Text 17"/>
          <p:cNvSpPr/>
          <p:nvPr/>
        </p:nvSpPr>
        <p:spPr>
          <a:xfrm>
            <a:off x="6057900" y="841248"/>
            <a:ext cx="29032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80" kern="0" spc="40" dirty="0">
                <a:solidFill>
                  <a:srgbClr val="9A9189"/>
                </a:solidFill>
              </a:rPr>
              <a:t>DOTACION</a:t>
            </a:r>
            <a:endParaRPr lang="en-US" sz="780" dirty="0"/>
          </a:p>
        </p:txBody>
      </p:sp>
      <p:sp>
        <p:nvSpPr>
          <p:cNvPr id="21" name="Text 18"/>
          <p:cNvSpPr/>
          <p:nvPr/>
        </p:nvSpPr>
        <p:spPr>
          <a:xfrm>
            <a:off x="6057900" y="1024128"/>
            <a:ext cx="29032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6B150B"/>
                </a:solidFill>
              </a:rPr>
              <a:t>130</a:t>
            </a:r>
            <a:endParaRPr lang="en-US" sz="2200" dirty="0"/>
          </a:p>
        </p:txBody>
      </p:sp>
      <p:sp>
        <p:nvSpPr>
          <p:cNvPr id="22" name="Shape 19"/>
          <p:cNvSpPr/>
          <p:nvPr/>
        </p:nvSpPr>
        <p:spPr>
          <a:xfrm>
            <a:off x="2743200" y="1609344"/>
            <a:ext cx="3086100" cy="786384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3" name="Text 20"/>
          <p:cNvSpPr/>
          <p:nvPr/>
        </p:nvSpPr>
        <p:spPr>
          <a:xfrm>
            <a:off x="2880360" y="1700784"/>
            <a:ext cx="29032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80" kern="0" spc="40" dirty="0">
                <a:solidFill>
                  <a:srgbClr val="9A9189"/>
                </a:solidFill>
              </a:rPr>
              <a:t>PEND. SELECCION</a:t>
            </a:r>
            <a:endParaRPr lang="en-US" sz="780" dirty="0"/>
          </a:p>
        </p:txBody>
      </p:sp>
      <p:sp>
        <p:nvSpPr>
          <p:cNvPr id="24" name="Text 21"/>
          <p:cNvSpPr/>
          <p:nvPr/>
        </p:nvSpPr>
        <p:spPr>
          <a:xfrm>
            <a:off x="2880360" y="1883664"/>
            <a:ext cx="29032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6B150B"/>
                </a:solidFill>
              </a:rPr>
              <a:t>2</a:t>
            </a:r>
            <a:endParaRPr lang="en-US" sz="2200" dirty="0"/>
          </a:p>
        </p:txBody>
      </p:sp>
      <p:sp>
        <p:nvSpPr>
          <p:cNvPr id="25" name="Shape 22"/>
          <p:cNvSpPr/>
          <p:nvPr/>
        </p:nvSpPr>
        <p:spPr>
          <a:xfrm>
            <a:off x="5920740" y="1609344"/>
            <a:ext cx="3086100" cy="786384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6" name="Text 23"/>
          <p:cNvSpPr/>
          <p:nvPr/>
        </p:nvSpPr>
        <p:spPr>
          <a:xfrm>
            <a:off x="6057900" y="1700784"/>
            <a:ext cx="29032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80" kern="0" spc="40" dirty="0">
                <a:solidFill>
                  <a:srgbClr val="9A9189"/>
                </a:solidFill>
              </a:rPr>
              <a:t>PEND. INDUCCION</a:t>
            </a:r>
            <a:endParaRPr lang="en-US" sz="780" dirty="0"/>
          </a:p>
        </p:txBody>
      </p:sp>
      <p:sp>
        <p:nvSpPr>
          <p:cNvPr id="27" name="Text 24"/>
          <p:cNvSpPr/>
          <p:nvPr/>
        </p:nvSpPr>
        <p:spPr>
          <a:xfrm>
            <a:off x="6057900" y="1883664"/>
            <a:ext cx="29032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6B150B"/>
                </a:solidFill>
              </a:rPr>
              <a:t>12</a:t>
            </a:r>
            <a:endParaRPr lang="en-US" sz="2200" dirty="0"/>
          </a:p>
        </p:txBody>
      </p:sp>
      <p:sp>
        <p:nvSpPr>
          <p:cNvPr id="28" name="Shape 25"/>
          <p:cNvSpPr/>
          <p:nvPr/>
        </p:nvSpPr>
        <p:spPr>
          <a:xfrm>
            <a:off x="2743200" y="2468880"/>
            <a:ext cx="3086100" cy="786384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9" name="Text 26"/>
          <p:cNvSpPr/>
          <p:nvPr/>
        </p:nvSpPr>
        <p:spPr>
          <a:xfrm>
            <a:off x="2880360" y="2560320"/>
            <a:ext cx="29032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80" kern="0" spc="40" dirty="0">
                <a:solidFill>
                  <a:srgbClr val="9A9189"/>
                </a:solidFill>
              </a:rPr>
              <a:t>PRESUPUESTO</a:t>
            </a:r>
            <a:endParaRPr lang="en-US" sz="780" dirty="0"/>
          </a:p>
        </p:txBody>
      </p:sp>
      <p:sp>
        <p:nvSpPr>
          <p:cNvPr id="30" name="Text 27"/>
          <p:cNvSpPr/>
          <p:nvPr/>
        </p:nvSpPr>
        <p:spPr>
          <a:xfrm>
            <a:off x="2880360" y="2743200"/>
            <a:ext cx="29032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6B150B"/>
                </a:solidFill>
              </a:rPr>
              <a:t>140</a:t>
            </a:r>
            <a:endParaRPr lang="en-US" sz="2200" dirty="0"/>
          </a:p>
        </p:txBody>
      </p:sp>
      <p:sp>
        <p:nvSpPr>
          <p:cNvPr id="31" name="Shape 28"/>
          <p:cNvSpPr/>
          <p:nvPr/>
        </p:nvSpPr>
        <p:spPr>
          <a:xfrm>
            <a:off x="5920740" y="2468880"/>
            <a:ext cx="3086100" cy="786384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2" name="Text 29"/>
          <p:cNvSpPr/>
          <p:nvPr/>
        </p:nvSpPr>
        <p:spPr>
          <a:xfrm>
            <a:off x="6057900" y="2560320"/>
            <a:ext cx="29032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80" kern="0" spc="40" dirty="0">
                <a:solidFill>
                  <a:srgbClr val="9A9189"/>
                </a:solidFill>
              </a:rPr>
              <a:t>SEMANA</a:t>
            </a:r>
            <a:endParaRPr lang="en-US" sz="780" dirty="0"/>
          </a:p>
        </p:txBody>
      </p:sp>
      <p:sp>
        <p:nvSpPr>
          <p:cNvPr id="33" name="Text 30"/>
          <p:cNvSpPr/>
          <p:nvPr/>
        </p:nvSpPr>
        <p:spPr>
          <a:xfrm>
            <a:off x="6057900" y="2743200"/>
            <a:ext cx="29032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6B150B"/>
                </a:solidFill>
              </a:rPr>
              <a:t>05</a:t>
            </a:r>
            <a:endParaRPr lang="en-US" sz="2200" dirty="0"/>
          </a:p>
        </p:txBody>
      </p:sp>
      <p:sp>
        <p:nvSpPr>
          <p:cNvPr id="34" name="Shape 31"/>
          <p:cNvSpPr/>
          <p:nvPr/>
        </p:nvSpPr>
        <p:spPr>
          <a:xfrm>
            <a:off x="0" y="3419856"/>
            <a:ext cx="9144000" cy="281635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5" name="Text 32"/>
          <p:cNvSpPr/>
          <p:nvPr/>
        </p:nvSpPr>
        <p:spPr>
          <a:xfrm>
            <a:off x="182880" y="3419856"/>
            <a:ext cx="310896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</a:rPr>
              <a:t>Sub-campaña</a:t>
            </a:r>
            <a:endParaRPr lang="en-US" sz="850" dirty="0"/>
          </a:p>
        </p:txBody>
      </p:sp>
      <p:sp>
        <p:nvSpPr>
          <p:cNvPr id="36" name="Text 33"/>
          <p:cNvSpPr/>
          <p:nvPr/>
        </p:nvSpPr>
        <p:spPr>
          <a:xfrm>
            <a:off x="2671877" y="3415284"/>
            <a:ext cx="11887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</a:rPr>
              <a:t>Presupuesto</a:t>
            </a:r>
            <a:endParaRPr lang="en-US" sz="850" dirty="0"/>
          </a:p>
        </p:txBody>
      </p:sp>
      <p:sp>
        <p:nvSpPr>
          <p:cNvPr id="37" name="Text 34"/>
          <p:cNvSpPr/>
          <p:nvPr/>
        </p:nvSpPr>
        <p:spPr>
          <a:xfrm>
            <a:off x="4526280" y="3419856"/>
            <a:ext cx="21031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</a:rPr>
              <a:t>Avance</a:t>
            </a:r>
            <a:endParaRPr lang="en-US" sz="850" dirty="0"/>
          </a:p>
        </p:txBody>
      </p:sp>
      <p:sp>
        <p:nvSpPr>
          <p:cNvPr id="38" name="Text 35"/>
          <p:cNvSpPr/>
          <p:nvPr/>
        </p:nvSpPr>
        <p:spPr>
          <a:xfrm>
            <a:off x="6656832" y="3419856"/>
            <a:ext cx="86868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</a:rPr>
              <a:t>% Logro</a:t>
            </a:r>
            <a:endParaRPr lang="en-US" sz="850" dirty="0"/>
          </a:p>
        </p:txBody>
      </p:sp>
      <p:sp>
        <p:nvSpPr>
          <p:cNvPr id="39" name="Text 36"/>
          <p:cNvSpPr/>
          <p:nvPr/>
        </p:nvSpPr>
        <p:spPr>
          <a:xfrm>
            <a:off x="7543800" y="3419856"/>
            <a:ext cx="146304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</a:rPr>
              <a:t>Proyeccion</a:t>
            </a:r>
            <a:endParaRPr lang="en-US" sz="850" dirty="0"/>
          </a:p>
        </p:txBody>
      </p:sp>
      <p:sp>
        <p:nvSpPr>
          <p:cNvPr id="40" name="Shape 37"/>
          <p:cNvSpPr/>
          <p:nvPr/>
        </p:nvSpPr>
        <p:spPr>
          <a:xfrm>
            <a:off x="0" y="3701491"/>
            <a:ext cx="9144000" cy="281635"/>
          </a:xfrm>
          <a:prstGeom prst="rect">
            <a:avLst/>
          </a:prstGeom>
          <a:solidFill>
            <a:srgbClr val="FFFFFF"/>
          </a:solidFill>
          <a:ln w="381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1" name="Text 38"/>
          <p:cNvSpPr/>
          <p:nvPr/>
        </p:nvSpPr>
        <p:spPr>
          <a:xfrm>
            <a:off x="182880" y="3701491"/>
            <a:ext cx="292608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6B150B"/>
                </a:solidFill>
              </a:rPr>
              <a:t>Scotiabank Tarjetas</a:t>
            </a:r>
            <a:endParaRPr lang="en-US" sz="950" dirty="0"/>
          </a:p>
        </p:txBody>
      </p:sp>
      <p:sp>
        <p:nvSpPr>
          <p:cNvPr id="42" name="Text 39"/>
          <p:cNvSpPr/>
          <p:nvPr/>
        </p:nvSpPr>
        <p:spPr>
          <a:xfrm>
            <a:off x="2899956" y="3701491"/>
            <a:ext cx="11887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11010"/>
                </a:solidFill>
              </a:rPr>
              <a:t>50</a:t>
            </a:r>
            <a:endParaRPr lang="en-US" sz="950" dirty="0"/>
          </a:p>
        </p:txBody>
      </p:sp>
      <p:sp>
        <p:nvSpPr>
          <p:cNvPr id="43" name="Shape 40"/>
          <p:cNvSpPr/>
          <p:nvPr/>
        </p:nvSpPr>
        <p:spPr>
          <a:xfrm>
            <a:off x="4526280" y="3780349"/>
            <a:ext cx="1920240" cy="118287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4" name="Shape 41"/>
          <p:cNvSpPr/>
          <p:nvPr/>
        </p:nvSpPr>
        <p:spPr>
          <a:xfrm>
            <a:off x="4526280" y="3780349"/>
            <a:ext cx="1632204" cy="118287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5" name="Text 42"/>
          <p:cNvSpPr/>
          <p:nvPr/>
        </p:nvSpPr>
        <p:spPr>
          <a:xfrm>
            <a:off x="6656832" y="3701491"/>
            <a:ext cx="86868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97706"/>
                </a:solidFill>
              </a:rPr>
              <a:t>85%</a:t>
            </a:r>
            <a:endParaRPr lang="en-US" sz="1000" dirty="0"/>
          </a:p>
        </p:txBody>
      </p:sp>
      <p:sp>
        <p:nvSpPr>
          <p:cNvPr id="46" name="Text 43"/>
          <p:cNvSpPr/>
          <p:nvPr/>
        </p:nvSpPr>
        <p:spPr>
          <a:xfrm>
            <a:off x="7543800" y="3701491"/>
            <a:ext cx="146304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9A9189"/>
                </a:solidFill>
              </a:rPr>
              <a:t>820</a:t>
            </a:r>
            <a:endParaRPr lang="en-US" sz="850" dirty="0"/>
          </a:p>
        </p:txBody>
      </p:sp>
      <p:sp>
        <p:nvSpPr>
          <p:cNvPr id="48" name="Text 45"/>
          <p:cNvSpPr/>
          <p:nvPr/>
        </p:nvSpPr>
        <p:spPr>
          <a:xfrm>
            <a:off x="182880" y="3983126"/>
            <a:ext cx="292608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49" name="Text 46"/>
          <p:cNvSpPr/>
          <p:nvPr/>
        </p:nvSpPr>
        <p:spPr>
          <a:xfrm>
            <a:off x="2899956" y="3983126"/>
            <a:ext cx="11887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52" name="Text 49"/>
          <p:cNvSpPr/>
          <p:nvPr/>
        </p:nvSpPr>
        <p:spPr>
          <a:xfrm>
            <a:off x="6656832" y="3983126"/>
            <a:ext cx="86868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000" dirty="0"/>
          </a:p>
        </p:txBody>
      </p:sp>
      <p:sp>
        <p:nvSpPr>
          <p:cNvPr id="53" name="Text 50"/>
          <p:cNvSpPr/>
          <p:nvPr/>
        </p:nvSpPr>
        <p:spPr>
          <a:xfrm>
            <a:off x="7543800" y="3983126"/>
            <a:ext cx="146304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850" dirty="0"/>
          </a:p>
        </p:txBody>
      </p:sp>
      <p:sp>
        <p:nvSpPr>
          <p:cNvPr id="55" name="Text 52"/>
          <p:cNvSpPr/>
          <p:nvPr/>
        </p:nvSpPr>
        <p:spPr>
          <a:xfrm>
            <a:off x="182880" y="4264762"/>
            <a:ext cx="292608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56" name="Text 53"/>
          <p:cNvSpPr/>
          <p:nvPr/>
        </p:nvSpPr>
        <p:spPr>
          <a:xfrm>
            <a:off x="2899956" y="4264762"/>
            <a:ext cx="11887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59" name="Text 56"/>
          <p:cNvSpPr/>
          <p:nvPr/>
        </p:nvSpPr>
        <p:spPr>
          <a:xfrm>
            <a:off x="6656832" y="4264762"/>
            <a:ext cx="86868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000" dirty="0"/>
          </a:p>
        </p:txBody>
      </p:sp>
      <p:sp>
        <p:nvSpPr>
          <p:cNvPr id="60" name="Text 57"/>
          <p:cNvSpPr/>
          <p:nvPr/>
        </p:nvSpPr>
        <p:spPr>
          <a:xfrm>
            <a:off x="7543800" y="4264762"/>
            <a:ext cx="146304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850" dirty="0"/>
          </a:p>
        </p:txBody>
      </p:sp>
      <p:sp>
        <p:nvSpPr>
          <p:cNvPr id="62" name="Text 59"/>
          <p:cNvSpPr/>
          <p:nvPr/>
        </p:nvSpPr>
        <p:spPr>
          <a:xfrm>
            <a:off x="182880" y="4546397"/>
            <a:ext cx="292608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63" name="Text 60"/>
          <p:cNvSpPr/>
          <p:nvPr/>
        </p:nvSpPr>
        <p:spPr>
          <a:xfrm>
            <a:off x="2899956" y="4546397"/>
            <a:ext cx="11887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66" name="Text 63"/>
          <p:cNvSpPr/>
          <p:nvPr/>
        </p:nvSpPr>
        <p:spPr>
          <a:xfrm>
            <a:off x="6656832" y="4546397"/>
            <a:ext cx="86868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000" dirty="0"/>
          </a:p>
        </p:txBody>
      </p:sp>
      <p:sp>
        <p:nvSpPr>
          <p:cNvPr id="67" name="Text 64"/>
          <p:cNvSpPr/>
          <p:nvPr/>
        </p:nvSpPr>
        <p:spPr>
          <a:xfrm>
            <a:off x="7543800" y="4546397"/>
            <a:ext cx="146304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850" dirty="0"/>
          </a:p>
        </p:txBody>
      </p:sp>
      <p:sp>
        <p:nvSpPr>
          <p:cNvPr id="68" name="Shape 65"/>
          <p:cNvSpPr/>
          <p:nvPr/>
        </p:nvSpPr>
        <p:spPr>
          <a:xfrm>
            <a:off x="0" y="4864608"/>
            <a:ext cx="9144000" cy="256032"/>
          </a:xfrm>
          <a:prstGeom prst="rect">
            <a:avLst/>
          </a:prstGeom>
          <a:solidFill>
            <a:srgbClr val="FAF8F6"/>
          </a:solidFill>
          <a:ln w="381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9" name="Shape 66"/>
          <p:cNvSpPr/>
          <p:nvPr/>
        </p:nvSpPr>
        <p:spPr>
          <a:xfrm flipV="1">
            <a:off x="0" y="4774471"/>
            <a:ext cx="9144000" cy="90137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0" name="Text 67"/>
          <p:cNvSpPr/>
          <p:nvPr/>
        </p:nvSpPr>
        <p:spPr>
          <a:xfrm>
            <a:off x="164592" y="4864608"/>
            <a:ext cx="7863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A9189"/>
                </a:solidFill>
              </a:rPr>
              <a:t>GRUPO EFE  |  MONICA MOGOLLON  |  Monica Mogollon  |  Cierre Julio 2026</a:t>
            </a:r>
            <a:endParaRPr lang="en-US" sz="750" dirty="0"/>
          </a:p>
        </p:txBody>
      </p:sp>
      <p:sp>
        <p:nvSpPr>
          <p:cNvPr id="72" name="Text 33">
            <a:extLst>
              <a:ext uri="{FF2B5EF4-FFF2-40B4-BE49-F238E27FC236}">
                <a16:creationId xmlns:a16="http://schemas.microsoft.com/office/drawing/2014/main" id="{1FEADA45-2A4C-A74C-7E13-45E36139D062}"/>
              </a:ext>
            </a:extLst>
          </p:cNvPr>
          <p:cNvSpPr/>
          <p:nvPr/>
        </p:nvSpPr>
        <p:spPr>
          <a:xfrm>
            <a:off x="3380277" y="3417039"/>
            <a:ext cx="11887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 err="1">
                <a:solidFill>
                  <a:srgbClr val="FFFFFF"/>
                </a:solidFill>
              </a:rPr>
              <a:t>Conectados</a:t>
            </a:r>
            <a:endParaRPr lang="en-US" sz="850" dirty="0"/>
          </a:p>
        </p:txBody>
      </p:sp>
      <p:sp>
        <p:nvSpPr>
          <p:cNvPr id="73" name="Text 39">
            <a:extLst>
              <a:ext uri="{FF2B5EF4-FFF2-40B4-BE49-F238E27FC236}">
                <a16:creationId xmlns:a16="http://schemas.microsoft.com/office/drawing/2014/main" id="{2BBFCF78-CEF4-871D-6475-75D1D7F70882}"/>
              </a:ext>
            </a:extLst>
          </p:cNvPr>
          <p:cNvSpPr/>
          <p:nvPr/>
        </p:nvSpPr>
        <p:spPr>
          <a:xfrm>
            <a:off x="3582753" y="3671316"/>
            <a:ext cx="11887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11010"/>
                </a:solidFill>
              </a:rPr>
              <a:t>40</a:t>
            </a:r>
            <a:endParaRPr lang="en-US" sz="950" dirty="0"/>
          </a:p>
        </p:txBody>
      </p:sp>
      <p:sp>
        <p:nvSpPr>
          <p:cNvPr id="74" name="Text 39">
            <a:extLst>
              <a:ext uri="{FF2B5EF4-FFF2-40B4-BE49-F238E27FC236}">
                <a16:creationId xmlns:a16="http://schemas.microsoft.com/office/drawing/2014/main" id="{150685D9-7BB8-48CF-2190-A720A6B3D794}"/>
              </a:ext>
            </a:extLst>
          </p:cNvPr>
          <p:cNvSpPr/>
          <p:nvPr/>
        </p:nvSpPr>
        <p:spPr>
          <a:xfrm>
            <a:off x="5032203" y="3707138"/>
            <a:ext cx="1260698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11010"/>
                </a:solidFill>
              </a:rPr>
              <a:t>700</a:t>
            </a:r>
            <a:endParaRPr lang="en-US" sz="950" dirty="0"/>
          </a:p>
        </p:txBody>
      </p:sp>
      <p:sp>
        <p:nvSpPr>
          <p:cNvPr id="76" name="Text 39">
            <a:extLst>
              <a:ext uri="{FF2B5EF4-FFF2-40B4-BE49-F238E27FC236}">
                <a16:creationId xmlns:a16="http://schemas.microsoft.com/office/drawing/2014/main" id="{C5AC93AD-5A08-6987-88BA-E57100E9C387}"/>
              </a:ext>
            </a:extLst>
          </p:cNvPr>
          <p:cNvSpPr/>
          <p:nvPr/>
        </p:nvSpPr>
        <p:spPr>
          <a:xfrm>
            <a:off x="3596452" y="4000296"/>
            <a:ext cx="11887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78" name="Text 39">
            <a:extLst>
              <a:ext uri="{FF2B5EF4-FFF2-40B4-BE49-F238E27FC236}">
                <a16:creationId xmlns:a16="http://schemas.microsoft.com/office/drawing/2014/main" id="{BAF3BBE1-A491-554B-D7CC-56E9D1420CCB}"/>
              </a:ext>
            </a:extLst>
          </p:cNvPr>
          <p:cNvSpPr/>
          <p:nvPr/>
        </p:nvSpPr>
        <p:spPr>
          <a:xfrm>
            <a:off x="3613327" y="4280894"/>
            <a:ext cx="11887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80" name="Text 39">
            <a:extLst>
              <a:ext uri="{FF2B5EF4-FFF2-40B4-BE49-F238E27FC236}">
                <a16:creationId xmlns:a16="http://schemas.microsoft.com/office/drawing/2014/main" id="{56EF3E9B-2C63-1B8D-F512-148C0552D520}"/>
              </a:ext>
            </a:extLst>
          </p:cNvPr>
          <p:cNvSpPr/>
          <p:nvPr/>
        </p:nvSpPr>
        <p:spPr>
          <a:xfrm>
            <a:off x="3637584" y="4562529"/>
            <a:ext cx="11887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950" dirty="0"/>
          </a:p>
        </p:txBody>
      </p:sp>
      <p:pic>
        <p:nvPicPr>
          <p:cNvPr id="90" name="Imagen 89">
            <a:extLst>
              <a:ext uri="{FF2B5EF4-FFF2-40B4-BE49-F238E27FC236}">
                <a16:creationId xmlns:a16="http://schemas.microsoft.com/office/drawing/2014/main" id="{F6672D11-DCE6-2755-A6C0-69C3EA0942B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6496" b="91034" l="5526" r="89929">
                        <a14:foregroundMark x1="5526" y1="55901" x2="8556" y2="77951"/>
                        <a14:foregroundMark x1="33333" y1="65691" x2="33512" y2="78774"/>
                        <a14:foregroundMark x1="17291" y1="76212" x2="14706" y2="85819"/>
                        <a14:foregroundMark x1="14706" y1="60384" x2="14528" y2="84446"/>
                        <a14:foregroundMark x1="35383" y1="63312" x2="28253" y2="91034"/>
                        <a14:foregroundMark x1="50178" y1="50686" x2="51426" y2="61665"/>
                        <a14:foregroundMark x1="85740" y1="6496" x2="84759" y2="10796"/>
                        <a14:foregroundMark x1="77629" y1="43550" x2="64973" y2="47667"/>
                        <a14:foregroundMark x1="78610" y1="28728" x2="72727" y2="33303"/>
                        <a14:foregroundMark x1="80214" y1="18573" x2="77451" y2="26715"/>
                        <a14:foregroundMark x1="82086" y1="30009" x2="85294" y2="34401"/>
                        <a14:foregroundMark x1="85918" y1="9790" x2="85918" y2="9790"/>
                        <a14:foregroundMark x1="85472" y1="10887" x2="86185" y2="18298"/>
                        <a14:foregroundMark x1="45365" y1="45197" x2="22638" y2="48582"/>
                        <a14:foregroundMark x1="53832" y1="55261" x2="54011" y2="76212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8856552" y="4902997"/>
            <a:ext cx="236904" cy="230781"/>
          </a:xfrm>
          <a:prstGeom prst="rect">
            <a:avLst/>
          </a:prstGeom>
        </p:spPr>
      </p:pic>
      <p:pic>
        <p:nvPicPr>
          <p:cNvPr id="92" name="Picture 76">
            <a:extLst>
              <a:ext uri="{FF2B5EF4-FFF2-40B4-BE49-F238E27FC236}">
                <a16:creationId xmlns:a16="http://schemas.microsoft.com/office/drawing/2014/main" id="{76438E3E-66CC-890A-DEE3-99CCE2DCB70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61591" y="-144818"/>
            <a:ext cx="948004" cy="948004"/>
          </a:xfrm>
          <a:prstGeom prst="rect">
            <a:avLst/>
          </a:prstGeom>
        </p:spPr>
      </p:pic>
      <p:sp>
        <p:nvSpPr>
          <p:cNvPr id="5" name="Text 39">
            <a:extLst>
              <a:ext uri="{FF2B5EF4-FFF2-40B4-BE49-F238E27FC236}">
                <a16:creationId xmlns:a16="http://schemas.microsoft.com/office/drawing/2014/main" id="{9C3C4FD9-A956-E798-2965-0B24A80E8071}"/>
              </a:ext>
            </a:extLst>
          </p:cNvPr>
          <p:cNvSpPr/>
          <p:nvPr/>
        </p:nvSpPr>
        <p:spPr>
          <a:xfrm>
            <a:off x="5134288" y="3988773"/>
            <a:ext cx="1260698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75" name="Text 39">
            <a:extLst>
              <a:ext uri="{FF2B5EF4-FFF2-40B4-BE49-F238E27FC236}">
                <a16:creationId xmlns:a16="http://schemas.microsoft.com/office/drawing/2014/main" id="{277059CD-1B47-1223-9703-71893B86DE14}"/>
              </a:ext>
            </a:extLst>
          </p:cNvPr>
          <p:cNvSpPr/>
          <p:nvPr/>
        </p:nvSpPr>
        <p:spPr>
          <a:xfrm>
            <a:off x="5258974" y="4270408"/>
            <a:ext cx="1260698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79" name="Text 39">
            <a:extLst>
              <a:ext uri="{FF2B5EF4-FFF2-40B4-BE49-F238E27FC236}">
                <a16:creationId xmlns:a16="http://schemas.microsoft.com/office/drawing/2014/main" id="{7C2A76F4-D25F-B41A-FAFC-572F9DD9E162}"/>
              </a:ext>
            </a:extLst>
          </p:cNvPr>
          <p:cNvSpPr/>
          <p:nvPr/>
        </p:nvSpPr>
        <p:spPr>
          <a:xfrm>
            <a:off x="5298174" y="4546397"/>
            <a:ext cx="1260698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950" dirty="0"/>
          </a:p>
        </p:txBody>
      </p:sp>
      <p:pic>
        <p:nvPicPr>
          <p:cNvPr id="93" name="Panel Resumen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697687"/>
            <a:ext cx="9144000" cy="4194353"/>
          </a:xfrm>
          <a:prstGeom prst="rect">
            <a:avLst/>
          </a:prstGeom>
        </p:spPr>
      </p:pic>
      <p:sp>
        <p:nvSpPr>
          <p:cNvPr id="94" name="dato_manual"/>
          <p:cNvSpPr>
            <a:spLocks noGrp="1"/>
          </p:cNvSpPr>
          <p:nvPr/>
        </p:nvSpPr>
        <p:spPr>
          <a:xfrm>
            <a:off x="2743200" y="1424886"/>
            <a:ext cx="1259586" cy="34747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es-PE" sz="1650" b="1" dirty="0">
                <a:solidFill>
                  <a:srgbClr val="103A5E"/>
                </a:solidFill>
                <a:latin typeface="Arial"/>
              </a:rPr>
              <a:t>120</a:t>
            </a:r>
          </a:p>
        </p:txBody>
      </p:sp>
      <p:sp>
        <p:nvSpPr>
          <p:cNvPr id="95" name="dato_manual"/>
          <p:cNvSpPr>
            <a:spLocks noGrp="1"/>
          </p:cNvSpPr>
          <p:nvPr/>
        </p:nvSpPr>
        <p:spPr>
          <a:xfrm>
            <a:off x="4359401" y="1424886"/>
            <a:ext cx="1259586" cy="34747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es-PE" sz="1650" b="1" dirty="0">
                <a:solidFill>
                  <a:srgbClr val="103A5E"/>
                </a:solidFill>
                <a:latin typeface="Arial"/>
              </a:rPr>
              <a:t>14</a:t>
            </a:r>
          </a:p>
        </p:txBody>
      </p:sp>
      <p:sp>
        <p:nvSpPr>
          <p:cNvPr id="96" name="dato_manual"/>
          <p:cNvSpPr>
            <a:spLocks noGrp="1"/>
          </p:cNvSpPr>
          <p:nvPr/>
        </p:nvSpPr>
        <p:spPr>
          <a:xfrm>
            <a:off x="2531059" y="3391662"/>
            <a:ext cx="1097280" cy="27432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930" b="1" dirty="0">
                <a:solidFill>
                  <a:srgbClr val="4A5A6A"/>
                </a:solidFill>
                <a:latin typeface="Arial"/>
              </a:rPr>
              <a:t>50</a:t>
            </a:r>
          </a:p>
        </p:txBody>
      </p:sp>
      <p:sp>
        <p:nvSpPr>
          <p:cNvPr id="97" name="dato_manual"/>
          <p:cNvSpPr>
            <a:spLocks noGrp="1"/>
          </p:cNvSpPr>
          <p:nvPr/>
        </p:nvSpPr>
        <p:spPr>
          <a:xfrm>
            <a:off x="3584448" y="3391662"/>
            <a:ext cx="1097280" cy="27432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930" b="1" dirty="0">
                <a:solidFill>
                  <a:srgbClr val="4A5A6A"/>
                </a:solidFill>
                <a:latin typeface="Arial"/>
              </a:rPr>
              <a:t>40</a:t>
            </a:r>
          </a:p>
        </p:txBody>
      </p:sp>
      <p:sp>
        <p:nvSpPr>
          <p:cNvPr id="98" name="dato_manual"/>
          <p:cNvSpPr>
            <a:spLocks noGrp="1"/>
          </p:cNvSpPr>
          <p:nvPr/>
        </p:nvSpPr>
        <p:spPr>
          <a:xfrm>
            <a:off x="2531059" y="4269994"/>
            <a:ext cx="1097280" cy="27432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930" b="1" dirty="0">
                <a:solidFill>
                  <a:srgbClr val="123A5E"/>
                </a:solidFill>
                <a:latin typeface="Arial"/>
              </a:rPr>
              <a:t>50</a:t>
            </a:r>
          </a:p>
        </p:txBody>
      </p:sp>
      <p:sp>
        <p:nvSpPr>
          <p:cNvPr id="99" name="dato_manual"/>
          <p:cNvSpPr>
            <a:spLocks noGrp="1"/>
          </p:cNvSpPr>
          <p:nvPr/>
        </p:nvSpPr>
        <p:spPr>
          <a:xfrm>
            <a:off x="3584448" y="4269994"/>
            <a:ext cx="1097280" cy="27432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930" b="1" dirty="0">
                <a:solidFill>
                  <a:srgbClr val="123A5E"/>
                </a:solidFill>
                <a:latin typeface="Arial"/>
              </a:rPr>
              <a:t>40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658368"/>
            <a:ext cx="9144000" cy="25603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01168" y="0"/>
            <a:ext cx="7498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50" b="1" kern="0" spc="30" dirty="0">
                <a:solidFill>
                  <a:srgbClr val="FFFFFF"/>
                </a:solidFill>
              </a:rPr>
              <a:t>SCOTIABANK TARJETAS:  Información al 18 de Julio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8577072" y="713232"/>
            <a:ext cx="5212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1 / 5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201168" y="749808"/>
            <a:ext cx="2331720" cy="329184"/>
          </a:xfrm>
          <a:prstGeom prst="rect">
            <a:avLst/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0" name="Shape 7"/>
          <p:cNvSpPr/>
          <p:nvPr/>
        </p:nvSpPr>
        <p:spPr>
          <a:xfrm>
            <a:off x="292608" y="822960"/>
            <a:ext cx="164592" cy="164592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Text 8"/>
          <p:cNvSpPr/>
          <p:nvPr/>
        </p:nvSpPr>
        <p:spPr>
          <a:xfrm>
            <a:off x="512064" y="749808"/>
            <a:ext cx="200253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D97706"/>
                </a:solidFill>
              </a:rPr>
              <a:t>EN SEGUIMIENTO</a:t>
            </a:r>
          </a:p>
        </p:txBody>
      </p:sp>
      <p:sp>
        <p:nvSpPr>
          <p:cNvPr id="12" name="Text 9"/>
          <p:cNvSpPr/>
          <p:nvPr/>
        </p:nvSpPr>
        <p:spPr>
          <a:xfrm>
            <a:off x="201168" y="1115568"/>
            <a:ext cx="2331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9A9189"/>
                </a:solidFill>
              </a:rPr>
              <a:t>Sub </a:t>
            </a:r>
            <a:r>
              <a:rPr lang="en-US" sz="850" i="1" dirty="0" err="1">
                <a:solidFill>
                  <a:srgbClr val="9A9189"/>
                </a:solidFill>
              </a:rPr>
              <a:t>Gerenta</a:t>
            </a:r>
            <a:r>
              <a:rPr lang="en-US" sz="850" i="1" dirty="0">
                <a:solidFill>
                  <a:srgbClr val="9A9189"/>
                </a:solidFill>
              </a:rPr>
              <a:t>: Monica Mogollon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285353" y="2065967"/>
            <a:ext cx="23317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0" b="1" dirty="0">
                <a:solidFill>
                  <a:srgbClr val="D97706"/>
                </a:solidFill>
              </a:rPr>
              <a:t>97.2%</a:t>
            </a:r>
            <a:endParaRPr lang="en-US" sz="6600" dirty="0"/>
          </a:p>
        </p:txBody>
      </p:sp>
      <p:sp>
        <p:nvSpPr>
          <p:cNvPr id="27" name="Shape 24"/>
          <p:cNvSpPr/>
          <p:nvPr/>
        </p:nvSpPr>
        <p:spPr>
          <a:xfrm>
            <a:off x="2651760" y="749808"/>
            <a:ext cx="18288" cy="4078224"/>
          </a:xfrm>
          <a:prstGeom prst="rect">
            <a:avLst/>
          </a:prstGeom>
          <a:solidFill>
            <a:srgbClr val="E5DFD8"/>
          </a:solidFill>
          <a:ln w="1270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4" name="Shape 31"/>
          <p:cNvSpPr/>
          <p:nvPr/>
        </p:nvSpPr>
        <p:spPr>
          <a:xfrm>
            <a:off x="2999232" y="4645152"/>
            <a:ext cx="5861304" cy="0"/>
          </a:xfrm>
          <a:prstGeom prst="line">
            <a:avLst/>
          </a:prstGeom>
          <a:noFill/>
          <a:ln w="6350">
            <a:solidFill>
              <a:srgbClr val="F3F4F6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5" name="Shape 32"/>
          <p:cNvSpPr/>
          <p:nvPr/>
        </p:nvSpPr>
        <p:spPr>
          <a:xfrm>
            <a:off x="2999232" y="3505200"/>
            <a:ext cx="5861304" cy="0"/>
          </a:xfrm>
          <a:prstGeom prst="line">
            <a:avLst/>
          </a:prstGeom>
          <a:noFill/>
          <a:ln w="6350">
            <a:solidFill>
              <a:srgbClr val="F3F4F6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6" name="Shape 33"/>
          <p:cNvSpPr/>
          <p:nvPr/>
        </p:nvSpPr>
        <p:spPr>
          <a:xfrm>
            <a:off x="2999232" y="2365248"/>
            <a:ext cx="5861304" cy="0"/>
          </a:xfrm>
          <a:prstGeom prst="line">
            <a:avLst/>
          </a:prstGeom>
          <a:noFill/>
          <a:ln w="6350">
            <a:solidFill>
              <a:srgbClr val="F3F4F6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7" name="Shape 34"/>
          <p:cNvSpPr/>
          <p:nvPr/>
        </p:nvSpPr>
        <p:spPr>
          <a:xfrm>
            <a:off x="2999232" y="1225296"/>
            <a:ext cx="5861304" cy="0"/>
          </a:xfrm>
          <a:prstGeom prst="line">
            <a:avLst/>
          </a:prstGeom>
          <a:noFill/>
          <a:ln w="6350">
            <a:solidFill>
              <a:srgbClr val="F3F4F6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7" name="Shape 64"/>
          <p:cNvSpPr/>
          <p:nvPr/>
        </p:nvSpPr>
        <p:spPr>
          <a:xfrm>
            <a:off x="0" y="4864608"/>
            <a:ext cx="9144000" cy="256032"/>
          </a:xfrm>
          <a:prstGeom prst="rect">
            <a:avLst/>
          </a:prstGeom>
          <a:solidFill>
            <a:srgbClr val="FAF8F6"/>
          </a:solidFill>
          <a:ln w="381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8" name="Shape 65"/>
          <p:cNvSpPr/>
          <p:nvPr/>
        </p:nvSpPr>
        <p:spPr>
          <a:xfrm>
            <a:off x="0" y="4864608"/>
            <a:ext cx="9144000" cy="16459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9" name="Text 66"/>
          <p:cNvSpPr/>
          <p:nvPr/>
        </p:nvSpPr>
        <p:spPr>
          <a:xfrm>
            <a:off x="2787099" y="4864608"/>
            <a:ext cx="7863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A9189"/>
                </a:solidFill>
              </a:rPr>
              <a:t>GRUPO EFE  |  SCOTIABANK TARJETAS  |  Monica Mogollon  |  Cierre Julio 2026</a:t>
            </a:r>
            <a:endParaRPr lang="en-US" sz="750" dirty="0"/>
          </a:p>
        </p:txBody>
      </p:sp>
      <p:sp>
        <p:nvSpPr>
          <p:cNvPr id="71" name="Text 26">
            <a:extLst>
              <a:ext uri="{FF2B5EF4-FFF2-40B4-BE49-F238E27FC236}">
                <a16:creationId xmlns:a16="http://schemas.microsoft.com/office/drawing/2014/main" id="{A1FBE876-C87E-44F6-1B09-E7352548F12B}"/>
              </a:ext>
            </a:extLst>
          </p:cNvPr>
          <p:cNvSpPr/>
          <p:nvPr/>
        </p:nvSpPr>
        <p:spPr>
          <a:xfrm>
            <a:off x="405170" y="2003577"/>
            <a:ext cx="139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META: 800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2" name="Text 26">
            <a:extLst>
              <a:ext uri="{FF2B5EF4-FFF2-40B4-BE49-F238E27FC236}">
                <a16:creationId xmlns:a16="http://schemas.microsoft.com/office/drawing/2014/main" id="{D2917A25-1176-7DD4-70EF-B4DA7CE6BC4A}"/>
              </a:ext>
            </a:extLst>
          </p:cNvPr>
          <p:cNvSpPr/>
          <p:nvPr/>
        </p:nvSpPr>
        <p:spPr>
          <a:xfrm>
            <a:off x="-74646" y="3142216"/>
            <a:ext cx="139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AVANCE: 621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3" name="Text 26">
            <a:extLst>
              <a:ext uri="{FF2B5EF4-FFF2-40B4-BE49-F238E27FC236}">
                <a16:creationId xmlns:a16="http://schemas.microsoft.com/office/drawing/2014/main" id="{0B7D283D-A65C-1B11-E3D8-76028B73D1D6}"/>
              </a:ext>
            </a:extLst>
          </p:cNvPr>
          <p:cNvSpPr/>
          <p:nvPr/>
        </p:nvSpPr>
        <p:spPr>
          <a:xfrm>
            <a:off x="1124080" y="3138776"/>
            <a:ext cx="139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META AVANCE: 639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75" name="Picture 74">
            <a:extLst>
              <a:ext uri="{FF2B5EF4-FFF2-40B4-BE49-F238E27FC236}">
                <a16:creationId xmlns:a16="http://schemas.microsoft.com/office/drawing/2014/main" id="{77A02C71-D92C-5CAC-3EF0-C7BBB4135A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96210" y="4881067"/>
            <a:ext cx="251755" cy="245248"/>
          </a:xfrm>
          <a:prstGeom prst="rect">
            <a:avLst/>
          </a:prstGeom>
        </p:spPr>
      </p:pic>
      <p:pic>
        <p:nvPicPr>
          <p:cNvPr id="77" name="Picture 76">
            <a:extLst>
              <a:ext uri="{FF2B5EF4-FFF2-40B4-BE49-F238E27FC236}">
                <a16:creationId xmlns:a16="http://schemas.microsoft.com/office/drawing/2014/main" id="{06390E95-FB8C-6D12-75F9-804BB7F4D6E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31444" y="-163467"/>
            <a:ext cx="948004" cy="948004"/>
          </a:xfrm>
          <a:prstGeom prst="rect">
            <a:avLst/>
          </a:prstGeom>
        </p:spPr>
      </p:pic>
      <p:pic>
        <p:nvPicPr>
          <p:cNvPr id="5" name="BARRAS_AVANCE_FONO" descr="image.png">
            <a:extLst>
              <a:ext uri="{FF2B5EF4-FFF2-40B4-BE49-F238E27FC236}">
                <a16:creationId xmlns:a16="http://schemas.microsoft.com/office/drawing/2014/main" id="{72CBE53E-979D-41F8-9C26-0EFC3364202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80165" y="1405277"/>
            <a:ext cx="6499437" cy="260086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658368"/>
            <a:ext cx="9144000" cy="25603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01168" y="0"/>
            <a:ext cx="7498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30" dirty="0">
                <a:solidFill>
                  <a:srgbClr val="FFFFFF"/>
                </a:solidFill>
              </a:rPr>
              <a:t>TC SBP |  DIAGNOSTICO Y SEGUIMIENTO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77072" y="713232"/>
            <a:ext cx="521208" cy="228600"/>
          </a:xfrm>
          <a:prstGeom prst="rect">
            <a:avLst/>
          </a:prstGeom>
          <a:solidFill>
            <a:srgbClr val="4A0E07"/>
          </a:solidFill>
          <a:ln w="12700">
            <a:solidFill>
              <a:srgbClr val="4A0E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ext 5"/>
          <p:cNvSpPr/>
          <p:nvPr/>
        </p:nvSpPr>
        <p:spPr>
          <a:xfrm>
            <a:off x="8577072" y="713232"/>
            <a:ext cx="5212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2 / 3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0" y="749808"/>
            <a:ext cx="4160520" cy="310896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0" name="Text 7"/>
          <p:cNvSpPr/>
          <p:nvPr/>
        </p:nvSpPr>
        <p:spPr>
          <a:xfrm>
            <a:off x="91440" y="749808"/>
            <a:ext cx="40690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kern="0" spc="30" dirty="0">
                <a:solidFill>
                  <a:srgbClr val="FFFFFF"/>
                </a:solidFill>
              </a:rPr>
              <a:t>SEGUIMIENTO PLAN SEMANA ANTERIOR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0" y="1097280"/>
            <a:ext cx="4160520" cy="882396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2" name="Shape 9"/>
          <p:cNvSpPr/>
          <p:nvPr/>
        </p:nvSpPr>
        <p:spPr>
          <a:xfrm>
            <a:off x="0" y="1097280"/>
            <a:ext cx="50292" cy="882396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3" name="Text 10"/>
          <p:cNvSpPr/>
          <p:nvPr/>
        </p:nvSpPr>
        <p:spPr>
          <a:xfrm>
            <a:off x="128016" y="1152144"/>
            <a:ext cx="3959352" cy="5104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11010"/>
                </a:solidFill>
              </a:rPr>
              <a:t>Operacion Fenix Tarjetas + mejora tabla de comision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128016" y="1635587"/>
            <a:ext cx="39593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30713"/>
                </a:solidFill>
              </a:rPr>
              <a:t>Ejecutado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0" y="2025396"/>
            <a:ext cx="4160520" cy="882396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6" name="Shape 13"/>
          <p:cNvSpPr/>
          <p:nvPr/>
        </p:nvSpPr>
        <p:spPr>
          <a:xfrm>
            <a:off x="0" y="2025396"/>
            <a:ext cx="50292" cy="882396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7" name="Text 14"/>
          <p:cNvSpPr/>
          <p:nvPr/>
        </p:nvSpPr>
        <p:spPr>
          <a:xfrm>
            <a:off x="128016" y="2080260"/>
            <a:ext cx="3959352" cy="5104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11010"/>
                </a:solidFill>
              </a:rPr>
              <a:t>Seguimiento base reciclada + cupones Fonocompras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128016" y="2563703"/>
            <a:ext cx="39593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30713"/>
                </a:solidFill>
              </a:rPr>
              <a:t>Ejecutado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0" y="2953512"/>
            <a:ext cx="4160520" cy="882396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0" name="Shape 17"/>
          <p:cNvSpPr/>
          <p:nvPr/>
        </p:nvSpPr>
        <p:spPr>
          <a:xfrm>
            <a:off x="0" y="2953512"/>
            <a:ext cx="50292" cy="882396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1" name="Text 18"/>
          <p:cNvSpPr/>
          <p:nvPr/>
        </p:nvSpPr>
        <p:spPr>
          <a:xfrm>
            <a:off x="128016" y="3008376"/>
            <a:ext cx="3959352" cy="5104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11010"/>
                </a:solidFill>
              </a:rPr>
              <a:t>Intensidad x5 base Efectivo — Dormidos RECORD 145%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128016" y="3491819"/>
            <a:ext cx="39593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30713"/>
                </a:solidFill>
              </a:rPr>
              <a:t>Ejecutado</a:t>
            </a:r>
            <a:endParaRPr lang="en-US" sz="900" dirty="0"/>
          </a:p>
        </p:txBody>
      </p:sp>
      <p:sp>
        <p:nvSpPr>
          <p:cNvPr id="23" name="Shape 20"/>
          <p:cNvSpPr/>
          <p:nvPr/>
        </p:nvSpPr>
        <p:spPr>
          <a:xfrm>
            <a:off x="0" y="3881628"/>
            <a:ext cx="4160520" cy="882396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4" name="Shape 21"/>
          <p:cNvSpPr/>
          <p:nvPr/>
        </p:nvSpPr>
        <p:spPr>
          <a:xfrm>
            <a:off x="0" y="3881628"/>
            <a:ext cx="50292" cy="882396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5" name="Text 22"/>
          <p:cNvSpPr/>
          <p:nvPr/>
        </p:nvSpPr>
        <p:spPr>
          <a:xfrm>
            <a:off x="128016" y="3936492"/>
            <a:ext cx="3959352" cy="5104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11010"/>
                </a:solidFill>
              </a:rPr>
              <a:t>Full agendamiento BanBif + desembolso en linea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128016" y="4419935"/>
            <a:ext cx="39593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30713"/>
                </a:solidFill>
              </a:rPr>
              <a:t>Ejecutado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4242816" y="749808"/>
            <a:ext cx="18288" cy="4059936"/>
          </a:xfrm>
          <a:prstGeom prst="rect">
            <a:avLst/>
          </a:prstGeom>
          <a:solidFill>
            <a:srgbClr val="E5DFD8"/>
          </a:solidFill>
          <a:ln w="1270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8" name="Shape 25"/>
          <p:cNvSpPr/>
          <p:nvPr/>
        </p:nvSpPr>
        <p:spPr>
          <a:xfrm>
            <a:off x="4343400" y="749808"/>
            <a:ext cx="4800600" cy="310896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9" name="Text 26"/>
          <p:cNvSpPr/>
          <p:nvPr/>
        </p:nvSpPr>
        <p:spPr>
          <a:xfrm>
            <a:off x="4434840" y="749808"/>
            <a:ext cx="4709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kern="0" spc="30" dirty="0">
                <a:solidFill>
                  <a:srgbClr val="FFFFFF"/>
                </a:solidFill>
              </a:rPr>
              <a:t>DIAGNOSTICO MES ACTUAL — CAUSAS RAIZ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4343400" y="1097280"/>
            <a:ext cx="4800600" cy="1173480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1" name="Shape 28"/>
          <p:cNvSpPr/>
          <p:nvPr/>
        </p:nvSpPr>
        <p:spPr>
          <a:xfrm>
            <a:off x="4343400" y="1097280"/>
            <a:ext cx="502920" cy="1173480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2" name="Text 29"/>
          <p:cNvSpPr/>
          <p:nvPr/>
        </p:nvSpPr>
        <p:spPr>
          <a:xfrm>
            <a:off x="4343400" y="1097280"/>
            <a:ext cx="502920" cy="1173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1</a:t>
            </a:r>
            <a:endParaRPr lang="en-US" sz="1800" dirty="0"/>
          </a:p>
        </p:txBody>
      </p:sp>
      <p:sp>
        <p:nvSpPr>
          <p:cNvPr id="33" name="Text 30"/>
          <p:cNvSpPr/>
          <p:nvPr/>
        </p:nvSpPr>
        <p:spPr>
          <a:xfrm>
            <a:off x="4937760" y="118872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B150B"/>
                </a:solidFill>
              </a:rPr>
              <a:t>Tarjetas: 8 asesores pendientes de induccion</a:t>
            </a:r>
            <a:endParaRPr lang="en-US" sz="1100" dirty="0"/>
          </a:p>
        </p:txBody>
      </p:sp>
      <p:sp>
        <p:nvSpPr>
          <p:cNvPr id="34" name="Text 31"/>
          <p:cNvSpPr/>
          <p:nvPr/>
        </p:nvSpPr>
        <p:spPr>
          <a:xfrm>
            <a:off x="4937760" y="1444752"/>
            <a:ext cx="4114800" cy="51974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11010"/>
                </a:solidFill>
              </a:rPr>
              <a:t>16% del presupuesto sin productividad. Tasa CET por mejorar — brecha del 15%.</a:t>
            </a:r>
            <a:endParaRPr lang="en-US" sz="900" dirty="0"/>
          </a:p>
        </p:txBody>
      </p:sp>
      <p:sp>
        <p:nvSpPr>
          <p:cNvPr id="35" name="Shape 32"/>
          <p:cNvSpPr/>
          <p:nvPr/>
        </p:nvSpPr>
        <p:spPr>
          <a:xfrm>
            <a:off x="4937760" y="1996440"/>
            <a:ext cx="1005840" cy="219456"/>
          </a:xfrm>
          <a:prstGeom prst="rect">
            <a:avLst/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6" name="Text 33"/>
          <p:cNvSpPr/>
          <p:nvPr/>
        </p:nvSpPr>
        <p:spPr>
          <a:xfrm>
            <a:off x="4937760" y="1996440"/>
            <a:ext cx="1005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DC2626"/>
                </a:solidFill>
              </a:rPr>
              <a:t>Impacto Alto</a:t>
            </a:r>
            <a:endParaRPr lang="en-US" sz="850" dirty="0"/>
          </a:p>
        </p:txBody>
      </p:sp>
      <p:sp>
        <p:nvSpPr>
          <p:cNvPr id="37" name="Shape 34"/>
          <p:cNvSpPr/>
          <p:nvPr/>
        </p:nvSpPr>
        <p:spPr>
          <a:xfrm>
            <a:off x="4343400" y="2334768"/>
            <a:ext cx="4800600" cy="1173480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8" name="Shape 35"/>
          <p:cNvSpPr/>
          <p:nvPr/>
        </p:nvSpPr>
        <p:spPr>
          <a:xfrm>
            <a:off x="4343400" y="2334768"/>
            <a:ext cx="502920" cy="1173480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9" name="Text 36"/>
          <p:cNvSpPr/>
          <p:nvPr/>
        </p:nvSpPr>
        <p:spPr>
          <a:xfrm>
            <a:off x="4343400" y="2334768"/>
            <a:ext cx="502920" cy="1173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2</a:t>
            </a:r>
            <a:endParaRPr lang="en-US" sz="1800" dirty="0"/>
          </a:p>
        </p:txBody>
      </p:sp>
      <p:sp>
        <p:nvSpPr>
          <p:cNvPr id="40" name="Text 37"/>
          <p:cNvSpPr/>
          <p:nvPr/>
        </p:nvSpPr>
        <p:spPr>
          <a:xfrm>
            <a:off x="4937760" y="2426208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B150B"/>
                </a:solidFill>
              </a:rPr>
              <a:t>Fonocompras: 2 pendientes OB + 2 pendientes IB</a:t>
            </a:r>
            <a:endParaRPr lang="en-US" sz="1100" dirty="0"/>
          </a:p>
        </p:txBody>
      </p:sp>
      <p:sp>
        <p:nvSpPr>
          <p:cNvPr id="41" name="Text 38"/>
          <p:cNvSpPr/>
          <p:nvPr/>
        </p:nvSpPr>
        <p:spPr>
          <a:xfrm>
            <a:off x="4937760" y="2682240"/>
            <a:ext cx="4114800" cy="51974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11010"/>
                </a:solidFill>
              </a:rPr>
              <a:t>Brecha del 12% en ambos canales. Un asesor con menor productividad cada uno.</a:t>
            </a:r>
            <a:endParaRPr lang="en-US" sz="900" dirty="0"/>
          </a:p>
        </p:txBody>
      </p:sp>
      <p:sp>
        <p:nvSpPr>
          <p:cNvPr id="42" name="Shape 39"/>
          <p:cNvSpPr/>
          <p:nvPr/>
        </p:nvSpPr>
        <p:spPr>
          <a:xfrm>
            <a:off x="4937760" y="3233928"/>
            <a:ext cx="1005840" cy="219456"/>
          </a:xfrm>
          <a:prstGeom prst="rect">
            <a:avLst/>
          </a:prstGeom>
          <a:solidFill>
            <a:srgbClr val="FEECEE"/>
          </a:solidFill>
          <a:ln w="12700">
            <a:solidFill>
              <a:srgbClr val="FEECEE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3" name="Text 40"/>
          <p:cNvSpPr/>
          <p:nvPr/>
        </p:nvSpPr>
        <p:spPr>
          <a:xfrm>
            <a:off x="4937760" y="3233928"/>
            <a:ext cx="1005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E30713"/>
                </a:solidFill>
              </a:rPr>
              <a:t>Impacto Bajo</a:t>
            </a:r>
            <a:endParaRPr lang="en-US" sz="850" dirty="0"/>
          </a:p>
        </p:txBody>
      </p:sp>
      <p:sp>
        <p:nvSpPr>
          <p:cNvPr id="44" name="Shape 41"/>
          <p:cNvSpPr/>
          <p:nvPr/>
        </p:nvSpPr>
        <p:spPr>
          <a:xfrm>
            <a:off x="4343400" y="3572256"/>
            <a:ext cx="4800600" cy="1173480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5" name="Shape 42"/>
          <p:cNvSpPr/>
          <p:nvPr/>
        </p:nvSpPr>
        <p:spPr>
          <a:xfrm>
            <a:off x="4343400" y="3572256"/>
            <a:ext cx="502920" cy="1173480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6" name="Text 43"/>
          <p:cNvSpPr/>
          <p:nvPr/>
        </p:nvSpPr>
        <p:spPr>
          <a:xfrm>
            <a:off x="4343400" y="3572256"/>
            <a:ext cx="502920" cy="1173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3</a:t>
            </a:r>
            <a:endParaRPr lang="en-US" sz="1800" dirty="0"/>
          </a:p>
        </p:txBody>
      </p:sp>
      <p:sp>
        <p:nvSpPr>
          <p:cNvPr id="47" name="Text 44"/>
          <p:cNvSpPr/>
          <p:nvPr/>
        </p:nvSpPr>
        <p:spPr>
          <a:xfrm>
            <a:off x="4937760" y="3663696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B150B"/>
                </a:solidFill>
              </a:rPr>
              <a:t>Efectivo: Recurrentes al 65% en recuperacion</a:t>
            </a:r>
            <a:endParaRPr lang="en-US" sz="1100" dirty="0"/>
          </a:p>
        </p:txBody>
      </p:sp>
      <p:sp>
        <p:nvSpPr>
          <p:cNvPr id="48" name="Text 45"/>
          <p:cNvSpPr/>
          <p:nvPr/>
        </p:nvSpPr>
        <p:spPr>
          <a:xfrm>
            <a:off x="4937760" y="3919728"/>
            <a:ext cx="4114800" cy="51974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11010"/>
                </a:solidFill>
              </a:rPr>
              <a:t>Base parcialmente agotada. Dormidos 145% y Nuevos 171% compensan la brecha.</a:t>
            </a:r>
            <a:endParaRPr lang="en-US" sz="900" dirty="0"/>
          </a:p>
        </p:txBody>
      </p:sp>
      <p:sp>
        <p:nvSpPr>
          <p:cNvPr id="49" name="Shape 46"/>
          <p:cNvSpPr/>
          <p:nvPr/>
        </p:nvSpPr>
        <p:spPr>
          <a:xfrm>
            <a:off x="4937760" y="4471416"/>
            <a:ext cx="1005840" cy="219456"/>
          </a:xfrm>
          <a:prstGeom prst="rect">
            <a:avLst/>
          </a:prstGeom>
          <a:solidFill>
            <a:srgbClr val="FEF9E7"/>
          </a:solidFill>
          <a:ln w="12700">
            <a:solidFill>
              <a:srgbClr val="FEF9E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0" name="Text 47"/>
          <p:cNvSpPr/>
          <p:nvPr/>
        </p:nvSpPr>
        <p:spPr>
          <a:xfrm>
            <a:off x="4937760" y="4471416"/>
            <a:ext cx="1005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C97A0C"/>
                </a:solidFill>
              </a:rPr>
              <a:t>Impacto Medio</a:t>
            </a:r>
            <a:endParaRPr lang="en-US" sz="850" dirty="0"/>
          </a:p>
        </p:txBody>
      </p:sp>
      <p:sp>
        <p:nvSpPr>
          <p:cNvPr id="51" name="Shape 48"/>
          <p:cNvSpPr/>
          <p:nvPr/>
        </p:nvSpPr>
        <p:spPr>
          <a:xfrm>
            <a:off x="0" y="4407408"/>
            <a:ext cx="9144000" cy="365760"/>
          </a:xfrm>
          <a:prstGeom prst="rect">
            <a:avLst/>
          </a:prstGeom>
          <a:solidFill>
            <a:srgbClr val="FBF2F0"/>
          </a:solidFill>
          <a:ln w="6350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2" name="Text 49"/>
          <p:cNvSpPr/>
          <p:nvPr/>
        </p:nvSpPr>
        <p:spPr>
          <a:xfrm>
            <a:off x="164592" y="4407408"/>
            <a:ext cx="8869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6B150B"/>
                </a:solidFill>
              </a:rPr>
              <a:t>Nota: BanBif cumplido al 100% (S/ 1,503,083). Foco en Tarjetas e induccion pendiente.</a:t>
            </a:r>
            <a:endParaRPr lang="en-US" sz="850" dirty="0"/>
          </a:p>
        </p:txBody>
      </p:sp>
      <p:sp>
        <p:nvSpPr>
          <p:cNvPr id="53" name="Shape 50"/>
          <p:cNvSpPr/>
          <p:nvPr/>
        </p:nvSpPr>
        <p:spPr>
          <a:xfrm>
            <a:off x="0" y="4864608"/>
            <a:ext cx="9144000" cy="256032"/>
          </a:xfrm>
          <a:prstGeom prst="rect">
            <a:avLst/>
          </a:prstGeom>
          <a:solidFill>
            <a:srgbClr val="FAF8F6"/>
          </a:solidFill>
          <a:ln w="381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4" name="Shape 51"/>
          <p:cNvSpPr/>
          <p:nvPr/>
        </p:nvSpPr>
        <p:spPr>
          <a:xfrm>
            <a:off x="0" y="4864608"/>
            <a:ext cx="9144000" cy="16459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5" name="Text 52"/>
          <p:cNvSpPr/>
          <p:nvPr/>
        </p:nvSpPr>
        <p:spPr>
          <a:xfrm>
            <a:off x="164592" y="4864608"/>
            <a:ext cx="7863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A9189"/>
                </a:solidFill>
              </a:rPr>
              <a:t>GRUPO EFE  |  MONICA MOGOLLON  —  DIAGNOSTICO  |  Monica Mogollon  |  Cierre Julio 2026</a:t>
            </a:r>
            <a:endParaRPr lang="en-US" sz="750" dirty="0"/>
          </a:p>
        </p:txBody>
      </p:sp>
      <p:pic>
        <p:nvPicPr>
          <p:cNvPr id="58" name="Picture 76">
            <a:extLst>
              <a:ext uri="{FF2B5EF4-FFF2-40B4-BE49-F238E27FC236}">
                <a16:creationId xmlns:a16="http://schemas.microsoft.com/office/drawing/2014/main" id="{F4C3F8F0-14D7-07DF-2372-ED3640609F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60019" y="-106317"/>
            <a:ext cx="948004" cy="948004"/>
          </a:xfrm>
          <a:prstGeom prst="rect">
            <a:avLst/>
          </a:prstGeom>
        </p:spPr>
      </p:pic>
      <p:pic>
        <p:nvPicPr>
          <p:cNvPr id="60" name="Imagen 59">
            <a:extLst>
              <a:ext uri="{FF2B5EF4-FFF2-40B4-BE49-F238E27FC236}">
                <a16:creationId xmlns:a16="http://schemas.microsoft.com/office/drawing/2014/main" id="{95D9564F-9BCB-77FA-43C3-4015E7CBD12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6496" b="91034" l="5526" r="89929">
                        <a14:foregroundMark x1="5526" y1="55901" x2="8556" y2="77951"/>
                        <a14:foregroundMark x1="33333" y1="65691" x2="33512" y2="78774"/>
                        <a14:foregroundMark x1="17291" y1="76212" x2="14706" y2="85819"/>
                        <a14:foregroundMark x1="14706" y1="60384" x2="14528" y2="84446"/>
                        <a14:foregroundMark x1="35383" y1="63312" x2="28253" y2="91034"/>
                        <a14:foregroundMark x1="50178" y1="50686" x2="51426" y2="61665"/>
                        <a14:foregroundMark x1="85740" y1="6496" x2="84759" y2="10796"/>
                        <a14:foregroundMark x1="77629" y1="43550" x2="64973" y2="47667"/>
                        <a14:foregroundMark x1="78610" y1="28728" x2="72727" y2="33303"/>
                        <a14:foregroundMark x1="80214" y1="18573" x2="77451" y2="26715"/>
                        <a14:foregroundMark x1="82086" y1="30009" x2="85294" y2="34401"/>
                        <a14:foregroundMark x1="85918" y1="9790" x2="85918" y2="9790"/>
                        <a14:foregroundMark x1="85472" y1="10887" x2="86185" y2="18298"/>
                        <a14:foregroundMark x1="45365" y1="45197" x2="22638" y2="48582"/>
                        <a14:foregroundMark x1="53832" y1="55261" x2="54011" y2="76212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8856552" y="4902997"/>
            <a:ext cx="236904" cy="230781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6B150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162DF0E-F57E-C9F5-5336-EC7F1A4434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7915AA25-F72D-5150-08F5-60206D9963EC}"/>
              </a:ext>
            </a:extLst>
          </p:cNvPr>
          <p:cNvSpPr/>
          <p:nvPr/>
        </p:nvSpPr>
        <p:spPr>
          <a:xfrm>
            <a:off x="0" y="0"/>
            <a:ext cx="50292" cy="5143500"/>
          </a:xfrm>
          <a:prstGeom prst="rect">
            <a:avLst/>
          </a:prstGeom>
          <a:solidFill>
            <a:srgbClr val="FF0000"/>
          </a:solidFill>
          <a:ln w="12700">
            <a:solidFill>
              <a:srgbClr val="FF0000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AEC3F819-DF0B-D7CE-1797-1A717578BDB3}"/>
              </a:ext>
            </a:extLst>
          </p:cNvPr>
          <p:cNvSpPr/>
          <p:nvPr/>
        </p:nvSpPr>
        <p:spPr>
          <a:xfrm>
            <a:off x="109728" y="2160769"/>
            <a:ext cx="8778240" cy="22860"/>
          </a:xfrm>
          <a:prstGeom prst="rect">
            <a:avLst/>
          </a:prstGeom>
          <a:solidFill>
            <a:srgbClr val="FF0000"/>
          </a:solidFill>
          <a:ln w="12700">
            <a:solidFill>
              <a:srgbClr val="FF0000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8C98D3B3-47F7-5380-6388-7F3ADB9A971B}"/>
              </a:ext>
            </a:extLst>
          </p:cNvPr>
          <p:cNvSpPr/>
          <p:nvPr/>
        </p:nvSpPr>
        <p:spPr>
          <a:xfrm>
            <a:off x="155448" y="1094004"/>
            <a:ext cx="8732520" cy="80421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just">
              <a:buNone/>
            </a:pPr>
            <a:r>
              <a:rPr lang="en-US" sz="3200" b="1" dirty="0">
                <a:solidFill>
                  <a:srgbClr val="FFFFFF"/>
                </a:solidFill>
              </a:rPr>
              <a:t>Monica Mogollon: </a:t>
            </a:r>
            <a:r>
              <a:rPr lang="en-US" sz="3200" b="1" dirty="0" err="1">
                <a:solidFill>
                  <a:srgbClr val="FFFFFF"/>
                </a:solidFill>
              </a:rPr>
              <a:t>Tarjetas</a:t>
            </a:r>
            <a:r>
              <a:rPr lang="en-US" sz="3200" b="1" dirty="0">
                <a:solidFill>
                  <a:srgbClr val="FFFFFF"/>
                </a:solidFill>
              </a:rPr>
              <a:t> SBP - Fonocompras - </a:t>
            </a:r>
            <a:r>
              <a:rPr lang="en-US" sz="3200" b="1" dirty="0" err="1">
                <a:solidFill>
                  <a:srgbClr val="FFFFFF"/>
                </a:solidFill>
              </a:rPr>
              <a:t>Efectivo</a:t>
            </a:r>
            <a:r>
              <a:rPr lang="en-US" sz="3200" b="1" dirty="0">
                <a:solidFill>
                  <a:srgbClr val="FFFFFF"/>
                </a:solidFill>
              </a:rPr>
              <a:t> - BanBif</a:t>
            </a:r>
            <a:endParaRPr lang="en-US" sz="3200" b="1" dirty="0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39B1D3E3-BDE8-D2DF-8421-095E522E08C5}"/>
              </a:ext>
            </a:extLst>
          </p:cNvPr>
          <p:cNvSpPr/>
          <p:nvPr/>
        </p:nvSpPr>
        <p:spPr>
          <a:xfrm>
            <a:off x="201168" y="2232325"/>
            <a:ext cx="8732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</a:rPr>
              <a:t>Monica Mogollon: Subgerenta de Ventas</a:t>
            </a:r>
            <a:endParaRPr lang="en-US" sz="1400" dirty="0"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9F31DB3B-0AAF-D39E-DA27-EF09E04142F3}"/>
              </a:ext>
            </a:extLst>
          </p:cNvPr>
          <p:cNvSpPr/>
          <p:nvPr/>
        </p:nvSpPr>
        <p:spPr>
          <a:xfrm>
            <a:off x="201168" y="2805948"/>
            <a:ext cx="8732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 dirty="0">
                <a:solidFill>
                  <a:srgbClr val="FFFFFF"/>
                </a:solidFill>
              </a:rPr>
              <a:t>Julio 2026</a:t>
            </a:r>
            <a:endParaRPr lang="en-US" sz="1200" dirty="0"/>
          </a:p>
        </p:txBody>
      </p:sp>
      <p:pic>
        <p:nvPicPr>
          <p:cNvPr id="13" name="Picture 9">
            <a:extLst>
              <a:ext uri="{FF2B5EF4-FFF2-40B4-BE49-F238E27FC236}">
                <a16:creationId xmlns:a16="http://schemas.microsoft.com/office/drawing/2014/main" id="{7F75E1CB-250B-D3FA-C0A2-A428CB7C16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96328" y="3670788"/>
            <a:ext cx="1808553" cy="18085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99496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710D6E-CDC0-B010-1957-79A16B615A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75CCE81A-8ABE-3701-8137-51C5ED130897}"/>
              </a:ext>
            </a:extLst>
          </p:cNvPr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BEB4725-6E02-DF02-2C70-3C387342A309}"/>
              </a:ext>
            </a:extLst>
          </p:cNvPr>
          <p:cNvSpPr/>
          <p:nvPr/>
        </p:nvSpPr>
        <p:spPr>
          <a:xfrm>
            <a:off x="0" y="658368"/>
            <a:ext cx="9144000" cy="25603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A2FBDCCF-F583-3F8B-F7AA-61E2DE71CD11}"/>
              </a:ext>
            </a:extLst>
          </p:cNvPr>
          <p:cNvSpPr/>
          <p:nvPr/>
        </p:nvSpPr>
        <p:spPr>
          <a:xfrm>
            <a:off x="201168" y="0"/>
            <a:ext cx="7498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30" dirty="0">
                <a:solidFill>
                  <a:srgbClr val="FFFFFF"/>
                </a:solidFill>
              </a:rPr>
              <a:t>RESUMEN GENERAL|  SCOTIABANK TARJETAS · FONOCOMPRAS · EFECTIVO · BANBIF</a:t>
            </a:r>
            <a:endParaRPr lang="en-US" sz="1250" dirty="0"/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D001581A-1597-B21E-CC08-74613789B7BE}"/>
              </a:ext>
            </a:extLst>
          </p:cNvPr>
          <p:cNvSpPr/>
          <p:nvPr/>
        </p:nvSpPr>
        <p:spPr>
          <a:xfrm>
            <a:off x="8577072" y="713232"/>
            <a:ext cx="521208" cy="228600"/>
          </a:xfrm>
          <a:prstGeom prst="rect">
            <a:avLst/>
          </a:prstGeom>
          <a:solidFill>
            <a:srgbClr val="4A0E07"/>
          </a:solidFill>
          <a:ln w="12700">
            <a:solidFill>
              <a:srgbClr val="4A0E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FB1E7B4F-AC39-9147-1F67-144B64370197}"/>
              </a:ext>
            </a:extLst>
          </p:cNvPr>
          <p:cNvSpPr/>
          <p:nvPr/>
        </p:nvSpPr>
        <p:spPr>
          <a:xfrm>
            <a:off x="8577072" y="713232"/>
            <a:ext cx="5212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1 / 3</a:t>
            </a:r>
            <a:endParaRPr lang="en-US" sz="800" dirty="0"/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04A1433E-2E0C-2287-D03C-302FE6412BA9}"/>
              </a:ext>
            </a:extLst>
          </p:cNvPr>
          <p:cNvSpPr/>
          <p:nvPr/>
        </p:nvSpPr>
        <p:spPr>
          <a:xfrm>
            <a:off x="201168" y="749808"/>
            <a:ext cx="2331720" cy="347472"/>
          </a:xfrm>
          <a:prstGeom prst="rect">
            <a:avLst/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0" name="Shape 7">
            <a:extLst>
              <a:ext uri="{FF2B5EF4-FFF2-40B4-BE49-F238E27FC236}">
                <a16:creationId xmlns:a16="http://schemas.microsoft.com/office/drawing/2014/main" id="{37EDC5BA-DF03-4B47-2C55-8FB8B04921DA}"/>
              </a:ext>
            </a:extLst>
          </p:cNvPr>
          <p:cNvSpPr/>
          <p:nvPr/>
        </p:nvSpPr>
        <p:spPr>
          <a:xfrm>
            <a:off x="292608" y="822960"/>
            <a:ext cx="182880" cy="182880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52BE60F1-9D2F-C70F-F468-2DD5F6E9EDD4}"/>
              </a:ext>
            </a:extLst>
          </p:cNvPr>
          <p:cNvSpPr/>
          <p:nvPr/>
        </p:nvSpPr>
        <p:spPr>
          <a:xfrm>
            <a:off x="530352" y="749808"/>
            <a:ext cx="19842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97706"/>
                </a:solidFill>
              </a:rPr>
              <a:t>EN SEGUIMIENTO</a:t>
            </a:r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01D0D5E7-FFF3-ADDF-C606-5081A9BF09F3}"/>
              </a:ext>
            </a:extLst>
          </p:cNvPr>
          <p:cNvSpPr/>
          <p:nvPr/>
        </p:nvSpPr>
        <p:spPr>
          <a:xfrm>
            <a:off x="201168" y="1152144"/>
            <a:ext cx="2331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9A9189"/>
                </a:solidFill>
              </a:rPr>
              <a:t>Sub-Gerente: Monica Mogollon</a:t>
            </a:r>
            <a:endParaRPr lang="en-US" sz="900" dirty="0"/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819ACD99-17D0-0CC4-8240-C861561E9FAC}"/>
              </a:ext>
            </a:extLst>
          </p:cNvPr>
          <p:cNvSpPr/>
          <p:nvPr/>
        </p:nvSpPr>
        <p:spPr>
          <a:xfrm>
            <a:off x="201168" y="1463040"/>
            <a:ext cx="2331720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0" b="1" dirty="0">
                <a:solidFill>
                  <a:srgbClr val="D97706"/>
                </a:solidFill>
              </a:rPr>
              <a:t>89%</a:t>
            </a:r>
            <a:endParaRPr lang="en-US" sz="8000" dirty="0"/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3AC7FE0B-6F20-7A96-032C-E948703C4D39}"/>
              </a:ext>
            </a:extLst>
          </p:cNvPr>
          <p:cNvSpPr/>
          <p:nvPr/>
        </p:nvSpPr>
        <p:spPr>
          <a:xfrm>
            <a:off x="-28346" y="2631786"/>
            <a:ext cx="2331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A9189"/>
                </a:solidFill>
              </a:rPr>
              <a:t>Avance promedio</a:t>
            </a:r>
            <a:endParaRPr lang="en-US" sz="900" dirty="0"/>
          </a:p>
        </p:txBody>
      </p:sp>
      <p:sp>
        <p:nvSpPr>
          <p:cNvPr id="15" name="Shape 12">
            <a:extLst>
              <a:ext uri="{FF2B5EF4-FFF2-40B4-BE49-F238E27FC236}">
                <a16:creationId xmlns:a16="http://schemas.microsoft.com/office/drawing/2014/main" id="{FE2ABED9-7BBD-AC16-1B41-EEA551C14D8F}"/>
              </a:ext>
            </a:extLst>
          </p:cNvPr>
          <p:cNvSpPr/>
          <p:nvPr/>
        </p:nvSpPr>
        <p:spPr>
          <a:xfrm>
            <a:off x="2633472" y="749808"/>
            <a:ext cx="20117" cy="4069080"/>
          </a:xfrm>
          <a:prstGeom prst="rect">
            <a:avLst/>
          </a:prstGeom>
          <a:solidFill>
            <a:srgbClr val="E5DFD8"/>
          </a:solidFill>
          <a:ln w="1270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6" name="Shape 13">
            <a:extLst>
              <a:ext uri="{FF2B5EF4-FFF2-40B4-BE49-F238E27FC236}">
                <a16:creationId xmlns:a16="http://schemas.microsoft.com/office/drawing/2014/main" id="{8439B5A9-638D-09CB-96D0-2EEC542FF4A5}"/>
              </a:ext>
            </a:extLst>
          </p:cNvPr>
          <p:cNvSpPr/>
          <p:nvPr/>
        </p:nvSpPr>
        <p:spPr>
          <a:xfrm>
            <a:off x="2743200" y="749808"/>
            <a:ext cx="3086100" cy="786384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7" name="Text 14">
            <a:extLst>
              <a:ext uri="{FF2B5EF4-FFF2-40B4-BE49-F238E27FC236}">
                <a16:creationId xmlns:a16="http://schemas.microsoft.com/office/drawing/2014/main" id="{92C1C8EE-5340-D80A-715F-0940F4561C73}"/>
              </a:ext>
            </a:extLst>
          </p:cNvPr>
          <p:cNvSpPr/>
          <p:nvPr/>
        </p:nvSpPr>
        <p:spPr>
          <a:xfrm>
            <a:off x="2880360" y="841248"/>
            <a:ext cx="29032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80" kern="0" spc="40" dirty="0">
                <a:solidFill>
                  <a:srgbClr val="9A9189"/>
                </a:solidFill>
              </a:rPr>
              <a:t>CONECTADOS</a:t>
            </a:r>
            <a:endParaRPr lang="en-US" sz="780" dirty="0"/>
          </a:p>
        </p:txBody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1D56DF93-BBFD-03CA-09BF-31E4BE953885}"/>
              </a:ext>
            </a:extLst>
          </p:cNvPr>
          <p:cNvSpPr/>
          <p:nvPr/>
        </p:nvSpPr>
        <p:spPr>
          <a:xfrm>
            <a:off x="2880360" y="1024128"/>
            <a:ext cx="29032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6B150B"/>
                </a:solidFill>
              </a:rPr>
              <a:t>120</a:t>
            </a:r>
            <a:endParaRPr lang="en-US" sz="2200" dirty="0"/>
          </a:p>
        </p:txBody>
      </p:sp>
      <p:sp>
        <p:nvSpPr>
          <p:cNvPr id="19" name="Shape 16">
            <a:extLst>
              <a:ext uri="{FF2B5EF4-FFF2-40B4-BE49-F238E27FC236}">
                <a16:creationId xmlns:a16="http://schemas.microsoft.com/office/drawing/2014/main" id="{BBDDEDC0-65A6-97BE-E585-F66AD6DD0266}"/>
              </a:ext>
            </a:extLst>
          </p:cNvPr>
          <p:cNvSpPr/>
          <p:nvPr/>
        </p:nvSpPr>
        <p:spPr>
          <a:xfrm>
            <a:off x="5920740" y="749808"/>
            <a:ext cx="3086100" cy="786384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DEAC6006-29A3-6B19-31B3-18022430D149}"/>
              </a:ext>
            </a:extLst>
          </p:cNvPr>
          <p:cNvSpPr/>
          <p:nvPr/>
        </p:nvSpPr>
        <p:spPr>
          <a:xfrm>
            <a:off x="6057900" y="841248"/>
            <a:ext cx="29032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80" kern="0" spc="40" dirty="0">
                <a:solidFill>
                  <a:srgbClr val="9A9189"/>
                </a:solidFill>
              </a:rPr>
              <a:t>DOTACION</a:t>
            </a:r>
            <a:endParaRPr lang="en-US" sz="780" dirty="0"/>
          </a:p>
        </p:txBody>
      </p:sp>
      <p:sp>
        <p:nvSpPr>
          <p:cNvPr id="21" name="Text 18">
            <a:extLst>
              <a:ext uri="{FF2B5EF4-FFF2-40B4-BE49-F238E27FC236}">
                <a16:creationId xmlns:a16="http://schemas.microsoft.com/office/drawing/2014/main" id="{082A72C2-5DCC-9A69-72E8-8B572758520F}"/>
              </a:ext>
            </a:extLst>
          </p:cNvPr>
          <p:cNvSpPr/>
          <p:nvPr/>
        </p:nvSpPr>
        <p:spPr>
          <a:xfrm>
            <a:off x="6057900" y="1024128"/>
            <a:ext cx="29032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6B150B"/>
                </a:solidFill>
              </a:rPr>
              <a:t>130</a:t>
            </a:r>
            <a:endParaRPr lang="en-US" sz="2200" dirty="0"/>
          </a:p>
        </p:txBody>
      </p:sp>
      <p:sp>
        <p:nvSpPr>
          <p:cNvPr id="22" name="Shape 19">
            <a:extLst>
              <a:ext uri="{FF2B5EF4-FFF2-40B4-BE49-F238E27FC236}">
                <a16:creationId xmlns:a16="http://schemas.microsoft.com/office/drawing/2014/main" id="{095B4EFC-A42E-238F-D52B-700D3A99032C}"/>
              </a:ext>
            </a:extLst>
          </p:cNvPr>
          <p:cNvSpPr/>
          <p:nvPr/>
        </p:nvSpPr>
        <p:spPr>
          <a:xfrm>
            <a:off x="2743200" y="1609344"/>
            <a:ext cx="3086100" cy="786384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3" name="Text 20">
            <a:extLst>
              <a:ext uri="{FF2B5EF4-FFF2-40B4-BE49-F238E27FC236}">
                <a16:creationId xmlns:a16="http://schemas.microsoft.com/office/drawing/2014/main" id="{295839A0-00D2-C004-B75A-9AFAD5E7EAC6}"/>
              </a:ext>
            </a:extLst>
          </p:cNvPr>
          <p:cNvSpPr/>
          <p:nvPr/>
        </p:nvSpPr>
        <p:spPr>
          <a:xfrm>
            <a:off x="2880360" y="1700784"/>
            <a:ext cx="29032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80" kern="0" spc="40" dirty="0">
                <a:solidFill>
                  <a:srgbClr val="9A9189"/>
                </a:solidFill>
              </a:rPr>
              <a:t>PEND. SELECCION</a:t>
            </a:r>
            <a:endParaRPr lang="en-US" sz="780" dirty="0"/>
          </a:p>
        </p:txBody>
      </p:sp>
      <p:sp>
        <p:nvSpPr>
          <p:cNvPr id="24" name="Text 21">
            <a:extLst>
              <a:ext uri="{FF2B5EF4-FFF2-40B4-BE49-F238E27FC236}">
                <a16:creationId xmlns:a16="http://schemas.microsoft.com/office/drawing/2014/main" id="{719FCB19-1C60-B7E1-0FBE-6CBC6E3805EE}"/>
              </a:ext>
            </a:extLst>
          </p:cNvPr>
          <p:cNvSpPr/>
          <p:nvPr/>
        </p:nvSpPr>
        <p:spPr>
          <a:xfrm>
            <a:off x="2880360" y="1883664"/>
            <a:ext cx="29032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6B150B"/>
                </a:solidFill>
              </a:rPr>
              <a:t>2</a:t>
            </a:r>
            <a:endParaRPr lang="en-US" sz="2200" dirty="0"/>
          </a:p>
        </p:txBody>
      </p:sp>
      <p:sp>
        <p:nvSpPr>
          <p:cNvPr id="25" name="Shape 22">
            <a:extLst>
              <a:ext uri="{FF2B5EF4-FFF2-40B4-BE49-F238E27FC236}">
                <a16:creationId xmlns:a16="http://schemas.microsoft.com/office/drawing/2014/main" id="{264EF2FD-7AB7-B80D-BD48-E0C019820995}"/>
              </a:ext>
            </a:extLst>
          </p:cNvPr>
          <p:cNvSpPr/>
          <p:nvPr/>
        </p:nvSpPr>
        <p:spPr>
          <a:xfrm>
            <a:off x="5920740" y="1609344"/>
            <a:ext cx="3086100" cy="786384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6" name="Text 23">
            <a:extLst>
              <a:ext uri="{FF2B5EF4-FFF2-40B4-BE49-F238E27FC236}">
                <a16:creationId xmlns:a16="http://schemas.microsoft.com/office/drawing/2014/main" id="{BEA6659A-F4CD-BF60-2061-C64534DC1383}"/>
              </a:ext>
            </a:extLst>
          </p:cNvPr>
          <p:cNvSpPr/>
          <p:nvPr/>
        </p:nvSpPr>
        <p:spPr>
          <a:xfrm>
            <a:off x="6057900" y="1700784"/>
            <a:ext cx="29032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80" kern="0" spc="40" dirty="0">
                <a:solidFill>
                  <a:srgbClr val="9A9189"/>
                </a:solidFill>
              </a:rPr>
              <a:t>PEND. INDUCCION</a:t>
            </a:r>
            <a:endParaRPr lang="en-US" sz="780" dirty="0"/>
          </a:p>
        </p:txBody>
      </p:sp>
      <p:sp>
        <p:nvSpPr>
          <p:cNvPr id="27" name="Text 24">
            <a:extLst>
              <a:ext uri="{FF2B5EF4-FFF2-40B4-BE49-F238E27FC236}">
                <a16:creationId xmlns:a16="http://schemas.microsoft.com/office/drawing/2014/main" id="{36AAEC47-14FC-B1F5-E8DB-23E6DBB87C3C}"/>
              </a:ext>
            </a:extLst>
          </p:cNvPr>
          <p:cNvSpPr/>
          <p:nvPr/>
        </p:nvSpPr>
        <p:spPr>
          <a:xfrm>
            <a:off x="6057900" y="1883664"/>
            <a:ext cx="29032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6B150B"/>
                </a:solidFill>
              </a:rPr>
              <a:t>12</a:t>
            </a:r>
            <a:endParaRPr lang="en-US" sz="2200" dirty="0"/>
          </a:p>
        </p:txBody>
      </p:sp>
      <p:sp>
        <p:nvSpPr>
          <p:cNvPr id="28" name="Shape 25">
            <a:extLst>
              <a:ext uri="{FF2B5EF4-FFF2-40B4-BE49-F238E27FC236}">
                <a16:creationId xmlns:a16="http://schemas.microsoft.com/office/drawing/2014/main" id="{E56FF5F1-2656-2F0B-5AB3-5C0EE6259747}"/>
              </a:ext>
            </a:extLst>
          </p:cNvPr>
          <p:cNvSpPr/>
          <p:nvPr/>
        </p:nvSpPr>
        <p:spPr>
          <a:xfrm>
            <a:off x="2743200" y="2468880"/>
            <a:ext cx="3086100" cy="786384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9" name="Text 26">
            <a:extLst>
              <a:ext uri="{FF2B5EF4-FFF2-40B4-BE49-F238E27FC236}">
                <a16:creationId xmlns:a16="http://schemas.microsoft.com/office/drawing/2014/main" id="{7AF54009-81D3-7F4C-DCAB-0BCEA399F554}"/>
              </a:ext>
            </a:extLst>
          </p:cNvPr>
          <p:cNvSpPr/>
          <p:nvPr/>
        </p:nvSpPr>
        <p:spPr>
          <a:xfrm>
            <a:off x="2880360" y="2560320"/>
            <a:ext cx="29032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80" kern="0" spc="40" dirty="0">
                <a:solidFill>
                  <a:srgbClr val="9A9189"/>
                </a:solidFill>
              </a:rPr>
              <a:t>PRESUPUESTO</a:t>
            </a:r>
            <a:endParaRPr lang="en-US" sz="780" dirty="0"/>
          </a:p>
        </p:txBody>
      </p:sp>
      <p:sp>
        <p:nvSpPr>
          <p:cNvPr id="30" name="Text 27">
            <a:extLst>
              <a:ext uri="{FF2B5EF4-FFF2-40B4-BE49-F238E27FC236}">
                <a16:creationId xmlns:a16="http://schemas.microsoft.com/office/drawing/2014/main" id="{38E0A71D-3E87-F4B3-E2C1-EF53E3D5BCB3}"/>
              </a:ext>
            </a:extLst>
          </p:cNvPr>
          <p:cNvSpPr/>
          <p:nvPr/>
        </p:nvSpPr>
        <p:spPr>
          <a:xfrm>
            <a:off x="2880360" y="2743200"/>
            <a:ext cx="29032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6B150B"/>
                </a:solidFill>
              </a:rPr>
              <a:t>140</a:t>
            </a:r>
            <a:endParaRPr lang="en-US" sz="2200" dirty="0"/>
          </a:p>
        </p:txBody>
      </p:sp>
      <p:sp>
        <p:nvSpPr>
          <p:cNvPr id="31" name="Shape 28">
            <a:extLst>
              <a:ext uri="{FF2B5EF4-FFF2-40B4-BE49-F238E27FC236}">
                <a16:creationId xmlns:a16="http://schemas.microsoft.com/office/drawing/2014/main" id="{4C3BE525-B666-DA21-7B84-E35F78F639B0}"/>
              </a:ext>
            </a:extLst>
          </p:cNvPr>
          <p:cNvSpPr/>
          <p:nvPr/>
        </p:nvSpPr>
        <p:spPr>
          <a:xfrm>
            <a:off x="5920740" y="2468880"/>
            <a:ext cx="3086100" cy="786384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2" name="Text 29">
            <a:extLst>
              <a:ext uri="{FF2B5EF4-FFF2-40B4-BE49-F238E27FC236}">
                <a16:creationId xmlns:a16="http://schemas.microsoft.com/office/drawing/2014/main" id="{3D9D8001-DD1A-43AA-C8DA-7C0835411281}"/>
              </a:ext>
            </a:extLst>
          </p:cNvPr>
          <p:cNvSpPr/>
          <p:nvPr/>
        </p:nvSpPr>
        <p:spPr>
          <a:xfrm>
            <a:off x="6057900" y="2560320"/>
            <a:ext cx="29032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80" kern="0" spc="40" dirty="0">
                <a:solidFill>
                  <a:srgbClr val="9A9189"/>
                </a:solidFill>
              </a:rPr>
              <a:t>SEMANA</a:t>
            </a:r>
            <a:endParaRPr lang="en-US" sz="780" dirty="0"/>
          </a:p>
        </p:txBody>
      </p:sp>
      <p:sp>
        <p:nvSpPr>
          <p:cNvPr id="33" name="Text 30">
            <a:extLst>
              <a:ext uri="{FF2B5EF4-FFF2-40B4-BE49-F238E27FC236}">
                <a16:creationId xmlns:a16="http://schemas.microsoft.com/office/drawing/2014/main" id="{591284AA-06D8-AA08-B76F-519EC6991703}"/>
              </a:ext>
            </a:extLst>
          </p:cNvPr>
          <p:cNvSpPr/>
          <p:nvPr/>
        </p:nvSpPr>
        <p:spPr>
          <a:xfrm>
            <a:off x="6057900" y="2743200"/>
            <a:ext cx="29032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6B150B"/>
                </a:solidFill>
              </a:rPr>
              <a:t>05</a:t>
            </a:r>
            <a:endParaRPr lang="en-US" sz="2200" dirty="0"/>
          </a:p>
        </p:txBody>
      </p:sp>
      <p:sp>
        <p:nvSpPr>
          <p:cNvPr id="34" name="Shape 31">
            <a:extLst>
              <a:ext uri="{FF2B5EF4-FFF2-40B4-BE49-F238E27FC236}">
                <a16:creationId xmlns:a16="http://schemas.microsoft.com/office/drawing/2014/main" id="{0D6FFB7B-9BA5-CB8D-A859-03B11391AAC3}"/>
              </a:ext>
            </a:extLst>
          </p:cNvPr>
          <p:cNvSpPr/>
          <p:nvPr/>
        </p:nvSpPr>
        <p:spPr>
          <a:xfrm>
            <a:off x="0" y="3419856"/>
            <a:ext cx="9144000" cy="281635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5" name="Text 32">
            <a:extLst>
              <a:ext uri="{FF2B5EF4-FFF2-40B4-BE49-F238E27FC236}">
                <a16:creationId xmlns:a16="http://schemas.microsoft.com/office/drawing/2014/main" id="{7A6D6F65-528C-1C01-9FB3-6592403964C7}"/>
              </a:ext>
            </a:extLst>
          </p:cNvPr>
          <p:cNvSpPr/>
          <p:nvPr/>
        </p:nvSpPr>
        <p:spPr>
          <a:xfrm>
            <a:off x="182880" y="3419856"/>
            <a:ext cx="310896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</a:rPr>
              <a:t>Sub-campaña</a:t>
            </a:r>
            <a:endParaRPr lang="en-US" sz="850" dirty="0"/>
          </a:p>
        </p:txBody>
      </p:sp>
      <p:sp>
        <p:nvSpPr>
          <p:cNvPr id="36" name="Text 33">
            <a:extLst>
              <a:ext uri="{FF2B5EF4-FFF2-40B4-BE49-F238E27FC236}">
                <a16:creationId xmlns:a16="http://schemas.microsoft.com/office/drawing/2014/main" id="{4AAC91FE-2CBB-C4E9-3D53-D491106C0A50}"/>
              </a:ext>
            </a:extLst>
          </p:cNvPr>
          <p:cNvSpPr/>
          <p:nvPr/>
        </p:nvSpPr>
        <p:spPr>
          <a:xfrm>
            <a:off x="2671877" y="3415284"/>
            <a:ext cx="11887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</a:rPr>
              <a:t>Presupuesto</a:t>
            </a:r>
            <a:endParaRPr lang="en-US" sz="850" dirty="0"/>
          </a:p>
        </p:txBody>
      </p:sp>
      <p:sp>
        <p:nvSpPr>
          <p:cNvPr id="37" name="Text 34">
            <a:extLst>
              <a:ext uri="{FF2B5EF4-FFF2-40B4-BE49-F238E27FC236}">
                <a16:creationId xmlns:a16="http://schemas.microsoft.com/office/drawing/2014/main" id="{CE20C154-1282-EC30-5E2A-5FF0DC225872}"/>
              </a:ext>
            </a:extLst>
          </p:cNvPr>
          <p:cNvSpPr/>
          <p:nvPr/>
        </p:nvSpPr>
        <p:spPr>
          <a:xfrm>
            <a:off x="4526280" y="3419856"/>
            <a:ext cx="21031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</a:rPr>
              <a:t>Avance</a:t>
            </a:r>
            <a:endParaRPr lang="en-US" sz="850" dirty="0"/>
          </a:p>
        </p:txBody>
      </p:sp>
      <p:sp>
        <p:nvSpPr>
          <p:cNvPr id="38" name="Text 35">
            <a:extLst>
              <a:ext uri="{FF2B5EF4-FFF2-40B4-BE49-F238E27FC236}">
                <a16:creationId xmlns:a16="http://schemas.microsoft.com/office/drawing/2014/main" id="{B2F2DF42-D16C-733A-9B64-A9CEA61D5B7F}"/>
              </a:ext>
            </a:extLst>
          </p:cNvPr>
          <p:cNvSpPr/>
          <p:nvPr/>
        </p:nvSpPr>
        <p:spPr>
          <a:xfrm>
            <a:off x="6656832" y="3419856"/>
            <a:ext cx="86868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</a:rPr>
              <a:t>% Logro</a:t>
            </a:r>
            <a:endParaRPr lang="en-US" sz="850" dirty="0"/>
          </a:p>
        </p:txBody>
      </p:sp>
      <p:sp>
        <p:nvSpPr>
          <p:cNvPr id="39" name="Text 36">
            <a:extLst>
              <a:ext uri="{FF2B5EF4-FFF2-40B4-BE49-F238E27FC236}">
                <a16:creationId xmlns:a16="http://schemas.microsoft.com/office/drawing/2014/main" id="{B5B82CA9-B8B4-A7F4-9951-B896181BFD87}"/>
              </a:ext>
            </a:extLst>
          </p:cNvPr>
          <p:cNvSpPr/>
          <p:nvPr/>
        </p:nvSpPr>
        <p:spPr>
          <a:xfrm>
            <a:off x="7543800" y="3419856"/>
            <a:ext cx="146304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</a:rPr>
              <a:t>Proyeccion</a:t>
            </a:r>
            <a:endParaRPr lang="en-US" sz="850" dirty="0"/>
          </a:p>
        </p:txBody>
      </p:sp>
      <p:sp>
        <p:nvSpPr>
          <p:cNvPr id="42" name="Text 39">
            <a:extLst>
              <a:ext uri="{FF2B5EF4-FFF2-40B4-BE49-F238E27FC236}">
                <a16:creationId xmlns:a16="http://schemas.microsoft.com/office/drawing/2014/main" id="{80A33226-54A2-AD63-283E-CBCFA7A19D1E}"/>
              </a:ext>
            </a:extLst>
          </p:cNvPr>
          <p:cNvSpPr/>
          <p:nvPr/>
        </p:nvSpPr>
        <p:spPr>
          <a:xfrm>
            <a:off x="2899956" y="3701491"/>
            <a:ext cx="11887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46" name="Text 43">
            <a:extLst>
              <a:ext uri="{FF2B5EF4-FFF2-40B4-BE49-F238E27FC236}">
                <a16:creationId xmlns:a16="http://schemas.microsoft.com/office/drawing/2014/main" id="{5476ECC9-FB70-F37F-7EC9-94FE7727F1FC}"/>
              </a:ext>
            </a:extLst>
          </p:cNvPr>
          <p:cNvSpPr/>
          <p:nvPr/>
        </p:nvSpPr>
        <p:spPr>
          <a:xfrm>
            <a:off x="7543800" y="3701491"/>
            <a:ext cx="146304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850" dirty="0"/>
          </a:p>
        </p:txBody>
      </p:sp>
      <p:sp>
        <p:nvSpPr>
          <p:cNvPr id="47" name="Shape 44">
            <a:extLst>
              <a:ext uri="{FF2B5EF4-FFF2-40B4-BE49-F238E27FC236}">
                <a16:creationId xmlns:a16="http://schemas.microsoft.com/office/drawing/2014/main" id="{71ED4455-B211-DE91-62FA-1F94D050764D}"/>
              </a:ext>
            </a:extLst>
          </p:cNvPr>
          <p:cNvSpPr/>
          <p:nvPr/>
        </p:nvSpPr>
        <p:spPr>
          <a:xfrm>
            <a:off x="0" y="3983126"/>
            <a:ext cx="9144000" cy="281635"/>
          </a:xfrm>
          <a:prstGeom prst="rect">
            <a:avLst/>
          </a:prstGeom>
          <a:solidFill>
            <a:srgbClr val="FAF8F6"/>
          </a:solidFill>
          <a:ln w="381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8" name="Text 45">
            <a:extLst>
              <a:ext uri="{FF2B5EF4-FFF2-40B4-BE49-F238E27FC236}">
                <a16:creationId xmlns:a16="http://schemas.microsoft.com/office/drawing/2014/main" id="{3C6C54AB-AE0F-D427-10C5-8C4C25788172}"/>
              </a:ext>
            </a:extLst>
          </p:cNvPr>
          <p:cNvSpPr/>
          <p:nvPr/>
        </p:nvSpPr>
        <p:spPr>
          <a:xfrm>
            <a:off x="182880" y="3983126"/>
            <a:ext cx="292608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6B150B"/>
                </a:solidFill>
              </a:rPr>
              <a:t>Fonocompras </a:t>
            </a:r>
            <a:endParaRPr lang="en-US" sz="950" dirty="0"/>
          </a:p>
        </p:txBody>
      </p:sp>
      <p:sp>
        <p:nvSpPr>
          <p:cNvPr id="49" name="Text 46">
            <a:extLst>
              <a:ext uri="{FF2B5EF4-FFF2-40B4-BE49-F238E27FC236}">
                <a16:creationId xmlns:a16="http://schemas.microsoft.com/office/drawing/2014/main" id="{84B6892D-25A4-36D2-4A64-D14E6258AC8F}"/>
              </a:ext>
            </a:extLst>
          </p:cNvPr>
          <p:cNvSpPr/>
          <p:nvPr/>
        </p:nvSpPr>
        <p:spPr>
          <a:xfrm>
            <a:off x="2899956" y="3983126"/>
            <a:ext cx="11887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11010"/>
                </a:solidFill>
              </a:rPr>
              <a:t>24</a:t>
            </a:r>
            <a:endParaRPr lang="en-US" sz="950" dirty="0"/>
          </a:p>
        </p:txBody>
      </p:sp>
      <p:sp>
        <p:nvSpPr>
          <p:cNvPr id="50" name="Shape 47">
            <a:extLst>
              <a:ext uri="{FF2B5EF4-FFF2-40B4-BE49-F238E27FC236}">
                <a16:creationId xmlns:a16="http://schemas.microsoft.com/office/drawing/2014/main" id="{BEBBB499-0356-6066-42F5-FA92CFC49464}"/>
              </a:ext>
            </a:extLst>
          </p:cNvPr>
          <p:cNvSpPr/>
          <p:nvPr/>
        </p:nvSpPr>
        <p:spPr>
          <a:xfrm>
            <a:off x="4526280" y="4061984"/>
            <a:ext cx="1920240" cy="118287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1" name="Shape 48">
            <a:extLst>
              <a:ext uri="{FF2B5EF4-FFF2-40B4-BE49-F238E27FC236}">
                <a16:creationId xmlns:a16="http://schemas.microsoft.com/office/drawing/2014/main" id="{C8C1B586-EAAD-FB10-B970-91A4E1BA7378}"/>
              </a:ext>
            </a:extLst>
          </p:cNvPr>
          <p:cNvSpPr/>
          <p:nvPr/>
        </p:nvSpPr>
        <p:spPr>
          <a:xfrm>
            <a:off x="4526280" y="4061984"/>
            <a:ext cx="1689811" cy="118287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2" name="Text 49">
            <a:extLst>
              <a:ext uri="{FF2B5EF4-FFF2-40B4-BE49-F238E27FC236}">
                <a16:creationId xmlns:a16="http://schemas.microsoft.com/office/drawing/2014/main" id="{2AB3CFE4-D2D1-22B4-4982-171AE33B1970}"/>
              </a:ext>
            </a:extLst>
          </p:cNvPr>
          <p:cNvSpPr/>
          <p:nvPr/>
        </p:nvSpPr>
        <p:spPr>
          <a:xfrm>
            <a:off x="6656832" y="3983126"/>
            <a:ext cx="86868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97706"/>
                </a:solidFill>
              </a:rPr>
              <a:t>88%</a:t>
            </a:r>
            <a:endParaRPr lang="en-US" sz="1000" dirty="0"/>
          </a:p>
        </p:txBody>
      </p:sp>
      <p:sp>
        <p:nvSpPr>
          <p:cNvPr id="53" name="Text 50">
            <a:extLst>
              <a:ext uri="{FF2B5EF4-FFF2-40B4-BE49-F238E27FC236}">
                <a16:creationId xmlns:a16="http://schemas.microsoft.com/office/drawing/2014/main" id="{F89ADD6F-CC64-B9BB-B638-B802187AC70A}"/>
              </a:ext>
            </a:extLst>
          </p:cNvPr>
          <p:cNvSpPr/>
          <p:nvPr/>
        </p:nvSpPr>
        <p:spPr>
          <a:xfrm>
            <a:off x="7543800" y="3983126"/>
            <a:ext cx="146304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9A9189"/>
                </a:solidFill>
              </a:rPr>
              <a:t>1´500,000</a:t>
            </a:r>
            <a:endParaRPr lang="en-US" sz="850" dirty="0"/>
          </a:p>
        </p:txBody>
      </p:sp>
      <p:sp>
        <p:nvSpPr>
          <p:cNvPr id="54" name="Shape 51">
            <a:extLst>
              <a:ext uri="{FF2B5EF4-FFF2-40B4-BE49-F238E27FC236}">
                <a16:creationId xmlns:a16="http://schemas.microsoft.com/office/drawing/2014/main" id="{CDF3E905-913C-1542-8CD1-99F847DAD56C}"/>
              </a:ext>
            </a:extLst>
          </p:cNvPr>
          <p:cNvSpPr/>
          <p:nvPr/>
        </p:nvSpPr>
        <p:spPr>
          <a:xfrm>
            <a:off x="0" y="4264762"/>
            <a:ext cx="9144000" cy="281635"/>
          </a:xfrm>
          <a:prstGeom prst="rect">
            <a:avLst/>
          </a:prstGeom>
          <a:solidFill>
            <a:srgbClr val="FFFFFF"/>
          </a:solidFill>
          <a:ln w="381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5" name="Text 52">
            <a:extLst>
              <a:ext uri="{FF2B5EF4-FFF2-40B4-BE49-F238E27FC236}">
                <a16:creationId xmlns:a16="http://schemas.microsoft.com/office/drawing/2014/main" id="{F8E6F6BB-B31B-2B07-8B75-00EDEB51AE10}"/>
              </a:ext>
            </a:extLst>
          </p:cNvPr>
          <p:cNvSpPr/>
          <p:nvPr/>
        </p:nvSpPr>
        <p:spPr>
          <a:xfrm>
            <a:off x="182880" y="4264762"/>
            <a:ext cx="292608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6B150B"/>
                </a:solidFill>
              </a:rPr>
              <a:t>Efectivo (</a:t>
            </a:r>
            <a:r>
              <a:rPr lang="en-US" sz="950" b="1" dirty="0" err="1">
                <a:solidFill>
                  <a:srgbClr val="6B150B"/>
                </a:solidFill>
              </a:rPr>
              <a:t>Dormido+Recurrente+Nuevos</a:t>
            </a:r>
            <a:r>
              <a:rPr lang="en-US" sz="950" b="1" dirty="0">
                <a:solidFill>
                  <a:srgbClr val="6B150B"/>
                </a:solidFill>
              </a:rPr>
              <a:t>)</a:t>
            </a:r>
            <a:endParaRPr lang="en-US" sz="950" dirty="0"/>
          </a:p>
        </p:txBody>
      </p:sp>
      <p:sp>
        <p:nvSpPr>
          <p:cNvPr id="56" name="Text 53">
            <a:extLst>
              <a:ext uri="{FF2B5EF4-FFF2-40B4-BE49-F238E27FC236}">
                <a16:creationId xmlns:a16="http://schemas.microsoft.com/office/drawing/2014/main" id="{3DDF9BC2-80D1-07C2-7F3D-C00C56F94FD0}"/>
              </a:ext>
            </a:extLst>
          </p:cNvPr>
          <p:cNvSpPr/>
          <p:nvPr/>
        </p:nvSpPr>
        <p:spPr>
          <a:xfrm>
            <a:off x="2899956" y="4264762"/>
            <a:ext cx="11887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11010"/>
                </a:solidFill>
              </a:rPr>
              <a:t>39</a:t>
            </a:r>
            <a:endParaRPr lang="en-US" sz="950" dirty="0"/>
          </a:p>
        </p:txBody>
      </p:sp>
      <p:sp>
        <p:nvSpPr>
          <p:cNvPr id="57" name="Shape 54">
            <a:extLst>
              <a:ext uri="{FF2B5EF4-FFF2-40B4-BE49-F238E27FC236}">
                <a16:creationId xmlns:a16="http://schemas.microsoft.com/office/drawing/2014/main" id="{FACBA088-81BF-329F-45AD-A5A7B759E401}"/>
              </a:ext>
            </a:extLst>
          </p:cNvPr>
          <p:cNvSpPr/>
          <p:nvPr/>
        </p:nvSpPr>
        <p:spPr>
          <a:xfrm>
            <a:off x="4526280" y="4343619"/>
            <a:ext cx="1920240" cy="118287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8" name="Shape 55">
            <a:extLst>
              <a:ext uri="{FF2B5EF4-FFF2-40B4-BE49-F238E27FC236}">
                <a16:creationId xmlns:a16="http://schemas.microsoft.com/office/drawing/2014/main" id="{CB7C41B7-2919-7A2E-BD13-4F31A0326188}"/>
              </a:ext>
            </a:extLst>
          </p:cNvPr>
          <p:cNvSpPr/>
          <p:nvPr/>
        </p:nvSpPr>
        <p:spPr>
          <a:xfrm>
            <a:off x="4526280" y="4343619"/>
            <a:ext cx="1785823" cy="118287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9" name="Text 56">
            <a:extLst>
              <a:ext uri="{FF2B5EF4-FFF2-40B4-BE49-F238E27FC236}">
                <a16:creationId xmlns:a16="http://schemas.microsoft.com/office/drawing/2014/main" id="{BF4EB3FC-E023-26C9-CF96-93D58600C3D4}"/>
              </a:ext>
            </a:extLst>
          </p:cNvPr>
          <p:cNvSpPr/>
          <p:nvPr/>
        </p:nvSpPr>
        <p:spPr>
          <a:xfrm>
            <a:off x="6656832" y="4264762"/>
            <a:ext cx="86868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59669"/>
                </a:solidFill>
              </a:rPr>
              <a:t>93%</a:t>
            </a:r>
            <a:endParaRPr lang="en-US" sz="1000" dirty="0"/>
          </a:p>
        </p:txBody>
      </p:sp>
      <p:sp>
        <p:nvSpPr>
          <p:cNvPr id="60" name="Text 57">
            <a:extLst>
              <a:ext uri="{FF2B5EF4-FFF2-40B4-BE49-F238E27FC236}">
                <a16:creationId xmlns:a16="http://schemas.microsoft.com/office/drawing/2014/main" id="{2F855612-6949-39D7-7AD5-26108E836141}"/>
              </a:ext>
            </a:extLst>
          </p:cNvPr>
          <p:cNvSpPr/>
          <p:nvPr/>
        </p:nvSpPr>
        <p:spPr>
          <a:xfrm>
            <a:off x="7543800" y="4264762"/>
            <a:ext cx="146304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9A9189"/>
                </a:solidFill>
              </a:rPr>
              <a:t>8’200,000</a:t>
            </a:r>
            <a:endParaRPr lang="en-US" sz="850" dirty="0"/>
          </a:p>
        </p:txBody>
      </p:sp>
      <p:sp>
        <p:nvSpPr>
          <p:cNvPr id="61" name="Shape 58">
            <a:extLst>
              <a:ext uri="{FF2B5EF4-FFF2-40B4-BE49-F238E27FC236}">
                <a16:creationId xmlns:a16="http://schemas.microsoft.com/office/drawing/2014/main" id="{FAC7CF1D-024C-A048-48FB-DC899F89EC5C}"/>
              </a:ext>
            </a:extLst>
          </p:cNvPr>
          <p:cNvSpPr/>
          <p:nvPr/>
        </p:nvSpPr>
        <p:spPr>
          <a:xfrm>
            <a:off x="0" y="4546397"/>
            <a:ext cx="9144000" cy="281635"/>
          </a:xfrm>
          <a:prstGeom prst="rect">
            <a:avLst/>
          </a:prstGeom>
          <a:solidFill>
            <a:srgbClr val="FAF8F6"/>
          </a:solidFill>
          <a:ln w="381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2" name="Text 59">
            <a:extLst>
              <a:ext uri="{FF2B5EF4-FFF2-40B4-BE49-F238E27FC236}">
                <a16:creationId xmlns:a16="http://schemas.microsoft.com/office/drawing/2014/main" id="{BF94E060-62D9-9A03-3F5F-84D965914F36}"/>
              </a:ext>
            </a:extLst>
          </p:cNvPr>
          <p:cNvSpPr/>
          <p:nvPr/>
        </p:nvSpPr>
        <p:spPr>
          <a:xfrm>
            <a:off x="182880" y="4546397"/>
            <a:ext cx="292608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 err="1">
                <a:solidFill>
                  <a:srgbClr val="6B150B"/>
                </a:solidFill>
              </a:rPr>
              <a:t>BanBif</a:t>
            </a:r>
            <a:r>
              <a:rPr lang="en-US" sz="950" b="1" dirty="0">
                <a:solidFill>
                  <a:srgbClr val="6B150B"/>
                </a:solidFill>
              </a:rPr>
              <a:t> </a:t>
            </a:r>
            <a:endParaRPr lang="en-US" sz="950" dirty="0"/>
          </a:p>
        </p:txBody>
      </p:sp>
      <p:sp>
        <p:nvSpPr>
          <p:cNvPr id="63" name="Text 60">
            <a:extLst>
              <a:ext uri="{FF2B5EF4-FFF2-40B4-BE49-F238E27FC236}">
                <a16:creationId xmlns:a16="http://schemas.microsoft.com/office/drawing/2014/main" id="{A5508137-5DA9-809A-6792-F7BC7355AAAA}"/>
              </a:ext>
            </a:extLst>
          </p:cNvPr>
          <p:cNvSpPr/>
          <p:nvPr/>
        </p:nvSpPr>
        <p:spPr>
          <a:xfrm>
            <a:off x="2899956" y="4546397"/>
            <a:ext cx="11887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11010"/>
                </a:solidFill>
              </a:rPr>
              <a:t>5</a:t>
            </a:r>
            <a:endParaRPr lang="en-US" sz="950" dirty="0"/>
          </a:p>
        </p:txBody>
      </p:sp>
      <p:sp>
        <p:nvSpPr>
          <p:cNvPr id="64" name="Shape 61">
            <a:extLst>
              <a:ext uri="{FF2B5EF4-FFF2-40B4-BE49-F238E27FC236}">
                <a16:creationId xmlns:a16="http://schemas.microsoft.com/office/drawing/2014/main" id="{99FEB9E4-99A7-25DC-8A89-AC898CFA1F12}"/>
              </a:ext>
            </a:extLst>
          </p:cNvPr>
          <p:cNvSpPr/>
          <p:nvPr/>
        </p:nvSpPr>
        <p:spPr>
          <a:xfrm>
            <a:off x="4526280" y="4625255"/>
            <a:ext cx="1920240" cy="118287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5" name="Shape 62">
            <a:extLst>
              <a:ext uri="{FF2B5EF4-FFF2-40B4-BE49-F238E27FC236}">
                <a16:creationId xmlns:a16="http://schemas.microsoft.com/office/drawing/2014/main" id="{94FE5A07-C44C-13F0-1AF7-A40B2FE0FED1}"/>
              </a:ext>
            </a:extLst>
          </p:cNvPr>
          <p:cNvSpPr/>
          <p:nvPr/>
        </p:nvSpPr>
        <p:spPr>
          <a:xfrm>
            <a:off x="4526280" y="4625255"/>
            <a:ext cx="1920240" cy="118287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6" name="Text 63">
            <a:extLst>
              <a:ext uri="{FF2B5EF4-FFF2-40B4-BE49-F238E27FC236}">
                <a16:creationId xmlns:a16="http://schemas.microsoft.com/office/drawing/2014/main" id="{69CDC250-7C88-8A78-E621-1D86B605D8CB}"/>
              </a:ext>
            </a:extLst>
          </p:cNvPr>
          <p:cNvSpPr/>
          <p:nvPr/>
        </p:nvSpPr>
        <p:spPr>
          <a:xfrm>
            <a:off x="6656832" y="4546397"/>
            <a:ext cx="86868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59669"/>
                </a:solidFill>
              </a:rPr>
              <a:t>100%</a:t>
            </a:r>
            <a:endParaRPr lang="en-US" sz="1000" dirty="0"/>
          </a:p>
        </p:txBody>
      </p:sp>
      <p:sp>
        <p:nvSpPr>
          <p:cNvPr id="67" name="Text 64">
            <a:extLst>
              <a:ext uri="{FF2B5EF4-FFF2-40B4-BE49-F238E27FC236}">
                <a16:creationId xmlns:a16="http://schemas.microsoft.com/office/drawing/2014/main" id="{9A00ADDB-30A1-8E25-D9D3-C322483C1B52}"/>
              </a:ext>
            </a:extLst>
          </p:cNvPr>
          <p:cNvSpPr/>
          <p:nvPr/>
        </p:nvSpPr>
        <p:spPr>
          <a:xfrm>
            <a:off x="7543800" y="4546397"/>
            <a:ext cx="146304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9A9189"/>
                </a:solidFill>
              </a:rPr>
              <a:t>1,500,000</a:t>
            </a:r>
            <a:endParaRPr lang="en-US" sz="850" dirty="0"/>
          </a:p>
        </p:txBody>
      </p:sp>
      <p:sp>
        <p:nvSpPr>
          <p:cNvPr id="68" name="Shape 65">
            <a:extLst>
              <a:ext uri="{FF2B5EF4-FFF2-40B4-BE49-F238E27FC236}">
                <a16:creationId xmlns:a16="http://schemas.microsoft.com/office/drawing/2014/main" id="{8E92A864-F541-F475-14F3-B6661E319641}"/>
              </a:ext>
            </a:extLst>
          </p:cNvPr>
          <p:cNvSpPr/>
          <p:nvPr/>
        </p:nvSpPr>
        <p:spPr>
          <a:xfrm>
            <a:off x="0" y="4864608"/>
            <a:ext cx="9144000" cy="256032"/>
          </a:xfrm>
          <a:prstGeom prst="rect">
            <a:avLst/>
          </a:prstGeom>
          <a:solidFill>
            <a:srgbClr val="FAF8F6"/>
          </a:solidFill>
          <a:ln w="381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9" name="Shape 66">
            <a:extLst>
              <a:ext uri="{FF2B5EF4-FFF2-40B4-BE49-F238E27FC236}">
                <a16:creationId xmlns:a16="http://schemas.microsoft.com/office/drawing/2014/main" id="{C35B0139-422C-FA77-5966-889C7E2A5A80}"/>
              </a:ext>
            </a:extLst>
          </p:cNvPr>
          <p:cNvSpPr/>
          <p:nvPr/>
        </p:nvSpPr>
        <p:spPr>
          <a:xfrm>
            <a:off x="0" y="4864608"/>
            <a:ext cx="9144000" cy="16459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0" name="Text 67">
            <a:extLst>
              <a:ext uri="{FF2B5EF4-FFF2-40B4-BE49-F238E27FC236}">
                <a16:creationId xmlns:a16="http://schemas.microsoft.com/office/drawing/2014/main" id="{F98E7C80-8943-1281-F4E5-6027635CA71E}"/>
              </a:ext>
            </a:extLst>
          </p:cNvPr>
          <p:cNvSpPr/>
          <p:nvPr/>
        </p:nvSpPr>
        <p:spPr>
          <a:xfrm>
            <a:off x="164592" y="4864608"/>
            <a:ext cx="7863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A9189"/>
                </a:solidFill>
              </a:rPr>
              <a:t>GRUPO EFE  |  MONICA MOGOLLON  |  Monica Mogollon  |  Cierre Julio 2026</a:t>
            </a:r>
            <a:endParaRPr lang="en-US" sz="750" dirty="0"/>
          </a:p>
        </p:txBody>
      </p:sp>
      <p:sp>
        <p:nvSpPr>
          <p:cNvPr id="72" name="Text 33">
            <a:extLst>
              <a:ext uri="{FF2B5EF4-FFF2-40B4-BE49-F238E27FC236}">
                <a16:creationId xmlns:a16="http://schemas.microsoft.com/office/drawing/2014/main" id="{7B599B23-6EE0-470D-F55D-CD0911175A26}"/>
              </a:ext>
            </a:extLst>
          </p:cNvPr>
          <p:cNvSpPr/>
          <p:nvPr/>
        </p:nvSpPr>
        <p:spPr>
          <a:xfrm>
            <a:off x="3380277" y="3417039"/>
            <a:ext cx="11887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 err="1">
                <a:solidFill>
                  <a:srgbClr val="FFFFFF"/>
                </a:solidFill>
              </a:rPr>
              <a:t>Conectados</a:t>
            </a:r>
            <a:endParaRPr lang="en-US" sz="850" dirty="0"/>
          </a:p>
        </p:txBody>
      </p:sp>
      <p:sp>
        <p:nvSpPr>
          <p:cNvPr id="76" name="Text 39">
            <a:extLst>
              <a:ext uri="{FF2B5EF4-FFF2-40B4-BE49-F238E27FC236}">
                <a16:creationId xmlns:a16="http://schemas.microsoft.com/office/drawing/2014/main" id="{81C1BA1C-65D2-03D7-5D18-AB47CE5CA46F}"/>
              </a:ext>
            </a:extLst>
          </p:cNvPr>
          <p:cNvSpPr/>
          <p:nvPr/>
        </p:nvSpPr>
        <p:spPr>
          <a:xfrm>
            <a:off x="3596452" y="4000296"/>
            <a:ext cx="11887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11010"/>
                </a:solidFill>
              </a:rPr>
              <a:t>20</a:t>
            </a:r>
            <a:endParaRPr lang="en-US" sz="950" dirty="0"/>
          </a:p>
        </p:txBody>
      </p:sp>
      <p:sp>
        <p:nvSpPr>
          <p:cNvPr id="78" name="Text 39">
            <a:extLst>
              <a:ext uri="{FF2B5EF4-FFF2-40B4-BE49-F238E27FC236}">
                <a16:creationId xmlns:a16="http://schemas.microsoft.com/office/drawing/2014/main" id="{50400527-0269-9043-E6D5-59A22005A22D}"/>
              </a:ext>
            </a:extLst>
          </p:cNvPr>
          <p:cNvSpPr/>
          <p:nvPr/>
        </p:nvSpPr>
        <p:spPr>
          <a:xfrm>
            <a:off x="3613327" y="4280894"/>
            <a:ext cx="11887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11010"/>
                </a:solidFill>
              </a:rPr>
              <a:t>28</a:t>
            </a:r>
            <a:endParaRPr lang="en-US" sz="950" dirty="0"/>
          </a:p>
        </p:txBody>
      </p:sp>
      <p:sp>
        <p:nvSpPr>
          <p:cNvPr id="80" name="Text 39">
            <a:extLst>
              <a:ext uri="{FF2B5EF4-FFF2-40B4-BE49-F238E27FC236}">
                <a16:creationId xmlns:a16="http://schemas.microsoft.com/office/drawing/2014/main" id="{D1961235-D9D5-DDBC-C4A1-99352DC453F6}"/>
              </a:ext>
            </a:extLst>
          </p:cNvPr>
          <p:cNvSpPr/>
          <p:nvPr/>
        </p:nvSpPr>
        <p:spPr>
          <a:xfrm>
            <a:off x="3637584" y="4562529"/>
            <a:ext cx="11887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11010"/>
                </a:solidFill>
              </a:rPr>
              <a:t>4</a:t>
            </a:r>
            <a:endParaRPr lang="en-US" sz="950" dirty="0"/>
          </a:p>
        </p:txBody>
      </p:sp>
      <p:pic>
        <p:nvPicPr>
          <p:cNvPr id="90" name="Imagen 89">
            <a:extLst>
              <a:ext uri="{FF2B5EF4-FFF2-40B4-BE49-F238E27FC236}">
                <a16:creationId xmlns:a16="http://schemas.microsoft.com/office/drawing/2014/main" id="{7AFECDBC-9AD2-9B6D-DFEE-C18C4CFC308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6496" b="91034" l="5526" r="89929">
                        <a14:foregroundMark x1="5526" y1="55901" x2="8556" y2="77951"/>
                        <a14:foregroundMark x1="33333" y1="65691" x2="33512" y2="78774"/>
                        <a14:foregroundMark x1="17291" y1="76212" x2="14706" y2="85819"/>
                        <a14:foregroundMark x1="14706" y1="60384" x2="14528" y2="84446"/>
                        <a14:foregroundMark x1="35383" y1="63312" x2="28253" y2="91034"/>
                        <a14:foregroundMark x1="50178" y1="50686" x2="51426" y2="61665"/>
                        <a14:foregroundMark x1="85740" y1="6496" x2="84759" y2="10796"/>
                        <a14:foregroundMark x1="77629" y1="43550" x2="64973" y2="47667"/>
                        <a14:foregroundMark x1="78610" y1="28728" x2="72727" y2="33303"/>
                        <a14:foregroundMark x1="80214" y1="18573" x2="77451" y2="26715"/>
                        <a14:foregroundMark x1="82086" y1="30009" x2="85294" y2="34401"/>
                        <a14:foregroundMark x1="85918" y1="9790" x2="85918" y2="9790"/>
                        <a14:foregroundMark x1="85472" y1="10887" x2="86185" y2="18298"/>
                        <a14:foregroundMark x1="45365" y1="45197" x2="22638" y2="48582"/>
                        <a14:foregroundMark x1="53832" y1="55261" x2="54011" y2="76212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8856552" y="4902997"/>
            <a:ext cx="236904" cy="230781"/>
          </a:xfrm>
          <a:prstGeom prst="rect">
            <a:avLst/>
          </a:prstGeom>
        </p:spPr>
      </p:pic>
      <p:pic>
        <p:nvPicPr>
          <p:cNvPr id="92" name="Picture 76">
            <a:extLst>
              <a:ext uri="{FF2B5EF4-FFF2-40B4-BE49-F238E27FC236}">
                <a16:creationId xmlns:a16="http://schemas.microsoft.com/office/drawing/2014/main" id="{01D3C902-A22F-0D12-B901-358A6D8A3D9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61591" y="-144818"/>
            <a:ext cx="948004" cy="948004"/>
          </a:xfrm>
          <a:prstGeom prst="rect">
            <a:avLst/>
          </a:prstGeom>
        </p:spPr>
      </p:pic>
      <p:sp>
        <p:nvSpPr>
          <p:cNvPr id="5" name="Text 39">
            <a:extLst>
              <a:ext uri="{FF2B5EF4-FFF2-40B4-BE49-F238E27FC236}">
                <a16:creationId xmlns:a16="http://schemas.microsoft.com/office/drawing/2014/main" id="{E55A6494-0B09-85A0-338D-5910F49BD43B}"/>
              </a:ext>
            </a:extLst>
          </p:cNvPr>
          <p:cNvSpPr/>
          <p:nvPr/>
        </p:nvSpPr>
        <p:spPr>
          <a:xfrm>
            <a:off x="5134288" y="3988773"/>
            <a:ext cx="1260698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11010"/>
                </a:solidFill>
              </a:rPr>
              <a:t>900</a:t>
            </a:r>
            <a:endParaRPr lang="en-US" sz="950" dirty="0"/>
          </a:p>
        </p:txBody>
      </p:sp>
      <p:sp>
        <p:nvSpPr>
          <p:cNvPr id="75" name="Text 39">
            <a:extLst>
              <a:ext uri="{FF2B5EF4-FFF2-40B4-BE49-F238E27FC236}">
                <a16:creationId xmlns:a16="http://schemas.microsoft.com/office/drawing/2014/main" id="{08342046-0DFA-3BF2-006C-DF3C6C34468C}"/>
              </a:ext>
            </a:extLst>
          </p:cNvPr>
          <p:cNvSpPr/>
          <p:nvPr/>
        </p:nvSpPr>
        <p:spPr>
          <a:xfrm>
            <a:off x="5258974" y="4270408"/>
            <a:ext cx="1260698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11010"/>
                </a:solidFill>
              </a:rPr>
              <a:t>900</a:t>
            </a:r>
            <a:endParaRPr lang="en-US" sz="950" dirty="0"/>
          </a:p>
        </p:txBody>
      </p:sp>
      <p:sp>
        <p:nvSpPr>
          <p:cNvPr id="79" name="Text 39">
            <a:extLst>
              <a:ext uri="{FF2B5EF4-FFF2-40B4-BE49-F238E27FC236}">
                <a16:creationId xmlns:a16="http://schemas.microsoft.com/office/drawing/2014/main" id="{AB25939E-CEAF-978E-361A-9D8434D4DC4B}"/>
              </a:ext>
            </a:extLst>
          </p:cNvPr>
          <p:cNvSpPr/>
          <p:nvPr/>
        </p:nvSpPr>
        <p:spPr>
          <a:xfrm>
            <a:off x="5298174" y="4546397"/>
            <a:ext cx="1260698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11010"/>
                </a:solidFill>
              </a:rPr>
              <a:t>900</a:t>
            </a:r>
            <a:endParaRPr lang="en-US" sz="950" dirty="0"/>
          </a:p>
        </p:txBody>
      </p:sp>
      <p:pic>
        <p:nvPicPr>
          <p:cNvPr id="93" name="Panel Resumen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717804"/>
            <a:ext cx="9144000" cy="4174236"/>
          </a:xfrm>
          <a:prstGeom prst="rect">
            <a:avLst/>
          </a:prstGeom>
        </p:spPr>
      </p:pic>
      <p:sp>
        <p:nvSpPr>
          <p:cNvPr id="94" name="dato_manual"/>
          <p:cNvSpPr>
            <a:spLocks noGrp="1"/>
          </p:cNvSpPr>
          <p:nvPr/>
        </p:nvSpPr>
        <p:spPr>
          <a:xfrm>
            <a:off x="2743200" y="1441383"/>
            <a:ext cx="1259586" cy="34747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es-PE" sz="1650" b="1" dirty="0">
                <a:solidFill>
                  <a:srgbClr val="103A5E"/>
                </a:solidFill>
                <a:latin typeface="Arial"/>
              </a:rPr>
              <a:t>120</a:t>
            </a:r>
          </a:p>
        </p:txBody>
      </p:sp>
      <p:sp>
        <p:nvSpPr>
          <p:cNvPr id="95" name="dato_manual"/>
          <p:cNvSpPr>
            <a:spLocks noGrp="1"/>
          </p:cNvSpPr>
          <p:nvPr/>
        </p:nvSpPr>
        <p:spPr>
          <a:xfrm>
            <a:off x="4359401" y="1441383"/>
            <a:ext cx="1259586" cy="34747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es-PE" sz="1650" b="1" dirty="0">
                <a:solidFill>
                  <a:srgbClr val="103A5E"/>
                </a:solidFill>
                <a:latin typeface="Arial"/>
              </a:rPr>
              <a:t>14</a:t>
            </a:r>
          </a:p>
        </p:txBody>
      </p:sp>
      <p:sp>
        <p:nvSpPr>
          <p:cNvPr id="96" name="dato_manual"/>
          <p:cNvSpPr>
            <a:spLocks noGrp="1"/>
          </p:cNvSpPr>
          <p:nvPr/>
        </p:nvSpPr>
        <p:spPr>
          <a:xfrm>
            <a:off x="2531059" y="3181409"/>
            <a:ext cx="1097280" cy="27432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93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97" name="dato_manual"/>
          <p:cNvSpPr>
            <a:spLocks noGrp="1"/>
          </p:cNvSpPr>
          <p:nvPr/>
        </p:nvSpPr>
        <p:spPr>
          <a:xfrm>
            <a:off x="3584448" y="3181409"/>
            <a:ext cx="1097280" cy="27432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93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98" name="dato_manual"/>
          <p:cNvSpPr>
            <a:spLocks noGrp="1"/>
          </p:cNvSpPr>
          <p:nvPr/>
        </p:nvSpPr>
        <p:spPr>
          <a:xfrm>
            <a:off x="2531059" y="3617909"/>
            <a:ext cx="1097280" cy="27432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930" b="1" dirty="0">
                <a:solidFill>
                  <a:srgbClr val="4A5A6A"/>
                </a:solidFill>
                <a:latin typeface="Arial"/>
              </a:rPr>
              <a:t>24</a:t>
            </a:r>
          </a:p>
        </p:txBody>
      </p:sp>
      <p:sp>
        <p:nvSpPr>
          <p:cNvPr id="99" name="dato_manual"/>
          <p:cNvSpPr>
            <a:spLocks noGrp="1"/>
          </p:cNvSpPr>
          <p:nvPr/>
        </p:nvSpPr>
        <p:spPr>
          <a:xfrm>
            <a:off x="3584448" y="3617909"/>
            <a:ext cx="1097280" cy="27432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930" b="1" dirty="0">
                <a:solidFill>
                  <a:srgbClr val="4A5A6A"/>
                </a:solidFill>
                <a:latin typeface="Arial"/>
              </a:rPr>
              <a:t>20</a:t>
            </a:r>
          </a:p>
        </p:txBody>
      </p:sp>
      <p:sp>
        <p:nvSpPr>
          <p:cNvPr id="100" name="dato_manual"/>
          <p:cNvSpPr>
            <a:spLocks noGrp="1"/>
          </p:cNvSpPr>
          <p:nvPr/>
        </p:nvSpPr>
        <p:spPr>
          <a:xfrm>
            <a:off x="2531059" y="4054409"/>
            <a:ext cx="1097280" cy="27432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93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01" name="dato_manual"/>
          <p:cNvSpPr>
            <a:spLocks noGrp="1"/>
          </p:cNvSpPr>
          <p:nvPr/>
        </p:nvSpPr>
        <p:spPr>
          <a:xfrm>
            <a:off x="3584448" y="4054409"/>
            <a:ext cx="1097280" cy="27432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93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02" name="dato_manual"/>
          <p:cNvSpPr>
            <a:spLocks noGrp="1"/>
          </p:cNvSpPr>
          <p:nvPr/>
        </p:nvSpPr>
        <p:spPr>
          <a:xfrm>
            <a:off x="2531059" y="4490909"/>
            <a:ext cx="1097280" cy="27432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930" b="1" dirty="0">
                <a:solidFill>
                  <a:srgbClr val="123A5E"/>
                </a:solidFill>
                <a:latin typeface="Arial"/>
              </a:rPr>
              <a:t>24</a:t>
            </a:r>
          </a:p>
        </p:txBody>
      </p:sp>
      <p:sp>
        <p:nvSpPr>
          <p:cNvPr id="103" name="dato_manual"/>
          <p:cNvSpPr>
            <a:spLocks noGrp="1"/>
          </p:cNvSpPr>
          <p:nvPr/>
        </p:nvSpPr>
        <p:spPr>
          <a:xfrm>
            <a:off x="3584448" y="4490909"/>
            <a:ext cx="1097280" cy="27432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930" b="1" dirty="0">
                <a:solidFill>
                  <a:srgbClr val="123A5E"/>
                </a:solidFill>
                <a:latin typeface="Arial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117971276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658368"/>
            <a:ext cx="9144000" cy="25603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01168" y="0"/>
            <a:ext cx="7498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50" b="1" kern="0" spc="30" dirty="0">
                <a:solidFill>
                  <a:srgbClr val="FFFFFF"/>
                </a:solidFill>
              </a:rPr>
              <a:t>EFECTIVA (DORMIDOS + NUEVOS + RECURRENTES): Información al 18 de Julio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201168" y="749808"/>
            <a:ext cx="2331720" cy="329184"/>
          </a:xfrm>
          <a:prstGeom prst="rect">
            <a:avLst/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0" name="Shape 7"/>
          <p:cNvSpPr/>
          <p:nvPr/>
        </p:nvSpPr>
        <p:spPr>
          <a:xfrm>
            <a:off x="292608" y="822960"/>
            <a:ext cx="164592" cy="164592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Text 8"/>
          <p:cNvSpPr/>
          <p:nvPr/>
        </p:nvSpPr>
        <p:spPr>
          <a:xfrm>
            <a:off x="512064" y="749808"/>
            <a:ext cx="200253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D97706"/>
                </a:solidFill>
              </a:rPr>
              <a:t>EN SEGUIMIENTO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201168" y="1115568"/>
            <a:ext cx="2331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9A9189"/>
                </a:solidFill>
              </a:rPr>
              <a:t>Sub </a:t>
            </a:r>
            <a:r>
              <a:rPr lang="en-US" sz="850" i="1" dirty="0" err="1">
                <a:solidFill>
                  <a:srgbClr val="9A9189"/>
                </a:solidFill>
              </a:rPr>
              <a:t>Gerenta</a:t>
            </a:r>
            <a:r>
              <a:rPr lang="en-US" sz="850" i="1" dirty="0">
                <a:solidFill>
                  <a:srgbClr val="9A9189"/>
                </a:solidFill>
              </a:rPr>
              <a:t>: Monica Mogollon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250482" y="1905299"/>
            <a:ext cx="24012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0" b="1" dirty="0">
                <a:solidFill>
                  <a:srgbClr val="D97706"/>
                </a:solidFill>
              </a:rPr>
              <a:t>75.4%</a:t>
            </a:r>
            <a:endParaRPr lang="en-US" sz="6600" dirty="0"/>
          </a:p>
        </p:txBody>
      </p:sp>
      <p:sp>
        <p:nvSpPr>
          <p:cNvPr id="27" name="Shape 24"/>
          <p:cNvSpPr/>
          <p:nvPr/>
        </p:nvSpPr>
        <p:spPr>
          <a:xfrm>
            <a:off x="2651760" y="749808"/>
            <a:ext cx="18288" cy="4078224"/>
          </a:xfrm>
          <a:prstGeom prst="rect">
            <a:avLst/>
          </a:prstGeom>
          <a:solidFill>
            <a:srgbClr val="E5DFD8"/>
          </a:solidFill>
          <a:ln w="1270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2" name="Shape 69"/>
          <p:cNvSpPr/>
          <p:nvPr/>
        </p:nvSpPr>
        <p:spPr>
          <a:xfrm>
            <a:off x="0" y="4864608"/>
            <a:ext cx="9144000" cy="256032"/>
          </a:xfrm>
          <a:prstGeom prst="rect">
            <a:avLst/>
          </a:prstGeom>
          <a:solidFill>
            <a:srgbClr val="FAF8F6"/>
          </a:solidFill>
          <a:ln w="381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3" name="Shape 70"/>
          <p:cNvSpPr/>
          <p:nvPr/>
        </p:nvSpPr>
        <p:spPr>
          <a:xfrm>
            <a:off x="0" y="4864608"/>
            <a:ext cx="9144000" cy="16459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4" name="Text 71"/>
          <p:cNvSpPr/>
          <p:nvPr/>
        </p:nvSpPr>
        <p:spPr>
          <a:xfrm>
            <a:off x="164592" y="4864608"/>
            <a:ext cx="7863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A9189"/>
                </a:solidFill>
              </a:rPr>
              <a:t>GRUPO EFE  |  FONOCOMPRAS OB  |  Monica Mogollon  |  Cierre Julio 2026</a:t>
            </a:r>
            <a:endParaRPr lang="en-US" sz="750" dirty="0"/>
          </a:p>
        </p:txBody>
      </p:sp>
      <p:sp>
        <p:nvSpPr>
          <p:cNvPr id="77" name="Text 26">
            <a:extLst>
              <a:ext uri="{FF2B5EF4-FFF2-40B4-BE49-F238E27FC236}">
                <a16:creationId xmlns:a16="http://schemas.microsoft.com/office/drawing/2014/main" id="{5A95A43B-8C1B-E7A9-3F8A-F8832210E4EC}"/>
              </a:ext>
            </a:extLst>
          </p:cNvPr>
          <p:cNvSpPr/>
          <p:nvPr/>
        </p:nvSpPr>
        <p:spPr>
          <a:xfrm>
            <a:off x="386534" y="1890839"/>
            <a:ext cx="139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META: 7.20M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9" name="Text 26">
            <a:extLst>
              <a:ext uri="{FF2B5EF4-FFF2-40B4-BE49-F238E27FC236}">
                <a16:creationId xmlns:a16="http://schemas.microsoft.com/office/drawing/2014/main" id="{B78515AE-5431-E16A-0558-6D3EBE41CA32}"/>
              </a:ext>
            </a:extLst>
          </p:cNvPr>
          <p:cNvSpPr/>
          <p:nvPr/>
        </p:nvSpPr>
        <p:spPr>
          <a:xfrm>
            <a:off x="-45871" y="2994350"/>
            <a:ext cx="139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AVANCE: 3.71M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81" name="Text 26">
            <a:extLst>
              <a:ext uri="{FF2B5EF4-FFF2-40B4-BE49-F238E27FC236}">
                <a16:creationId xmlns:a16="http://schemas.microsoft.com/office/drawing/2014/main" id="{D22012C6-8E82-1724-8567-32DAD424347C}"/>
              </a:ext>
            </a:extLst>
          </p:cNvPr>
          <p:cNvSpPr/>
          <p:nvPr/>
        </p:nvSpPr>
        <p:spPr>
          <a:xfrm>
            <a:off x="1072545" y="2975117"/>
            <a:ext cx="1536598" cy="33835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META AVANCE: 4.92M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94" name="Picture 76">
            <a:extLst>
              <a:ext uri="{FF2B5EF4-FFF2-40B4-BE49-F238E27FC236}">
                <a16:creationId xmlns:a16="http://schemas.microsoft.com/office/drawing/2014/main" id="{C378C096-3B27-1ACC-5814-70E7AD9888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61591" y="-144818"/>
            <a:ext cx="948004" cy="948004"/>
          </a:xfrm>
          <a:prstGeom prst="rect">
            <a:avLst/>
          </a:prstGeom>
        </p:spPr>
      </p:pic>
      <p:pic>
        <p:nvPicPr>
          <p:cNvPr id="96" name="Imagen 95">
            <a:extLst>
              <a:ext uri="{FF2B5EF4-FFF2-40B4-BE49-F238E27FC236}">
                <a16:creationId xmlns:a16="http://schemas.microsoft.com/office/drawing/2014/main" id="{BD613C91-CE49-A213-6746-E2942781BFC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6496" b="91034" l="5526" r="89929">
                        <a14:foregroundMark x1="5526" y1="55901" x2="8556" y2="77951"/>
                        <a14:foregroundMark x1="33333" y1="65691" x2="33512" y2="78774"/>
                        <a14:foregroundMark x1="17291" y1="76212" x2="14706" y2="85819"/>
                        <a14:foregroundMark x1="14706" y1="60384" x2="14528" y2="84446"/>
                        <a14:foregroundMark x1="35383" y1="63312" x2="28253" y2="91034"/>
                        <a14:foregroundMark x1="50178" y1="50686" x2="51426" y2="61665"/>
                        <a14:foregroundMark x1="85740" y1="6496" x2="84759" y2="10796"/>
                        <a14:foregroundMark x1="77629" y1="43550" x2="64973" y2="47667"/>
                        <a14:foregroundMark x1="78610" y1="28728" x2="72727" y2="33303"/>
                        <a14:foregroundMark x1="80214" y1="18573" x2="77451" y2="26715"/>
                        <a14:foregroundMark x1="82086" y1="30009" x2="85294" y2="34401"/>
                        <a14:foregroundMark x1="85918" y1="9790" x2="85918" y2="9790"/>
                        <a14:foregroundMark x1="85472" y1="10887" x2="86185" y2="18298"/>
                        <a14:foregroundMark x1="45365" y1="45197" x2="22638" y2="48582"/>
                        <a14:foregroundMark x1="53832" y1="55261" x2="54011" y2="76212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8856552" y="4902997"/>
            <a:ext cx="236904" cy="230781"/>
          </a:xfrm>
          <a:prstGeom prst="rect">
            <a:avLst/>
          </a:prstGeom>
        </p:spPr>
      </p:pic>
      <p:pic>
        <p:nvPicPr>
          <p:cNvPr id="30" name="BARRAS_AVANCE_GENE" descr="image.png">
            <a:extLst>
              <a:ext uri="{FF2B5EF4-FFF2-40B4-BE49-F238E27FC236}">
                <a16:creationId xmlns:a16="http://schemas.microsoft.com/office/drawing/2014/main" id="{B684F4F9-EA71-8A8C-AC5E-31362EE95C8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16557" y="1456620"/>
            <a:ext cx="6393038" cy="2584133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658368"/>
            <a:ext cx="9144000" cy="25603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ext 5"/>
          <p:cNvSpPr/>
          <p:nvPr/>
        </p:nvSpPr>
        <p:spPr>
          <a:xfrm>
            <a:off x="8577072" y="713232"/>
            <a:ext cx="5212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3 / 5</a:t>
            </a:r>
            <a:endParaRPr lang="en-US" sz="800" dirty="0"/>
          </a:p>
        </p:txBody>
      </p:sp>
      <p:sp>
        <p:nvSpPr>
          <p:cNvPr id="12" name="Text 9"/>
          <p:cNvSpPr/>
          <p:nvPr/>
        </p:nvSpPr>
        <p:spPr>
          <a:xfrm>
            <a:off x="201168" y="1115568"/>
            <a:ext cx="2331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9A9189"/>
                </a:solidFill>
              </a:rPr>
              <a:t>Sub </a:t>
            </a:r>
            <a:r>
              <a:rPr lang="en-US" sz="850" i="1" dirty="0" err="1">
                <a:solidFill>
                  <a:srgbClr val="9A9189"/>
                </a:solidFill>
              </a:rPr>
              <a:t>Gerenta</a:t>
            </a:r>
            <a:r>
              <a:rPr lang="en-US" sz="850" i="1" dirty="0">
                <a:solidFill>
                  <a:srgbClr val="9A9189"/>
                </a:solidFill>
              </a:rPr>
              <a:t>: Monica Mogollon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99869" y="2033125"/>
            <a:ext cx="295974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0" b="1" dirty="0">
                <a:solidFill>
                  <a:srgbClr val="C00000"/>
                </a:solidFill>
              </a:rPr>
              <a:t>123%</a:t>
            </a:r>
            <a:endParaRPr lang="en-US" sz="6600" dirty="0">
              <a:solidFill>
                <a:srgbClr val="C00000"/>
              </a:solidFill>
            </a:endParaRPr>
          </a:p>
        </p:txBody>
      </p:sp>
      <p:sp>
        <p:nvSpPr>
          <p:cNvPr id="27" name="Shape 24"/>
          <p:cNvSpPr/>
          <p:nvPr/>
        </p:nvSpPr>
        <p:spPr>
          <a:xfrm>
            <a:off x="2798721" y="749808"/>
            <a:ext cx="18288" cy="4078224"/>
          </a:xfrm>
          <a:prstGeom prst="rect">
            <a:avLst/>
          </a:prstGeom>
          <a:solidFill>
            <a:srgbClr val="E5DFD8"/>
          </a:solidFill>
          <a:ln w="1270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6" name="Shape 33"/>
          <p:cNvSpPr/>
          <p:nvPr/>
        </p:nvSpPr>
        <p:spPr>
          <a:xfrm>
            <a:off x="2999232" y="2365248"/>
            <a:ext cx="5861304" cy="0"/>
          </a:xfrm>
          <a:prstGeom prst="line">
            <a:avLst/>
          </a:prstGeom>
          <a:noFill/>
          <a:ln w="6350">
            <a:solidFill>
              <a:srgbClr val="F3F4F6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7" name="Shape 34"/>
          <p:cNvSpPr/>
          <p:nvPr/>
        </p:nvSpPr>
        <p:spPr>
          <a:xfrm>
            <a:off x="2999232" y="1225296"/>
            <a:ext cx="5861304" cy="0"/>
          </a:xfrm>
          <a:prstGeom prst="line">
            <a:avLst/>
          </a:prstGeom>
          <a:noFill/>
          <a:ln w="6350">
            <a:solidFill>
              <a:srgbClr val="F3F4F6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2" name="Shape 69"/>
          <p:cNvSpPr/>
          <p:nvPr/>
        </p:nvSpPr>
        <p:spPr>
          <a:xfrm>
            <a:off x="0" y="4864608"/>
            <a:ext cx="9144000" cy="256032"/>
          </a:xfrm>
          <a:prstGeom prst="rect">
            <a:avLst/>
          </a:prstGeom>
          <a:solidFill>
            <a:srgbClr val="FAF8F6"/>
          </a:solidFill>
          <a:ln w="381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3" name="Shape 70"/>
          <p:cNvSpPr/>
          <p:nvPr/>
        </p:nvSpPr>
        <p:spPr>
          <a:xfrm>
            <a:off x="0" y="4864608"/>
            <a:ext cx="9144000" cy="16459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4" name="Text 71"/>
          <p:cNvSpPr/>
          <p:nvPr/>
        </p:nvSpPr>
        <p:spPr>
          <a:xfrm>
            <a:off x="164592" y="4864608"/>
            <a:ext cx="7863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A9189"/>
                </a:solidFill>
              </a:rPr>
              <a:t>GRUPO EFE  |  FONOCOMPRAS IB  |  Monica Mogollon  |  Cierre Julio 2026</a:t>
            </a:r>
            <a:endParaRPr lang="en-US" sz="750" dirty="0"/>
          </a:p>
        </p:txBody>
      </p:sp>
      <p:sp>
        <p:nvSpPr>
          <p:cNvPr id="77" name="Text 26">
            <a:extLst>
              <a:ext uri="{FF2B5EF4-FFF2-40B4-BE49-F238E27FC236}">
                <a16:creationId xmlns:a16="http://schemas.microsoft.com/office/drawing/2014/main" id="{DEACF6FC-D8B2-D9B1-CDCF-B1A1D7239020}"/>
              </a:ext>
            </a:extLst>
          </p:cNvPr>
          <p:cNvSpPr/>
          <p:nvPr/>
        </p:nvSpPr>
        <p:spPr>
          <a:xfrm>
            <a:off x="401769" y="1977362"/>
            <a:ext cx="139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META: 1.20M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9" name="Text 26">
            <a:extLst>
              <a:ext uri="{FF2B5EF4-FFF2-40B4-BE49-F238E27FC236}">
                <a16:creationId xmlns:a16="http://schemas.microsoft.com/office/drawing/2014/main" id="{3BEF903F-6E02-B677-1B0E-518C48BECC56}"/>
              </a:ext>
            </a:extLst>
          </p:cNvPr>
          <p:cNvSpPr/>
          <p:nvPr/>
        </p:nvSpPr>
        <p:spPr>
          <a:xfrm>
            <a:off x="-78047" y="3116001"/>
            <a:ext cx="139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AVANCE: 918.7K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81" name="Text 26">
            <a:extLst>
              <a:ext uri="{FF2B5EF4-FFF2-40B4-BE49-F238E27FC236}">
                <a16:creationId xmlns:a16="http://schemas.microsoft.com/office/drawing/2014/main" id="{98CBD1BF-558A-CE57-7DB7-54E38E9C9EDF}"/>
              </a:ext>
            </a:extLst>
          </p:cNvPr>
          <p:cNvSpPr/>
          <p:nvPr/>
        </p:nvSpPr>
        <p:spPr>
          <a:xfrm>
            <a:off x="1120679" y="3112560"/>
            <a:ext cx="1585952" cy="3407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META AVANCE: 749.7K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85" name="Text 3">
            <a:extLst>
              <a:ext uri="{FF2B5EF4-FFF2-40B4-BE49-F238E27FC236}">
                <a16:creationId xmlns:a16="http://schemas.microsoft.com/office/drawing/2014/main" id="{2CA298DF-18B6-7A10-9BA2-E676AA00C02D}"/>
              </a:ext>
            </a:extLst>
          </p:cNvPr>
          <p:cNvSpPr/>
          <p:nvPr/>
        </p:nvSpPr>
        <p:spPr>
          <a:xfrm>
            <a:off x="201168" y="0"/>
            <a:ext cx="7498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50" b="1" kern="0" spc="30" dirty="0">
                <a:solidFill>
                  <a:srgbClr val="FFFFFF"/>
                </a:solidFill>
              </a:rPr>
              <a:t>FONOCOMPRAS (</a:t>
            </a:r>
            <a:r>
              <a:rPr lang="es-ES" sz="1400" b="1" dirty="0">
                <a:solidFill>
                  <a:schemeClr val="bg1"/>
                </a:solidFill>
              </a:rPr>
              <a:t>OUTBOUND  + INBOUD)</a:t>
            </a:r>
            <a:r>
              <a:rPr lang="en-US" sz="1250" b="1" kern="0" spc="30" dirty="0">
                <a:solidFill>
                  <a:srgbClr val="FFFFFF"/>
                </a:solidFill>
              </a:rPr>
              <a:t>: Información al 18 de Julio</a:t>
            </a:r>
            <a:endParaRPr lang="en-US" sz="1250" dirty="0"/>
          </a:p>
        </p:txBody>
      </p:sp>
      <p:pic>
        <p:nvPicPr>
          <p:cNvPr id="87" name="Picture 76">
            <a:extLst>
              <a:ext uri="{FF2B5EF4-FFF2-40B4-BE49-F238E27FC236}">
                <a16:creationId xmlns:a16="http://schemas.microsoft.com/office/drawing/2014/main" id="{864F06DD-164B-E44A-CA51-240D322140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31444" y="-163467"/>
            <a:ext cx="948004" cy="948004"/>
          </a:xfrm>
          <a:prstGeom prst="rect">
            <a:avLst/>
          </a:prstGeom>
        </p:spPr>
      </p:pic>
      <p:pic>
        <p:nvPicPr>
          <p:cNvPr id="89" name="Imagen 88">
            <a:extLst>
              <a:ext uri="{FF2B5EF4-FFF2-40B4-BE49-F238E27FC236}">
                <a16:creationId xmlns:a16="http://schemas.microsoft.com/office/drawing/2014/main" id="{E88D4D88-E14E-C376-CAA4-B52DB5C5FE5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6496" b="91034" l="5526" r="89929">
                        <a14:foregroundMark x1="5526" y1="55901" x2="8556" y2="77951"/>
                        <a14:foregroundMark x1="33333" y1="65691" x2="33512" y2="78774"/>
                        <a14:foregroundMark x1="17291" y1="76212" x2="14706" y2="85819"/>
                        <a14:foregroundMark x1="14706" y1="60384" x2="14528" y2="84446"/>
                        <a14:foregroundMark x1="35383" y1="63312" x2="28253" y2="91034"/>
                        <a14:foregroundMark x1="50178" y1="50686" x2="51426" y2="61665"/>
                        <a14:foregroundMark x1="85740" y1="6496" x2="84759" y2="10796"/>
                        <a14:foregroundMark x1="77629" y1="43550" x2="64973" y2="47667"/>
                        <a14:foregroundMark x1="78610" y1="28728" x2="72727" y2="33303"/>
                        <a14:foregroundMark x1="80214" y1="18573" x2="77451" y2="26715"/>
                        <a14:foregroundMark x1="82086" y1="30009" x2="85294" y2="34401"/>
                        <a14:foregroundMark x1="85918" y1="9790" x2="85918" y2="9790"/>
                        <a14:foregroundMark x1="85472" y1="10887" x2="86185" y2="18298"/>
                        <a14:foregroundMark x1="45365" y1="45197" x2="22638" y2="48582"/>
                        <a14:foregroundMark x1="53832" y1="55261" x2="54011" y2="76212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8856552" y="4902997"/>
            <a:ext cx="236904" cy="230781"/>
          </a:xfrm>
          <a:prstGeom prst="rect">
            <a:avLst/>
          </a:prstGeom>
        </p:spPr>
      </p:pic>
      <p:pic>
        <p:nvPicPr>
          <p:cNvPr id="5" name="BARRAS_AVANCE_FONO" descr="image.png">
            <a:extLst>
              <a:ext uri="{FF2B5EF4-FFF2-40B4-BE49-F238E27FC236}">
                <a16:creationId xmlns:a16="http://schemas.microsoft.com/office/drawing/2014/main" id="{93403B95-B57B-CBC4-FF41-9350A871268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15768" y="1453896"/>
            <a:ext cx="6391656" cy="2587752"/>
          </a:xfrm>
          <a:prstGeom prst="rect">
            <a:avLst/>
          </a:prstGeom>
        </p:spPr>
      </p:pic>
      <p:sp>
        <p:nvSpPr>
          <p:cNvPr id="31" name="Shape 6">
            <a:extLst>
              <a:ext uri="{FF2B5EF4-FFF2-40B4-BE49-F238E27FC236}">
                <a16:creationId xmlns:a16="http://schemas.microsoft.com/office/drawing/2014/main" id="{6D6FFEC3-9CDC-ACCC-09D5-E64DD649870D}"/>
              </a:ext>
            </a:extLst>
          </p:cNvPr>
          <p:cNvSpPr/>
          <p:nvPr/>
        </p:nvSpPr>
        <p:spPr>
          <a:xfrm>
            <a:off x="134169" y="749808"/>
            <a:ext cx="2331720" cy="329184"/>
          </a:xfrm>
          <a:prstGeom prst="rect">
            <a:avLst/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3" name="Shape 7">
            <a:extLst>
              <a:ext uri="{FF2B5EF4-FFF2-40B4-BE49-F238E27FC236}">
                <a16:creationId xmlns:a16="http://schemas.microsoft.com/office/drawing/2014/main" id="{18EB2B28-7F64-66E3-37D2-62DF37DD5C5D}"/>
              </a:ext>
            </a:extLst>
          </p:cNvPr>
          <p:cNvSpPr/>
          <p:nvPr/>
        </p:nvSpPr>
        <p:spPr>
          <a:xfrm>
            <a:off x="225609" y="822960"/>
            <a:ext cx="164592" cy="164592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5" name="Text 8">
            <a:extLst>
              <a:ext uri="{FF2B5EF4-FFF2-40B4-BE49-F238E27FC236}">
                <a16:creationId xmlns:a16="http://schemas.microsoft.com/office/drawing/2014/main" id="{07BC38A4-FB55-131C-E699-D860CE9B25B2}"/>
              </a:ext>
            </a:extLst>
          </p:cNvPr>
          <p:cNvSpPr/>
          <p:nvPr/>
        </p:nvSpPr>
        <p:spPr>
          <a:xfrm>
            <a:off x="445065" y="749808"/>
            <a:ext cx="200253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DC2626"/>
                </a:solidFill>
              </a:rPr>
              <a:t>EN OBSERVACIÓN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D383087-F7EB-E87E-DFA9-A1CF06056D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D0A025FA-FA9F-2133-4A58-73FA393A2F0E}"/>
              </a:ext>
            </a:extLst>
          </p:cNvPr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22791697-C660-94E5-A1A8-8D7064ADA38E}"/>
              </a:ext>
            </a:extLst>
          </p:cNvPr>
          <p:cNvSpPr/>
          <p:nvPr/>
        </p:nvSpPr>
        <p:spPr>
          <a:xfrm>
            <a:off x="0" y="658368"/>
            <a:ext cx="9144000" cy="25603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734F1300-59BF-0049-9F17-BA4D369FC8EA}"/>
              </a:ext>
            </a:extLst>
          </p:cNvPr>
          <p:cNvSpPr/>
          <p:nvPr/>
        </p:nvSpPr>
        <p:spPr>
          <a:xfrm>
            <a:off x="201168" y="0"/>
            <a:ext cx="7498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30" dirty="0">
                <a:solidFill>
                  <a:srgbClr val="FFFFFF"/>
                </a:solidFill>
              </a:rPr>
              <a:t>EFECTIVA Y FONOCOMPRAS|  DIAGNOSTICO Y SEGUIMIENTO</a:t>
            </a:r>
            <a:endParaRPr lang="en-US" sz="1250" dirty="0"/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9816C696-95AD-DA1B-134C-E3A4800C965D}"/>
              </a:ext>
            </a:extLst>
          </p:cNvPr>
          <p:cNvSpPr/>
          <p:nvPr/>
        </p:nvSpPr>
        <p:spPr>
          <a:xfrm>
            <a:off x="8577072" y="713232"/>
            <a:ext cx="521208" cy="228600"/>
          </a:xfrm>
          <a:prstGeom prst="rect">
            <a:avLst/>
          </a:prstGeom>
          <a:solidFill>
            <a:srgbClr val="4A0E07"/>
          </a:solidFill>
          <a:ln w="12700">
            <a:solidFill>
              <a:srgbClr val="4A0E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6CD059E5-1C48-D24C-B419-8AEE66358A2B}"/>
              </a:ext>
            </a:extLst>
          </p:cNvPr>
          <p:cNvSpPr/>
          <p:nvPr/>
        </p:nvSpPr>
        <p:spPr>
          <a:xfrm>
            <a:off x="8577072" y="713232"/>
            <a:ext cx="5212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2 / 3</a:t>
            </a:r>
            <a:endParaRPr lang="en-US" sz="800" dirty="0"/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183D63F7-589C-60E2-A21B-CF1A5715C5E8}"/>
              </a:ext>
            </a:extLst>
          </p:cNvPr>
          <p:cNvSpPr/>
          <p:nvPr/>
        </p:nvSpPr>
        <p:spPr>
          <a:xfrm>
            <a:off x="0" y="749808"/>
            <a:ext cx="4160520" cy="310896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77CCD22F-0A25-CDF8-CB54-BF6262B0B6BE}"/>
              </a:ext>
            </a:extLst>
          </p:cNvPr>
          <p:cNvSpPr/>
          <p:nvPr/>
        </p:nvSpPr>
        <p:spPr>
          <a:xfrm>
            <a:off x="91440" y="749808"/>
            <a:ext cx="40690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kern="0" spc="30" dirty="0">
                <a:solidFill>
                  <a:srgbClr val="FFFFFF"/>
                </a:solidFill>
              </a:rPr>
              <a:t>SEGUIMIENTO PLAN SEMANA ANTERIOR</a:t>
            </a:r>
            <a:endParaRPr lang="en-US" sz="800" dirty="0"/>
          </a:p>
        </p:txBody>
      </p:sp>
      <p:sp>
        <p:nvSpPr>
          <p:cNvPr id="11" name="Shape 8">
            <a:extLst>
              <a:ext uri="{FF2B5EF4-FFF2-40B4-BE49-F238E27FC236}">
                <a16:creationId xmlns:a16="http://schemas.microsoft.com/office/drawing/2014/main" id="{A02F8562-1638-9C6A-D9F0-15417663777A}"/>
              </a:ext>
            </a:extLst>
          </p:cNvPr>
          <p:cNvSpPr/>
          <p:nvPr/>
        </p:nvSpPr>
        <p:spPr>
          <a:xfrm>
            <a:off x="0" y="1097280"/>
            <a:ext cx="4160520" cy="882396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2" name="Shape 9">
            <a:extLst>
              <a:ext uri="{FF2B5EF4-FFF2-40B4-BE49-F238E27FC236}">
                <a16:creationId xmlns:a16="http://schemas.microsoft.com/office/drawing/2014/main" id="{3856A065-A66C-2B42-CDAB-189153046711}"/>
              </a:ext>
            </a:extLst>
          </p:cNvPr>
          <p:cNvSpPr/>
          <p:nvPr/>
        </p:nvSpPr>
        <p:spPr>
          <a:xfrm>
            <a:off x="0" y="1097280"/>
            <a:ext cx="50292" cy="882396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72A23E7E-4539-E6F5-1502-78FF8817F8F8}"/>
              </a:ext>
            </a:extLst>
          </p:cNvPr>
          <p:cNvSpPr/>
          <p:nvPr/>
        </p:nvSpPr>
        <p:spPr>
          <a:xfrm>
            <a:off x="128016" y="1152144"/>
            <a:ext cx="3959352" cy="5104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11010"/>
                </a:solidFill>
              </a:rPr>
              <a:t>Operacion Fenix Tarjetas + mejora tabla de comision</a:t>
            </a:r>
            <a:endParaRPr lang="en-US" sz="950" dirty="0"/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484C78BF-265C-30F0-4BE3-627D52D43AAE}"/>
              </a:ext>
            </a:extLst>
          </p:cNvPr>
          <p:cNvSpPr/>
          <p:nvPr/>
        </p:nvSpPr>
        <p:spPr>
          <a:xfrm>
            <a:off x="128016" y="1635587"/>
            <a:ext cx="39593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30713"/>
                </a:solidFill>
              </a:rPr>
              <a:t>Ejecutado</a:t>
            </a:r>
            <a:endParaRPr lang="en-US" sz="900" dirty="0"/>
          </a:p>
        </p:txBody>
      </p:sp>
      <p:sp>
        <p:nvSpPr>
          <p:cNvPr id="15" name="Shape 12">
            <a:extLst>
              <a:ext uri="{FF2B5EF4-FFF2-40B4-BE49-F238E27FC236}">
                <a16:creationId xmlns:a16="http://schemas.microsoft.com/office/drawing/2014/main" id="{5A594C9B-0196-DB65-98AE-E71150BDE06A}"/>
              </a:ext>
            </a:extLst>
          </p:cNvPr>
          <p:cNvSpPr/>
          <p:nvPr/>
        </p:nvSpPr>
        <p:spPr>
          <a:xfrm>
            <a:off x="0" y="2025396"/>
            <a:ext cx="4160520" cy="882396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6" name="Shape 13">
            <a:extLst>
              <a:ext uri="{FF2B5EF4-FFF2-40B4-BE49-F238E27FC236}">
                <a16:creationId xmlns:a16="http://schemas.microsoft.com/office/drawing/2014/main" id="{4A2494AF-B537-B7E1-9E74-EB666F03B22F}"/>
              </a:ext>
            </a:extLst>
          </p:cNvPr>
          <p:cNvSpPr/>
          <p:nvPr/>
        </p:nvSpPr>
        <p:spPr>
          <a:xfrm>
            <a:off x="0" y="2025396"/>
            <a:ext cx="50292" cy="882396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7" name="Text 14">
            <a:extLst>
              <a:ext uri="{FF2B5EF4-FFF2-40B4-BE49-F238E27FC236}">
                <a16:creationId xmlns:a16="http://schemas.microsoft.com/office/drawing/2014/main" id="{E7AC2A0A-C385-A19C-7370-43080F470B5D}"/>
              </a:ext>
            </a:extLst>
          </p:cNvPr>
          <p:cNvSpPr/>
          <p:nvPr/>
        </p:nvSpPr>
        <p:spPr>
          <a:xfrm>
            <a:off x="128016" y="2080260"/>
            <a:ext cx="3959352" cy="5104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11010"/>
                </a:solidFill>
              </a:rPr>
              <a:t>Seguimiento base reciclada + cupones Fonocompras</a:t>
            </a:r>
            <a:endParaRPr lang="en-US" sz="950" dirty="0"/>
          </a:p>
        </p:txBody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52372521-86CE-2170-113B-B33F6A5B2CC3}"/>
              </a:ext>
            </a:extLst>
          </p:cNvPr>
          <p:cNvSpPr/>
          <p:nvPr/>
        </p:nvSpPr>
        <p:spPr>
          <a:xfrm>
            <a:off x="128016" y="2563703"/>
            <a:ext cx="39593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30713"/>
                </a:solidFill>
              </a:rPr>
              <a:t>Ejecutado</a:t>
            </a:r>
            <a:endParaRPr lang="en-US" sz="900" dirty="0"/>
          </a:p>
        </p:txBody>
      </p:sp>
      <p:sp>
        <p:nvSpPr>
          <p:cNvPr id="19" name="Shape 16">
            <a:extLst>
              <a:ext uri="{FF2B5EF4-FFF2-40B4-BE49-F238E27FC236}">
                <a16:creationId xmlns:a16="http://schemas.microsoft.com/office/drawing/2014/main" id="{F1C2B0AD-A340-522A-AE3C-6D1FDD9C5D6F}"/>
              </a:ext>
            </a:extLst>
          </p:cNvPr>
          <p:cNvSpPr/>
          <p:nvPr/>
        </p:nvSpPr>
        <p:spPr>
          <a:xfrm>
            <a:off x="0" y="2953512"/>
            <a:ext cx="4160520" cy="882396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0" name="Shape 17">
            <a:extLst>
              <a:ext uri="{FF2B5EF4-FFF2-40B4-BE49-F238E27FC236}">
                <a16:creationId xmlns:a16="http://schemas.microsoft.com/office/drawing/2014/main" id="{D760219C-0161-E58B-5CFE-279CBC8C274A}"/>
              </a:ext>
            </a:extLst>
          </p:cNvPr>
          <p:cNvSpPr/>
          <p:nvPr/>
        </p:nvSpPr>
        <p:spPr>
          <a:xfrm>
            <a:off x="0" y="2953512"/>
            <a:ext cx="50292" cy="882396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1" name="Text 18">
            <a:extLst>
              <a:ext uri="{FF2B5EF4-FFF2-40B4-BE49-F238E27FC236}">
                <a16:creationId xmlns:a16="http://schemas.microsoft.com/office/drawing/2014/main" id="{408874E7-3A7F-C84C-F099-48422C19A42D}"/>
              </a:ext>
            </a:extLst>
          </p:cNvPr>
          <p:cNvSpPr/>
          <p:nvPr/>
        </p:nvSpPr>
        <p:spPr>
          <a:xfrm>
            <a:off x="128016" y="3008376"/>
            <a:ext cx="3959352" cy="5104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11010"/>
                </a:solidFill>
              </a:rPr>
              <a:t>Intensidad x5 base Efectivo — Dormidos RECORD 145%</a:t>
            </a:r>
            <a:endParaRPr lang="en-US" sz="950" dirty="0"/>
          </a:p>
        </p:txBody>
      </p:sp>
      <p:sp>
        <p:nvSpPr>
          <p:cNvPr id="22" name="Text 19">
            <a:extLst>
              <a:ext uri="{FF2B5EF4-FFF2-40B4-BE49-F238E27FC236}">
                <a16:creationId xmlns:a16="http://schemas.microsoft.com/office/drawing/2014/main" id="{4E5ECA30-3937-1D1E-E3B6-6D8275528C16}"/>
              </a:ext>
            </a:extLst>
          </p:cNvPr>
          <p:cNvSpPr/>
          <p:nvPr/>
        </p:nvSpPr>
        <p:spPr>
          <a:xfrm>
            <a:off x="128016" y="3491819"/>
            <a:ext cx="39593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30713"/>
                </a:solidFill>
              </a:rPr>
              <a:t>Ejecutado</a:t>
            </a:r>
            <a:endParaRPr lang="en-US" sz="900" dirty="0"/>
          </a:p>
        </p:txBody>
      </p:sp>
      <p:sp>
        <p:nvSpPr>
          <p:cNvPr id="23" name="Shape 20">
            <a:extLst>
              <a:ext uri="{FF2B5EF4-FFF2-40B4-BE49-F238E27FC236}">
                <a16:creationId xmlns:a16="http://schemas.microsoft.com/office/drawing/2014/main" id="{D5E6A2F1-4745-234E-6F7A-2DE5347FE022}"/>
              </a:ext>
            </a:extLst>
          </p:cNvPr>
          <p:cNvSpPr/>
          <p:nvPr/>
        </p:nvSpPr>
        <p:spPr>
          <a:xfrm>
            <a:off x="0" y="3881628"/>
            <a:ext cx="4160520" cy="882396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4" name="Shape 21">
            <a:extLst>
              <a:ext uri="{FF2B5EF4-FFF2-40B4-BE49-F238E27FC236}">
                <a16:creationId xmlns:a16="http://schemas.microsoft.com/office/drawing/2014/main" id="{CCF7376A-8F8F-F922-2F9F-D25055D6D126}"/>
              </a:ext>
            </a:extLst>
          </p:cNvPr>
          <p:cNvSpPr/>
          <p:nvPr/>
        </p:nvSpPr>
        <p:spPr>
          <a:xfrm>
            <a:off x="0" y="3881628"/>
            <a:ext cx="50292" cy="882396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5" name="Text 22">
            <a:extLst>
              <a:ext uri="{FF2B5EF4-FFF2-40B4-BE49-F238E27FC236}">
                <a16:creationId xmlns:a16="http://schemas.microsoft.com/office/drawing/2014/main" id="{EB555759-E1C5-FDDF-D76E-DA8F38008CF8}"/>
              </a:ext>
            </a:extLst>
          </p:cNvPr>
          <p:cNvSpPr/>
          <p:nvPr/>
        </p:nvSpPr>
        <p:spPr>
          <a:xfrm>
            <a:off x="128016" y="3936492"/>
            <a:ext cx="3959352" cy="5104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11010"/>
                </a:solidFill>
              </a:rPr>
              <a:t>Full agendamiento BanBif + desembolso en linea</a:t>
            </a:r>
            <a:endParaRPr lang="en-US" sz="950" dirty="0"/>
          </a:p>
        </p:txBody>
      </p:sp>
      <p:sp>
        <p:nvSpPr>
          <p:cNvPr id="26" name="Text 23">
            <a:extLst>
              <a:ext uri="{FF2B5EF4-FFF2-40B4-BE49-F238E27FC236}">
                <a16:creationId xmlns:a16="http://schemas.microsoft.com/office/drawing/2014/main" id="{708FD6D9-4757-E19F-D152-068E6EFC0A16}"/>
              </a:ext>
            </a:extLst>
          </p:cNvPr>
          <p:cNvSpPr/>
          <p:nvPr/>
        </p:nvSpPr>
        <p:spPr>
          <a:xfrm>
            <a:off x="128016" y="4419935"/>
            <a:ext cx="39593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30713"/>
                </a:solidFill>
              </a:rPr>
              <a:t>Ejecutado</a:t>
            </a:r>
            <a:endParaRPr lang="en-US" sz="900" dirty="0"/>
          </a:p>
        </p:txBody>
      </p:sp>
      <p:sp>
        <p:nvSpPr>
          <p:cNvPr id="27" name="Shape 24">
            <a:extLst>
              <a:ext uri="{FF2B5EF4-FFF2-40B4-BE49-F238E27FC236}">
                <a16:creationId xmlns:a16="http://schemas.microsoft.com/office/drawing/2014/main" id="{B0B5EB40-F0D7-B967-CFB7-772ACB59FA13}"/>
              </a:ext>
            </a:extLst>
          </p:cNvPr>
          <p:cNvSpPr/>
          <p:nvPr/>
        </p:nvSpPr>
        <p:spPr>
          <a:xfrm>
            <a:off x="4242816" y="749808"/>
            <a:ext cx="18288" cy="4059936"/>
          </a:xfrm>
          <a:prstGeom prst="rect">
            <a:avLst/>
          </a:prstGeom>
          <a:solidFill>
            <a:srgbClr val="E5DFD8"/>
          </a:solidFill>
          <a:ln w="1270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8" name="Shape 25">
            <a:extLst>
              <a:ext uri="{FF2B5EF4-FFF2-40B4-BE49-F238E27FC236}">
                <a16:creationId xmlns:a16="http://schemas.microsoft.com/office/drawing/2014/main" id="{0577D150-F49B-748B-5D45-A30360722C4A}"/>
              </a:ext>
            </a:extLst>
          </p:cNvPr>
          <p:cNvSpPr/>
          <p:nvPr/>
        </p:nvSpPr>
        <p:spPr>
          <a:xfrm>
            <a:off x="4343400" y="749808"/>
            <a:ext cx="4800600" cy="310896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9" name="Text 26">
            <a:extLst>
              <a:ext uri="{FF2B5EF4-FFF2-40B4-BE49-F238E27FC236}">
                <a16:creationId xmlns:a16="http://schemas.microsoft.com/office/drawing/2014/main" id="{29DFD249-DDF3-B911-7FA0-4305845D93D6}"/>
              </a:ext>
            </a:extLst>
          </p:cNvPr>
          <p:cNvSpPr/>
          <p:nvPr/>
        </p:nvSpPr>
        <p:spPr>
          <a:xfrm>
            <a:off x="4434840" y="749808"/>
            <a:ext cx="4709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kern="0" spc="30" dirty="0">
                <a:solidFill>
                  <a:srgbClr val="FFFFFF"/>
                </a:solidFill>
              </a:rPr>
              <a:t>DIAGNOSTICO MES ACTUAL — CAUSAS RAIZ</a:t>
            </a:r>
            <a:endParaRPr lang="en-US" sz="800" dirty="0"/>
          </a:p>
        </p:txBody>
      </p:sp>
      <p:sp>
        <p:nvSpPr>
          <p:cNvPr id="30" name="Shape 27">
            <a:extLst>
              <a:ext uri="{FF2B5EF4-FFF2-40B4-BE49-F238E27FC236}">
                <a16:creationId xmlns:a16="http://schemas.microsoft.com/office/drawing/2014/main" id="{37E15F6C-015B-6E2A-6194-2DE36D1E62CB}"/>
              </a:ext>
            </a:extLst>
          </p:cNvPr>
          <p:cNvSpPr/>
          <p:nvPr/>
        </p:nvSpPr>
        <p:spPr>
          <a:xfrm>
            <a:off x="4343400" y="1097280"/>
            <a:ext cx="4800600" cy="1173480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1" name="Shape 28">
            <a:extLst>
              <a:ext uri="{FF2B5EF4-FFF2-40B4-BE49-F238E27FC236}">
                <a16:creationId xmlns:a16="http://schemas.microsoft.com/office/drawing/2014/main" id="{6B2A5AFD-F91F-53BC-6E62-9C998831936A}"/>
              </a:ext>
            </a:extLst>
          </p:cNvPr>
          <p:cNvSpPr/>
          <p:nvPr/>
        </p:nvSpPr>
        <p:spPr>
          <a:xfrm>
            <a:off x="4343400" y="1097280"/>
            <a:ext cx="502920" cy="1173480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2" name="Text 29">
            <a:extLst>
              <a:ext uri="{FF2B5EF4-FFF2-40B4-BE49-F238E27FC236}">
                <a16:creationId xmlns:a16="http://schemas.microsoft.com/office/drawing/2014/main" id="{444F2494-C489-B8FA-F2DF-9F965817934F}"/>
              </a:ext>
            </a:extLst>
          </p:cNvPr>
          <p:cNvSpPr/>
          <p:nvPr/>
        </p:nvSpPr>
        <p:spPr>
          <a:xfrm>
            <a:off x="4343400" y="1097280"/>
            <a:ext cx="502920" cy="1173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1</a:t>
            </a:r>
            <a:endParaRPr lang="en-US" sz="1800" dirty="0"/>
          </a:p>
        </p:txBody>
      </p:sp>
      <p:sp>
        <p:nvSpPr>
          <p:cNvPr id="33" name="Text 30">
            <a:extLst>
              <a:ext uri="{FF2B5EF4-FFF2-40B4-BE49-F238E27FC236}">
                <a16:creationId xmlns:a16="http://schemas.microsoft.com/office/drawing/2014/main" id="{9B5F1FAC-F05F-2C31-AD0F-A205F48456F9}"/>
              </a:ext>
            </a:extLst>
          </p:cNvPr>
          <p:cNvSpPr/>
          <p:nvPr/>
        </p:nvSpPr>
        <p:spPr>
          <a:xfrm>
            <a:off x="4937760" y="118872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B150B"/>
                </a:solidFill>
              </a:rPr>
              <a:t>Tarjetas: 8 asesores pendientes de induccion</a:t>
            </a:r>
            <a:endParaRPr lang="en-US" sz="1100" dirty="0"/>
          </a:p>
        </p:txBody>
      </p:sp>
      <p:sp>
        <p:nvSpPr>
          <p:cNvPr id="34" name="Text 31">
            <a:extLst>
              <a:ext uri="{FF2B5EF4-FFF2-40B4-BE49-F238E27FC236}">
                <a16:creationId xmlns:a16="http://schemas.microsoft.com/office/drawing/2014/main" id="{EE99228C-BAE7-A1D3-4F30-A64965511433}"/>
              </a:ext>
            </a:extLst>
          </p:cNvPr>
          <p:cNvSpPr/>
          <p:nvPr/>
        </p:nvSpPr>
        <p:spPr>
          <a:xfrm>
            <a:off x="4937760" y="1444752"/>
            <a:ext cx="4114800" cy="51974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11010"/>
                </a:solidFill>
              </a:rPr>
              <a:t>16% del presupuesto sin productividad. Tasa CET por mejorar — brecha del 15%.</a:t>
            </a:r>
            <a:endParaRPr lang="en-US" sz="900" dirty="0"/>
          </a:p>
        </p:txBody>
      </p:sp>
      <p:sp>
        <p:nvSpPr>
          <p:cNvPr id="35" name="Shape 32">
            <a:extLst>
              <a:ext uri="{FF2B5EF4-FFF2-40B4-BE49-F238E27FC236}">
                <a16:creationId xmlns:a16="http://schemas.microsoft.com/office/drawing/2014/main" id="{F04686CE-0131-1663-A01E-B067BFC67CDF}"/>
              </a:ext>
            </a:extLst>
          </p:cNvPr>
          <p:cNvSpPr/>
          <p:nvPr/>
        </p:nvSpPr>
        <p:spPr>
          <a:xfrm>
            <a:off x="4937760" y="1996440"/>
            <a:ext cx="1005840" cy="219456"/>
          </a:xfrm>
          <a:prstGeom prst="rect">
            <a:avLst/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6" name="Text 33">
            <a:extLst>
              <a:ext uri="{FF2B5EF4-FFF2-40B4-BE49-F238E27FC236}">
                <a16:creationId xmlns:a16="http://schemas.microsoft.com/office/drawing/2014/main" id="{8D8B06C0-AF82-B732-D748-109ED55DB9D6}"/>
              </a:ext>
            </a:extLst>
          </p:cNvPr>
          <p:cNvSpPr/>
          <p:nvPr/>
        </p:nvSpPr>
        <p:spPr>
          <a:xfrm>
            <a:off x="4937760" y="1996440"/>
            <a:ext cx="1005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DC2626"/>
                </a:solidFill>
              </a:rPr>
              <a:t>Impacto Alto</a:t>
            </a:r>
            <a:endParaRPr lang="en-US" sz="850" dirty="0"/>
          </a:p>
        </p:txBody>
      </p:sp>
      <p:sp>
        <p:nvSpPr>
          <p:cNvPr id="37" name="Shape 34">
            <a:extLst>
              <a:ext uri="{FF2B5EF4-FFF2-40B4-BE49-F238E27FC236}">
                <a16:creationId xmlns:a16="http://schemas.microsoft.com/office/drawing/2014/main" id="{5D800B76-E9C5-AF6C-B1C5-50ED04C3F451}"/>
              </a:ext>
            </a:extLst>
          </p:cNvPr>
          <p:cNvSpPr/>
          <p:nvPr/>
        </p:nvSpPr>
        <p:spPr>
          <a:xfrm>
            <a:off x="4343400" y="2334768"/>
            <a:ext cx="4800600" cy="1173480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8" name="Shape 35">
            <a:extLst>
              <a:ext uri="{FF2B5EF4-FFF2-40B4-BE49-F238E27FC236}">
                <a16:creationId xmlns:a16="http://schemas.microsoft.com/office/drawing/2014/main" id="{B28470CA-FDF8-BB32-928C-4B6C14A82AD3}"/>
              </a:ext>
            </a:extLst>
          </p:cNvPr>
          <p:cNvSpPr/>
          <p:nvPr/>
        </p:nvSpPr>
        <p:spPr>
          <a:xfrm>
            <a:off x="4343400" y="2334768"/>
            <a:ext cx="502920" cy="1173480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9" name="Text 36">
            <a:extLst>
              <a:ext uri="{FF2B5EF4-FFF2-40B4-BE49-F238E27FC236}">
                <a16:creationId xmlns:a16="http://schemas.microsoft.com/office/drawing/2014/main" id="{00176589-B3C1-100A-8FC9-D85F49E50111}"/>
              </a:ext>
            </a:extLst>
          </p:cNvPr>
          <p:cNvSpPr/>
          <p:nvPr/>
        </p:nvSpPr>
        <p:spPr>
          <a:xfrm>
            <a:off x="4343400" y="2334768"/>
            <a:ext cx="502920" cy="1173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2</a:t>
            </a:r>
            <a:endParaRPr lang="en-US" sz="1800" dirty="0"/>
          </a:p>
        </p:txBody>
      </p:sp>
      <p:sp>
        <p:nvSpPr>
          <p:cNvPr id="40" name="Text 37">
            <a:extLst>
              <a:ext uri="{FF2B5EF4-FFF2-40B4-BE49-F238E27FC236}">
                <a16:creationId xmlns:a16="http://schemas.microsoft.com/office/drawing/2014/main" id="{ADD83951-9FB8-5085-D085-91431C496B37}"/>
              </a:ext>
            </a:extLst>
          </p:cNvPr>
          <p:cNvSpPr/>
          <p:nvPr/>
        </p:nvSpPr>
        <p:spPr>
          <a:xfrm>
            <a:off x="4937760" y="2426208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B150B"/>
                </a:solidFill>
              </a:rPr>
              <a:t>Fonocompras: 2 pendientes OB + 2 pendientes IB</a:t>
            </a:r>
            <a:endParaRPr lang="en-US" sz="1100" dirty="0"/>
          </a:p>
        </p:txBody>
      </p:sp>
      <p:sp>
        <p:nvSpPr>
          <p:cNvPr id="41" name="Text 38">
            <a:extLst>
              <a:ext uri="{FF2B5EF4-FFF2-40B4-BE49-F238E27FC236}">
                <a16:creationId xmlns:a16="http://schemas.microsoft.com/office/drawing/2014/main" id="{0BCFDF2D-83EF-CD99-6F0B-85E04F90D7ED}"/>
              </a:ext>
            </a:extLst>
          </p:cNvPr>
          <p:cNvSpPr/>
          <p:nvPr/>
        </p:nvSpPr>
        <p:spPr>
          <a:xfrm>
            <a:off x="4937760" y="2682240"/>
            <a:ext cx="4114800" cy="51974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11010"/>
                </a:solidFill>
              </a:rPr>
              <a:t>Brecha del 12% en ambos canales. Un asesor con menor productividad cada uno.</a:t>
            </a:r>
            <a:endParaRPr lang="en-US" sz="900" dirty="0"/>
          </a:p>
        </p:txBody>
      </p:sp>
      <p:sp>
        <p:nvSpPr>
          <p:cNvPr id="42" name="Shape 39">
            <a:extLst>
              <a:ext uri="{FF2B5EF4-FFF2-40B4-BE49-F238E27FC236}">
                <a16:creationId xmlns:a16="http://schemas.microsoft.com/office/drawing/2014/main" id="{656D53DE-05ED-88F9-0F6F-AA5A6CF4B98C}"/>
              </a:ext>
            </a:extLst>
          </p:cNvPr>
          <p:cNvSpPr/>
          <p:nvPr/>
        </p:nvSpPr>
        <p:spPr>
          <a:xfrm>
            <a:off x="4937760" y="3233928"/>
            <a:ext cx="1005840" cy="219456"/>
          </a:xfrm>
          <a:prstGeom prst="rect">
            <a:avLst/>
          </a:prstGeom>
          <a:solidFill>
            <a:srgbClr val="FEECEE"/>
          </a:solidFill>
          <a:ln w="12700">
            <a:solidFill>
              <a:srgbClr val="FEECEE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3" name="Text 40">
            <a:extLst>
              <a:ext uri="{FF2B5EF4-FFF2-40B4-BE49-F238E27FC236}">
                <a16:creationId xmlns:a16="http://schemas.microsoft.com/office/drawing/2014/main" id="{3251122E-37E0-170B-0E31-F7B146C60385}"/>
              </a:ext>
            </a:extLst>
          </p:cNvPr>
          <p:cNvSpPr/>
          <p:nvPr/>
        </p:nvSpPr>
        <p:spPr>
          <a:xfrm>
            <a:off x="4937760" y="3233928"/>
            <a:ext cx="1005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E30713"/>
                </a:solidFill>
              </a:rPr>
              <a:t>Impacto Bajo</a:t>
            </a:r>
            <a:endParaRPr lang="en-US" sz="850" dirty="0"/>
          </a:p>
        </p:txBody>
      </p:sp>
      <p:sp>
        <p:nvSpPr>
          <p:cNvPr id="44" name="Shape 41">
            <a:extLst>
              <a:ext uri="{FF2B5EF4-FFF2-40B4-BE49-F238E27FC236}">
                <a16:creationId xmlns:a16="http://schemas.microsoft.com/office/drawing/2014/main" id="{BF241DA4-9F4B-6515-ECBE-6D02CEBB0F1D}"/>
              </a:ext>
            </a:extLst>
          </p:cNvPr>
          <p:cNvSpPr/>
          <p:nvPr/>
        </p:nvSpPr>
        <p:spPr>
          <a:xfrm>
            <a:off x="4343400" y="3572256"/>
            <a:ext cx="4800600" cy="1173480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5" name="Shape 42">
            <a:extLst>
              <a:ext uri="{FF2B5EF4-FFF2-40B4-BE49-F238E27FC236}">
                <a16:creationId xmlns:a16="http://schemas.microsoft.com/office/drawing/2014/main" id="{0E48C422-573B-79DA-EEFC-DEE123F857B3}"/>
              </a:ext>
            </a:extLst>
          </p:cNvPr>
          <p:cNvSpPr/>
          <p:nvPr/>
        </p:nvSpPr>
        <p:spPr>
          <a:xfrm>
            <a:off x="4343400" y="3572256"/>
            <a:ext cx="502920" cy="1173480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6" name="Text 43">
            <a:extLst>
              <a:ext uri="{FF2B5EF4-FFF2-40B4-BE49-F238E27FC236}">
                <a16:creationId xmlns:a16="http://schemas.microsoft.com/office/drawing/2014/main" id="{2503A433-9E4C-5943-610A-10357D48B3AE}"/>
              </a:ext>
            </a:extLst>
          </p:cNvPr>
          <p:cNvSpPr/>
          <p:nvPr/>
        </p:nvSpPr>
        <p:spPr>
          <a:xfrm>
            <a:off x="4343400" y="3572256"/>
            <a:ext cx="502920" cy="1173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3</a:t>
            </a:r>
            <a:endParaRPr lang="en-US" sz="1800" dirty="0"/>
          </a:p>
        </p:txBody>
      </p:sp>
      <p:sp>
        <p:nvSpPr>
          <p:cNvPr id="47" name="Text 44">
            <a:extLst>
              <a:ext uri="{FF2B5EF4-FFF2-40B4-BE49-F238E27FC236}">
                <a16:creationId xmlns:a16="http://schemas.microsoft.com/office/drawing/2014/main" id="{2C52C031-66FA-6E6F-410D-EE91D62989D5}"/>
              </a:ext>
            </a:extLst>
          </p:cNvPr>
          <p:cNvSpPr/>
          <p:nvPr/>
        </p:nvSpPr>
        <p:spPr>
          <a:xfrm>
            <a:off x="4937760" y="3663696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B150B"/>
                </a:solidFill>
              </a:rPr>
              <a:t>Efectivo: Recurrentes al 65% en recuperacion</a:t>
            </a:r>
            <a:endParaRPr lang="en-US" sz="1100" dirty="0"/>
          </a:p>
        </p:txBody>
      </p:sp>
      <p:sp>
        <p:nvSpPr>
          <p:cNvPr id="48" name="Text 45">
            <a:extLst>
              <a:ext uri="{FF2B5EF4-FFF2-40B4-BE49-F238E27FC236}">
                <a16:creationId xmlns:a16="http://schemas.microsoft.com/office/drawing/2014/main" id="{58D4F7EC-3C1C-8093-F555-759C090F41F0}"/>
              </a:ext>
            </a:extLst>
          </p:cNvPr>
          <p:cNvSpPr/>
          <p:nvPr/>
        </p:nvSpPr>
        <p:spPr>
          <a:xfrm>
            <a:off x="4937760" y="3919728"/>
            <a:ext cx="4114800" cy="51974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11010"/>
                </a:solidFill>
              </a:rPr>
              <a:t>Base parcialmente agotada. Dormidos 145% y Nuevos 171% compensan la brecha.</a:t>
            </a:r>
            <a:endParaRPr lang="en-US" sz="900" dirty="0"/>
          </a:p>
        </p:txBody>
      </p:sp>
      <p:sp>
        <p:nvSpPr>
          <p:cNvPr id="49" name="Shape 46">
            <a:extLst>
              <a:ext uri="{FF2B5EF4-FFF2-40B4-BE49-F238E27FC236}">
                <a16:creationId xmlns:a16="http://schemas.microsoft.com/office/drawing/2014/main" id="{05570C27-A0D8-E4B0-10CD-443173FAA70C}"/>
              </a:ext>
            </a:extLst>
          </p:cNvPr>
          <p:cNvSpPr/>
          <p:nvPr/>
        </p:nvSpPr>
        <p:spPr>
          <a:xfrm>
            <a:off x="4937760" y="4471416"/>
            <a:ext cx="1005840" cy="219456"/>
          </a:xfrm>
          <a:prstGeom prst="rect">
            <a:avLst/>
          </a:prstGeom>
          <a:solidFill>
            <a:srgbClr val="FEF9E7"/>
          </a:solidFill>
          <a:ln w="12700">
            <a:solidFill>
              <a:srgbClr val="FEF9E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0" name="Text 47">
            <a:extLst>
              <a:ext uri="{FF2B5EF4-FFF2-40B4-BE49-F238E27FC236}">
                <a16:creationId xmlns:a16="http://schemas.microsoft.com/office/drawing/2014/main" id="{F81A0FE7-527F-2FEC-CDC6-2C0ABCFC444E}"/>
              </a:ext>
            </a:extLst>
          </p:cNvPr>
          <p:cNvSpPr/>
          <p:nvPr/>
        </p:nvSpPr>
        <p:spPr>
          <a:xfrm>
            <a:off x="4937760" y="4471416"/>
            <a:ext cx="1005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C97A0C"/>
                </a:solidFill>
              </a:rPr>
              <a:t>Impacto Medio</a:t>
            </a:r>
            <a:endParaRPr lang="en-US" sz="850" dirty="0"/>
          </a:p>
        </p:txBody>
      </p:sp>
      <p:sp>
        <p:nvSpPr>
          <p:cNvPr id="51" name="Shape 48">
            <a:extLst>
              <a:ext uri="{FF2B5EF4-FFF2-40B4-BE49-F238E27FC236}">
                <a16:creationId xmlns:a16="http://schemas.microsoft.com/office/drawing/2014/main" id="{476394A6-3F4C-1465-F509-08187E957C5F}"/>
              </a:ext>
            </a:extLst>
          </p:cNvPr>
          <p:cNvSpPr/>
          <p:nvPr/>
        </p:nvSpPr>
        <p:spPr>
          <a:xfrm>
            <a:off x="0" y="4407408"/>
            <a:ext cx="9144000" cy="365760"/>
          </a:xfrm>
          <a:prstGeom prst="rect">
            <a:avLst/>
          </a:prstGeom>
          <a:solidFill>
            <a:srgbClr val="FBF2F0"/>
          </a:solidFill>
          <a:ln w="6350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2" name="Text 49">
            <a:extLst>
              <a:ext uri="{FF2B5EF4-FFF2-40B4-BE49-F238E27FC236}">
                <a16:creationId xmlns:a16="http://schemas.microsoft.com/office/drawing/2014/main" id="{FCDC0EAA-717F-5140-4D8E-41B76DDEA1EC}"/>
              </a:ext>
            </a:extLst>
          </p:cNvPr>
          <p:cNvSpPr/>
          <p:nvPr/>
        </p:nvSpPr>
        <p:spPr>
          <a:xfrm>
            <a:off x="164592" y="4407408"/>
            <a:ext cx="8869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6B150B"/>
                </a:solidFill>
              </a:rPr>
              <a:t>Nota: BanBif cumplido al 100% (S/ 1,503,083). Foco en Tarjetas e induccion pendiente.</a:t>
            </a:r>
            <a:endParaRPr lang="en-US" sz="850" dirty="0"/>
          </a:p>
        </p:txBody>
      </p:sp>
      <p:sp>
        <p:nvSpPr>
          <p:cNvPr id="53" name="Shape 50">
            <a:extLst>
              <a:ext uri="{FF2B5EF4-FFF2-40B4-BE49-F238E27FC236}">
                <a16:creationId xmlns:a16="http://schemas.microsoft.com/office/drawing/2014/main" id="{2C9D7E13-64E1-D4AB-8D67-F0C7E6D5E33C}"/>
              </a:ext>
            </a:extLst>
          </p:cNvPr>
          <p:cNvSpPr/>
          <p:nvPr/>
        </p:nvSpPr>
        <p:spPr>
          <a:xfrm>
            <a:off x="0" y="4864608"/>
            <a:ext cx="9144000" cy="256032"/>
          </a:xfrm>
          <a:prstGeom prst="rect">
            <a:avLst/>
          </a:prstGeom>
          <a:solidFill>
            <a:srgbClr val="FAF8F6"/>
          </a:solidFill>
          <a:ln w="381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4" name="Shape 51">
            <a:extLst>
              <a:ext uri="{FF2B5EF4-FFF2-40B4-BE49-F238E27FC236}">
                <a16:creationId xmlns:a16="http://schemas.microsoft.com/office/drawing/2014/main" id="{8EE25665-97A4-9A3E-BFC3-100B15E1C673}"/>
              </a:ext>
            </a:extLst>
          </p:cNvPr>
          <p:cNvSpPr/>
          <p:nvPr/>
        </p:nvSpPr>
        <p:spPr>
          <a:xfrm>
            <a:off x="0" y="4864608"/>
            <a:ext cx="9144000" cy="16459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5" name="Text 52">
            <a:extLst>
              <a:ext uri="{FF2B5EF4-FFF2-40B4-BE49-F238E27FC236}">
                <a16:creationId xmlns:a16="http://schemas.microsoft.com/office/drawing/2014/main" id="{1D8E8564-35D1-B8EA-4F1E-1AA164FBAA7A}"/>
              </a:ext>
            </a:extLst>
          </p:cNvPr>
          <p:cNvSpPr/>
          <p:nvPr/>
        </p:nvSpPr>
        <p:spPr>
          <a:xfrm>
            <a:off x="164592" y="4864608"/>
            <a:ext cx="7863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A9189"/>
                </a:solidFill>
              </a:rPr>
              <a:t>GRUPO EFE  |  MONICA MOGOLLON  —  DIAGNOSTICO  |  Monica Mogollon  |  Cierre Julio 2026</a:t>
            </a:r>
            <a:endParaRPr lang="en-US" sz="750" dirty="0"/>
          </a:p>
        </p:txBody>
      </p:sp>
      <p:pic>
        <p:nvPicPr>
          <p:cNvPr id="58" name="Picture 76">
            <a:extLst>
              <a:ext uri="{FF2B5EF4-FFF2-40B4-BE49-F238E27FC236}">
                <a16:creationId xmlns:a16="http://schemas.microsoft.com/office/drawing/2014/main" id="{BD549FAA-CC46-D6F4-9FC9-C85F40C25B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60019" y="-106317"/>
            <a:ext cx="948004" cy="948004"/>
          </a:xfrm>
          <a:prstGeom prst="rect">
            <a:avLst/>
          </a:prstGeom>
        </p:spPr>
      </p:pic>
      <p:pic>
        <p:nvPicPr>
          <p:cNvPr id="60" name="Imagen 59">
            <a:extLst>
              <a:ext uri="{FF2B5EF4-FFF2-40B4-BE49-F238E27FC236}">
                <a16:creationId xmlns:a16="http://schemas.microsoft.com/office/drawing/2014/main" id="{C66F6BA0-751F-A43D-0C8B-47DF27B1F17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6496" b="91034" l="5526" r="89929">
                        <a14:foregroundMark x1="5526" y1="55901" x2="8556" y2="77951"/>
                        <a14:foregroundMark x1="33333" y1="65691" x2="33512" y2="78774"/>
                        <a14:foregroundMark x1="17291" y1="76212" x2="14706" y2="85819"/>
                        <a14:foregroundMark x1="14706" y1="60384" x2="14528" y2="84446"/>
                        <a14:foregroundMark x1="35383" y1="63312" x2="28253" y2="91034"/>
                        <a14:foregroundMark x1="50178" y1="50686" x2="51426" y2="61665"/>
                        <a14:foregroundMark x1="85740" y1="6496" x2="84759" y2="10796"/>
                        <a14:foregroundMark x1="77629" y1="43550" x2="64973" y2="47667"/>
                        <a14:foregroundMark x1="78610" y1="28728" x2="72727" y2="33303"/>
                        <a14:foregroundMark x1="80214" y1="18573" x2="77451" y2="26715"/>
                        <a14:foregroundMark x1="82086" y1="30009" x2="85294" y2="34401"/>
                        <a14:foregroundMark x1="85918" y1="9790" x2="85918" y2="9790"/>
                        <a14:foregroundMark x1="85472" y1="10887" x2="86185" y2="18298"/>
                        <a14:foregroundMark x1="45365" y1="45197" x2="22638" y2="48582"/>
                        <a14:foregroundMark x1="53832" y1="55261" x2="54011" y2="76212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8856552" y="4902997"/>
            <a:ext cx="236904" cy="2307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867615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A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658368"/>
            <a:ext cx="9144000" cy="25603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01168" y="0"/>
            <a:ext cx="7498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50" b="1" kern="0" spc="30" dirty="0">
                <a:solidFill>
                  <a:srgbClr val="FFFFFF"/>
                </a:solidFill>
              </a:rPr>
              <a:t>DINERS  |  TARJETAS DE CREDITO: :  Información al 18 de Julio 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8577072" y="713232"/>
            <a:ext cx="5212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1 / 1</a:t>
            </a:r>
            <a:endParaRPr lang="en-US" sz="800" dirty="0"/>
          </a:p>
        </p:txBody>
      </p:sp>
      <p:sp>
        <p:nvSpPr>
          <p:cNvPr id="12" name="Text 9"/>
          <p:cNvSpPr/>
          <p:nvPr/>
        </p:nvSpPr>
        <p:spPr>
          <a:xfrm>
            <a:off x="201168" y="1115568"/>
            <a:ext cx="2331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9A9189"/>
                </a:solidFill>
              </a:rPr>
              <a:t>Sub Gerente: Bruno Rivera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174532" y="2044724"/>
            <a:ext cx="23317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0" b="1" dirty="0">
                <a:solidFill>
                  <a:srgbClr val="DC2626"/>
                </a:solidFill>
              </a:rPr>
              <a:t>16.0%</a:t>
            </a:r>
            <a:endParaRPr lang="en-US" sz="7200" dirty="0"/>
          </a:p>
        </p:txBody>
      </p:sp>
      <p:sp>
        <p:nvSpPr>
          <p:cNvPr id="27" name="Shape 24"/>
          <p:cNvSpPr/>
          <p:nvPr/>
        </p:nvSpPr>
        <p:spPr>
          <a:xfrm>
            <a:off x="2651760" y="749808"/>
            <a:ext cx="18288" cy="4078224"/>
          </a:xfrm>
          <a:prstGeom prst="rect">
            <a:avLst/>
          </a:prstGeom>
          <a:solidFill>
            <a:srgbClr val="E5DFD8"/>
          </a:solidFill>
          <a:ln w="1270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4" name="Shape 31"/>
          <p:cNvSpPr/>
          <p:nvPr/>
        </p:nvSpPr>
        <p:spPr>
          <a:xfrm>
            <a:off x="2999232" y="4645152"/>
            <a:ext cx="5861304" cy="0"/>
          </a:xfrm>
          <a:prstGeom prst="line">
            <a:avLst/>
          </a:prstGeom>
          <a:noFill/>
          <a:ln w="6350">
            <a:solidFill>
              <a:srgbClr val="F3F4F6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5" name="Shape 32"/>
          <p:cNvSpPr/>
          <p:nvPr/>
        </p:nvSpPr>
        <p:spPr>
          <a:xfrm>
            <a:off x="2999232" y="3505200"/>
            <a:ext cx="5861304" cy="0"/>
          </a:xfrm>
          <a:prstGeom prst="line">
            <a:avLst/>
          </a:prstGeom>
          <a:noFill/>
          <a:ln w="6350">
            <a:solidFill>
              <a:srgbClr val="F3F4F6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6" name="Shape 33"/>
          <p:cNvSpPr/>
          <p:nvPr/>
        </p:nvSpPr>
        <p:spPr>
          <a:xfrm>
            <a:off x="2999232" y="2365248"/>
            <a:ext cx="5861304" cy="0"/>
          </a:xfrm>
          <a:prstGeom prst="line">
            <a:avLst/>
          </a:prstGeom>
          <a:noFill/>
          <a:ln w="6350">
            <a:solidFill>
              <a:srgbClr val="F3F4F6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7" name="Shape 64"/>
          <p:cNvSpPr/>
          <p:nvPr/>
        </p:nvSpPr>
        <p:spPr>
          <a:xfrm>
            <a:off x="0" y="4864608"/>
            <a:ext cx="9144000" cy="256032"/>
          </a:xfrm>
          <a:prstGeom prst="rect">
            <a:avLst/>
          </a:prstGeom>
          <a:solidFill>
            <a:srgbClr val="FAF8F6"/>
          </a:solidFill>
          <a:ln w="381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8" name="Shape 65"/>
          <p:cNvSpPr/>
          <p:nvPr/>
        </p:nvSpPr>
        <p:spPr>
          <a:xfrm>
            <a:off x="0" y="4864608"/>
            <a:ext cx="9144000" cy="16459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9" name="Text 66"/>
          <p:cNvSpPr/>
          <p:nvPr/>
        </p:nvSpPr>
        <p:spPr>
          <a:xfrm>
            <a:off x="164592" y="4864608"/>
            <a:ext cx="7863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A9189"/>
                </a:solidFill>
              </a:rPr>
              <a:t>DINERS  |  TARJETAS DE CREDITO  |  Bruno Rivera  |  Cierre Julio 2026</a:t>
            </a:r>
            <a:endParaRPr lang="en-US" sz="750" dirty="0"/>
          </a:p>
        </p:txBody>
      </p:sp>
      <p:pic>
        <p:nvPicPr>
          <p:cNvPr id="74" name="BARRAS_AVANCE__DINERS" descr="image.png">
            <a:extLst>
              <a:ext uri="{FF2B5EF4-FFF2-40B4-BE49-F238E27FC236}">
                <a16:creationId xmlns:a16="http://schemas.microsoft.com/office/drawing/2014/main" id="{D29437BB-A5F9-4BE0-FACC-4950DFF7F7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95946" y="1455415"/>
            <a:ext cx="4257269" cy="2108916"/>
          </a:xfrm>
          <a:prstGeom prst="rect">
            <a:avLst/>
          </a:prstGeom>
        </p:spPr>
      </p:pic>
      <p:sp>
        <p:nvSpPr>
          <p:cNvPr id="76" name="Text 26">
            <a:extLst>
              <a:ext uri="{FF2B5EF4-FFF2-40B4-BE49-F238E27FC236}">
                <a16:creationId xmlns:a16="http://schemas.microsoft.com/office/drawing/2014/main" id="{B5492910-93CF-F632-24C2-027A944467A9}"/>
              </a:ext>
            </a:extLst>
          </p:cNvPr>
          <p:cNvSpPr/>
          <p:nvPr/>
        </p:nvSpPr>
        <p:spPr>
          <a:xfrm>
            <a:off x="423458" y="2021089"/>
            <a:ext cx="139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META: 250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8" name="Text 26">
            <a:extLst>
              <a:ext uri="{FF2B5EF4-FFF2-40B4-BE49-F238E27FC236}">
                <a16:creationId xmlns:a16="http://schemas.microsoft.com/office/drawing/2014/main" id="{6C8FFC6B-CB1A-806D-494F-C4B88CBEDB82}"/>
              </a:ext>
            </a:extLst>
          </p:cNvPr>
          <p:cNvSpPr/>
          <p:nvPr/>
        </p:nvSpPr>
        <p:spPr>
          <a:xfrm>
            <a:off x="-56358" y="3159728"/>
            <a:ext cx="139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AVANCE: 30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80" name="Text 26">
            <a:extLst>
              <a:ext uri="{FF2B5EF4-FFF2-40B4-BE49-F238E27FC236}">
                <a16:creationId xmlns:a16="http://schemas.microsoft.com/office/drawing/2014/main" id="{6F714999-69CD-CC6F-5515-C2BA075B6AD8}"/>
              </a:ext>
            </a:extLst>
          </p:cNvPr>
          <p:cNvSpPr/>
          <p:nvPr/>
        </p:nvSpPr>
        <p:spPr>
          <a:xfrm>
            <a:off x="1142368" y="3156288"/>
            <a:ext cx="139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META AVANCE: 0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28" name="Shape 6">
            <a:extLst>
              <a:ext uri="{FF2B5EF4-FFF2-40B4-BE49-F238E27FC236}">
                <a16:creationId xmlns:a16="http://schemas.microsoft.com/office/drawing/2014/main" id="{6525DB75-6F15-86BA-01EC-0CC7CCE71B99}"/>
              </a:ext>
            </a:extLst>
          </p:cNvPr>
          <p:cNvSpPr/>
          <p:nvPr/>
        </p:nvSpPr>
        <p:spPr>
          <a:xfrm>
            <a:off x="91440" y="785704"/>
            <a:ext cx="2331720" cy="329184"/>
          </a:xfrm>
          <a:prstGeom prst="rect">
            <a:avLst/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0" name="Shape 7">
            <a:extLst>
              <a:ext uri="{FF2B5EF4-FFF2-40B4-BE49-F238E27FC236}">
                <a16:creationId xmlns:a16="http://schemas.microsoft.com/office/drawing/2014/main" id="{B0D3565D-B575-B585-CBF0-DBF1C2665CBB}"/>
              </a:ext>
            </a:extLst>
          </p:cNvPr>
          <p:cNvSpPr/>
          <p:nvPr/>
        </p:nvSpPr>
        <p:spPr>
          <a:xfrm>
            <a:off x="182880" y="858856"/>
            <a:ext cx="164592" cy="164592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2" name="Text 8">
            <a:extLst>
              <a:ext uri="{FF2B5EF4-FFF2-40B4-BE49-F238E27FC236}">
                <a16:creationId xmlns:a16="http://schemas.microsoft.com/office/drawing/2014/main" id="{C595AA07-493D-DFF0-659C-44A50CAA82D3}"/>
              </a:ext>
            </a:extLst>
          </p:cNvPr>
          <p:cNvSpPr/>
          <p:nvPr/>
        </p:nvSpPr>
        <p:spPr>
          <a:xfrm>
            <a:off x="402336" y="785704"/>
            <a:ext cx="200253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950" b="1" dirty="0">
                <a:solidFill>
                  <a:srgbClr val="DC2626"/>
                </a:solidFill>
              </a:rPr>
              <a:t>EN OBSERVACIÓN</a:t>
            </a:r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6675972B-9360-97AD-7259-6259A472898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6496" b="91034" l="5526" r="89929">
                        <a14:foregroundMark x1="5526" y1="55901" x2="8556" y2="77951"/>
                        <a14:foregroundMark x1="33333" y1="65691" x2="33512" y2="78774"/>
                        <a14:foregroundMark x1="17291" y1="76212" x2="14706" y2="85819"/>
                        <a14:foregroundMark x1="14706" y1="60384" x2="14528" y2="84446"/>
                        <a14:foregroundMark x1="35383" y1="63312" x2="28253" y2="91034"/>
                        <a14:foregroundMark x1="50178" y1="50686" x2="51426" y2="61665"/>
                        <a14:foregroundMark x1="85740" y1="6496" x2="84759" y2="10796"/>
                        <a14:foregroundMark x1="77629" y1="43550" x2="64973" y2="47667"/>
                        <a14:foregroundMark x1="78610" y1="28728" x2="72727" y2="33303"/>
                        <a14:foregroundMark x1="80214" y1="18573" x2="77451" y2="26715"/>
                        <a14:foregroundMark x1="82086" y1="30009" x2="85294" y2="34401"/>
                        <a14:foregroundMark x1="85918" y1="9790" x2="85918" y2="9790"/>
                        <a14:foregroundMark x1="85472" y1="10887" x2="86185" y2="18298"/>
                        <a14:foregroundMark x1="45365" y1="45197" x2="22638" y2="48582"/>
                        <a14:foregroundMark x1="53832" y1="55261" x2="54011" y2="76212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8888388" y="4889859"/>
            <a:ext cx="236904" cy="230781"/>
          </a:xfrm>
          <a:prstGeom prst="rect">
            <a:avLst/>
          </a:prstGeom>
        </p:spPr>
      </p:pic>
      <p:pic>
        <p:nvPicPr>
          <p:cNvPr id="11" name="Picture 76">
            <a:extLst>
              <a:ext uri="{FF2B5EF4-FFF2-40B4-BE49-F238E27FC236}">
                <a16:creationId xmlns:a16="http://schemas.microsoft.com/office/drawing/2014/main" id="{552743A1-1A5D-5F3D-5141-E4FE43CBAAC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60019" y="-106317"/>
            <a:ext cx="948004" cy="94800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658368"/>
            <a:ext cx="9144000" cy="25603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01168" y="0"/>
            <a:ext cx="7498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30" dirty="0">
                <a:solidFill>
                  <a:srgbClr val="FFFFFF"/>
                </a:solidFill>
              </a:rPr>
              <a:t>DINNERS  | DIAGNOSTICO Y SEGUIMIENTO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0" y="749808"/>
            <a:ext cx="4160520" cy="310896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0" name="Text 7"/>
          <p:cNvSpPr/>
          <p:nvPr/>
        </p:nvSpPr>
        <p:spPr>
          <a:xfrm>
            <a:off x="91440" y="749808"/>
            <a:ext cx="40690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kern="0" spc="30" dirty="0">
                <a:solidFill>
                  <a:srgbClr val="FFFFFF"/>
                </a:solidFill>
              </a:rPr>
              <a:t>SEGUIMIENTO PLAN SEMANA ANTERIOR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0" y="1097280"/>
            <a:ext cx="4160520" cy="1191768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2" name="Shape 9"/>
          <p:cNvSpPr/>
          <p:nvPr/>
        </p:nvSpPr>
        <p:spPr>
          <a:xfrm>
            <a:off x="0" y="1097280"/>
            <a:ext cx="50292" cy="1191768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3" name="Text 10"/>
          <p:cNvSpPr/>
          <p:nvPr/>
        </p:nvSpPr>
        <p:spPr>
          <a:xfrm>
            <a:off x="128016" y="1152144"/>
            <a:ext cx="3959352" cy="6806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11010"/>
                </a:solidFill>
              </a:rPr>
              <a:t>Convocatorias y acciones de campo para completar dotacion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128016" y="1815023"/>
            <a:ext cx="39593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30713"/>
                </a:solidFill>
              </a:rPr>
              <a:t>En proceso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0" y="2334768"/>
            <a:ext cx="4160520" cy="1191768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6" name="Shape 13"/>
          <p:cNvSpPr/>
          <p:nvPr/>
        </p:nvSpPr>
        <p:spPr>
          <a:xfrm>
            <a:off x="0" y="2334768"/>
            <a:ext cx="50292" cy="1191768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7" name="Text 14"/>
          <p:cNvSpPr/>
          <p:nvPr/>
        </p:nvSpPr>
        <p:spPr>
          <a:xfrm>
            <a:off x="128016" y="2389632"/>
            <a:ext cx="3959352" cy="6806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11010"/>
                </a:solidFill>
              </a:rPr>
              <a:t>Ampliar perfil de asesores para facilitar contratacion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128016" y="3052511"/>
            <a:ext cx="39593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30713"/>
                </a:solidFill>
              </a:rPr>
              <a:t>En proceso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0" y="3572256"/>
            <a:ext cx="4160520" cy="1191768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0" name="Shape 17"/>
          <p:cNvSpPr/>
          <p:nvPr/>
        </p:nvSpPr>
        <p:spPr>
          <a:xfrm>
            <a:off x="0" y="3572256"/>
            <a:ext cx="50292" cy="1191768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1" name="Text 18"/>
          <p:cNvSpPr/>
          <p:nvPr/>
        </p:nvSpPr>
        <p:spPr>
          <a:xfrm>
            <a:off x="128016" y="3627120"/>
            <a:ext cx="3959352" cy="6806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11010"/>
                </a:solidFill>
              </a:rPr>
              <a:t>Talleres de tasa de cierre con equipo activo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128016" y="4289999"/>
            <a:ext cx="39593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30713"/>
                </a:solidFill>
              </a:rPr>
              <a:t>Ejecutado</a:t>
            </a:r>
            <a:endParaRPr lang="en-US" sz="900" dirty="0"/>
          </a:p>
        </p:txBody>
      </p:sp>
      <p:sp>
        <p:nvSpPr>
          <p:cNvPr id="23" name="Shape 20"/>
          <p:cNvSpPr/>
          <p:nvPr/>
        </p:nvSpPr>
        <p:spPr>
          <a:xfrm>
            <a:off x="4242816" y="749808"/>
            <a:ext cx="18288" cy="4059936"/>
          </a:xfrm>
          <a:prstGeom prst="rect">
            <a:avLst/>
          </a:prstGeom>
          <a:solidFill>
            <a:srgbClr val="E5DFD8"/>
          </a:solidFill>
          <a:ln w="1270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4" name="Shape 21"/>
          <p:cNvSpPr/>
          <p:nvPr/>
        </p:nvSpPr>
        <p:spPr>
          <a:xfrm>
            <a:off x="4343400" y="749808"/>
            <a:ext cx="4800600" cy="310896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5" name="Text 22"/>
          <p:cNvSpPr/>
          <p:nvPr/>
        </p:nvSpPr>
        <p:spPr>
          <a:xfrm>
            <a:off x="4434840" y="749808"/>
            <a:ext cx="4709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kern="0" spc="30" dirty="0">
                <a:solidFill>
                  <a:srgbClr val="FFFFFF"/>
                </a:solidFill>
              </a:rPr>
              <a:t>DIAGNOSTICO — CAUSAS RAIZ</a:t>
            </a:r>
            <a:endParaRPr lang="en-US" sz="800" dirty="0"/>
          </a:p>
        </p:txBody>
      </p:sp>
      <p:sp>
        <p:nvSpPr>
          <p:cNvPr id="26" name="Shape 23"/>
          <p:cNvSpPr/>
          <p:nvPr/>
        </p:nvSpPr>
        <p:spPr>
          <a:xfrm>
            <a:off x="4343400" y="1097280"/>
            <a:ext cx="4800600" cy="1792224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7" name="Shape 24"/>
          <p:cNvSpPr/>
          <p:nvPr/>
        </p:nvSpPr>
        <p:spPr>
          <a:xfrm>
            <a:off x="4343400" y="1097280"/>
            <a:ext cx="502920" cy="1792224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8" name="Text 25"/>
          <p:cNvSpPr/>
          <p:nvPr/>
        </p:nvSpPr>
        <p:spPr>
          <a:xfrm>
            <a:off x="4343400" y="1097280"/>
            <a:ext cx="502920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1</a:t>
            </a:r>
            <a:endParaRPr lang="en-US" sz="1800" dirty="0"/>
          </a:p>
        </p:txBody>
      </p:sp>
      <p:sp>
        <p:nvSpPr>
          <p:cNvPr id="29" name="Text 26"/>
          <p:cNvSpPr/>
          <p:nvPr/>
        </p:nvSpPr>
        <p:spPr>
          <a:xfrm>
            <a:off x="4937760" y="118872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B150B"/>
                </a:solidFill>
              </a:rPr>
              <a:t>Headcount incompleto — causa raiz principal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4937760" y="1444752"/>
            <a:ext cx="4114800" cy="77961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11010"/>
                </a:solidFill>
              </a:rPr>
              <a:t>Solo 4 de 10 activos. 5 en seleccion + 1 en induccion. La tasa de cierre no compensa la brecha.</a:t>
            </a:r>
            <a:endParaRPr lang="en-US" sz="900" dirty="0"/>
          </a:p>
        </p:txBody>
      </p:sp>
      <p:sp>
        <p:nvSpPr>
          <p:cNvPr id="31" name="Shape 28"/>
          <p:cNvSpPr/>
          <p:nvPr/>
        </p:nvSpPr>
        <p:spPr>
          <a:xfrm>
            <a:off x="4937760" y="2615184"/>
            <a:ext cx="1005840" cy="219456"/>
          </a:xfrm>
          <a:prstGeom prst="rect">
            <a:avLst/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2" name="Text 29"/>
          <p:cNvSpPr/>
          <p:nvPr/>
        </p:nvSpPr>
        <p:spPr>
          <a:xfrm>
            <a:off x="4937760" y="2615184"/>
            <a:ext cx="1005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DC2626"/>
                </a:solidFill>
              </a:rPr>
              <a:t>Impacto Alto</a:t>
            </a:r>
            <a:endParaRPr lang="en-US" sz="850" dirty="0"/>
          </a:p>
        </p:txBody>
      </p:sp>
      <p:sp>
        <p:nvSpPr>
          <p:cNvPr id="33" name="Shape 30"/>
          <p:cNvSpPr/>
          <p:nvPr/>
        </p:nvSpPr>
        <p:spPr>
          <a:xfrm>
            <a:off x="4343400" y="2953512"/>
            <a:ext cx="4800600" cy="1792224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4" name="Shape 31"/>
          <p:cNvSpPr/>
          <p:nvPr/>
        </p:nvSpPr>
        <p:spPr>
          <a:xfrm>
            <a:off x="4343400" y="2953512"/>
            <a:ext cx="502920" cy="1792224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5" name="Text 32"/>
          <p:cNvSpPr/>
          <p:nvPr/>
        </p:nvSpPr>
        <p:spPr>
          <a:xfrm>
            <a:off x="4343400" y="2953512"/>
            <a:ext cx="502920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2</a:t>
            </a:r>
            <a:endParaRPr lang="en-US" sz="1800" dirty="0"/>
          </a:p>
        </p:txBody>
      </p:sp>
      <p:sp>
        <p:nvSpPr>
          <p:cNvPr id="36" name="Text 33"/>
          <p:cNvSpPr/>
          <p:nvPr/>
        </p:nvSpPr>
        <p:spPr>
          <a:xfrm>
            <a:off x="4937760" y="3044952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B150B"/>
                </a:solidFill>
              </a:rPr>
              <a:t>Estrategia de captacion sin resultados suficientes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4937760" y="3300984"/>
            <a:ext cx="4114800" cy="77961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11010"/>
                </a:solidFill>
              </a:rPr>
              <a:t>Perfil ampliado pero sin resultado. Se necesita nuevos canales de reclutamiento urgente.</a:t>
            </a:r>
            <a:endParaRPr lang="en-US" sz="900" dirty="0"/>
          </a:p>
        </p:txBody>
      </p:sp>
      <p:sp>
        <p:nvSpPr>
          <p:cNvPr id="38" name="Shape 35"/>
          <p:cNvSpPr/>
          <p:nvPr/>
        </p:nvSpPr>
        <p:spPr>
          <a:xfrm>
            <a:off x="4937760" y="4471416"/>
            <a:ext cx="1005840" cy="219456"/>
          </a:xfrm>
          <a:prstGeom prst="rect">
            <a:avLst/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9" name="Text 36"/>
          <p:cNvSpPr/>
          <p:nvPr/>
        </p:nvSpPr>
        <p:spPr>
          <a:xfrm>
            <a:off x="4937760" y="4471416"/>
            <a:ext cx="1005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DC2626"/>
                </a:solidFill>
              </a:rPr>
              <a:t>Impacto Alto</a:t>
            </a:r>
            <a:endParaRPr lang="en-US" sz="850" dirty="0"/>
          </a:p>
        </p:txBody>
      </p:sp>
      <p:sp>
        <p:nvSpPr>
          <p:cNvPr id="42" name="Shape 39"/>
          <p:cNvSpPr/>
          <p:nvPr/>
        </p:nvSpPr>
        <p:spPr>
          <a:xfrm>
            <a:off x="0" y="4864608"/>
            <a:ext cx="9144000" cy="256032"/>
          </a:xfrm>
          <a:prstGeom prst="rect">
            <a:avLst/>
          </a:prstGeom>
          <a:solidFill>
            <a:srgbClr val="FAF8F6"/>
          </a:solidFill>
          <a:ln w="381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3" name="Shape 40"/>
          <p:cNvSpPr/>
          <p:nvPr/>
        </p:nvSpPr>
        <p:spPr>
          <a:xfrm>
            <a:off x="0" y="4864608"/>
            <a:ext cx="9144000" cy="16459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4" name="Text 41"/>
          <p:cNvSpPr/>
          <p:nvPr/>
        </p:nvSpPr>
        <p:spPr>
          <a:xfrm>
            <a:off x="164592" y="4864608"/>
            <a:ext cx="7863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A9189"/>
                </a:solidFill>
              </a:rPr>
              <a:t>DINERS  |  DIAGNOSTICO  |  Bruno Rivera  |  Cierre Julio 2026</a:t>
            </a:r>
            <a:endParaRPr lang="en-US" sz="750" dirty="0"/>
          </a:p>
        </p:txBody>
      </p:sp>
      <p:pic>
        <p:nvPicPr>
          <p:cNvPr id="45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59952" y="4882896"/>
            <a:ext cx="310896" cy="219456"/>
          </a:xfrm>
          <a:prstGeom prst="rect">
            <a:avLst/>
          </a:prstGeom>
        </p:spPr>
      </p:pic>
      <p:pic>
        <p:nvPicPr>
          <p:cNvPr id="47" name="Picture 76">
            <a:extLst>
              <a:ext uri="{FF2B5EF4-FFF2-40B4-BE49-F238E27FC236}">
                <a16:creationId xmlns:a16="http://schemas.microsoft.com/office/drawing/2014/main" id="{A2B0674A-CA80-C3CC-246A-335EE6EED5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60019" y="-106317"/>
            <a:ext cx="948004" cy="948004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658368"/>
            <a:ext cx="9144000" cy="25603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01168" y="0"/>
            <a:ext cx="7498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50" b="1" kern="0" spc="30" dirty="0">
                <a:solidFill>
                  <a:srgbClr val="FFFFFF"/>
                </a:solidFill>
              </a:rPr>
              <a:t>BANBIF PRESTAMOS: Información al 18 de Julio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8577072" y="713232"/>
            <a:ext cx="5212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5 / 5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201168" y="749808"/>
            <a:ext cx="2331720" cy="329184"/>
          </a:xfrm>
          <a:prstGeom prst="rect">
            <a:avLst/>
          </a:prstGeom>
          <a:solidFill>
            <a:srgbClr val="D1FAE5"/>
          </a:solidFill>
          <a:ln w="12700">
            <a:solidFill>
              <a:srgbClr val="D1FAE5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0" name="Shape 7"/>
          <p:cNvSpPr/>
          <p:nvPr/>
        </p:nvSpPr>
        <p:spPr>
          <a:xfrm>
            <a:off x="292608" y="822960"/>
            <a:ext cx="164592" cy="164592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Text 8"/>
          <p:cNvSpPr/>
          <p:nvPr/>
        </p:nvSpPr>
        <p:spPr>
          <a:xfrm>
            <a:off x="512064" y="749808"/>
            <a:ext cx="200253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950" b="1" dirty="0">
                <a:solidFill>
                  <a:srgbClr val="059669"/>
                </a:solidFill>
              </a:rPr>
              <a:t>EN AVANCE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201168" y="1115568"/>
            <a:ext cx="2331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9A9189"/>
                </a:solidFill>
              </a:rPr>
              <a:t>Sub </a:t>
            </a:r>
            <a:r>
              <a:rPr lang="en-US" sz="850" i="1" dirty="0" err="1">
                <a:solidFill>
                  <a:srgbClr val="9A9189"/>
                </a:solidFill>
              </a:rPr>
              <a:t>Gerenta</a:t>
            </a:r>
            <a:r>
              <a:rPr lang="en-US" sz="850" i="1" dirty="0">
                <a:solidFill>
                  <a:srgbClr val="9A9189"/>
                </a:solidFill>
              </a:rPr>
              <a:t>: Monica Mogollon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272265" y="2053403"/>
            <a:ext cx="23317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0" b="1" dirty="0">
                <a:solidFill>
                  <a:srgbClr val="059669"/>
                </a:solidFill>
              </a:rPr>
              <a:t>288%</a:t>
            </a:r>
            <a:endParaRPr lang="en-US" sz="6600" dirty="0"/>
          </a:p>
        </p:txBody>
      </p:sp>
      <p:sp>
        <p:nvSpPr>
          <p:cNvPr id="27" name="Shape 24"/>
          <p:cNvSpPr/>
          <p:nvPr/>
        </p:nvSpPr>
        <p:spPr>
          <a:xfrm>
            <a:off x="2651760" y="749808"/>
            <a:ext cx="18288" cy="4078224"/>
          </a:xfrm>
          <a:prstGeom prst="rect">
            <a:avLst/>
          </a:prstGeom>
          <a:solidFill>
            <a:srgbClr val="E5DFD8"/>
          </a:solidFill>
          <a:ln w="1270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7" name="Shape 64"/>
          <p:cNvSpPr/>
          <p:nvPr/>
        </p:nvSpPr>
        <p:spPr>
          <a:xfrm>
            <a:off x="0" y="4864608"/>
            <a:ext cx="9144000" cy="256032"/>
          </a:xfrm>
          <a:prstGeom prst="rect">
            <a:avLst/>
          </a:prstGeom>
          <a:solidFill>
            <a:srgbClr val="FAF8F6"/>
          </a:solidFill>
          <a:ln w="381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8" name="Shape 65"/>
          <p:cNvSpPr/>
          <p:nvPr/>
        </p:nvSpPr>
        <p:spPr>
          <a:xfrm>
            <a:off x="0" y="4864608"/>
            <a:ext cx="9144000" cy="16459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9" name="Text 66"/>
          <p:cNvSpPr/>
          <p:nvPr/>
        </p:nvSpPr>
        <p:spPr>
          <a:xfrm>
            <a:off x="164592" y="4864608"/>
            <a:ext cx="7863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A9189"/>
                </a:solidFill>
              </a:rPr>
              <a:t>BANBIF  |  PRESTAMOS  |  Monica Mogollon  |  Cierre Julio 2026</a:t>
            </a:r>
            <a:endParaRPr lang="en-US" sz="750" dirty="0"/>
          </a:p>
        </p:txBody>
      </p:sp>
      <p:sp>
        <p:nvSpPr>
          <p:cNvPr id="72" name="Text 26">
            <a:extLst>
              <a:ext uri="{FF2B5EF4-FFF2-40B4-BE49-F238E27FC236}">
                <a16:creationId xmlns:a16="http://schemas.microsoft.com/office/drawing/2014/main" id="{F186F93C-1212-7F73-C2A8-2563F7F30917}"/>
              </a:ext>
            </a:extLst>
          </p:cNvPr>
          <p:cNvSpPr/>
          <p:nvPr/>
        </p:nvSpPr>
        <p:spPr>
          <a:xfrm>
            <a:off x="419108" y="1961668"/>
            <a:ext cx="139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META: 1.50M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4" name="Text 26">
            <a:extLst>
              <a:ext uri="{FF2B5EF4-FFF2-40B4-BE49-F238E27FC236}">
                <a16:creationId xmlns:a16="http://schemas.microsoft.com/office/drawing/2014/main" id="{08A8B44C-F582-631D-38D0-637D5E19CD9F}"/>
              </a:ext>
            </a:extLst>
          </p:cNvPr>
          <p:cNvSpPr/>
          <p:nvPr/>
        </p:nvSpPr>
        <p:spPr>
          <a:xfrm>
            <a:off x="-71830" y="3135107"/>
            <a:ext cx="139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AVANCE: 2.09M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6" name="Text 26">
            <a:extLst>
              <a:ext uri="{FF2B5EF4-FFF2-40B4-BE49-F238E27FC236}">
                <a16:creationId xmlns:a16="http://schemas.microsoft.com/office/drawing/2014/main" id="{A6996A04-3402-7D3F-3903-6E1A341E0AD4}"/>
              </a:ext>
            </a:extLst>
          </p:cNvPr>
          <p:cNvSpPr/>
          <p:nvPr/>
        </p:nvSpPr>
        <p:spPr>
          <a:xfrm>
            <a:off x="1138018" y="3096867"/>
            <a:ext cx="1532030" cy="3647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META AVANCE: 726.2K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78" name="Picture 76">
            <a:extLst>
              <a:ext uri="{FF2B5EF4-FFF2-40B4-BE49-F238E27FC236}">
                <a16:creationId xmlns:a16="http://schemas.microsoft.com/office/drawing/2014/main" id="{190A273A-383B-1297-AB08-C55E36029D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60019" y="-106317"/>
            <a:ext cx="948004" cy="948004"/>
          </a:xfrm>
          <a:prstGeom prst="rect">
            <a:avLst/>
          </a:prstGeom>
        </p:spPr>
      </p:pic>
      <p:pic>
        <p:nvPicPr>
          <p:cNvPr id="80" name="Imagen 79">
            <a:extLst>
              <a:ext uri="{FF2B5EF4-FFF2-40B4-BE49-F238E27FC236}">
                <a16:creationId xmlns:a16="http://schemas.microsoft.com/office/drawing/2014/main" id="{1280531C-3C3E-CB62-2F78-D3C23B57EA2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6496" b="91034" l="5526" r="89929">
                        <a14:foregroundMark x1="5526" y1="55901" x2="8556" y2="77951"/>
                        <a14:foregroundMark x1="33333" y1="65691" x2="33512" y2="78774"/>
                        <a14:foregroundMark x1="17291" y1="76212" x2="14706" y2="85819"/>
                        <a14:foregroundMark x1="14706" y1="60384" x2="14528" y2="84446"/>
                        <a14:foregroundMark x1="35383" y1="63312" x2="28253" y2="91034"/>
                        <a14:foregroundMark x1="50178" y1="50686" x2="51426" y2="61665"/>
                        <a14:foregroundMark x1="85740" y1="6496" x2="84759" y2="10796"/>
                        <a14:foregroundMark x1="77629" y1="43550" x2="64973" y2="47667"/>
                        <a14:foregroundMark x1="78610" y1="28728" x2="72727" y2="33303"/>
                        <a14:foregroundMark x1="80214" y1="18573" x2="77451" y2="26715"/>
                        <a14:foregroundMark x1="82086" y1="30009" x2="85294" y2="34401"/>
                        <a14:foregroundMark x1="85918" y1="9790" x2="85918" y2="9790"/>
                        <a14:foregroundMark x1="85472" y1="10887" x2="86185" y2="18298"/>
                        <a14:foregroundMark x1="45365" y1="45197" x2="22638" y2="48582"/>
                        <a14:foregroundMark x1="53832" y1="55261" x2="54011" y2="76212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8856552" y="4902997"/>
            <a:ext cx="236904" cy="230781"/>
          </a:xfrm>
          <a:prstGeom prst="rect">
            <a:avLst/>
          </a:prstGeom>
        </p:spPr>
      </p:pic>
      <p:pic>
        <p:nvPicPr>
          <p:cNvPr id="5" name="BARRAS_AVANCE__BANBIF" descr="image.png">
            <a:extLst>
              <a:ext uri="{FF2B5EF4-FFF2-40B4-BE49-F238E27FC236}">
                <a16:creationId xmlns:a16="http://schemas.microsoft.com/office/drawing/2014/main" id="{151AA825-F237-D26A-82DB-B030EF9A3C8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42698" y="1696416"/>
            <a:ext cx="5147160" cy="1888061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DF9A33E-943C-1A33-DB39-81B8DA537E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202E0E90-6741-E572-68E7-96CC7C531BEB}"/>
              </a:ext>
            </a:extLst>
          </p:cNvPr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AA4D09C4-4C3E-9044-AB32-9A1DF87B3D95}"/>
              </a:ext>
            </a:extLst>
          </p:cNvPr>
          <p:cNvSpPr/>
          <p:nvPr/>
        </p:nvSpPr>
        <p:spPr>
          <a:xfrm>
            <a:off x="0" y="658368"/>
            <a:ext cx="9144000" cy="25603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192CF2C0-0393-0ADA-0B24-F1D49FAF11D2}"/>
              </a:ext>
            </a:extLst>
          </p:cNvPr>
          <p:cNvSpPr/>
          <p:nvPr/>
        </p:nvSpPr>
        <p:spPr>
          <a:xfrm>
            <a:off x="201168" y="0"/>
            <a:ext cx="7498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30" dirty="0">
                <a:solidFill>
                  <a:srgbClr val="FFFFFF"/>
                </a:solidFill>
              </a:rPr>
              <a:t>BANBIF|  DIAGNOSTICO Y SEGUIMIENTO</a:t>
            </a:r>
            <a:endParaRPr lang="en-US" sz="1250" dirty="0"/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F861B3F3-B5EF-94F1-3C23-7FC115DCF533}"/>
              </a:ext>
            </a:extLst>
          </p:cNvPr>
          <p:cNvSpPr/>
          <p:nvPr/>
        </p:nvSpPr>
        <p:spPr>
          <a:xfrm>
            <a:off x="8577072" y="713232"/>
            <a:ext cx="521208" cy="228600"/>
          </a:xfrm>
          <a:prstGeom prst="rect">
            <a:avLst/>
          </a:prstGeom>
          <a:solidFill>
            <a:srgbClr val="4A0E07"/>
          </a:solidFill>
          <a:ln w="12700">
            <a:solidFill>
              <a:srgbClr val="4A0E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92EF0AA7-2563-082F-0007-632DABBEEFEC}"/>
              </a:ext>
            </a:extLst>
          </p:cNvPr>
          <p:cNvSpPr/>
          <p:nvPr/>
        </p:nvSpPr>
        <p:spPr>
          <a:xfrm>
            <a:off x="8577072" y="713232"/>
            <a:ext cx="5212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2 / 3</a:t>
            </a:r>
            <a:endParaRPr lang="en-US" sz="800" dirty="0"/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AA3212B5-E73E-43DB-7AF6-D7C741ACC113}"/>
              </a:ext>
            </a:extLst>
          </p:cNvPr>
          <p:cNvSpPr/>
          <p:nvPr/>
        </p:nvSpPr>
        <p:spPr>
          <a:xfrm>
            <a:off x="0" y="749808"/>
            <a:ext cx="4160520" cy="310896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A68090B3-0CBE-EB02-AD9E-6173F78C6F2A}"/>
              </a:ext>
            </a:extLst>
          </p:cNvPr>
          <p:cNvSpPr/>
          <p:nvPr/>
        </p:nvSpPr>
        <p:spPr>
          <a:xfrm>
            <a:off x="91440" y="749808"/>
            <a:ext cx="40690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kern="0" spc="30" dirty="0">
                <a:solidFill>
                  <a:srgbClr val="FFFFFF"/>
                </a:solidFill>
              </a:rPr>
              <a:t>SEGUIMIENTO PLAN SEMANA ANTERIOR</a:t>
            </a:r>
            <a:endParaRPr lang="en-US" sz="800" dirty="0"/>
          </a:p>
        </p:txBody>
      </p:sp>
      <p:sp>
        <p:nvSpPr>
          <p:cNvPr id="11" name="Shape 8">
            <a:extLst>
              <a:ext uri="{FF2B5EF4-FFF2-40B4-BE49-F238E27FC236}">
                <a16:creationId xmlns:a16="http://schemas.microsoft.com/office/drawing/2014/main" id="{DD2685E1-96B7-71EC-9E7B-85026B4A8F8A}"/>
              </a:ext>
            </a:extLst>
          </p:cNvPr>
          <p:cNvSpPr/>
          <p:nvPr/>
        </p:nvSpPr>
        <p:spPr>
          <a:xfrm>
            <a:off x="0" y="1097280"/>
            <a:ext cx="4160520" cy="882396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2" name="Shape 9">
            <a:extLst>
              <a:ext uri="{FF2B5EF4-FFF2-40B4-BE49-F238E27FC236}">
                <a16:creationId xmlns:a16="http://schemas.microsoft.com/office/drawing/2014/main" id="{B9E3263F-8FDA-F29E-9987-FB0AFC9A2F6C}"/>
              </a:ext>
            </a:extLst>
          </p:cNvPr>
          <p:cNvSpPr/>
          <p:nvPr/>
        </p:nvSpPr>
        <p:spPr>
          <a:xfrm>
            <a:off x="0" y="1097280"/>
            <a:ext cx="50292" cy="882396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2BFCDD34-F68C-AA1F-14CC-31E7E294D12B}"/>
              </a:ext>
            </a:extLst>
          </p:cNvPr>
          <p:cNvSpPr/>
          <p:nvPr/>
        </p:nvSpPr>
        <p:spPr>
          <a:xfrm>
            <a:off x="128016" y="1152144"/>
            <a:ext cx="3959352" cy="5104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11010"/>
                </a:solidFill>
              </a:rPr>
              <a:t>Operacion Fenix Tarjetas + mejora tabla de comision</a:t>
            </a:r>
            <a:endParaRPr lang="en-US" sz="950" dirty="0"/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753E0E26-3E58-FB3D-615E-008F2E5613EE}"/>
              </a:ext>
            </a:extLst>
          </p:cNvPr>
          <p:cNvSpPr/>
          <p:nvPr/>
        </p:nvSpPr>
        <p:spPr>
          <a:xfrm>
            <a:off x="128016" y="1635587"/>
            <a:ext cx="39593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30713"/>
                </a:solidFill>
              </a:rPr>
              <a:t>Ejecutado</a:t>
            </a:r>
            <a:endParaRPr lang="en-US" sz="900" dirty="0"/>
          </a:p>
        </p:txBody>
      </p:sp>
      <p:sp>
        <p:nvSpPr>
          <p:cNvPr id="15" name="Shape 12">
            <a:extLst>
              <a:ext uri="{FF2B5EF4-FFF2-40B4-BE49-F238E27FC236}">
                <a16:creationId xmlns:a16="http://schemas.microsoft.com/office/drawing/2014/main" id="{65002715-A955-999D-0C4D-5F639183C007}"/>
              </a:ext>
            </a:extLst>
          </p:cNvPr>
          <p:cNvSpPr/>
          <p:nvPr/>
        </p:nvSpPr>
        <p:spPr>
          <a:xfrm>
            <a:off x="0" y="2025396"/>
            <a:ext cx="4160520" cy="882396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6" name="Shape 13">
            <a:extLst>
              <a:ext uri="{FF2B5EF4-FFF2-40B4-BE49-F238E27FC236}">
                <a16:creationId xmlns:a16="http://schemas.microsoft.com/office/drawing/2014/main" id="{91C15D7D-4D52-0CFF-ED13-977664B7980A}"/>
              </a:ext>
            </a:extLst>
          </p:cNvPr>
          <p:cNvSpPr/>
          <p:nvPr/>
        </p:nvSpPr>
        <p:spPr>
          <a:xfrm>
            <a:off x="0" y="2025396"/>
            <a:ext cx="50292" cy="882396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7" name="Text 14">
            <a:extLst>
              <a:ext uri="{FF2B5EF4-FFF2-40B4-BE49-F238E27FC236}">
                <a16:creationId xmlns:a16="http://schemas.microsoft.com/office/drawing/2014/main" id="{939B208B-7563-C777-3918-A448A5F8B5E8}"/>
              </a:ext>
            </a:extLst>
          </p:cNvPr>
          <p:cNvSpPr/>
          <p:nvPr/>
        </p:nvSpPr>
        <p:spPr>
          <a:xfrm>
            <a:off x="128016" y="2080260"/>
            <a:ext cx="3959352" cy="5104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11010"/>
                </a:solidFill>
              </a:rPr>
              <a:t>Seguimiento base reciclada + cupones Fonocompras</a:t>
            </a:r>
            <a:endParaRPr lang="en-US" sz="950" dirty="0"/>
          </a:p>
        </p:txBody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D6B3174E-7E17-45D3-0E60-C73F27F6E33C}"/>
              </a:ext>
            </a:extLst>
          </p:cNvPr>
          <p:cNvSpPr/>
          <p:nvPr/>
        </p:nvSpPr>
        <p:spPr>
          <a:xfrm>
            <a:off x="128016" y="2563703"/>
            <a:ext cx="39593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30713"/>
                </a:solidFill>
              </a:rPr>
              <a:t>Ejecutado</a:t>
            </a:r>
            <a:endParaRPr lang="en-US" sz="900" dirty="0"/>
          </a:p>
        </p:txBody>
      </p:sp>
      <p:sp>
        <p:nvSpPr>
          <p:cNvPr id="19" name="Shape 16">
            <a:extLst>
              <a:ext uri="{FF2B5EF4-FFF2-40B4-BE49-F238E27FC236}">
                <a16:creationId xmlns:a16="http://schemas.microsoft.com/office/drawing/2014/main" id="{8B61C0A3-B571-4A3C-E8B6-585D9F875C57}"/>
              </a:ext>
            </a:extLst>
          </p:cNvPr>
          <p:cNvSpPr/>
          <p:nvPr/>
        </p:nvSpPr>
        <p:spPr>
          <a:xfrm>
            <a:off x="0" y="2953512"/>
            <a:ext cx="4160520" cy="882396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0" name="Shape 17">
            <a:extLst>
              <a:ext uri="{FF2B5EF4-FFF2-40B4-BE49-F238E27FC236}">
                <a16:creationId xmlns:a16="http://schemas.microsoft.com/office/drawing/2014/main" id="{2311B2FA-E84C-2B63-0080-7C87B6AC4664}"/>
              </a:ext>
            </a:extLst>
          </p:cNvPr>
          <p:cNvSpPr/>
          <p:nvPr/>
        </p:nvSpPr>
        <p:spPr>
          <a:xfrm>
            <a:off x="0" y="2953512"/>
            <a:ext cx="50292" cy="882396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1" name="Text 18">
            <a:extLst>
              <a:ext uri="{FF2B5EF4-FFF2-40B4-BE49-F238E27FC236}">
                <a16:creationId xmlns:a16="http://schemas.microsoft.com/office/drawing/2014/main" id="{E9BA3EEE-0B97-A4C3-45F9-C02820ABA7C6}"/>
              </a:ext>
            </a:extLst>
          </p:cNvPr>
          <p:cNvSpPr/>
          <p:nvPr/>
        </p:nvSpPr>
        <p:spPr>
          <a:xfrm>
            <a:off x="128016" y="3008376"/>
            <a:ext cx="3959352" cy="5104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11010"/>
                </a:solidFill>
              </a:rPr>
              <a:t>Intensidad x5 base Efectivo — Dormidos RECORD 145%</a:t>
            </a:r>
            <a:endParaRPr lang="en-US" sz="950" dirty="0"/>
          </a:p>
        </p:txBody>
      </p:sp>
      <p:sp>
        <p:nvSpPr>
          <p:cNvPr id="22" name="Text 19">
            <a:extLst>
              <a:ext uri="{FF2B5EF4-FFF2-40B4-BE49-F238E27FC236}">
                <a16:creationId xmlns:a16="http://schemas.microsoft.com/office/drawing/2014/main" id="{39B66926-6B9B-D6E6-B16D-F374FA337EB8}"/>
              </a:ext>
            </a:extLst>
          </p:cNvPr>
          <p:cNvSpPr/>
          <p:nvPr/>
        </p:nvSpPr>
        <p:spPr>
          <a:xfrm>
            <a:off x="128016" y="3491819"/>
            <a:ext cx="39593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30713"/>
                </a:solidFill>
              </a:rPr>
              <a:t>Ejecutado</a:t>
            </a:r>
            <a:endParaRPr lang="en-US" sz="900" dirty="0"/>
          </a:p>
        </p:txBody>
      </p:sp>
      <p:sp>
        <p:nvSpPr>
          <p:cNvPr id="23" name="Shape 20">
            <a:extLst>
              <a:ext uri="{FF2B5EF4-FFF2-40B4-BE49-F238E27FC236}">
                <a16:creationId xmlns:a16="http://schemas.microsoft.com/office/drawing/2014/main" id="{CD601FA8-E8EB-0A13-477C-C9FCFE5B19AC}"/>
              </a:ext>
            </a:extLst>
          </p:cNvPr>
          <p:cNvSpPr/>
          <p:nvPr/>
        </p:nvSpPr>
        <p:spPr>
          <a:xfrm>
            <a:off x="0" y="3881628"/>
            <a:ext cx="4160520" cy="882396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4" name="Shape 21">
            <a:extLst>
              <a:ext uri="{FF2B5EF4-FFF2-40B4-BE49-F238E27FC236}">
                <a16:creationId xmlns:a16="http://schemas.microsoft.com/office/drawing/2014/main" id="{B8E5ECCF-AF55-16F1-7E70-35F2B6BDB2E7}"/>
              </a:ext>
            </a:extLst>
          </p:cNvPr>
          <p:cNvSpPr/>
          <p:nvPr/>
        </p:nvSpPr>
        <p:spPr>
          <a:xfrm>
            <a:off x="0" y="3881628"/>
            <a:ext cx="50292" cy="882396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5" name="Text 22">
            <a:extLst>
              <a:ext uri="{FF2B5EF4-FFF2-40B4-BE49-F238E27FC236}">
                <a16:creationId xmlns:a16="http://schemas.microsoft.com/office/drawing/2014/main" id="{2C814E69-20DA-332F-C04F-9755E76EDABF}"/>
              </a:ext>
            </a:extLst>
          </p:cNvPr>
          <p:cNvSpPr/>
          <p:nvPr/>
        </p:nvSpPr>
        <p:spPr>
          <a:xfrm>
            <a:off x="128016" y="3936492"/>
            <a:ext cx="3959352" cy="5104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11010"/>
                </a:solidFill>
              </a:rPr>
              <a:t>Full agendamiento BanBif + desembolso en linea</a:t>
            </a:r>
            <a:endParaRPr lang="en-US" sz="950" dirty="0"/>
          </a:p>
        </p:txBody>
      </p:sp>
      <p:sp>
        <p:nvSpPr>
          <p:cNvPr id="26" name="Text 23">
            <a:extLst>
              <a:ext uri="{FF2B5EF4-FFF2-40B4-BE49-F238E27FC236}">
                <a16:creationId xmlns:a16="http://schemas.microsoft.com/office/drawing/2014/main" id="{8501EB6D-8ACA-596D-CF28-BB593E1F159C}"/>
              </a:ext>
            </a:extLst>
          </p:cNvPr>
          <p:cNvSpPr/>
          <p:nvPr/>
        </p:nvSpPr>
        <p:spPr>
          <a:xfrm>
            <a:off x="128016" y="4419935"/>
            <a:ext cx="39593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30713"/>
                </a:solidFill>
              </a:rPr>
              <a:t>Ejecutado</a:t>
            </a:r>
            <a:endParaRPr lang="en-US" sz="900" dirty="0"/>
          </a:p>
        </p:txBody>
      </p:sp>
      <p:sp>
        <p:nvSpPr>
          <p:cNvPr id="27" name="Shape 24">
            <a:extLst>
              <a:ext uri="{FF2B5EF4-FFF2-40B4-BE49-F238E27FC236}">
                <a16:creationId xmlns:a16="http://schemas.microsoft.com/office/drawing/2014/main" id="{E8DB68C3-57DA-189B-B1E6-763F21AC8A2D}"/>
              </a:ext>
            </a:extLst>
          </p:cNvPr>
          <p:cNvSpPr/>
          <p:nvPr/>
        </p:nvSpPr>
        <p:spPr>
          <a:xfrm>
            <a:off x="4242816" y="749808"/>
            <a:ext cx="18288" cy="4059936"/>
          </a:xfrm>
          <a:prstGeom prst="rect">
            <a:avLst/>
          </a:prstGeom>
          <a:solidFill>
            <a:srgbClr val="E5DFD8"/>
          </a:solidFill>
          <a:ln w="1270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8" name="Shape 25">
            <a:extLst>
              <a:ext uri="{FF2B5EF4-FFF2-40B4-BE49-F238E27FC236}">
                <a16:creationId xmlns:a16="http://schemas.microsoft.com/office/drawing/2014/main" id="{4B19A855-E79D-3C01-ED8E-850D646D6084}"/>
              </a:ext>
            </a:extLst>
          </p:cNvPr>
          <p:cNvSpPr/>
          <p:nvPr/>
        </p:nvSpPr>
        <p:spPr>
          <a:xfrm>
            <a:off x="4343400" y="749808"/>
            <a:ext cx="4800600" cy="310896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9" name="Text 26">
            <a:extLst>
              <a:ext uri="{FF2B5EF4-FFF2-40B4-BE49-F238E27FC236}">
                <a16:creationId xmlns:a16="http://schemas.microsoft.com/office/drawing/2014/main" id="{801AFBB4-787D-965B-D0FE-8264F144A533}"/>
              </a:ext>
            </a:extLst>
          </p:cNvPr>
          <p:cNvSpPr/>
          <p:nvPr/>
        </p:nvSpPr>
        <p:spPr>
          <a:xfrm>
            <a:off x="4434840" y="749808"/>
            <a:ext cx="4709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kern="0" spc="30" dirty="0">
                <a:solidFill>
                  <a:srgbClr val="FFFFFF"/>
                </a:solidFill>
              </a:rPr>
              <a:t>DIAGNOSTICO MES ACTUAL — CAUSAS RAIZ</a:t>
            </a:r>
            <a:endParaRPr lang="en-US" sz="800" dirty="0"/>
          </a:p>
        </p:txBody>
      </p:sp>
      <p:sp>
        <p:nvSpPr>
          <p:cNvPr id="30" name="Shape 27">
            <a:extLst>
              <a:ext uri="{FF2B5EF4-FFF2-40B4-BE49-F238E27FC236}">
                <a16:creationId xmlns:a16="http://schemas.microsoft.com/office/drawing/2014/main" id="{DC67E2BD-DEBA-CE12-4BD8-00E19043CACE}"/>
              </a:ext>
            </a:extLst>
          </p:cNvPr>
          <p:cNvSpPr/>
          <p:nvPr/>
        </p:nvSpPr>
        <p:spPr>
          <a:xfrm>
            <a:off x="4343400" y="1097280"/>
            <a:ext cx="4800600" cy="1173480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1" name="Shape 28">
            <a:extLst>
              <a:ext uri="{FF2B5EF4-FFF2-40B4-BE49-F238E27FC236}">
                <a16:creationId xmlns:a16="http://schemas.microsoft.com/office/drawing/2014/main" id="{EEE82AAA-AC76-F72C-D192-A0961C0C5EDE}"/>
              </a:ext>
            </a:extLst>
          </p:cNvPr>
          <p:cNvSpPr/>
          <p:nvPr/>
        </p:nvSpPr>
        <p:spPr>
          <a:xfrm>
            <a:off x="4343400" y="1097280"/>
            <a:ext cx="502920" cy="1173480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2" name="Text 29">
            <a:extLst>
              <a:ext uri="{FF2B5EF4-FFF2-40B4-BE49-F238E27FC236}">
                <a16:creationId xmlns:a16="http://schemas.microsoft.com/office/drawing/2014/main" id="{9E9EE858-06E5-D9C6-1C99-A34F1BA63075}"/>
              </a:ext>
            </a:extLst>
          </p:cNvPr>
          <p:cNvSpPr/>
          <p:nvPr/>
        </p:nvSpPr>
        <p:spPr>
          <a:xfrm>
            <a:off x="4343400" y="1097280"/>
            <a:ext cx="502920" cy="1173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1</a:t>
            </a:r>
            <a:endParaRPr lang="en-US" sz="1800" dirty="0"/>
          </a:p>
        </p:txBody>
      </p:sp>
      <p:sp>
        <p:nvSpPr>
          <p:cNvPr id="33" name="Text 30">
            <a:extLst>
              <a:ext uri="{FF2B5EF4-FFF2-40B4-BE49-F238E27FC236}">
                <a16:creationId xmlns:a16="http://schemas.microsoft.com/office/drawing/2014/main" id="{0788E9B5-FC08-5244-BDDC-306397964C65}"/>
              </a:ext>
            </a:extLst>
          </p:cNvPr>
          <p:cNvSpPr/>
          <p:nvPr/>
        </p:nvSpPr>
        <p:spPr>
          <a:xfrm>
            <a:off x="4937760" y="118872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B150B"/>
                </a:solidFill>
              </a:rPr>
              <a:t>Tarjetas: 8 asesores pendientes de induccion</a:t>
            </a:r>
            <a:endParaRPr lang="en-US" sz="1100" dirty="0"/>
          </a:p>
        </p:txBody>
      </p:sp>
      <p:sp>
        <p:nvSpPr>
          <p:cNvPr id="34" name="Text 31">
            <a:extLst>
              <a:ext uri="{FF2B5EF4-FFF2-40B4-BE49-F238E27FC236}">
                <a16:creationId xmlns:a16="http://schemas.microsoft.com/office/drawing/2014/main" id="{8AA09C33-EFC1-226F-4ED9-5D75D5C1C1F9}"/>
              </a:ext>
            </a:extLst>
          </p:cNvPr>
          <p:cNvSpPr/>
          <p:nvPr/>
        </p:nvSpPr>
        <p:spPr>
          <a:xfrm>
            <a:off x="4937760" y="1444752"/>
            <a:ext cx="4114800" cy="51974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11010"/>
                </a:solidFill>
              </a:rPr>
              <a:t>16% del presupuesto sin productividad. Tasa CET por mejorar — brecha del 15%.</a:t>
            </a:r>
            <a:endParaRPr lang="en-US" sz="900" dirty="0"/>
          </a:p>
        </p:txBody>
      </p:sp>
      <p:sp>
        <p:nvSpPr>
          <p:cNvPr id="35" name="Shape 32">
            <a:extLst>
              <a:ext uri="{FF2B5EF4-FFF2-40B4-BE49-F238E27FC236}">
                <a16:creationId xmlns:a16="http://schemas.microsoft.com/office/drawing/2014/main" id="{8C0DB8E5-12A4-6A6E-29CF-9FFC3F17B2A3}"/>
              </a:ext>
            </a:extLst>
          </p:cNvPr>
          <p:cNvSpPr/>
          <p:nvPr/>
        </p:nvSpPr>
        <p:spPr>
          <a:xfrm>
            <a:off x="4937760" y="1996440"/>
            <a:ext cx="1005840" cy="219456"/>
          </a:xfrm>
          <a:prstGeom prst="rect">
            <a:avLst/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6" name="Text 33">
            <a:extLst>
              <a:ext uri="{FF2B5EF4-FFF2-40B4-BE49-F238E27FC236}">
                <a16:creationId xmlns:a16="http://schemas.microsoft.com/office/drawing/2014/main" id="{84440258-D0EC-0C77-18A7-2C947AAFC0A4}"/>
              </a:ext>
            </a:extLst>
          </p:cNvPr>
          <p:cNvSpPr/>
          <p:nvPr/>
        </p:nvSpPr>
        <p:spPr>
          <a:xfrm>
            <a:off x="4937760" y="1996440"/>
            <a:ext cx="1005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DC2626"/>
                </a:solidFill>
              </a:rPr>
              <a:t>Impacto Alto</a:t>
            </a:r>
            <a:endParaRPr lang="en-US" sz="850" dirty="0"/>
          </a:p>
        </p:txBody>
      </p:sp>
      <p:sp>
        <p:nvSpPr>
          <p:cNvPr id="37" name="Shape 34">
            <a:extLst>
              <a:ext uri="{FF2B5EF4-FFF2-40B4-BE49-F238E27FC236}">
                <a16:creationId xmlns:a16="http://schemas.microsoft.com/office/drawing/2014/main" id="{DA04810D-2459-4F4F-8E16-66016E09695E}"/>
              </a:ext>
            </a:extLst>
          </p:cNvPr>
          <p:cNvSpPr/>
          <p:nvPr/>
        </p:nvSpPr>
        <p:spPr>
          <a:xfrm>
            <a:off x="4343400" y="2334768"/>
            <a:ext cx="4800600" cy="1173480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8" name="Shape 35">
            <a:extLst>
              <a:ext uri="{FF2B5EF4-FFF2-40B4-BE49-F238E27FC236}">
                <a16:creationId xmlns:a16="http://schemas.microsoft.com/office/drawing/2014/main" id="{BA08F51D-1A45-1D7E-03D6-2DE193A66CBD}"/>
              </a:ext>
            </a:extLst>
          </p:cNvPr>
          <p:cNvSpPr/>
          <p:nvPr/>
        </p:nvSpPr>
        <p:spPr>
          <a:xfrm>
            <a:off x="4343400" y="2334768"/>
            <a:ext cx="502920" cy="1173480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9" name="Text 36">
            <a:extLst>
              <a:ext uri="{FF2B5EF4-FFF2-40B4-BE49-F238E27FC236}">
                <a16:creationId xmlns:a16="http://schemas.microsoft.com/office/drawing/2014/main" id="{2D6829BC-8972-F1F2-3B01-10D9438877E9}"/>
              </a:ext>
            </a:extLst>
          </p:cNvPr>
          <p:cNvSpPr/>
          <p:nvPr/>
        </p:nvSpPr>
        <p:spPr>
          <a:xfrm>
            <a:off x="4343400" y="2334768"/>
            <a:ext cx="502920" cy="1173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2</a:t>
            </a:r>
            <a:endParaRPr lang="en-US" sz="1800" dirty="0"/>
          </a:p>
        </p:txBody>
      </p:sp>
      <p:sp>
        <p:nvSpPr>
          <p:cNvPr id="40" name="Text 37">
            <a:extLst>
              <a:ext uri="{FF2B5EF4-FFF2-40B4-BE49-F238E27FC236}">
                <a16:creationId xmlns:a16="http://schemas.microsoft.com/office/drawing/2014/main" id="{097C9C0B-E3FD-7EB6-9BC7-B596D839BD09}"/>
              </a:ext>
            </a:extLst>
          </p:cNvPr>
          <p:cNvSpPr/>
          <p:nvPr/>
        </p:nvSpPr>
        <p:spPr>
          <a:xfrm>
            <a:off x="4937760" y="2426208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B150B"/>
                </a:solidFill>
              </a:rPr>
              <a:t>Fonocompras: 2 pendientes OB + 2 pendientes IB</a:t>
            </a:r>
            <a:endParaRPr lang="en-US" sz="1100" dirty="0"/>
          </a:p>
        </p:txBody>
      </p:sp>
      <p:sp>
        <p:nvSpPr>
          <p:cNvPr id="41" name="Text 38">
            <a:extLst>
              <a:ext uri="{FF2B5EF4-FFF2-40B4-BE49-F238E27FC236}">
                <a16:creationId xmlns:a16="http://schemas.microsoft.com/office/drawing/2014/main" id="{2E98947F-F647-CDBF-906A-036C97C1F8C9}"/>
              </a:ext>
            </a:extLst>
          </p:cNvPr>
          <p:cNvSpPr/>
          <p:nvPr/>
        </p:nvSpPr>
        <p:spPr>
          <a:xfrm>
            <a:off x="4937760" y="2682240"/>
            <a:ext cx="4114800" cy="51974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11010"/>
                </a:solidFill>
              </a:rPr>
              <a:t>Brecha del 12% en ambos canales. Un asesor con menor productividad cada uno.</a:t>
            </a:r>
            <a:endParaRPr lang="en-US" sz="900" dirty="0"/>
          </a:p>
        </p:txBody>
      </p:sp>
      <p:sp>
        <p:nvSpPr>
          <p:cNvPr id="42" name="Shape 39">
            <a:extLst>
              <a:ext uri="{FF2B5EF4-FFF2-40B4-BE49-F238E27FC236}">
                <a16:creationId xmlns:a16="http://schemas.microsoft.com/office/drawing/2014/main" id="{ECD67FAF-95B7-8D8E-3F5D-01F6AB604E70}"/>
              </a:ext>
            </a:extLst>
          </p:cNvPr>
          <p:cNvSpPr/>
          <p:nvPr/>
        </p:nvSpPr>
        <p:spPr>
          <a:xfrm>
            <a:off x="4937760" y="3233928"/>
            <a:ext cx="1005840" cy="219456"/>
          </a:xfrm>
          <a:prstGeom prst="rect">
            <a:avLst/>
          </a:prstGeom>
          <a:solidFill>
            <a:srgbClr val="FEECEE"/>
          </a:solidFill>
          <a:ln w="12700">
            <a:solidFill>
              <a:srgbClr val="FEECEE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3" name="Text 40">
            <a:extLst>
              <a:ext uri="{FF2B5EF4-FFF2-40B4-BE49-F238E27FC236}">
                <a16:creationId xmlns:a16="http://schemas.microsoft.com/office/drawing/2014/main" id="{183AAAAE-10CA-C78F-DBF3-AA0FAC03EF68}"/>
              </a:ext>
            </a:extLst>
          </p:cNvPr>
          <p:cNvSpPr/>
          <p:nvPr/>
        </p:nvSpPr>
        <p:spPr>
          <a:xfrm>
            <a:off x="4937760" y="3233928"/>
            <a:ext cx="1005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E30713"/>
                </a:solidFill>
              </a:rPr>
              <a:t>Impacto Bajo</a:t>
            </a:r>
            <a:endParaRPr lang="en-US" sz="850" dirty="0"/>
          </a:p>
        </p:txBody>
      </p:sp>
      <p:sp>
        <p:nvSpPr>
          <p:cNvPr id="44" name="Shape 41">
            <a:extLst>
              <a:ext uri="{FF2B5EF4-FFF2-40B4-BE49-F238E27FC236}">
                <a16:creationId xmlns:a16="http://schemas.microsoft.com/office/drawing/2014/main" id="{E8B3F796-15CE-3542-0328-D6454EF07E57}"/>
              </a:ext>
            </a:extLst>
          </p:cNvPr>
          <p:cNvSpPr/>
          <p:nvPr/>
        </p:nvSpPr>
        <p:spPr>
          <a:xfrm>
            <a:off x="4343400" y="3572256"/>
            <a:ext cx="4800600" cy="1173480"/>
          </a:xfrm>
          <a:prstGeom prst="rect">
            <a:avLst/>
          </a:prstGeom>
          <a:solidFill>
            <a:srgbClr val="FFFFFF"/>
          </a:solidFill>
          <a:ln w="635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5" name="Shape 42">
            <a:extLst>
              <a:ext uri="{FF2B5EF4-FFF2-40B4-BE49-F238E27FC236}">
                <a16:creationId xmlns:a16="http://schemas.microsoft.com/office/drawing/2014/main" id="{5A61D975-9C35-59E7-42B5-D76783D28157}"/>
              </a:ext>
            </a:extLst>
          </p:cNvPr>
          <p:cNvSpPr/>
          <p:nvPr/>
        </p:nvSpPr>
        <p:spPr>
          <a:xfrm>
            <a:off x="4343400" y="3572256"/>
            <a:ext cx="502920" cy="1173480"/>
          </a:xfrm>
          <a:prstGeom prst="rect">
            <a:avLst/>
          </a:prstGeom>
          <a:solidFill>
            <a:srgbClr val="6B150B"/>
          </a:solidFill>
          <a:ln w="12700">
            <a:solidFill>
              <a:srgbClr val="6B150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6" name="Text 43">
            <a:extLst>
              <a:ext uri="{FF2B5EF4-FFF2-40B4-BE49-F238E27FC236}">
                <a16:creationId xmlns:a16="http://schemas.microsoft.com/office/drawing/2014/main" id="{299BFD1B-17EE-97BD-697A-C3DA5C8F499D}"/>
              </a:ext>
            </a:extLst>
          </p:cNvPr>
          <p:cNvSpPr/>
          <p:nvPr/>
        </p:nvSpPr>
        <p:spPr>
          <a:xfrm>
            <a:off x="4343400" y="3572256"/>
            <a:ext cx="502920" cy="1173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3</a:t>
            </a:r>
            <a:endParaRPr lang="en-US" sz="1800" dirty="0"/>
          </a:p>
        </p:txBody>
      </p:sp>
      <p:sp>
        <p:nvSpPr>
          <p:cNvPr id="47" name="Text 44">
            <a:extLst>
              <a:ext uri="{FF2B5EF4-FFF2-40B4-BE49-F238E27FC236}">
                <a16:creationId xmlns:a16="http://schemas.microsoft.com/office/drawing/2014/main" id="{B9B5A259-1BC0-3711-DD3C-9BEA73114869}"/>
              </a:ext>
            </a:extLst>
          </p:cNvPr>
          <p:cNvSpPr/>
          <p:nvPr/>
        </p:nvSpPr>
        <p:spPr>
          <a:xfrm>
            <a:off x="4937760" y="3663696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B150B"/>
                </a:solidFill>
              </a:rPr>
              <a:t>Efectivo: Recurrentes al 65% en recuperacion</a:t>
            </a:r>
            <a:endParaRPr lang="en-US" sz="1100" dirty="0"/>
          </a:p>
        </p:txBody>
      </p:sp>
      <p:sp>
        <p:nvSpPr>
          <p:cNvPr id="48" name="Text 45">
            <a:extLst>
              <a:ext uri="{FF2B5EF4-FFF2-40B4-BE49-F238E27FC236}">
                <a16:creationId xmlns:a16="http://schemas.microsoft.com/office/drawing/2014/main" id="{BE66334E-1265-C800-B73B-79597AA386D3}"/>
              </a:ext>
            </a:extLst>
          </p:cNvPr>
          <p:cNvSpPr/>
          <p:nvPr/>
        </p:nvSpPr>
        <p:spPr>
          <a:xfrm>
            <a:off x="4937760" y="3919728"/>
            <a:ext cx="4114800" cy="51974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11010"/>
                </a:solidFill>
              </a:rPr>
              <a:t>Base parcialmente agotada. Dormidos 145% y Nuevos 171% compensan la brecha.</a:t>
            </a:r>
            <a:endParaRPr lang="en-US" sz="900" dirty="0"/>
          </a:p>
        </p:txBody>
      </p:sp>
      <p:sp>
        <p:nvSpPr>
          <p:cNvPr id="49" name="Shape 46">
            <a:extLst>
              <a:ext uri="{FF2B5EF4-FFF2-40B4-BE49-F238E27FC236}">
                <a16:creationId xmlns:a16="http://schemas.microsoft.com/office/drawing/2014/main" id="{B78E90A2-AD03-1A65-CA73-DF9F0FF13E81}"/>
              </a:ext>
            </a:extLst>
          </p:cNvPr>
          <p:cNvSpPr/>
          <p:nvPr/>
        </p:nvSpPr>
        <p:spPr>
          <a:xfrm>
            <a:off x="4937760" y="4471416"/>
            <a:ext cx="1005840" cy="219456"/>
          </a:xfrm>
          <a:prstGeom prst="rect">
            <a:avLst/>
          </a:prstGeom>
          <a:solidFill>
            <a:srgbClr val="FEF9E7"/>
          </a:solidFill>
          <a:ln w="12700">
            <a:solidFill>
              <a:srgbClr val="FEF9E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0" name="Text 47">
            <a:extLst>
              <a:ext uri="{FF2B5EF4-FFF2-40B4-BE49-F238E27FC236}">
                <a16:creationId xmlns:a16="http://schemas.microsoft.com/office/drawing/2014/main" id="{3F36021C-BB35-A22E-F8E1-C1E979EFA7EA}"/>
              </a:ext>
            </a:extLst>
          </p:cNvPr>
          <p:cNvSpPr/>
          <p:nvPr/>
        </p:nvSpPr>
        <p:spPr>
          <a:xfrm>
            <a:off x="4937760" y="4471416"/>
            <a:ext cx="1005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C97A0C"/>
                </a:solidFill>
              </a:rPr>
              <a:t>Impacto Medio</a:t>
            </a:r>
            <a:endParaRPr lang="en-US" sz="850" dirty="0"/>
          </a:p>
        </p:txBody>
      </p:sp>
      <p:sp>
        <p:nvSpPr>
          <p:cNvPr id="53" name="Shape 50">
            <a:extLst>
              <a:ext uri="{FF2B5EF4-FFF2-40B4-BE49-F238E27FC236}">
                <a16:creationId xmlns:a16="http://schemas.microsoft.com/office/drawing/2014/main" id="{035939AE-DBC0-9C10-55E9-EFE99B88B421}"/>
              </a:ext>
            </a:extLst>
          </p:cNvPr>
          <p:cNvSpPr/>
          <p:nvPr/>
        </p:nvSpPr>
        <p:spPr>
          <a:xfrm>
            <a:off x="0" y="4864608"/>
            <a:ext cx="9144000" cy="256032"/>
          </a:xfrm>
          <a:prstGeom prst="rect">
            <a:avLst/>
          </a:prstGeom>
          <a:solidFill>
            <a:srgbClr val="FAF8F6"/>
          </a:solidFill>
          <a:ln w="3810">
            <a:solidFill>
              <a:srgbClr val="E5DFD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4" name="Shape 51">
            <a:extLst>
              <a:ext uri="{FF2B5EF4-FFF2-40B4-BE49-F238E27FC236}">
                <a16:creationId xmlns:a16="http://schemas.microsoft.com/office/drawing/2014/main" id="{AF96A76C-120E-61AD-FB91-59708D06F98E}"/>
              </a:ext>
            </a:extLst>
          </p:cNvPr>
          <p:cNvSpPr/>
          <p:nvPr/>
        </p:nvSpPr>
        <p:spPr>
          <a:xfrm>
            <a:off x="0" y="4864608"/>
            <a:ext cx="9144000" cy="16459"/>
          </a:xfrm>
          <a:prstGeom prst="rect">
            <a:avLst/>
          </a:prstGeom>
          <a:solidFill>
            <a:srgbClr val="E30713"/>
          </a:solidFill>
          <a:ln w="12700">
            <a:solidFill>
              <a:srgbClr val="E3071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5" name="Text 52">
            <a:extLst>
              <a:ext uri="{FF2B5EF4-FFF2-40B4-BE49-F238E27FC236}">
                <a16:creationId xmlns:a16="http://schemas.microsoft.com/office/drawing/2014/main" id="{5EDE63CF-D60A-65EB-5D98-005F53EF91A6}"/>
              </a:ext>
            </a:extLst>
          </p:cNvPr>
          <p:cNvSpPr/>
          <p:nvPr/>
        </p:nvSpPr>
        <p:spPr>
          <a:xfrm>
            <a:off x="164592" y="4864608"/>
            <a:ext cx="7863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A9189"/>
                </a:solidFill>
              </a:rPr>
              <a:t>GRUPO EFE  |  MONICA MOGOLLON  —  DIAGNOSTICO  |  Monica Mogollon  |  Cierre Julio 2026</a:t>
            </a:r>
            <a:endParaRPr lang="en-US" sz="750" dirty="0"/>
          </a:p>
        </p:txBody>
      </p:sp>
      <p:pic>
        <p:nvPicPr>
          <p:cNvPr id="58" name="Picture 76">
            <a:extLst>
              <a:ext uri="{FF2B5EF4-FFF2-40B4-BE49-F238E27FC236}">
                <a16:creationId xmlns:a16="http://schemas.microsoft.com/office/drawing/2014/main" id="{A6CDCB05-50D5-3747-E797-42DA053DAD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60019" y="-106317"/>
            <a:ext cx="948004" cy="948004"/>
          </a:xfrm>
          <a:prstGeom prst="rect">
            <a:avLst/>
          </a:prstGeom>
        </p:spPr>
      </p:pic>
      <p:pic>
        <p:nvPicPr>
          <p:cNvPr id="60" name="Imagen 59">
            <a:extLst>
              <a:ext uri="{FF2B5EF4-FFF2-40B4-BE49-F238E27FC236}">
                <a16:creationId xmlns:a16="http://schemas.microsoft.com/office/drawing/2014/main" id="{655D3760-F71B-2EE8-CC7D-03E0CD84727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6496" b="91034" l="5526" r="89929">
                        <a14:foregroundMark x1="5526" y1="55901" x2="8556" y2="77951"/>
                        <a14:foregroundMark x1="33333" y1="65691" x2="33512" y2="78774"/>
                        <a14:foregroundMark x1="17291" y1="76212" x2="14706" y2="85819"/>
                        <a14:foregroundMark x1="14706" y1="60384" x2="14528" y2="84446"/>
                        <a14:foregroundMark x1="35383" y1="63312" x2="28253" y2="91034"/>
                        <a14:foregroundMark x1="50178" y1="50686" x2="51426" y2="61665"/>
                        <a14:foregroundMark x1="85740" y1="6496" x2="84759" y2="10796"/>
                        <a14:foregroundMark x1="77629" y1="43550" x2="64973" y2="47667"/>
                        <a14:foregroundMark x1="78610" y1="28728" x2="72727" y2="33303"/>
                        <a14:foregroundMark x1="80214" y1="18573" x2="77451" y2="26715"/>
                        <a14:foregroundMark x1="82086" y1="30009" x2="85294" y2="34401"/>
                        <a14:foregroundMark x1="85918" y1="9790" x2="85918" y2="9790"/>
                        <a14:foregroundMark x1="85472" y1="10887" x2="86185" y2="18298"/>
                        <a14:foregroundMark x1="45365" y1="45197" x2="22638" y2="48582"/>
                        <a14:foregroundMark x1="53832" y1="55261" x2="54011" y2="76212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8856552" y="4902997"/>
            <a:ext cx="236904" cy="2307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62118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507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02920" cy="5143500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685800" y="2148840"/>
            <a:ext cx="8275320" cy="22860"/>
          </a:xfrm>
          <a:prstGeom prst="rect">
            <a:avLst/>
          </a:prstGeom>
          <a:solidFill>
            <a:srgbClr val="FFFFFF">
              <a:alpha val="40000"/>
            </a:srgbClr>
          </a:solidFill>
          <a:ln w="12700">
            <a:solidFill>
              <a:srgbClr val="FFFFFF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576072" y="1043940"/>
            <a:ext cx="87325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</a:rPr>
              <a:t>Ronny Aleman: TC TLM - PLD - Operaciones - </a:t>
            </a:r>
            <a:r>
              <a:rPr lang="en-US" sz="3200" b="1" dirty="0" err="1">
                <a:solidFill>
                  <a:srgbClr val="FFFFFF"/>
                </a:solidFill>
              </a:rPr>
              <a:t>Portafolio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685800" y="2215515"/>
            <a:ext cx="8732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</a:rPr>
              <a:t>Ronny Aleman  ·  Subgerente BBVA TLM OUT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685800" y="2700147"/>
            <a:ext cx="8732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 dirty="0">
                <a:solidFill>
                  <a:srgbClr val="FFFFFF"/>
                </a:solidFill>
              </a:rPr>
              <a:t>Julio 2026</a:t>
            </a:r>
            <a:endParaRPr lang="en-US" sz="1200" dirty="0"/>
          </a:p>
        </p:txBody>
      </p:sp>
      <p:pic>
        <p:nvPicPr>
          <p:cNvPr id="13" name="Imagen 12">
            <a:extLst>
              <a:ext uri="{FF2B5EF4-FFF2-40B4-BE49-F238E27FC236}">
                <a16:creationId xmlns:a16="http://schemas.microsoft.com/office/drawing/2014/main" id="{208247B6-0ABD-FF21-E0E7-BE74437F74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0" y="3240003"/>
            <a:ext cx="3657600" cy="2082063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" cy="658368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0" y="658368"/>
            <a:ext cx="9144000" cy="32004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01168" y="0"/>
            <a:ext cx="7498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30" dirty="0">
                <a:solidFill>
                  <a:srgbClr val="FFFFFF"/>
                </a:solidFill>
              </a:rPr>
              <a:t>RESUMEN GENERAL|  TC TLM · PLD OUT · OPERACIONES OUT · PORTAFOLIO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77072" y="713232"/>
            <a:ext cx="521208" cy="228600"/>
          </a:xfrm>
          <a:prstGeom prst="rect">
            <a:avLst/>
          </a:prstGeom>
          <a:solidFill>
            <a:srgbClr val="0E3854"/>
          </a:solidFill>
          <a:ln w="12700">
            <a:solidFill>
              <a:srgbClr val="0E3854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ext 5"/>
          <p:cNvSpPr/>
          <p:nvPr/>
        </p:nvSpPr>
        <p:spPr>
          <a:xfrm>
            <a:off x="8577072" y="713232"/>
            <a:ext cx="5212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1 / 3</a:t>
            </a:r>
            <a:endParaRPr lang="en-US" sz="800" dirty="0"/>
          </a:p>
        </p:txBody>
      </p:sp>
      <p:sp>
        <p:nvSpPr>
          <p:cNvPr id="12" name="Text 9"/>
          <p:cNvSpPr/>
          <p:nvPr/>
        </p:nvSpPr>
        <p:spPr>
          <a:xfrm>
            <a:off x="201168" y="1152144"/>
            <a:ext cx="2331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67085"/>
                </a:solidFill>
              </a:rPr>
              <a:t>Sub-Gerente: Ronny Aleman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75488" y="1265791"/>
            <a:ext cx="3090672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000" b="1" dirty="0">
                <a:solidFill>
                  <a:srgbClr val="19A075"/>
                </a:solidFill>
              </a:rPr>
              <a:t>90%</a:t>
            </a:r>
            <a:endParaRPr lang="en-US" sz="6000" dirty="0">
              <a:solidFill>
                <a:srgbClr val="19A075"/>
              </a:solidFill>
            </a:endParaRPr>
          </a:p>
        </p:txBody>
      </p:sp>
      <p:sp>
        <p:nvSpPr>
          <p:cNvPr id="14" name="Text 11"/>
          <p:cNvSpPr/>
          <p:nvPr/>
        </p:nvSpPr>
        <p:spPr>
          <a:xfrm>
            <a:off x="-65589" y="2697861"/>
            <a:ext cx="2331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67085"/>
                </a:solidFill>
              </a:rPr>
              <a:t>Avance promedio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2633472" y="749808"/>
            <a:ext cx="45719" cy="3773119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6" name="Shape 13"/>
          <p:cNvSpPr/>
          <p:nvPr/>
        </p:nvSpPr>
        <p:spPr>
          <a:xfrm>
            <a:off x="2743200" y="749808"/>
            <a:ext cx="3086100" cy="786384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7" name="Text 14"/>
          <p:cNvSpPr/>
          <p:nvPr/>
        </p:nvSpPr>
        <p:spPr>
          <a:xfrm>
            <a:off x="2880360" y="841248"/>
            <a:ext cx="29032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80" kern="0" spc="40" dirty="0">
                <a:solidFill>
                  <a:srgbClr val="667085"/>
                </a:solidFill>
              </a:rPr>
              <a:t>CONECTADOS</a:t>
            </a:r>
            <a:endParaRPr lang="en-US" sz="780" dirty="0"/>
          </a:p>
        </p:txBody>
      </p:sp>
      <p:sp>
        <p:nvSpPr>
          <p:cNvPr id="18" name="Text 15"/>
          <p:cNvSpPr/>
          <p:nvPr/>
        </p:nvSpPr>
        <p:spPr>
          <a:xfrm>
            <a:off x="2880360" y="1024128"/>
            <a:ext cx="29032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45078"/>
                </a:solidFill>
              </a:rPr>
              <a:t>70</a:t>
            </a:r>
            <a:endParaRPr lang="en-US" sz="2200" dirty="0"/>
          </a:p>
        </p:txBody>
      </p:sp>
      <p:sp>
        <p:nvSpPr>
          <p:cNvPr id="19" name="Shape 16"/>
          <p:cNvSpPr/>
          <p:nvPr/>
        </p:nvSpPr>
        <p:spPr>
          <a:xfrm>
            <a:off x="5920740" y="749808"/>
            <a:ext cx="3086100" cy="786384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0" name="Text 17"/>
          <p:cNvSpPr/>
          <p:nvPr/>
        </p:nvSpPr>
        <p:spPr>
          <a:xfrm>
            <a:off x="6057900" y="841248"/>
            <a:ext cx="29032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80" kern="0" spc="40" dirty="0">
                <a:solidFill>
                  <a:srgbClr val="667085"/>
                </a:solidFill>
              </a:rPr>
              <a:t>DOTACION</a:t>
            </a:r>
            <a:endParaRPr lang="en-US" sz="780" dirty="0"/>
          </a:p>
        </p:txBody>
      </p:sp>
      <p:sp>
        <p:nvSpPr>
          <p:cNvPr id="21" name="Text 18"/>
          <p:cNvSpPr/>
          <p:nvPr/>
        </p:nvSpPr>
        <p:spPr>
          <a:xfrm>
            <a:off x="6057900" y="1024128"/>
            <a:ext cx="29032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45078"/>
                </a:solidFill>
              </a:rPr>
              <a:t>50</a:t>
            </a:r>
            <a:endParaRPr lang="en-US" sz="2200" dirty="0"/>
          </a:p>
        </p:txBody>
      </p:sp>
      <p:sp>
        <p:nvSpPr>
          <p:cNvPr id="22" name="Shape 19"/>
          <p:cNvSpPr/>
          <p:nvPr/>
        </p:nvSpPr>
        <p:spPr>
          <a:xfrm>
            <a:off x="2743200" y="1609344"/>
            <a:ext cx="3086100" cy="786384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3" name="Text 20"/>
          <p:cNvSpPr/>
          <p:nvPr/>
        </p:nvSpPr>
        <p:spPr>
          <a:xfrm>
            <a:off x="2880360" y="1700784"/>
            <a:ext cx="29032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80" kern="0" spc="40" dirty="0">
                <a:solidFill>
                  <a:srgbClr val="667085"/>
                </a:solidFill>
              </a:rPr>
              <a:t>PEND. SELECCION</a:t>
            </a:r>
            <a:endParaRPr lang="en-US" sz="780" dirty="0"/>
          </a:p>
        </p:txBody>
      </p:sp>
      <p:sp>
        <p:nvSpPr>
          <p:cNvPr id="24" name="Text 21"/>
          <p:cNvSpPr/>
          <p:nvPr/>
        </p:nvSpPr>
        <p:spPr>
          <a:xfrm>
            <a:off x="2880360" y="1883664"/>
            <a:ext cx="29032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45078"/>
                </a:solidFill>
              </a:rPr>
              <a:t>2</a:t>
            </a:r>
            <a:endParaRPr lang="en-US" sz="2200" dirty="0"/>
          </a:p>
        </p:txBody>
      </p:sp>
      <p:sp>
        <p:nvSpPr>
          <p:cNvPr id="25" name="Shape 22"/>
          <p:cNvSpPr/>
          <p:nvPr/>
        </p:nvSpPr>
        <p:spPr>
          <a:xfrm>
            <a:off x="5920740" y="1609344"/>
            <a:ext cx="3086100" cy="786384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6" name="Text 23"/>
          <p:cNvSpPr/>
          <p:nvPr/>
        </p:nvSpPr>
        <p:spPr>
          <a:xfrm>
            <a:off x="6057900" y="1700784"/>
            <a:ext cx="29032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80" kern="0" spc="40" dirty="0">
                <a:solidFill>
                  <a:srgbClr val="667085"/>
                </a:solidFill>
              </a:rPr>
              <a:t>PEND. INDUCCION</a:t>
            </a:r>
            <a:endParaRPr lang="en-US" sz="780" dirty="0"/>
          </a:p>
        </p:txBody>
      </p:sp>
      <p:sp>
        <p:nvSpPr>
          <p:cNvPr id="27" name="Text 24"/>
          <p:cNvSpPr/>
          <p:nvPr/>
        </p:nvSpPr>
        <p:spPr>
          <a:xfrm>
            <a:off x="6057900" y="1883664"/>
            <a:ext cx="29032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45078"/>
                </a:solidFill>
              </a:rPr>
              <a:t>16</a:t>
            </a:r>
            <a:endParaRPr lang="en-US" sz="2200" dirty="0"/>
          </a:p>
        </p:txBody>
      </p:sp>
      <p:sp>
        <p:nvSpPr>
          <p:cNvPr id="28" name="Shape 25"/>
          <p:cNvSpPr/>
          <p:nvPr/>
        </p:nvSpPr>
        <p:spPr>
          <a:xfrm>
            <a:off x="2743200" y="2468880"/>
            <a:ext cx="3086100" cy="786384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9" name="Text 26"/>
          <p:cNvSpPr/>
          <p:nvPr/>
        </p:nvSpPr>
        <p:spPr>
          <a:xfrm>
            <a:off x="2880360" y="2560320"/>
            <a:ext cx="29032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80" kern="0" spc="40" dirty="0">
                <a:solidFill>
                  <a:srgbClr val="667085"/>
                </a:solidFill>
              </a:rPr>
              <a:t>PRESUPUESTO</a:t>
            </a:r>
            <a:endParaRPr lang="en-US" sz="780" dirty="0"/>
          </a:p>
        </p:txBody>
      </p:sp>
      <p:sp>
        <p:nvSpPr>
          <p:cNvPr id="30" name="Text 27"/>
          <p:cNvSpPr/>
          <p:nvPr/>
        </p:nvSpPr>
        <p:spPr>
          <a:xfrm>
            <a:off x="2880360" y="2743200"/>
            <a:ext cx="29032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45078"/>
                </a:solidFill>
              </a:rPr>
              <a:t>100</a:t>
            </a:r>
            <a:endParaRPr lang="en-US" sz="2200" dirty="0"/>
          </a:p>
        </p:txBody>
      </p:sp>
      <p:sp>
        <p:nvSpPr>
          <p:cNvPr id="31" name="Shape 28"/>
          <p:cNvSpPr/>
          <p:nvPr/>
        </p:nvSpPr>
        <p:spPr>
          <a:xfrm>
            <a:off x="5920740" y="2468880"/>
            <a:ext cx="3086100" cy="786384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2" name="Text 29"/>
          <p:cNvSpPr/>
          <p:nvPr/>
        </p:nvSpPr>
        <p:spPr>
          <a:xfrm>
            <a:off x="6057900" y="2560320"/>
            <a:ext cx="29032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80" kern="0" spc="40" dirty="0">
                <a:solidFill>
                  <a:srgbClr val="667085"/>
                </a:solidFill>
              </a:rPr>
              <a:t>SEMANA</a:t>
            </a:r>
            <a:endParaRPr lang="en-US" sz="780" dirty="0"/>
          </a:p>
        </p:txBody>
      </p:sp>
      <p:sp>
        <p:nvSpPr>
          <p:cNvPr id="33" name="Text 30"/>
          <p:cNvSpPr/>
          <p:nvPr/>
        </p:nvSpPr>
        <p:spPr>
          <a:xfrm>
            <a:off x="6057900" y="2743200"/>
            <a:ext cx="29032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45078"/>
                </a:solidFill>
              </a:rPr>
              <a:t>05</a:t>
            </a:r>
            <a:endParaRPr lang="en-US" sz="2200" dirty="0"/>
          </a:p>
        </p:txBody>
      </p:sp>
      <p:sp>
        <p:nvSpPr>
          <p:cNvPr id="34" name="Shape 31"/>
          <p:cNvSpPr/>
          <p:nvPr/>
        </p:nvSpPr>
        <p:spPr>
          <a:xfrm>
            <a:off x="0" y="3419856"/>
            <a:ext cx="9144000" cy="234696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5" name="Text 32"/>
          <p:cNvSpPr/>
          <p:nvPr/>
        </p:nvSpPr>
        <p:spPr>
          <a:xfrm>
            <a:off x="182880" y="3419856"/>
            <a:ext cx="3108960" cy="2346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</a:rPr>
              <a:t>Sub-campaña</a:t>
            </a:r>
            <a:endParaRPr lang="en-US" sz="850" dirty="0"/>
          </a:p>
        </p:txBody>
      </p:sp>
      <p:sp>
        <p:nvSpPr>
          <p:cNvPr id="36" name="Text 33"/>
          <p:cNvSpPr/>
          <p:nvPr/>
        </p:nvSpPr>
        <p:spPr>
          <a:xfrm>
            <a:off x="2561863" y="3419308"/>
            <a:ext cx="1188720" cy="2346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</a:rPr>
              <a:t>Presupuesto</a:t>
            </a:r>
            <a:endParaRPr lang="en-US" sz="850" dirty="0"/>
          </a:p>
        </p:txBody>
      </p:sp>
      <p:sp>
        <p:nvSpPr>
          <p:cNvPr id="37" name="Text 34"/>
          <p:cNvSpPr/>
          <p:nvPr/>
        </p:nvSpPr>
        <p:spPr>
          <a:xfrm>
            <a:off x="4526280" y="3419856"/>
            <a:ext cx="2103120" cy="2346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</a:rPr>
              <a:t>Avance</a:t>
            </a:r>
            <a:endParaRPr lang="en-US" sz="850" dirty="0"/>
          </a:p>
        </p:txBody>
      </p:sp>
      <p:sp>
        <p:nvSpPr>
          <p:cNvPr id="38" name="Text 35"/>
          <p:cNvSpPr/>
          <p:nvPr/>
        </p:nvSpPr>
        <p:spPr>
          <a:xfrm>
            <a:off x="6656832" y="3419856"/>
            <a:ext cx="868680" cy="2346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</a:rPr>
              <a:t>% Logro</a:t>
            </a:r>
            <a:endParaRPr lang="en-US" sz="850" dirty="0"/>
          </a:p>
        </p:txBody>
      </p:sp>
      <p:sp>
        <p:nvSpPr>
          <p:cNvPr id="39" name="Text 36"/>
          <p:cNvSpPr/>
          <p:nvPr/>
        </p:nvSpPr>
        <p:spPr>
          <a:xfrm>
            <a:off x="7543800" y="3419856"/>
            <a:ext cx="1463040" cy="2346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</a:rPr>
              <a:t>Proyeccion</a:t>
            </a:r>
            <a:endParaRPr lang="en-US" sz="850" dirty="0"/>
          </a:p>
        </p:txBody>
      </p:sp>
      <p:sp>
        <p:nvSpPr>
          <p:cNvPr id="40" name="Shape 37"/>
          <p:cNvSpPr/>
          <p:nvPr/>
        </p:nvSpPr>
        <p:spPr>
          <a:xfrm>
            <a:off x="0" y="3654552"/>
            <a:ext cx="9144000" cy="234696"/>
          </a:xfrm>
          <a:prstGeom prst="rect">
            <a:avLst/>
          </a:prstGeom>
          <a:solidFill>
            <a:srgbClr val="FFFFFF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1" name="Text 38"/>
          <p:cNvSpPr/>
          <p:nvPr/>
        </p:nvSpPr>
        <p:spPr>
          <a:xfrm>
            <a:off x="182880" y="3654552"/>
            <a:ext cx="2926080" cy="2346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45078"/>
                </a:solidFill>
              </a:rPr>
              <a:t>TC Telemarketing OUT</a:t>
            </a:r>
            <a:endParaRPr lang="en-US" sz="950" dirty="0"/>
          </a:p>
        </p:txBody>
      </p:sp>
      <p:sp>
        <p:nvSpPr>
          <p:cNvPr id="42" name="Text 39"/>
          <p:cNvSpPr/>
          <p:nvPr/>
        </p:nvSpPr>
        <p:spPr>
          <a:xfrm>
            <a:off x="2695937" y="3654552"/>
            <a:ext cx="1188720" cy="2346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01828"/>
                </a:solidFill>
              </a:rPr>
              <a:t>50</a:t>
            </a:r>
            <a:endParaRPr lang="en-US" sz="950" dirty="0"/>
          </a:p>
        </p:txBody>
      </p:sp>
      <p:sp>
        <p:nvSpPr>
          <p:cNvPr id="43" name="Shape 40"/>
          <p:cNvSpPr/>
          <p:nvPr/>
        </p:nvSpPr>
        <p:spPr>
          <a:xfrm>
            <a:off x="4526280" y="3720267"/>
            <a:ext cx="1920240" cy="985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4" name="Shape 41"/>
          <p:cNvSpPr/>
          <p:nvPr/>
        </p:nvSpPr>
        <p:spPr>
          <a:xfrm>
            <a:off x="4526280" y="3720267"/>
            <a:ext cx="1728216" cy="98572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5" name="Text 42"/>
          <p:cNvSpPr/>
          <p:nvPr/>
        </p:nvSpPr>
        <p:spPr>
          <a:xfrm>
            <a:off x="6656832" y="3654552"/>
            <a:ext cx="868680" cy="2346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59669"/>
                </a:solidFill>
              </a:rPr>
              <a:t>90%</a:t>
            </a:r>
            <a:endParaRPr lang="en-US" sz="1000" dirty="0"/>
          </a:p>
        </p:txBody>
      </p:sp>
      <p:sp>
        <p:nvSpPr>
          <p:cNvPr id="46" name="Text 43"/>
          <p:cNvSpPr/>
          <p:nvPr/>
        </p:nvSpPr>
        <p:spPr>
          <a:xfrm>
            <a:off x="7543800" y="3654552"/>
            <a:ext cx="1463040" cy="2346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667085"/>
                </a:solidFill>
              </a:rPr>
              <a:t>700</a:t>
            </a:r>
            <a:endParaRPr lang="en-US" sz="850" dirty="0"/>
          </a:p>
        </p:txBody>
      </p:sp>
      <p:sp>
        <p:nvSpPr>
          <p:cNvPr id="47" name="Shape 44"/>
          <p:cNvSpPr/>
          <p:nvPr/>
        </p:nvSpPr>
        <p:spPr>
          <a:xfrm>
            <a:off x="0" y="3889248"/>
            <a:ext cx="9144000" cy="234696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8" name="Text 45"/>
          <p:cNvSpPr/>
          <p:nvPr/>
        </p:nvSpPr>
        <p:spPr>
          <a:xfrm>
            <a:off x="182880" y="3889248"/>
            <a:ext cx="2926080" cy="2346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45078"/>
                </a:solidFill>
              </a:rPr>
              <a:t>PLD OUT (Prestamos)</a:t>
            </a:r>
            <a:endParaRPr lang="en-US" sz="950" dirty="0"/>
          </a:p>
        </p:txBody>
      </p:sp>
      <p:sp>
        <p:nvSpPr>
          <p:cNvPr id="49" name="Text 46"/>
          <p:cNvSpPr/>
          <p:nvPr/>
        </p:nvSpPr>
        <p:spPr>
          <a:xfrm>
            <a:off x="2695937" y="3889248"/>
            <a:ext cx="1188720" cy="2346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01828"/>
                </a:solidFill>
              </a:rPr>
              <a:t>16</a:t>
            </a:r>
            <a:endParaRPr lang="en-US" sz="950" dirty="0"/>
          </a:p>
        </p:txBody>
      </p:sp>
      <p:sp>
        <p:nvSpPr>
          <p:cNvPr id="50" name="Shape 47"/>
          <p:cNvSpPr/>
          <p:nvPr/>
        </p:nvSpPr>
        <p:spPr>
          <a:xfrm>
            <a:off x="4526280" y="3954963"/>
            <a:ext cx="1920240" cy="985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1" name="Shape 48"/>
          <p:cNvSpPr/>
          <p:nvPr/>
        </p:nvSpPr>
        <p:spPr>
          <a:xfrm>
            <a:off x="4526280" y="3954963"/>
            <a:ext cx="1401775" cy="98572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2" name="Text 49"/>
          <p:cNvSpPr/>
          <p:nvPr/>
        </p:nvSpPr>
        <p:spPr>
          <a:xfrm>
            <a:off x="6656832" y="3889248"/>
            <a:ext cx="868680" cy="2346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C2626"/>
                </a:solidFill>
              </a:rPr>
              <a:t>73%</a:t>
            </a:r>
            <a:endParaRPr lang="en-US" sz="1000" dirty="0"/>
          </a:p>
        </p:txBody>
      </p:sp>
      <p:sp>
        <p:nvSpPr>
          <p:cNvPr id="53" name="Text 50"/>
          <p:cNvSpPr/>
          <p:nvPr/>
        </p:nvSpPr>
        <p:spPr>
          <a:xfrm>
            <a:off x="7543800" y="3889248"/>
            <a:ext cx="1463040" cy="2346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667085"/>
                </a:solidFill>
              </a:rPr>
              <a:t>700</a:t>
            </a:r>
            <a:endParaRPr lang="en-US" sz="850" dirty="0"/>
          </a:p>
        </p:txBody>
      </p:sp>
      <p:sp>
        <p:nvSpPr>
          <p:cNvPr id="54" name="Shape 51"/>
          <p:cNvSpPr/>
          <p:nvPr/>
        </p:nvSpPr>
        <p:spPr>
          <a:xfrm>
            <a:off x="0" y="4123944"/>
            <a:ext cx="9144000" cy="234696"/>
          </a:xfrm>
          <a:prstGeom prst="rect">
            <a:avLst/>
          </a:prstGeom>
          <a:solidFill>
            <a:srgbClr val="FFFFFF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5" name="Text 52"/>
          <p:cNvSpPr/>
          <p:nvPr/>
        </p:nvSpPr>
        <p:spPr>
          <a:xfrm>
            <a:off x="182880" y="4123944"/>
            <a:ext cx="2926080" cy="2346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45078"/>
                </a:solidFill>
              </a:rPr>
              <a:t>Operaciones OUT</a:t>
            </a:r>
            <a:endParaRPr lang="en-US" sz="950" dirty="0"/>
          </a:p>
        </p:txBody>
      </p:sp>
      <p:sp>
        <p:nvSpPr>
          <p:cNvPr id="56" name="Text 53"/>
          <p:cNvSpPr/>
          <p:nvPr/>
        </p:nvSpPr>
        <p:spPr>
          <a:xfrm>
            <a:off x="2695937" y="4123944"/>
            <a:ext cx="1188720" cy="2346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01828"/>
                </a:solidFill>
              </a:rPr>
              <a:t>14</a:t>
            </a:r>
            <a:endParaRPr lang="en-US" sz="950" dirty="0"/>
          </a:p>
        </p:txBody>
      </p:sp>
      <p:sp>
        <p:nvSpPr>
          <p:cNvPr id="57" name="Shape 54"/>
          <p:cNvSpPr/>
          <p:nvPr/>
        </p:nvSpPr>
        <p:spPr>
          <a:xfrm>
            <a:off x="4526280" y="4189659"/>
            <a:ext cx="1920240" cy="985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8" name="Shape 55"/>
          <p:cNvSpPr/>
          <p:nvPr/>
        </p:nvSpPr>
        <p:spPr>
          <a:xfrm>
            <a:off x="4526280" y="4189659"/>
            <a:ext cx="1747418" cy="98572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9" name="Text 56"/>
          <p:cNvSpPr/>
          <p:nvPr/>
        </p:nvSpPr>
        <p:spPr>
          <a:xfrm>
            <a:off x="6656832" y="4123944"/>
            <a:ext cx="868680" cy="2346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59669"/>
                </a:solidFill>
              </a:rPr>
              <a:t>91%</a:t>
            </a:r>
            <a:endParaRPr lang="en-US" sz="1000" dirty="0"/>
          </a:p>
        </p:txBody>
      </p:sp>
      <p:sp>
        <p:nvSpPr>
          <p:cNvPr id="60" name="Text 57"/>
          <p:cNvSpPr/>
          <p:nvPr/>
        </p:nvSpPr>
        <p:spPr>
          <a:xfrm>
            <a:off x="7543800" y="4123944"/>
            <a:ext cx="1463040" cy="2346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667085"/>
                </a:solidFill>
              </a:rPr>
              <a:t>700</a:t>
            </a:r>
            <a:endParaRPr lang="en-US" sz="850" dirty="0"/>
          </a:p>
        </p:txBody>
      </p:sp>
      <p:sp>
        <p:nvSpPr>
          <p:cNvPr id="61" name="Shape 58"/>
          <p:cNvSpPr/>
          <p:nvPr/>
        </p:nvSpPr>
        <p:spPr>
          <a:xfrm>
            <a:off x="0" y="4358640"/>
            <a:ext cx="9144000" cy="234696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2" name="Text 59"/>
          <p:cNvSpPr/>
          <p:nvPr/>
        </p:nvSpPr>
        <p:spPr>
          <a:xfrm>
            <a:off x="182880" y="4358640"/>
            <a:ext cx="2926080" cy="2346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 err="1">
                <a:solidFill>
                  <a:srgbClr val="145078"/>
                </a:solidFill>
              </a:rPr>
              <a:t>Portafolio</a:t>
            </a:r>
            <a:endParaRPr lang="en-US" sz="950" dirty="0"/>
          </a:p>
        </p:txBody>
      </p:sp>
      <p:sp>
        <p:nvSpPr>
          <p:cNvPr id="63" name="Text 60"/>
          <p:cNvSpPr/>
          <p:nvPr/>
        </p:nvSpPr>
        <p:spPr>
          <a:xfrm>
            <a:off x="2695937" y="4358640"/>
            <a:ext cx="1188720" cy="2346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01828"/>
                </a:solidFill>
              </a:rPr>
              <a:t>18</a:t>
            </a:r>
            <a:endParaRPr lang="en-US" sz="950" dirty="0"/>
          </a:p>
        </p:txBody>
      </p:sp>
      <p:sp>
        <p:nvSpPr>
          <p:cNvPr id="64" name="Shape 61"/>
          <p:cNvSpPr/>
          <p:nvPr/>
        </p:nvSpPr>
        <p:spPr>
          <a:xfrm>
            <a:off x="4526280" y="4424355"/>
            <a:ext cx="1920240" cy="985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5" name="Shape 62"/>
          <p:cNvSpPr/>
          <p:nvPr/>
        </p:nvSpPr>
        <p:spPr>
          <a:xfrm>
            <a:off x="4526280" y="4424355"/>
            <a:ext cx="1728216" cy="98572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6" name="Text 63"/>
          <p:cNvSpPr/>
          <p:nvPr/>
        </p:nvSpPr>
        <p:spPr>
          <a:xfrm>
            <a:off x="6656832" y="4358640"/>
            <a:ext cx="868680" cy="2346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59669"/>
                </a:solidFill>
              </a:rPr>
              <a:t>90%</a:t>
            </a:r>
            <a:endParaRPr lang="en-US" sz="1000" dirty="0"/>
          </a:p>
        </p:txBody>
      </p:sp>
      <p:sp>
        <p:nvSpPr>
          <p:cNvPr id="67" name="Text 64"/>
          <p:cNvSpPr/>
          <p:nvPr/>
        </p:nvSpPr>
        <p:spPr>
          <a:xfrm>
            <a:off x="7543800" y="4358640"/>
            <a:ext cx="1463040" cy="2346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667085"/>
                </a:solidFill>
              </a:rPr>
              <a:t>700</a:t>
            </a:r>
            <a:endParaRPr lang="en-US" sz="850" dirty="0"/>
          </a:p>
        </p:txBody>
      </p:sp>
      <p:sp>
        <p:nvSpPr>
          <p:cNvPr id="75" name="Shape 72"/>
          <p:cNvSpPr/>
          <p:nvPr/>
        </p:nvSpPr>
        <p:spPr>
          <a:xfrm>
            <a:off x="0" y="4864608"/>
            <a:ext cx="9144000" cy="256032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6" name="Text 73"/>
          <p:cNvSpPr/>
          <p:nvPr/>
        </p:nvSpPr>
        <p:spPr>
          <a:xfrm>
            <a:off x="201168" y="4864608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667085"/>
                </a:solidFill>
              </a:rPr>
              <a:t>TU META ES NUESTRA META  ·  BBVA TLM OUT  |  RONNY ALEMAN  |  Ronny Aleman  |  Cierre Julio 2026</a:t>
            </a:r>
            <a:endParaRPr lang="en-US" sz="750" dirty="0"/>
          </a:p>
        </p:txBody>
      </p:sp>
      <p:sp>
        <p:nvSpPr>
          <p:cNvPr id="78" name="Shape 6">
            <a:extLst>
              <a:ext uri="{FF2B5EF4-FFF2-40B4-BE49-F238E27FC236}">
                <a16:creationId xmlns:a16="http://schemas.microsoft.com/office/drawing/2014/main" id="{1E55FB29-2C7A-3DF5-E1C1-495612494CC7}"/>
              </a:ext>
            </a:extLst>
          </p:cNvPr>
          <p:cNvSpPr/>
          <p:nvPr/>
        </p:nvSpPr>
        <p:spPr>
          <a:xfrm>
            <a:off x="150876" y="785632"/>
            <a:ext cx="2331720" cy="329184"/>
          </a:xfrm>
          <a:prstGeom prst="rect">
            <a:avLst/>
          </a:prstGeom>
          <a:solidFill>
            <a:srgbClr val="D1FAE5"/>
          </a:solidFill>
          <a:ln w="12700">
            <a:solidFill>
              <a:srgbClr val="D1FAE5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0" name="Shape 7">
            <a:extLst>
              <a:ext uri="{FF2B5EF4-FFF2-40B4-BE49-F238E27FC236}">
                <a16:creationId xmlns:a16="http://schemas.microsoft.com/office/drawing/2014/main" id="{670DE5C5-466E-0434-E549-07443ECBCDEA}"/>
              </a:ext>
            </a:extLst>
          </p:cNvPr>
          <p:cNvSpPr/>
          <p:nvPr/>
        </p:nvSpPr>
        <p:spPr>
          <a:xfrm>
            <a:off x="242316" y="858784"/>
            <a:ext cx="164592" cy="164592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2" name="Text 8">
            <a:extLst>
              <a:ext uri="{FF2B5EF4-FFF2-40B4-BE49-F238E27FC236}">
                <a16:creationId xmlns:a16="http://schemas.microsoft.com/office/drawing/2014/main" id="{25D52E78-6D8B-03BB-4AC6-1C261FE7C63D}"/>
              </a:ext>
            </a:extLst>
          </p:cNvPr>
          <p:cNvSpPr/>
          <p:nvPr/>
        </p:nvSpPr>
        <p:spPr>
          <a:xfrm>
            <a:off x="461772" y="785632"/>
            <a:ext cx="200253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950" b="1" dirty="0">
                <a:solidFill>
                  <a:srgbClr val="059669"/>
                </a:solidFill>
              </a:rPr>
              <a:t>EN AVANCE</a:t>
            </a:r>
          </a:p>
        </p:txBody>
      </p:sp>
      <p:sp>
        <p:nvSpPr>
          <p:cNvPr id="10" name="Text 39">
            <a:extLst>
              <a:ext uri="{FF2B5EF4-FFF2-40B4-BE49-F238E27FC236}">
                <a16:creationId xmlns:a16="http://schemas.microsoft.com/office/drawing/2014/main" id="{5F92946E-1D69-F6E6-2C88-56D8E60AE516}"/>
              </a:ext>
            </a:extLst>
          </p:cNvPr>
          <p:cNvSpPr/>
          <p:nvPr/>
        </p:nvSpPr>
        <p:spPr>
          <a:xfrm>
            <a:off x="5117268" y="3636752"/>
            <a:ext cx="1260698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11010"/>
                </a:solidFill>
              </a:rPr>
              <a:t>900</a:t>
            </a:r>
            <a:endParaRPr lang="en-US" sz="950" dirty="0"/>
          </a:p>
        </p:txBody>
      </p:sp>
      <p:sp>
        <p:nvSpPr>
          <p:cNvPr id="77" name="Text 39">
            <a:extLst>
              <a:ext uri="{FF2B5EF4-FFF2-40B4-BE49-F238E27FC236}">
                <a16:creationId xmlns:a16="http://schemas.microsoft.com/office/drawing/2014/main" id="{5B730E9C-AA80-E186-C853-2B5A3F158C92}"/>
              </a:ext>
            </a:extLst>
          </p:cNvPr>
          <p:cNvSpPr/>
          <p:nvPr/>
        </p:nvSpPr>
        <p:spPr>
          <a:xfrm>
            <a:off x="5117268" y="3863431"/>
            <a:ext cx="1260698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11010"/>
                </a:solidFill>
              </a:rPr>
              <a:t>900</a:t>
            </a:r>
            <a:endParaRPr lang="en-US" sz="950" dirty="0"/>
          </a:p>
        </p:txBody>
      </p:sp>
      <p:sp>
        <p:nvSpPr>
          <p:cNvPr id="83" name="Text 39">
            <a:extLst>
              <a:ext uri="{FF2B5EF4-FFF2-40B4-BE49-F238E27FC236}">
                <a16:creationId xmlns:a16="http://schemas.microsoft.com/office/drawing/2014/main" id="{39C92EC7-43C5-93A3-ED45-17C5DD507E03}"/>
              </a:ext>
            </a:extLst>
          </p:cNvPr>
          <p:cNvSpPr/>
          <p:nvPr/>
        </p:nvSpPr>
        <p:spPr>
          <a:xfrm>
            <a:off x="5112083" y="4098127"/>
            <a:ext cx="1260698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11010"/>
                </a:solidFill>
              </a:rPr>
              <a:t>900</a:t>
            </a:r>
            <a:endParaRPr lang="en-US" sz="950" dirty="0"/>
          </a:p>
        </p:txBody>
      </p:sp>
      <p:sp>
        <p:nvSpPr>
          <p:cNvPr id="85" name="Text 39">
            <a:extLst>
              <a:ext uri="{FF2B5EF4-FFF2-40B4-BE49-F238E27FC236}">
                <a16:creationId xmlns:a16="http://schemas.microsoft.com/office/drawing/2014/main" id="{290F34D1-83D5-6F68-33F7-F0CEEC135045}"/>
              </a:ext>
            </a:extLst>
          </p:cNvPr>
          <p:cNvSpPr/>
          <p:nvPr/>
        </p:nvSpPr>
        <p:spPr>
          <a:xfrm>
            <a:off x="5134288" y="4332823"/>
            <a:ext cx="1260698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11010"/>
                </a:solidFill>
              </a:rPr>
              <a:t>900</a:t>
            </a:r>
            <a:endParaRPr lang="en-US" sz="950" dirty="0"/>
          </a:p>
        </p:txBody>
      </p:sp>
      <p:sp>
        <p:nvSpPr>
          <p:cNvPr id="89" name="Text 33">
            <a:extLst>
              <a:ext uri="{FF2B5EF4-FFF2-40B4-BE49-F238E27FC236}">
                <a16:creationId xmlns:a16="http://schemas.microsoft.com/office/drawing/2014/main" id="{51739359-080A-87AC-E263-2B1F7386CDC2}"/>
              </a:ext>
            </a:extLst>
          </p:cNvPr>
          <p:cNvSpPr/>
          <p:nvPr/>
        </p:nvSpPr>
        <p:spPr>
          <a:xfrm>
            <a:off x="3426494" y="3395827"/>
            <a:ext cx="11887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 err="1">
                <a:solidFill>
                  <a:srgbClr val="FFFFFF"/>
                </a:solidFill>
              </a:rPr>
              <a:t>Conectados</a:t>
            </a:r>
            <a:endParaRPr lang="en-US" sz="850" dirty="0"/>
          </a:p>
        </p:txBody>
      </p:sp>
      <p:sp>
        <p:nvSpPr>
          <p:cNvPr id="91" name="Text 39">
            <a:extLst>
              <a:ext uri="{FF2B5EF4-FFF2-40B4-BE49-F238E27FC236}">
                <a16:creationId xmlns:a16="http://schemas.microsoft.com/office/drawing/2014/main" id="{A45C6784-DEFA-6A05-0C12-ACEB39062D5D}"/>
              </a:ext>
            </a:extLst>
          </p:cNvPr>
          <p:cNvSpPr/>
          <p:nvPr/>
        </p:nvSpPr>
        <p:spPr>
          <a:xfrm>
            <a:off x="3659544" y="3850854"/>
            <a:ext cx="11887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11010"/>
                </a:solidFill>
              </a:rPr>
              <a:t>40</a:t>
            </a:r>
            <a:endParaRPr lang="en-US" sz="950" dirty="0"/>
          </a:p>
        </p:txBody>
      </p:sp>
      <p:sp>
        <p:nvSpPr>
          <p:cNvPr id="93" name="Text 39">
            <a:extLst>
              <a:ext uri="{FF2B5EF4-FFF2-40B4-BE49-F238E27FC236}">
                <a16:creationId xmlns:a16="http://schemas.microsoft.com/office/drawing/2014/main" id="{B316B709-51A4-52D3-CA68-4E901C66D448}"/>
              </a:ext>
            </a:extLst>
          </p:cNvPr>
          <p:cNvSpPr/>
          <p:nvPr/>
        </p:nvSpPr>
        <p:spPr>
          <a:xfrm>
            <a:off x="3651295" y="4099851"/>
            <a:ext cx="11887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11010"/>
                </a:solidFill>
              </a:rPr>
              <a:t>20</a:t>
            </a:r>
            <a:endParaRPr lang="en-US" sz="950" dirty="0"/>
          </a:p>
        </p:txBody>
      </p:sp>
      <p:sp>
        <p:nvSpPr>
          <p:cNvPr id="95" name="Text 39">
            <a:extLst>
              <a:ext uri="{FF2B5EF4-FFF2-40B4-BE49-F238E27FC236}">
                <a16:creationId xmlns:a16="http://schemas.microsoft.com/office/drawing/2014/main" id="{DA737AF7-796F-F563-8F6E-7DE3DBA1BE14}"/>
              </a:ext>
            </a:extLst>
          </p:cNvPr>
          <p:cNvSpPr/>
          <p:nvPr/>
        </p:nvSpPr>
        <p:spPr>
          <a:xfrm>
            <a:off x="3659544" y="4328690"/>
            <a:ext cx="11887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11010"/>
                </a:solidFill>
              </a:rPr>
              <a:t>28</a:t>
            </a:r>
            <a:endParaRPr lang="en-US" sz="950" dirty="0"/>
          </a:p>
        </p:txBody>
      </p:sp>
      <p:sp>
        <p:nvSpPr>
          <p:cNvPr id="99" name="Text 39">
            <a:extLst>
              <a:ext uri="{FF2B5EF4-FFF2-40B4-BE49-F238E27FC236}">
                <a16:creationId xmlns:a16="http://schemas.microsoft.com/office/drawing/2014/main" id="{5DD7FE2D-1574-A852-9D78-84797E63A60B}"/>
              </a:ext>
            </a:extLst>
          </p:cNvPr>
          <p:cNvSpPr/>
          <p:nvPr/>
        </p:nvSpPr>
        <p:spPr>
          <a:xfrm>
            <a:off x="3634505" y="3628735"/>
            <a:ext cx="11887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11010"/>
                </a:solidFill>
              </a:rPr>
              <a:t>40</a:t>
            </a:r>
            <a:endParaRPr lang="en-US" sz="950" dirty="0"/>
          </a:p>
        </p:txBody>
      </p:sp>
      <p:pic>
        <p:nvPicPr>
          <p:cNvPr id="100" name="Imagen 99">
            <a:extLst>
              <a:ext uri="{FF2B5EF4-FFF2-40B4-BE49-F238E27FC236}">
                <a16:creationId xmlns:a16="http://schemas.microsoft.com/office/drawing/2014/main" id="{7C9C3F1A-8CBE-17D2-6A39-C0A2FBC714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4342" y="-144967"/>
            <a:ext cx="1773938" cy="1009802"/>
          </a:xfrm>
          <a:prstGeom prst="rect">
            <a:avLst/>
          </a:prstGeom>
        </p:spPr>
      </p:pic>
      <p:pic>
        <p:nvPicPr>
          <p:cNvPr id="101" name="Panel Resume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704088"/>
            <a:ext cx="9144000" cy="4146804"/>
          </a:xfrm>
          <a:prstGeom prst="rect">
            <a:avLst/>
          </a:prstGeom>
        </p:spPr>
      </p:pic>
      <p:sp>
        <p:nvSpPr>
          <p:cNvPr id="102" name="dato_manual"/>
          <p:cNvSpPr>
            <a:spLocks noGrp="1"/>
          </p:cNvSpPr>
          <p:nvPr/>
        </p:nvSpPr>
        <p:spPr>
          <a:xfrm>
            <a:off x="2743200" y="1422732"/>
            <a:ext cx="1259586" cy="34747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es-PE" sz="1650" b="1" dirty="0">
                <a:solidFill>
                  <a:srgbClr val="103A5E"/>
                </a:solidFill>
                <a:latin typeface="Arial"/>
              </a:rPr>
              <a:t>70</a:t>
            </a:r>
          </a:p>
        </p:txBody>
      </p:sp>
      <p:sp>
        <p:nvSpPr>
          <p:cNvPr id="103" name="dato_manual"/>
          <p:cNvSpPr>
            <a:spLocks noGrp="1"/>
          </p:cNvSpPr>
          <p:nvPr/>
        </p:nvSpPr>
        <p:spPr>
          <a:xfrm>
            <a:off x="4359401" y="1422732"/>
            <a:ext cx="1259586" cy="34747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es-PE" sz="1650" b="1" dirty="0">
                <a:solidFill>
                  <a:srgbClr val="103A5E"/>
                </a:solidFill>
                <a:latin typeface="Arial"/>
              </a:rPr>
              <a:t>18</a:t>
            </a:r>
          </a:p>
        </p:txBody>
      </p:sp>
      <p:sp>
        <p:nvSpPr>
          <p:cNvPr id="104" name="dato_manual"/>
          <p:cNvSpPr>
            <a:spLocks noGrp="1"/>
          </p:cNvSpPr>
          <p:nvPr/>
        </p:nvSpPr>
        <p:spPr>
          <a:xfrm>
            <a:off x="2531059" y="3109696"/>
            <a:ext cx="1097280" cy="27432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930" b="1" dirty="0">
                <a:solidFill>
                  <a:srgbClr val="4A5A6A"/>
                </a:solidFill>
                <a:latin typeface="Arial"/>
              </a:rPr>
              <a:t>50</a:t>
            </a:r>
          </a:p>
        </p:txBody>
      </p:sp>
      <p:sp>
        <p:nvSpPr>
          <p:cNvPr id="105" name="dato_manual"/>
          <p:cNvSpPr>
            <a:spLocks noGrp="1"/>
          </p:cNvSpPr>
          <p:nvPr/>
        </p:nvSpPr>
        <p:spPr>
          <a:xfrm>
            <a:off x="3584448" y="3109696"/>
            <a:ext cx="1097280" cy="27432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930" b="1" dirty="0">
                <a:solidFill>
                  <a:srgbClr val="4A5A6A"/>
                </a:solidFill>
                <a:latin typeface="Arial"/>
              </a:rPr>
              <a:t>40</a:t>
            </a:r>
          </a:p>
        </p:txBody>
      </p:sp>
      <p:sp>
        <p:nvSpPr>
          <p:cNvPr id="106" name="dato_manual"/>
          <p:cNvSpPr>
            <a:spLocks noGrp="1"/>
          </p:cNvSpPr>
          <p:nvPr/>
        </p:nvSpPr>
        <p:spPr>
          <a:xfrm>
            <a:off x="2531059" y="3455988"/>
            <a:ext cx="1097280" cy="27432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93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07" name="dato_manual"/>
          <p:cNvSpPr>
            <a:spLocks noGrp="1"/>
          </p:cNvSpPr>
          <p:nvPr/>
        </p:nvSpPr>
        <p:spPr>
          <a:xfrm>
            <a:off x="3584448" y="3455988"/>
            <a:ext cx="1097280" cy="27432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93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108" name="dato_manual"/>
          <p:cNvSpPr>
            <a:spLocks noGrp="1"/>
          </p:cNvSpPr>
          <p:nvPr/>
        </p:nvSpPr>
        <p:spPr>
          <a:xfrm>
            <a:off x="2531059" y="3802280"/>
            <a:ext cx="1097280" cy="27432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930" b="1" dirty="0">
                <a:solidFill>
                  <a:srgbClr val="4A5A6A"/>
                </a:solidFill>
                <a:latin typeface="Arial"/>
              </a:rPr>
              <a:t>14</a:t>
            </a:r>
          </a:p>
        </p:txBody>
      </p:sp>
      <p:sp>
        <p:nvSpPr>
          <p:cNvPr id="109" name="dato_manual"/>
          <p:cNvSpPr>
            <a:spLocks noGrp="1"/>
          </p:cNvSpPr>
          <p:nvPr/>
        </p:nvSpPr>
        <p:spPr>
          <a:xfrm>
            <a:off x="3584448" y="3802280"/>
            <a:ext cx="1097280" cy="27432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930" b="1" dirty="0">
                <a:solidFill>
                  <a:srgbClr val="4A5A6A"/>
                </a:solidFill>
                <a:latin typeface="Arial"/>
              </a:rPr>
              <a:t>20</a:t>
            </a:r>
          </a:p>
        </p:txBody>
      </p:sp>
      <p:sp>
        <p:nvSpPr>
          <p:cNvPr id="110" name="dato_manual"/>
          <p:cNvSpPr>
            <a:spLocks noGrp="1"/>
          </p:cNvSpPr>
          <p:nvPr/>
        </p:nvSpPr>
        <p:spPr>
          <a:xfrm>
            <a:off x="2531059" y="4148573"/>
            <a:ext cx="1097280" cy="27432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930" b="1" dirty="0">
                <a:solidFill>
                  <a:srgbClr val="4A5A6A"/>
                </a:solidFill>
                <a:latin typeface="Arial"/>
              </a:rPr>
              <a:t>18</a:t>
            </a:r>
          </a:p>
        </p:txBody>
      </p:sp>
      <p:sp>
        <p:nvSpPr>
          <p:cNvPr id="111" name="dato_manual"/>
          <p:cNvSpPr>
            <a:spLocks noGrp="1"/>
          </p:cNvSpPr>
          <p:nvPr/>
        </p:nvSpPr>
        <p:spPr>
          <a:xfrm>
            <a:off x="3584448" y="4148573"/>
            <a:ext cx="1097280" cy="27432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930" b="1" dirty="0">
                <a:solidFill>
                  <a:srgbClr val="4A5A6A"/>
                </a:solidFill>
                <a:latin typeface="Arial"/>
              </a:rPr>
              <a:t>28</a:t>
            </a:r>
          </a:p>
        </p:txBody>
      </p:sp>
      <p:sp>
        <p:nvSpPr>
          <p:cNvPr id="112" name="dato_manual"/>
          <p:cNvSpPr>
            <a:spLocks noGrp="1"/>
          </p:cNvSpPr>
          <p:nvPr/>
        </p:nvSpPr>
        <p:spPr>
          <a:xfrm>
            <a:off x="2531059" y="4494865"/>
            <a:ext cx="1097280" cy="27432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930" b="1" dirty="0">
                <a:solidFill>
                  <a:srgbClr val="123A5E"/>
                </a:solidFill>
                <a:latin typeface="Arial"/>
              </a:rPr>
              <a:t>82</a:t>
            </a:r>
          </a:p>
        </p:txBody>
      </p:sp>
      <p:sp>
        <p:nvSpPr>
          <p:cNvPr id="113" name="dato_manual"/>
          <p:cNvSpPr>
            <a:spLocks noGrp="1"/>
          </p:cNvSpPr>
          <p:nvPr/>
        </p:nvSpPr>
        <p:spPr>
          <a:xfrm>
            <a:off x="3584448" y="4494865"/>
            <a:ext cx="1097280" cy="27432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930" b="1" dirty="0">
                <a:solidFill>
                  <a:srgbClr val="123A5E"/>
                </a:solidFill>
                <a:latin typeface="Arial"/>
              </a:rPr>
              <a:t>88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" cy="658368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0" y="658368"/>
            <a:ext cx="9144000" cy="32004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01168" y="0"/>
            <a:ext cx="7498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30" dirty="0">
                <a:solidFill>
                  <a:srgbClr val="FFFFFF"/>
                </a:solidFill>
              </a:rPr>
              <a:t>TC TELEMARKETING OUT: Información al 18 de Julio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201168" y="749808"/>
            <a:ext cx="2331720" cy="329184"/>
          </a:xfrm>
          <a:prstGeom prst="rect">
            <a:avLst/>
          </a:prstGeom>
          <a:solidFill>
            <a:srgbClr val="D1FAE5"/>
          </a:solidFill>
          <a:ln w="12700">
            <a:solidFill>
              <a:srgbClr val="D1FAE5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0" name="Shape 7"/>
          <p:cNvSpPr/>
          <p:nvPr/>
        </p:nvSpPr>
        <p:spPr>
          <a:xfrm>
            <a:off x="292608" y="822960"/>
            <a:ext cx="164592" cy="164592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Text 8"/>
          <p:cNvSpPr/>
          <p:nvPr/>
        </p:nvSpPr>
        <p:spPr>
          <a:xfrm>
            <a:off x="512064" y="749808"/>
            <a:ext cx="200253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950" b="1" dirty="0">
                <a:solidFill>
                  <a:srgbClr val="059669"/>
                </a:solidFill>
              </a:rPr>
              <a:t>EN AVANCE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201168" y="1115568"/>
            <a:ext cx="2331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667085"/>
                </a:solidFill>
              </a:rPr>
              <a:t>Sub Gerente: Ronny Aleman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47679" y="1939674"/>
            <a:ext cx="286489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0" b="1" dirty="0">
                <a:solidFill>
                  <a:srgbClr val="059669"/>
                </a:solidFill>
              </a:rPr>
              <a:t>102%</a:t>
            </a:r>
            <a:endParaRPr lang="en-US" sz="6600" dirty="0"/>
          </a:p>
        </p:txBody>
      </p:sp>
      <p:sp>
        <p:nvSpPr>
          <p:cNvPr id="27" name="Shape 24"/>
          <p:cNvSpPr/>
          <p:nvPr/>
        </p:nvSpPr>
        <p:spPr>
          <a:xfrm>
            <a:off x="2651760" y="749808"/>
            <a:ext cx="18288" cy="4078224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7" name="Shape 74"/>
          <p:cNvSpPr/>
          <p:nvPr/>
        </p:nvSpPr>
        <p:spPr>
          <a:xfrm>
            <a:off x="0" y="4864608"/>
            <a:ext cx="9144000" cy="256032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8" name="Text 75"/>
          <p:cNvSpPr/>
          <p:nvPr/>
        </p:nvSpPr>
        <p:spPr>
          <a:xfrm>
            <a:off x="201168" y="4864608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667085"/>
                </a:solidFill>
              </a:rPr>
              <a:t>TU META ES NUESTRA META  ·  BBVA TLM  |  TC TELEMARKETING OUT  |  Ronny Aleman  |  Cierre Julio 2026</a:t>
            </a:r>
            <a:endParaRPr lang="en-US" sz="750" dirty="0"/>
          </a:p>
        </p:txBody>
      </p:sp>
      <p:sp>
        <p:nvSpPr>
          <p:cNvPr id="84" name="Text 26">
            <a:extLst>
              <a:ext uri="{FF2B5EF4-FFF2-40B4-BE49-F238E27FC236}">
                <a16:creationId xmlns:a16="http://schemas.microsoft.com/office/drawing/2014/main" id="{6A52EC1A-ECE5-7429-EB2B-53DDC576150A}"/>
              </a:ext>
            </a:extLst>
          </p:cNvPr>
          <p:cNvSpPr/>
          <p:nvPr/>
        </p:nvSpPr>
        <p:spPr>
          <a:xfrm>
            <a:off x="317734" y="1959611"/>
            <a:ext cx="139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META: 2.90K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86" name="Text 26">
            <a:extLst>
              <a:ext uri="{FF2B5EF4-FFF2-40B4-BE49-F238E27FC236}">
                <a16:creationId xmlns:a16="http://schemas.microsoft.com/office/drawing/2014/main" id="{19304F58-7AC2-FD96-3E5B-D3891140C0ED}"/>
              </a:ext>
            </a:extLst>
          </p:cNvPr>
          <p:cNvSpPr/>
          <p:nvPr/>
        </p:nvSpPr>
        <p:spPr>
          <a:xfrm>
            <a:off x="-162082" y="3098250"/>
            <a:ext cx="139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AVANCE: 2.12K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88" name="Text 26">
            <a:extLst>
              <a:ext uri="{FF2B5EF4-FFF2-40B4-BE49-F238E27FC236}">
                <a16:creationId xmlns:a16="http://schemas.microsoft.com/office/drawing/2014/main" id="{8DC758B8-8C77-33D6-72A9-856DE757EDDF}"/>
              </a:ext>
            </a:extLst>
          </p:cNvPr>
          <p:cNvSpPr/>
          <p:nvPr/>
        </p:nvSpPr>
        <p:spPr>
          <a:xfrm>
            <a:off x="1036644" y="3094810"/>
            <a:ext cx="139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META AVANCE: 2.08K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8" name="BARRAS_AVANCE_TARJETAS_TLM" descr="image.png">
            <a:extLst>
              <a:ext uri="{FF2B5EF4-FFF2-40B4-BE49-F238E27FC236}">
                <a16:creationId xmlns:a16="http://schemas.microsoft.com/office/drawing/2014/main" id="{42A79ACB-DCF5-C9C4-DE27-9C7BCD9389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1449" y="1760062"/>
            <a:ext cx="5884498" cy="1844802"/>
          </a:xfrm>
          <a:prstGeom prst="rect">
            <a:avLst/>
          </a:prstGeom>
        </p:spPr>
      </p:pic>
      <p:pic>
        <p:nvPicPr>
          <p:cNvPr id="28" name="Imagen 27">
            <a:extLst>
              <a:ext uri="{FF2B5EF4-FFF2-40B4-BE49-F238E27FC236}">
                <a16:creationId xmlns:a16="http://schemas.microsoft.com/office/drawing/2014/main" id="{FD118CC7-1577-BE8C-D36C-D9875A02B3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96909" y="-102845"/>
            <a:ext cx="1645923" cy="93693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" cy="658368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0" y="658368"/>
            <a:ext cx="9144000" cy="32004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01168" y="0"/>
            <a:ext cx="7498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30" dirty="0">
                <a:solidFill>
                  <a:srgbClr val="FFFFFF"/>
                </a:solidFill>
              </a:rPr>
              <a:t>PLD OUT PRESTAMOS: Información al 18 de Julio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8577072" y="713232"/>
            <a:ext cx="5212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2 / 5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201168" y="749808"/>
            <a:ext cx="2331720" cy="329184"/>
          </a:xfrm>
          <a:prstGeom prst="rect">
            <a:avLst/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0" name="Shape 7"/>
          <p:cNvSpPr/>
          <p:nvPr/>
        </p:nvSpPr>
        <p:spPr>
          <a:xfrm>
            <a:off x="292608" y="822960"/>
            <a:ext cx="164592" cy="164592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Text 8"/>
          <p:cNvSpPr/>
          <p:nvPr/>
        </p:nvSpPr>
        <p:spPr>
          <a:xfrm>
            <a:off x="512064" y="749808"/>
            <a:ext cx="200253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DC2626"/>
                </a:solidFill>
              </a:rPr>
              <a:t>EN OBSERVACIÓN</a:t>
            </a:r>
          </a:p>
        </p:txBody>
      </p:sp>
      <p:sp>
        <p:nvSpPr>
          <p:cNvPr id="12" name="Text 9"/>
          <p:cNvSpPr/>
          <p:nvPr/>
        </p:nvSpPr>
        <p:spPr>
          <a:xfrm>
            <a:off x="201168" y="1115568"/>
            <a:ext cx="2331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667085"/>
                </a:solidFill>
              </a:rPr>
              <a:t>Lider: Ronny Aleman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201168" y="2080313"/>
            <a:ext cx="23317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0" b="1" dirty="0">
                <a:solidFill>
                  <a:srgbClr val="DC2626"/>
                </a:solidFill>
              </a:rPr>
              <a:t>71.0%</a:t>
            </a:r>
            <a:endParaRPr lang="en-US" sz="7200" dirty="0"/>
          </a:p>
        </p:txBody>
      </p:sp>
      <p:sp>
        <p:nvSpPr>
          <p:cNvPr id="27" name="Shape 24"/>
          <p:cNvSpPr/>
          <p:nvPr/>
        </p:nvSpPr>
        <p:spPr>
          <a:xfrm>
            <a:off x="2651760" y="749808"/>
            <a:ext cx="18288" cy="4078224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2" name="Shape 69"/>
          <p:cNvSpPr/>
          <p:nvPr/>
        </p:nvSpPr>
        <p:spPr>
          <a:xfrm>
            <a:off x="0" y="4864608"/>
            <a:ext cx="9144000" cy="256032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3" name="Text 70"/>
          <p:cNvSpPr/>
          <p:nvPr/>
        </p:nvSpPr>
        <p:spPr>
          <a:xfrm>
            <a:off x="201168" y="4864608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667085"/>
                </a:solidFill>
              </a:rPr>
              <a:t>TU META ES NUESTRA META  ·  BBVA TLM  |  PLD OUT (PRESTAMOS)  |  Ronny Aleman  |  Cierre Julio 2026</a:t>
            </a:r>
            <a:endParaRPr lang="en-US" sz="750" dirty="0"/>
          </a:p>
        </p:txBody>
      </p:sp>
      <p:sp>
        <p:nvSpPr>
          <p:cNvPr id="75" name="Text 26">
            <a:extLst>
              <a:ext uri="{FF2B5EF4-FFF2-40B4-BE49-F238E27FC236}">
                <a16:creationId xmlns:a16="http://schemas.microsoft.com/office/drawing/2014/main" id="{A3CE5A69-2D8A-DEC3-224F-DC959E3CE084}"/>
              </a:ext>
            </a:extLst>
          </p:cNvPr>
          <p:cNvSpPr/>
          <p:nvPr/>
        </p:nvSpPr>
        <p:spPr>
          <a:xfrm>
            <a:off x="372071" y="2019018"/>
            <a:ext cx="139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META: 360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7" name="Text 26">
            <a:extLst>
              <a:ext uri="{FF2B5EF4-FFF2-40B4-BE49-F238E27FC236}">
                <a16:creationId xmlns:a16="http://schemas.microsoft.com/office/drawing/2014/main" id="{00A0BCA2-1D05-DDB4-7B19-ACF1A687F615}"/>
              </a:ext>
            </a:extLst>
          </p:cNvPr>
          <p:cNvSpPr/>
          <p:nvPr/>
        </p:nvSpPr>
        <p:spPr>
          <a:xfrm>
            <a:off x="-107745" y="3157657"/>
            <a:ext cx="139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AVANCE: 176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9" name="Text 26">
            <a:extLst>
              <a:ext uri="{FF2B5EF4-FFF2-40B4-BE49-F238E27FC236}">
                <a16:creationId xmlns:a16="http://schemas.microsoft.com/office/drawing/2014/main" id="{07A0A797-C2A0-0C0F-F1C9-7AB6F9DFA654}"/>
              </a:ext>
            </a:extLst>
          </p:cNvPr>
          <p:cNvSpPr/>
          <p:nvPr/>
        </p:nvSpPr>
        <p:spPr>
          <a:xfrm>
            <a:off x="1090981" y="3154217"/>
            <a:ext cx="139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META AVANCE: 248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28" name="BARRAS_AVANCE_PRESTAMOS_OUT" descr="image.png">
            <a:extLst>
              <a:ext uri="{FF2B5EF4-FFF2-40B4-BE49-F238E27FC236}">
                <a16:creationId xmlns:a16="http://schemas.microsoft.com/office/drawing/2014/main" id="{44F9A783-719F-6E0E-CB32-278EB6E24E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1576" y="1697652"/>
            <a:ext cx="5385290" cy="1819364"/>
          </a:xfrm>
          <a:prstGeom prst="rect">
            <a:avLst/>
          </a:prstGeom>
        </p:spPr>
      </p:pic>
      <p:pic>
        <p:nvPicPr>
          <p:cNvPr id="29" name="Imagen 28">
            <a:extLst>
              <a:ext uri="{FF2B5EF4-FFF2-40B4-BE49-F238E27FC236}">
                <a16:creationId xmlns:a16="http://schemas.microsoft.com/office/drawing/2014/main" id="{3632DD9D-BBCB-FF88-8097-E7A8691717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96909" y="-113970"/>
            <a:ext cx="1645923" cy="93693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" cy="658368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0" y="658368"/>
            <a:ext cx="9144000" cy="32004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01168" y="0"/>
            <a:ext cx="7498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50" b="1" kern="0" spc="30" dirty="0">
                <a:solidFill>
                  <a:srgbClr val="FFFFFF"/>
                </a:solidFill>
              </a:rPr>
              <a:t>OPERACIONES OUT: : Información al 18 de Julio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201168" y="749808"/>
            <a:ext cx="2331720" cy="329184"/>
          </a:xfrm>
          <a:prstGeom prst="rect">
            <a:avLst/>
          </a:prstGeom>
          <a:solidFill>
            <a:srgbClr val="D1FAE5"/>
          </a:solidFill>
          <a:ln w="12700">
            <a:solidFill>
              <a:srgbClr val="D1FAE5"/>
            </a:solidFill>
            <a:prstDash val="solid"/>
          </a:ln>
        </p:spPr>
        <p:txBody>
          <a:bodyPr/>
          <a:lstStyle/>
          <a:p>
            <a:endParaRPr lang="es-PE" dirty="0"/>
          </a:p>
        </p:txBody>
      </p:sp>
      <p:sp>
        <p:nvSpPr>
          <p:cNvPr id="10" name="Shape 7"/>
          <p:cNvSpPr/>
          <p:nvPr/>
        </p:nvSpPr>
        <p:spPr>
          <a:xfrm>
            <a:off x="292608" y="822960"/>
            <a:ext cx="164592" cy="164592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Text 8"/>
          <p:cNvSpPr/>
          <p:nvPr/>
        </p:nvSpPr>
        <p:spPr>
          <a:xfrm>
            <a:off x="512064" y="749808"/>
            <a:ext cx="200253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950" b="1" dirty="0">
                <a:solidFill>
                  <a:srgbClr val="059669"/>
                </a:solidFill>
              </a:rPr>
              <a:t>EN AVANCE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201168" y="1115568"/>
            <a:ext cx="2331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667085"/>
                </a:solidFill>
              </a:rPr>
              <a:t>Sub Gerente: Ronny Aleman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58782" y="2079549"/>
            <a:ext cx="282839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0" b="1" dirty="0">
                <a:solidFill>
                  <a:srgbClr val="059669"/>
                </a:solidFill>
              </a:rPr>
              <a:t>106%</a:t>
            </a:r>
            <a:endParaRPr lang="en-US" sz="6600" dirty="0"/>
          </a:p>
        </p:txBody>
      </p:sp>
      <p:sp>
        <p:nvSpPr>
          <p:cNvPr id="27" name="Shape 24"/>
          <p:cNvSpPr/>
          <p:nvPr/>
        </p:nvSpPr>
        <p:spPr>
          <a:xfrm>
            <a:off x="2651760" y="749808"/>
            <a:ext cx="18288" cy="4078224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7" name="Shape 64"/>
          <p:cNvSpPr/>
          <p:nvPr/>
        </p:nvSpPr>
        <p:spPr>
          <a:xfrm>
            <a:off x="0" y="4864608"/>
            <a:ext cx="9144000" cy="256032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8" name="Text 65"/>
          <p:cNvSpPr/>
          <p:nvPr/>
        </p:nvSpPr>
        <p:spPr>
          <a:xfrm>
            <a:off x="201168" y="4864608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667085"/>
                </a:solidFill>
              </a:rPr>
              <a:t>TU META ES NUESTRA META  ·  BBVA TLM  |  OPERACIONES OUT  |  Ronny Aleman  |  Cierre Julio 2026</a:t>
            </a:r>
            <a:endParaRPr lang="en-US" sz="750" dirty="0"/>
          </a:p>
        </p:txBody>
      </p:sp>
      <p:sp>
        <p:nvSpPr>
          <p:cNvPr id="76" name="Text 26">
            <a:extLst>
              <a:ext uri="{FF2B5EF4-FFF2-40B4-BE49-F238E27FC236}">
                <a16:creationId xmlns:a16="http://schemas.microsoft.com/office/drawing/2014/main" id="{19DC7FAC-F2C8-7C50-C52D-609D7BDC37C7}"/>
              </a:ext>
            </a:extLst>
          </p:cNvPr>
          <p:cNvSpPr/>
          <p:nvPr/>
        </p:nvSpPr>
        <p:spPr>
          <a:xfrm>
            <a:off x="317734" y="2048488"/>
            <a:ext cx="139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META: 5.25K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8" name="Text 26">
            <a:extLst>
              <a:ext uri="{FF2B5EF4-FFF2-40B4-BE49-F238E27FC236}">
                <a16:creationId xmlns:a16="http://schemas.microsoft.com/office/drawing/2014/main" id="{8A18A742-CA04-9FB6-9013-10B872A82677}"/>
              </a:ext>
            </a:extLst>
          </p:cNvPr>
          <p:cNvSpPr/>
          <p:nvPr/>
        </p:nvSpPr>
        <p:spPr>
          <a:xfrm>
            <a:off x="-162082" y="3187127"/>
            <a:ext cx="139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AVANCE: 4.07K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80" name="Text 26">
            <a:extLst>
              <a:ext uri="{FF2B5EF4-FFF2-40B4-BE49-F238E27FC236}">
                <a16:creationId xmlns:a16="http://schemas.microsoft.com/office/drawing/2014/main" id="{8A3E5AD3-EA77-5D27-6691-7BA2A6BCDDC2}"/>
              </a:ext>
            </a:extLst>
          </p:cNvPr>
          <p:cNvSpPr/>
          <p:nvPr/>
        </p:nvSpPr>
        <p:spPr>
          <a:xfrm>
            <a:off x="1036644" y="3183687"/>
            <a:ext cx="152367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META AVANCE: 3.82K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30" name="BARRAS_AVANCE_OPERACIONES" descr="image.png">
            <a:extLst>
              <a:ext uri="{FF2B5EF4-FFF2-40B4-BE49-F238E27FC236}">
                <a16:creationId xmlns:a16="http://schemas.microsoft.com/office/drawing/2014/main" id="{FBD52858-531C-6FF7-88EB-E80D74F86A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38182" y="1804481"/>
            <a:ext cx="4899760" cy="1671814"/>
          </a:xfrm>
          <a:prstGeom prst="rect">
            <a:avLst/>
          </a:prstGeom>
        </p:spPr>
      </p:pic>
      <p:pic>
        <p:nvPicPr>
          <p:cNvPr id="31" name="Imagen 30">
            <a:extLst>
              <a:ext uri="{FF2B5EF4-FFF2-40B4-BE49-F238E27FC236}">
                <a16:creationId xmlns:a16="http://schemas.microsoft.com/office/drawing/2014/main" id="{83EE3A7F-9640-B14C-05BA-B13F0401CF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0354" y="-107818"/>
            <a:ext cx="1645923" cy="93693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" cy="658368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0" y="658368"/>
            <a:ext cx="9144000" cy="32004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01168" y="0"/>
            <a:ext cx="7498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50" b="1" kern="0" spc="30" dirty="0">
                <a:solidFill>
                  <a:srgbClr val="FFFFFF"/>
                </a:solidFill>
              </a:rPr>
              <a:t>PORTAFOLIO: Información al 18 de Julio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201168" y="1115568"/>
            <a:ext cx="2331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667085"/>
                </a:solidFill>
              </a:rPr>
              <a:t>Sub Gerente: Ronny Aleman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221445" y="2192975"/>
            <a:ext cx="23317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0" b="1" dirty="0">
                <a:solidFill>
                  <a:srgbClr val="D97706"/>
                </a:solidFill>
              </a:rPr>
              <a:t>98.0%</a:t>
            </a:r>
            <a:endParaRPr lang="en-US" sz="6600" dirty="0">
              <a:solidFill>
                <a:srgbClr val="D97706"/>
              </a:solidFill>
            </a:endParaRPr>
          </a:p>
        </p:txBody>
      </p:sp>
      <p:sp>
        <p:nvSpPr>
          <p:cNvPr id="27" name="Shape 24"/>
          <p:cNvSpPr/>
          <p:nvPr/>
        </p:nvSpPr>
        <p:spPr>
          <a:xfrm>
            <a:off x="2651760" y="749808"/>
            <a:ext cx="18288" cy="4078224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7" name="Shape 64"/>
          <p:cNvSpPr/>
          <p:nvPr/>
        </p:nvSpPr>
        <p:spPr>
          <a:xfrm>
            <a:off x="0" y="4864608"/>
            <a:ext cx="9144000" cy="256032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8" name="Text 65"/>
          <p:cNvSpPr/>
          <p:nvPr/>
        </p:nvSpPr>
        <p:spPr>
          <a:xfrm>
            <a:off x="201168" y="4864608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667085"/>
                </a:solidFill>
              </a:rPr>
              <a:t>TU META ES NUESTRA META  ·  BBVA TLM  |  PORTAFOLIO EFECTIVO  |  Ronny Aleman  |  Cierre Julio 2026</a:t>
            </a:r>
            <a:endParaRPr lang="en-US" sz="750" dirty="0"/>
          </a:p>
        </p:txBody>
      </p:sp>
      <p:sp>
        <p:nvSpPr>
          <p:cNvPr id="70" name="Text 26">
            <a:extLst>
              <a:ext uri="{FF2B5EF4-FFF2-40B4-BE49-F238E27FC236}">
                <a16:creationId xmlns:a16="http://schemas.microsoft.com/office/drawing/2014/main" id="{47F183FE-CFFB-69E3-3EA0-0A139F9F9FBC}"/>
              </a:ext>
            </a:extLst>
          </p:cNvPr>
          <p:cNvSpPr/>
          <p:nvPr/>
        </p:nvSpPr>
        <p:spPr>
          <a:xfrm>
            <a:off x="403403" y="2120661"/>
            <a:ext cx="139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META: 12.50M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2" name="Text 26">
            <a:extLst>
              <a:ext uri="{FF2B5EF4-FFF2-40B4-BE49-F238E27FC236}">
                <a16:creationId xmlns:a16="http://schemas.microsoft.com/office/drawing/2014/main" id="{B2955AC3-DCA7-84EF-4488-32597A99A94B}"/>
              </a:ext>
            </a:extLst>
          </p:cNvPr>
          <p:cNvSpPr/>
          <p:nvPr/>
        </p:nvSpPr>
        <p:spPr>
          <a:xfrm>
            <a:off x="-92742" y="3275629"/>
            <a:ext cx="139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AVANCE: 7.56M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4" name="Text 26">
            <a:extLst>
              <a:ext uri="{FF2B5EF4-FFF2-40B4-BE49-F238E27FC236}">
                <a16:creationId xmlns:a16="http://schemas.microsoft.com/office/drawing/2014/main" id="{4633EEC3-E4C1-EBE0-DE74-E75CC831C279}"/>
              </a:ext>
            </a:extLst>
          </p:cNvPr>
          <p:cNvSpPr/>
          <p:nvPr/>
        </p:nvSpPr>
        <p:spPr>
          <a:xfrm>
            <a:off x="1024339" y="3255860"/>
            <a:ext cx="1624998" cy="3543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META AVANCE: 7.72M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8" name="BARRAS_AVANCE_EFECTIVO" descr="image.png">
            <a:extLst>
              <a:ext uri="{FF2B5EF4-FFF2-40B4-BE49-F238E27FC236}">
                <a16:creationId xmlns:a16="http://schemas.microsoft.com/office/drawing/2014/main" id="{54B66F17-D06F-2B6B-E662-6755E700F0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84051" y="1500402"/>
            <a:ext cx="6160051" cy="2489957"/>
          </a:xfrm>
          <a:prstGeom prst="rect">
            <a:avLst/>
          </a:prstGeom>
        </p:spPr>
      </p:pic>
      <p:sp>
        <p:nvSpPr>
          <p:cNvPr id="28" name="Shape 6">
            <a:extLst>
              <a:ext uri="{FF2B5EF4-FFF2-40B4-BE49-F238E27FC236}">
                <a16:creationId xmlns:a16="http://schemas.microsoft.com/office/drawing/2014/main" id="{21A3CA72-0301-57BA-CCEC-D057CA6B3B4E}"/>
              </a:ext>
            </a:extLst>
          </p:cNvPr>
          <p:cNvSpPr/>
          <p:nvPr/>
        </p:nvSpPr>
        <p:spPr>
          <a:xfrm>
            <a:off x="89154" y="775423"/>
            <a:ext cx="2331720" cy="329184"/>
          </a:xfrm>
          <a:prstGeom prst="rect">
            <a:avLst/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1" name="Shape 7">
            <a:extLst>
              <a:ext uri="{FF2B5EF4-FFF2-40B4-BE49-F238E27FC236}">
                <a16:creationId xmlns:a16="http://schemas.microsoft.com/office/drawing/2014/main" id="{4F653980-A1C1-A5E7-8548-D79EA748600E}"/>
              </a:ext>
            </a:extLst>
          </p:cNvPr>
          <p:cNvSpPr/>
          <p:nvPr/>
        </p:nvSpPr>
        <p:spPr>
          <a:xfrm>
            <a:off x="180594" y="848575"/>
            <a:ext cx="164592" cy="164592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3" name="Text 8">
            <a:extLst>
              <a:ext uri="{FF2B5EF4-FFF2-40B4-BE49-F238E27FC236}">
                <a16:creationId xmlns:a16="http://schemas.microsoft.com/office/drawing/2014/main" id="{B4BD7086-9E6A-7CBE-AA66-56550A90C3CA}"/>
              </a:ext>
            </a:extLst>
          </p:cNvPr>
          <p:cNvSpPr/>
          <p:nvPr/>
        </p:nvSpPr>
        <p:spPr>
          <a:xfrm>
            <a:off x="400050" y="775423"/>
            <a:ext cx="200253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D97706"/>
                </a:solidFill>
              </a:rPr>
              <a:t>EN SEGUIMIENTO</a:t>
            </a:r>
            <a:endParaRPr lang="en-US" sz="950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AEE3A5D-0727-E6DB-463A-AE28CC2B803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99248" y="-13311"/>
            <a:ext cx="1298448" cy="739132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" cy="658368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0" y="658368"/>
            <a:ext cx="9144000" cy="32004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01168" y="0"/>
            <a:ext cx="7498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30" dirty="0">
                <a:solidFill>
                  <a:srgbClr val="FFFFFF"/>
                </a:solidFill>
              </a:rPr>
              <a:t>BBVA TLM OUT  |  DIAGNOSTICO Y SEGUIMIENTO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77072" y="713232"/>
            <a:ext cx="521208" cy="228600"/>
          </a:xfrm>
          <a:prstGeom prst="rect">
            <a:avLst/>
          </a:prstGeom>
          <a:solidFill>
            <a:srgbClr val="0E3854"/>
          </a:solidFill>
          <a:ln w="12700">
            <a:solidFill>
              <a:srgbClr val="0E3854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ext 5"/>
          <p:cNvSpPr/>
          <p:nvPr/>
        </p:nvSpPr>
        <p:spPr>
          <a:xfrm>
            <a:off x="8577072" y="713232"/>
            <a:ext cx="5212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2 / 3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0" y="749808"/>
            <a:ext cx="4160520" cy="310896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0" name="Text 7"/>
          <p:cNvSpPr/>
          <p:nvPr/>
        </p:nvSpPr>
        <p:spPr>
          <a:xfrm>
            <a:off x="91440" y="749808"/>
            <a:ext cx="40690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kern="0" spc="30" dirty="0">
                <a:solidFill>
                  <a:srgbClr val="FFFFFF"/>
                </a:solidFill>
              </a:rPr>
              <a:t>SEGUIMIENTO PLAN SEMANA ANTERIOR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0" y="1097280"/>
            <a:ext cx="4160520" cy="1191768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2" name="Shape 9"/>
          <p:cNvSpPr/>
          <p:nvPr/>
        </p:nvSpPr>
        <p:spPr>
          <a:xfrm>
            <a:off x="0" y="1097280"/>
            <a:ext cx="50292" cy="1191768"/>
          </a:xfrm>
          <a:prstGeom prst="rect">
            <a:avLst/>
          </a:prstGeom>
          <a:solidFill>
            <a:srgbClr val="2B7A8C"/>
          </a:solidFill>
          <a:ln w="12700">
            <a:solidFill>
              <a:srgbClr val="2B7A8C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3" name="Text 10"/>
          <p:cNvSpPr/>
          <p:nvPr/>
        </p:nvSpPr>
        <p:spPr>
          <a:xfrm>
            <a:off x="128016" y="1152144"/>
            <a:ext cx="3959352" cy="6806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01828"/>
                </a:solidFill>
              </a:rPr>
              <a:t>Calibracion de pitch + ajuste de guion y roleplay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128016" y="1815023"/>
            <a:ext cx="39593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AFCB07"/>
                </a:solidFill>
              </a:rPr>
              <a:t>Ejecutado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0" y="2334768"/>
            <a:ext cx="4160520" cy="1191768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6" name="Shape 13"/>
          <p:cNvSpPr/>
          <p:nvPr/>
        </p:nvSpPr>
        <p:spPr>
          <a:xfrm>
            <a:off x="0" y="2334768"/>
            <a:ext cx="50292" cy="1191768"/>
          </a:xfrm>
          <a:prstGeom prst="rect">
            <a:avLst/>
          </a:prstGeom>
          <a:solidFill>
            <a:srgbClr val="2B7A8C"/>
          </a:solidFill>
          <a:ln w="12700">
            <a:solidFill>
              <a:srgbClr val="2B7A8C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7" name="Text 14"/>
          <p:cNvSpPr/>
          <p:nvPr/>
        </p:nvSpPr>
        <p:spPr>
          <a:xfrm>
            <a:off x="128016" y="2389632"/>
            <a:ext cx="3959352" cy="6806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01828"/>
                </a:solidFill>
              </a:rPr>
              <a:t>Talleres conversion + dinamica Strategy_7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128016" y="3052511"/>
            <a:ext cx="39593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AFCB07"/>
                </a:solidFill>
              </a:rPr>
              <a:t>En proceso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0" y="3572256"/>
            <a:ext cx="4160520" cy="1191768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0" name="Shape 17"/>
          <p:cNvSpPr/>
          <p:nvPr/>
        </p:nvSpPr>
        <p:spPr>
          <a:xfrm>
            <a:off x="0" y="3572256"/>
            <a:ext cx="50292" cy="1191768"/>
          </a:xfrm>
          <a:prstGeom prst="rect">
            <a:avLst/>
          </a:prstGeom>
          <a:solidFill>
            <a:srgbClr val="2B7A8C"/>
          </a:solidFill>
          <a:ln w="12700">
            <a:solidFill>
              <a:srgbClr val="2B7A8C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1" name="Text 18"/>
          <p:cNvSpPr/>
          <p:nvPr/>
        </p:nvSpPr>
        <p:spPr>
          <a:xfrm>
            <a:off x="128016" y="3627120"/>
            <a:ext cx="3959352" cy="6806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01828"/>
                </a:solidFill>
              </a:rPr>
              <a:t>Completar dotacion Portafolio Efectivo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128016" y="4289999"/>
            <a:ext cx="39593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AFCB07"/>
                </a:solidFill>
              </a:rPr>
              <a:t>En proceso</a:t>
            </a:r>
            <a:endParaRPr lang="en-US" sz="900" dirty="0"/>
          </a:p>
        </p:txBody>
      </p:sp>
      <p:sp>
        <p:nvSpPr>
          <p:cNvPr id="23" name="Shape 20"/>
          <p:cNvSpPr/>
          <p:nvPr/>
        </p:nvSpPr>
        <p:spPr>
          <a:xfrm>
            <a:off x="4242816" y="749808"/>
            <a:ext cx="18288" cy="4059936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4" name="Shape 21"/>
          <p:cNvSpPr/>
          <p:nvPr/>
        </p:nvSpPr>
        <p:spPr>
          <a:xfrm>
            <a:off x="4343400" y="749808"/>
            <a:ext cx="4800600" cy="310896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5" name="Text 22"/>
          <p:cNvSpPr/>
          <p:nvPr/>
        </p:nvSpPr>
        <p:spPr>
          <a:xfrm>
            <a:off x="4434840" y="749808"/>
            <a:ext cx="4709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kern="0" spc="30" dirty="0">
                <a:solidFill>
                  <a:srgbClr val="FFFFFF"/>
                </a:solidFill>
              </a:rPr>
              <a:t>DIAGNOSTICO — CAUSAS RAIZ</a:t>
            </a:r>
            <a:endParaRPr lang="en-US" sz="800" dirty="0"/>
          </a:p>
        </p:txBody>
      </p:sp>
      <p:sp>
        <p:nvSpPr>
          <p:cNvPr id="26" name="Shape 23"/>
          <p:cNvSpPr/>
          <p:nvPr/>
        </p:nvSpPr>
        <p:spPr>
          <a:xfrm>
            <a:off x="4343400" y="1097280"/>
            <a:ext cx="4800600" cy="1792224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7" name="Shape 24"/>
          <p:cNvSpPr/>
          <p:nvPr/>
        </p:nvSpPr>
        <p:spPr>
          <a:xfrm>
            <a:off x="4343400" y="1097280"/>
            <a:ext cx="502920" cy="1792224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8" name="Text 25"/>
          <p:cNvSpPr/>
          <p:nvPr/>
        </p:nvSpPr>
        <p:spPr>
          <a:xfrm>
            <a:off x="4343400" y="1097280"/>
            <a:ext cx="502920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1</a:t>
            </a:r>
            <a:endParaRPr lang="en-US" sz="1800" dirty="0"/>
          </a:p>
        </p:txBody>
      </p:sp>
      <p:sp>
        <p:nvSpPr>
          <p:cNvPr id="29" name="Text 26"/>
          <p:cNvSpPr/>
          <p:nvPr/>
        </p:nvSpPr>
        <p:spPr>
          <a:xfrm>
            <a:off x="4937760" y="118872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45078"/>
                </a:solidFill>
              </a:rPr>
              <a:t>PLD OUT al 73% — conversion desembolso al 40%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4937760" y="1444752"/>
            <a:ext cx="4114800" cy="77961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01828"/>
                </a:solidFill>
              </a:rPr>
              <a:t>Oferta maxima cliente ejecutada al 40%. Gap en pitch de cierre y seguimiento de promesas.</a:t>
            </a:r>
            <a:endParaRPr lang="en-US" sz="900" dirty="0"/>
          </a:p>
        </p:txBody>
      </p:sp>
      <p:sp>
        <p:nvSpPr>
          <p:cNvPr id="31" name="Shape 28"/>
          <p:cNvSpPr/>
          <p:nvPr/>
        </p:nvSpPr>
        <p:spPr>
          <a:xfrm>
            <a:off x="4937760" y="2615184"/>
            <a:ext cx="1005840" cy="219456"/>
          </a:xfrm>
          <a:prstGeom prst="rect">
            <a:avLst/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2" name="Text 29"/>
          <p:cNvSpPr/>
          <p:nvPr/>
        </p:nvSpPr>
        <p:spPr>
          <a:xfrm>
            <a:off x="4937760" y="2615184"/>
            <a:ext cx="1005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DC2626"/>
                </a:solidFill>
              </a:rPr>
              <a:t>Impacto Alto</a:t>
            </a:r>
            <a:endParaRPr lang="en-US" sz="850" dirty="0"/>
          </a:p>
        </p:txBody>
      </p:sp>
      <p:sp>
        <p:nvSpPr>
          <p:cNvPr id="33" name="Shape 30"/>
          <p:cNvSpPr/>
          <p:nvPr/>
        </p:nvSpPr>
        <p:spPr>
          <a:xfrm>
            <a:off x="4343400" y="2953512"/>
            <a:ext cx="4800600" cy="1792224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4" name="Shape 31"/>
          <p:cNvSpPr/>
          <p:nvPr/>
        </p:nvSpPr>
        <p:spPr>
          <a:xfrm>
            <a:off x="4343400" y="2953512"/>
            <a:ext cx="502920" cy="1792224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5" name="Text 32"/>
          <p:cNvSpPr/>
          <p:nvPr/>
        </p:nvSpPr>
        <p:spPr>
          <a:xfrm>
            <a:off x="4343400" y="2953512"/>
            <a:ext cx="502920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2</a:t>
            </a:r>
            <a:endParaRPr lang="en-US" sz="1800" dirty="0"/>
          </a:p>
        </p:txBody>
      </p:sp>
      <p:sp>
        <p:nvSpPr>
          <p:cNvPr id="36" name="Text 33"/>
          <p:cNvSpPr/>
          <p:nvPr/>
        </p:nvSpPr>
        <p:spPr>
          <a:xfrm>
            <a:off x="4937760" y="3044952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45078"/>
                </a:solidFill>
              </a:rPr>
              <a:t>Portafolio Efectivo al 20% — solo 2 activos de 8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4937760" y="3300984"/>
            <a:ext cx="4114800" cy="77961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01828"/>
                </a:solidFill>
              </a:rPr>
              <a:t>Plan de crecimiento escalonado sin completar. Sin dotacion no hay produccion.</a:t>
            </a:r>
            <a:endParaRPr lang="en-US" sz="900" dirty="0"/>
          </a:p>
        </p:txBody>
      </p:sp>
      <p:sp>
        <p:nvSpPr>
          <p:cNvPr id="38" name="Shape 35"/>
          <p:cNvSpPr/>
          <p:nvPr/>
        </p:nvSpPr>
        <p:spPr>
          <a:xfrm>
            <a:off x="4937760" y="4471416"/>
            <a:ext cx="1005840" cy="219456"/>
          </a:xfrm>
          <a:prstGeom prst="rect">
            <a:avLst/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9" name="Text 36"/>
          <p:cNvSpPr/>
          <p:nvPr/>
        </p:nvSpPr>
        <p:spPr>
          <a:xfrm>
            <a:off x="4937760" y="4471416"/>
            <a:ext cx="1005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DC2626"/>
                </a:solidFill>
              </a:rPr>
              <a:t>Impacto Alto</a:t>
            </a:r>
            <a:endParaRPr lang="en-US" sz="850" dirty="0"/>
          </a:p>
        </p:txBody>
      </p:sp>
      <p:sp>
        <p:nvSpPr>
          <p:cNvPr id="42" name="Shape 39"/>
          <p:cNvSpPr/>
          <p:nvPr/>
        </p:nvSpPr>
        <p:spPr>
          <a:xfrm>
            <a:off x="0" y="4864608"/>
            <a:ext cx="9144000" cy="256032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3" name="Text 40"/>
          <p:cNvSpPr/>
          <p:nvPr/>
        </p:nvSpPr>
        <p:spPr>
          <a:xfrm>
            <a:off x="201168" y="4864608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667085"/>
                </a:solidFill>
              </a:rPr>
              <a:t>TU META ES NUESTRA META  ·  BBVA TLM OUT  |  DIAGNOSTICO  |  Ronny Aleman  |  Cierre Julio 2026</a:t>
            </a:r>
            <a:endParaRPr lang="en-US" sz="750" dirty="0"/>
          </a:p>
        </p:txBody>
      </p:sp>
      <p:pic>
        <p:nvPicPr>
          <p:cNvPr id="45" name="Picture 8">
            <a:extLst>
              <a:ext uri="{FF2B5EF4-FFF2-40B4-BE49-F238E27FC236}">
                <a16:creationId xmlns:a16="http://schemas.microsoft.com/office/drawing/2014/main" id="{AF98D781-2B6A-88FB-F3D2-7A8EB5594F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44384" y="-11521"/>
            <a:ext cx="1298448" cy="739132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4507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02920" cy="5143500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685800" y="2148840"/>
            <a:ext cx="8275320" cy="22860"/>
          </a:xfrm>
          <a:prstGeom prst="rect">
            <a:avLst/>
          </a:prstGeom>
          <a:solidFill>
            <a:srgbClr val="FFFFFF">
              <a:alpha val="40000"/>
            </a:srgbClr>
          </a:solidFill>
          <a:ln w="12700">
            <a:solidFill>
              <a:srgbClr val="FFFFFF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685800" y="1069848"/>
            <a:ext cx="87325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</a:rPr>
              <a:t>Norma Levano: TC </a:t>
            </a:r>
            <a:r>
              <a:rPr lang="en-US" sz="3200" b="1" dirty="0" err="1">
                <a:solidFill>
                  <a:srgbClr val="FFFFFF"/>
                </a:solidFill>
              </a:rPr>
              <a:t>Hibrido</a:t>
            </a:r>
            <a:r>
              <a:rPr lang="en-US" sz="3200" b="1" dirty="0">
                <a:solidFill>
                  <a:srgbClr val="FFFFFF"/>
                </a:solidFill>
              </a:rPr>
              <a:t> - PLD Digital - Operaciones - TC Respaldada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685800" y="2244852"/>
            <a:ext cx="8732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</a:rPr>
              <a:t>Norma Levano  ·  Sub-Gerente BBVA Digital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685800" y="2766822"/>
            <a:ext cx="8732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 dirty="0">
                <a:solidFill>
                  <a:srgbClr val="FFFFFF"/>
                </a:solidFill>
              </a:rPr>
              <a:t>Julio 2026</a:t>
            </a:r>
            <a:endParaRPr lang="en-US" sz="1200" dirty="0"/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6F17E0B2-9198-3AF4-16E7-F636B621DC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75496" y="3197352"/>
            <a:ext cx="3785624" cy="215494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" cy="658368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0" y="658368"/>
            <a:ext cx="9144000" cy="32004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01168" y="0"/>
            <a:ext cx="7498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30" dirty="0">
                <a:solidFill>
                  <a:srgbClr val="FFFFFF"/>
                </a:solidFill>
              </a:rPr>
              <a:t>RESUMEN GENERAL|  TC HIBRIDO · PLD DIGITAL · OPERACIONES DIGITAL · TC RESPALDADA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77072" y="713232"/>
            <a:ext cx="521208" cy="228600"/>
          </a:xfrm>
          <a:prstGeom prst="rect">
            <a:avLst/>
          </a:prstGeom>
          <a:solidFill>
            <a:srgbClr val="0E3854"/>
          </a:solidFill>
          <a:ln w="12700">
            <a:solidFill>
              <a:srgbClr val="0E3854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ext 5"/>
          <p:cNvSpPr/>
          <p:nvPr/>
        </p:nvSpPr>
        <p:spPr>
          <a:xfrm>
            <a:off x="8577072" y="713232"/>
            <a:ext cx="5212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1 / 3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201168" y="749808"/>
            <a:ext cx="2331720" cy="347472"/>
          </a:xfrm>
          <a:prstGeom prst="rect">
            <a:avLst/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0" name="Shape 7"/>
          <p:cNvSpPr/>
          <p:nvPr/>
        </p:nvSpPr>
        <p:spPr>
          <a:xfrm>
            <a:off x="292608" y="822960"/>
            <a:ext cx="182880" cy="182880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Text 8"/>
          <p:cNvSpPr/>
          <p:nvPr/>
        </p:nvSpPr>
        <p:spPr>
          <a:xfrm>
            <a:off x="530352" y="749808"/>
            <a:ext cx="19842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000" b="1" dirty="0">
                <a:solidFill>
                  <a:srgbClr val="D97706"/>
                </a:solidFill>
              </a:rPr>
              <a:t>EN SEGUIMIENTO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201168" y="1152144"/>
            <a:ext cx="2331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67085"/>
                </a:solidFill>
              </a:rPr>
              <a:t>Sub-Gerente: Norma Levano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201168" y="1463040"/>
            <a:ext cx="2331720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0" b="1" dirty="0">
                <a:solidFill>
                  <a:srgbClr val="D97706"/>
                </a:solidFill>
              </a:rPr>
              <a:t>82%</a:t>
            </a:r>
            <a:endParaRPr lang="en-US" sz="8000" dirty="0"/>
          </a:p>
        </p:txBody>
      </p:sp>
      <p:sp>
        <p:nvSpPr>
          <p:cNvPr id="14" name="Text 11"/>
          <p:cNvSpPr/>
          <p:nvPr/>
        </p:nvSpPr>
        <p:spPr>
          <a:xfrm>
            <a:off x="201168" y="2907792"/>
            <a:ext cx="2331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67085"/>
                </a:solidFill>
              </a:rPr>
              <a:t>Avance promedio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2633472" y="749808"/>
            <a:ext cx="20117" cy="406908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6" name="Shape 13"/>
          <p:cNvSpPr/>
          <p:nvPr/>
        </p:nvSpPr>
        <p:spPr>
          <a:xfrm>
            <a:off x="2743200" y="749808"/>
            <a:ext cx="3086100" cy="786384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7" name="Text 14"/>
          <p:cNvSpPr/>
          <p:nvPr/>
        </p:nvSpPr>
        <p:spPr>
          <a:xfrm>
            <a:off x="2880360" y="841248"/>
            <a:ext cx="29032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80" kern="0" spc="40" dirty="0">
                <a:solidFill>
                  <a:srgbClr val="667085"/>
                </a:solidFill>
              </a:rPr>
              <a:t>CONECTADOS</a:t>
            </a:r>
            <a:endParaRPr lang="en-US" sz="780" dirty="0"/>
          </a:p>
        </p:txBody>
      </p:sp>
      <p:sp>
        <p:nvSpPr>
          <p:cNvPr id="18" name="Text 15"/>
          <p:cNvSpPr/>
          <p:nvPr/>
        </p:nvSpPr>
        <p:spPr>
          <a:xfrm>
            <a:off x="2880360" y="1024128"/>
            <a:ext cx="29032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45078"/>
                </a:solidFill>
              </a:rPr>
              <a:t>57</a:t>
            </a:r>
            <a:endParaRPr lang="en-US" sz="2200" dirty="0"/>
          </a:p>
        </p:txBody>
      </p:sp>
      <p:sp>
        <p:nvSpPr>
          <p:cNvPr id="19" name="Shape 16"/>
          <p:cNvSpPr/>
          <p:nvPr/>
        </p:nvSpPr>
        <p:spPr>
          <a:xfrm>
            <a:off x="5920740" y="749808"/>
            <a:ext cx="3086100" cy="786384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0" name="Text 17"/>
          <p:cNvSpPr/>
          <p:nvPr/>
        </p:nvSpPr>
        <p:spPr>
          <a:xfrm>
            <a:off x="6057900" y="841248"/>
            <a:ext cx="29032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80" kern="0" spc="40" dirty="0">
                <a:solidFill>
                  <a:srgbClr val="667085"/>
                </a:solidFill>
              </a:rPr>
              <a:t>DOTACION</a:t>
            </a:r>
            <a:endParaRPr lang="en-US" sz="780" dirty="0"/>
          </a:p>
        </p:txBody>
      </p:sp>
      <p:sp>
        <p:nvSpPr>
          <p:cNvPr id="21" name="Text 18"/>
          <p:cNvSpPr/>
          <p:nvPr/>
        </p:nvSpPr>
        <p:spPr>
          <a:xfrm>
            <a:off x="6057900" y="1024128"/>
            <a:ext cx="29032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45078"/>
                </a:solidFill>
              </a:rPr>
              <a:t>71</a:t>
            </a:r>
            <a:endParaRPr lang="en-US" sz="2200" dirty="0"/>
          </a:p>
        </p:txBody>
      </p:sp>
      <p:sp>
        <p:nvSpPr>
          <p:cNvPr id="22" name="Shape 19"/>
          <p:cNvSpPr/>
          <p:nvPr/>
        </p:nvSpPr>
        <p:spPr>
          <a:xfrm>
            <a:off x="2743200" y="1609344"/>
            <a:ext cx="3086100" cy="786384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3" name="Text 20"/>
          <p:cNvSpPr/>
          <p:nvPr/>
        </p:nvSpPr>
        <p:spPr>
          <a:xfrm>
            <a:off x="2880360" y="1700784"/>
            <a:ext cx="29032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80" kern="0" spc="40" dirty="0">
                <a:solidFill>
                  <a:srgbClr val="667085"/>
                </a:solidFill>
              </a:rPr>
              <a:t>PEND. SELECCION</a:t>
            </a:r>
            <a:endParaRPr lang="en-US" sz="780" dirty="0"/>
          </a:p>
        </p:txBody>
      </p:sp>
      <p:sp>
        <p:nvSpPr>
          <p:cNvPr id="24" name="Text 21"/>
          <p:cNvSpPr/>
          <p:nvPr/>
        </p:nvSpPr>
        <p:spPr>
          <a:xfrm>
            <a:off x="2880360" y="1883664"/>
            <a:ext cx="29032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45078"/>
                </a:solidFill>
              </a:rPr>
              <a:t>1</a:t>
            </a:r>
            <a:endParaRPr lang="en-US" sz="2200" dirty="0"/>
          </a:p>
        </p:txBody>
      </p:sp>
      <p:sp>
        <p:nvSpPr>
          <p:cNvPr id="25" name="Shape 22"/>
          <p:cNvSpPr/>
          <p:nvPr/>
        </p:nvSpPr>
        <p:spPr>
          <a:xfrm>
            <a:off x="5920740" y="1609344"/>
            <a:ext cx="3086100" cy="786384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6" name="Text 23"/>
          <p:cNvSpPr/>
          <p:nvPr/>
        </p:nvSpPr>
        <p:spPr>
          <a:xfrm>
            <a:off x="6057900" y="1700784"/>
            <a:ext cx="29032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80" kern="0" spc="40" dirty="0">
                <a:solidFill>
                  <a:srgbClr val="667085"/>
                </a:solidFill>
              </a:rPr>
              <a:t>PEND. INDUCCION</a:t>
            </a:r>
            <a:endParaRPr lang="en-US" sz="780" dirty="0"/>
          </a:p>
        </p:txBody>
      </p:sp>
      <p:sp>
        <p:nvSpPr>
          <p:cNvPr id="27" name="Text 24"/>
          <p:cNvSpPr/>
          <p:nvPr/>
        </p:nvSpPr>
        <p:spPr>
          <a:xfrm>
            <a:off x="6057900" y="1883664"/>
            <a:ext cx="29032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45078"/>
                </a:solidFill>
              </a:rPr>
              <a:t>13</a:t>
            </a:r>
            <a:endParaRPr lang="en-US" sz="2200" dirty="0"/>
          </a:p>
        </p:txBody>
      </p:sp>
      <p:sp>
        <p:nvSpPr>
          <p:cNvPr id="28" name="Shape 25"/>
          <p:cNvSpPr/>
          <p:nvPr/>
        </p:nvSpPr>
        <p:spPr>
          <a:xfrm>
            <a:off x="2743200" y="2468880"/>
            <a:ext cx="3086100" cy="786384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9" name="Text 26"/>
          <p:cNvSpPr/>
          <p:nvPr/>
        </p:nvSpPr>
        <p:spPr>
          <a:xfrm>
            <a:off x="2880360" y="2560320"/>
            <a:ext cx="29032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80" kern="0" spc="40" dirty="0">
                <a:solidFill>
                  <a:srgbClr val="667085"/>
                </a:solidFill>
              </a:rPr>
              <a:t>PRESUPUESTO</a:t>
            </a:r>
            <a:endParaRPr lang="en-US" sz="780" dirty="0"/>
          </a:p>
        </p:txBody>
      </p:sp>
      <p:sp>
        <p:nvSpPr>
          <p:cNvPr id="30" name="Text 27"/>
          <p:cNvSpPr/>
          <p:nvPr/>
        </p:nvSpPr>
        <p:spPr>
          <a:xfrm>
            <a:off x="2880360" y="2743200"/>
            <a:ext cx="29032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45078"/>
                </a:solidFill>
              </a:rPr>
              <a:t>71</a:t>
            </a:r>
            <a:endParaRPr lang="en-US" sz="2200" dirty="0"/>
          </a:p>
        </p:txBody>
      </p:sp>
      <p:sp>
        <p:nvSpPr>
          <p:cNvPr id="31" name="Shape 28"/>
          <p:cNvSpPr/>
          <p:nvPr/>
        </p:nvSpPr>
        <p:spPr>
          <a:xfrm>
            <a:off x="5920740" y="2468880"/>
            <a:ext cx="3086100" cy="786384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2" name="Text 29"/>
          <p:cNvSpPr/>
          <p:nvPr/>
        </p:nvSpPr>
        <p:spPr>
          <a:xfrm>
            <a:off x="6057900" y="2560320"/>
            <a:ext cx="29032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80" kern="0" spc="40" dirty="0">
                <a:solidFill>
                  <a:srgbClr val="667085"/>
                </a:solidFill>
              </a:rPr>
              <a:t>SEMANA</a:t>
            </a:r>
            <a:endParaRPr lang="en-US" sz="780" dirty="0"/>
          </a:p>
        </p:txBody>
      </p:sp>
      <p:sp>
        <p:nvSpPr>
          <p:cNvPr id="33" name="Text 30"/>
          <p:cNvSpPr/>
          <p:nvPr/>
        </p:nvSpPr>
        <p:spPr>
          <a:xfrm>
            <a:off x="6057900" y="2743200"/>
            <a:ext cx="29032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45078"/>
                </a:solidFill>
              </a:rPr>
              <a:t>05</a:t>
            </a:r>
            <a:endParaRPr lang="en-US" sz="2200" dirty="0"/>
          </a:p>
        </p:txBody>
      </p:sp>
      <p:sp>
        <p:nvSpPr>
          <p:cNvPr id="34" name="Shape 31"/>
          <p:cNvSpPr/>
          <p:nvPr/>
        </p:nvSpPr>
        <p:spPr>
          <a:xfrm>
            <a:off x="0" y="3419856"/>
            <a:ext cx="9144000" cy="281635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5" name="Text 32"/>
          <p:cNvSpPr/>
          <p:nvPr/>
        </p:nvSpPr>
        <p:spPr>
          <a:xfrm>
            <a:off x="182880" y="3419856"/>
            <a:ext cx="310896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</a:rPr>
              <a:t>Sub-campaña</a:t>
            </a:r>
            <a:endParaRPr lang="en-US" sz="850" dirty="0"/>
          </a:p>
        </p:txBody>
      </p:sp>
      <p:sp>
        <p:nvSpPr>
          <p:cNvPr id="36" name="Text 33"/>
          <p:cNvSpPr/>
          <p:nvPr/>
        </p:nvSpPr>
        <p:spPr>
          <a:xfrm>
            <a:off x="2351570" y="3419856"/>
            <a:ext cx="11887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</a:rPr>
              <a:t>Presupuesto</a:t>
            </a:r>
            <a:endParaRPr lang="en-US" sz="850" dirty="0"/>
          </a:p>
        </p:txBody>
      </p:sp>
      <p:sp>
        <p:nvSpPr>
          <p:cNvPr id="37" name="Text 34"/>
          <p:cNvSpPr/>
          <p:nvPr/>
        </p:nvSpPr>
        <p:spPr>
          <a:xfrm>
            <a:off x="4526280" y="3419856"/>
            <a:ext cx="21031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</a:rPr>
              <a:t>Avance</a:t>
            </a:r>
            <a:endParaRPr lang="en-US" sz="850" dirty="0"/>
          </a:p>
        </p:txBody>
      </p:sp>
      <p:sp>
        <p:nvSpPr>
          <p:cNvPr id="38" name="Text 35"/>
          <p:cNvSpPr/>
          <p:nvPr/>
        </p:nvSpPr>
        <p:spPr>
          <a:xfrm>
            <a:off x="6656832" y="3419856"/>
            <a:ext cx="86868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</a:rPr>
              <a:t>% Logro</a:t>
            </a:r>
            <a:endParaRPr lang="en-US" sz="850" dirty="0"/>
          </a:p>
        </p:txBody>
      </p:sp>
      <p:sp>
        <p:nvSpPr>
          <p:cNvPr id="39" name="Text 36"/>
          <p:cNvSpPr/>
          <p:nvPr/>
        </p:nvSpPr>
        <p:spPr>
          <a:xfrm>
            <a:off x="7543800" y="3419856"/>
            <a:ext cx="146304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</a:rPr>
              <a:t>Proyeccion</a:t>
            </a:r>
            <a:endParaRPr lang="en-US" sz="850" dirty="0"/>
          </a:p>
        </p:txBody>
      </p:sp>
      <p:sp>
        <p:nvSpPr>
          <p:cNvPr id="40" name="Shape 37"/>
          <p:cNvSpPr/>
          <p:nvPr/>
        </p:nvSpPr>
        <p:spPr>
          <a:xfrm>
            <a:off x="0" y="3701491"/>
            <a:ext cx="9144000" cy="281635"/>
          </a:xfrm>
          <a:prstGeom prst="rect">
            <a:avLst/>
          </a:prstGeom>
          <a:solidFill>
            <a:srgbClr val="FFFFFF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1" name="Text 38"/>
          <p:cNvSpPr/>
          <p:nvPr/>
        </p:nvSpPr>
        <p:spPr>
          <a:xfrm>
            <a:off x="182880" y="3701491"/>
            <a:ext cx="292608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45078"/>
                </a:solidFill>
              </a:rPr>
              <a:t>TC Hibrido (Tarjetas Digital)</a:t>
            </a:r>
            <a:endParaRPr lang="en-US" sz="950" dirty="0"/>
          </a:p>
        </p:txBody>
      </p:sp>
      <p:sp>
        <p:nvSpPr>
          <p:cNvPr id="42" name="Text 39"/>
          <p:cNvSpPr/>
          <p:nvPr/>
        </p:nvSpPr>
        <p:spPr>
          <a:xfrm>
            <a:off x="2498212" y="3701491"/>
            <a:ext cx="11887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01828"/>
                </a:solidFill>
              </a:rPr>
              <a:t>25</a:t>
            </a:r>
            <a:endParaRPr lang="en-US" sz="950" dirty="0"/>
          </a:p>
        </p:txBody>
      </p:sp>
      <p:sp>
        <p:nvSpPr>
          <p:cNvPr id="43" name="Shape 40"/>
          <p:cNvSpPr/>
          <p:nvPr/>
        </p:nvSpPr>
        <p:spPr>
          <a:xfrm>
            <a:off x="4526280" y="3780349"/>
            <a:ext cx="1920240" cy="118287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4" name="Shape 41"/>
          <p:cNvSpPr/>
          <p:nvPr/>
        </p:nvSpPr>
        <p:spPr>
          <a:xfrm>
            <a:off x="4526280" y="3780349"/>
            <a:ext cx="1459382" cy="118287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5" name="Text 42"/>
          <p:cNvSpPr/>
          <p:nvPr/>
        </p:nvSpPr>
        <p:spPr>
          <a:xfrm>
            <a:off x="6656832" y="3701491"/>
            <a:ext cx="86868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97706"/>
                </a:solidFill>
              </a:rPr>
              <a:t>76%</a:t>
            </a:r>
            <a:endParaRPr lang="en-US" sz="1000" dirty="0"/>
          </a:p>
        </p:txBody>
      </p:sp>
      <p:sp>
        <p:nvSpPr>
          <p:cNvPr id="46" name="Text 43"/>
          <p:cNvSpPr/>
          <p:nvPr/>
        </p:nvSpPr>
        <p:spPr>
          <a:xfrm>
            <a:off x="7543800" y="3701491"/>
            <a:ext cx="146304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667085"/>
                </a:solidFill>
              </a:rPr>
              <a:t>700</a:t>
            </a:r>
            <a:endParaRPr lang="en-US" sz="850" dirty="0"/>
          </a:p>
        </p:txBody>
      </p:sp>
      <p:sp>
        <p:nvSpPr>
          <p:cNvPr id="47" name="Shape 44"/>
          <p:cNvSpPr/>
          <p:nvPr/>
        </p:nvSpPr>
        <p:spPr>
          <a:xfrm>
            <a:off x="0" y="3983126"/>
            <a:ext cx="9144000" cy="281635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8" name="Text 45"/>
          <p:cNvSpPr/>
          <p:nvPr/>
        </p:nvSpPr>
        <p:spPr>
          <a:xfrm>
            <a:off x="182880" y="3983126"/>
            <a:ext cx="292608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45078"/>
                </a:solidFill>
              </a:rPr>
              <a:t>Operaciones Digital</a:t>
            </a:r>
            <a:endParaRPr lang="en-US" sz="950" dirty="0"/>
          </a:p>
        </p:txBody>
      </p:sp>
      <p:sp>
        <p:nvSpPr>
          <p:cNvPr id="49" name="Text 46"/>
          <p:cNvSpPr/>
          <p:nvPr/>
        </p:nvSpPr>
        <p:spPr>
          <a:xfrm>
            <a:off x="2498212" y="3983126"/>
            <a:ext cx="11887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01828"/>
                </a:solidFill>
              </a:rPr>
              <a:t>20</a:t>
            </a:r>
            <a:endParaRPr lang="en-US" sz="950" dirty="0"/>
          </a:p>
        </p:txBody>
      </p:sp>
      <p:sp>
        <p:nvSpPr>
          <p:cNvPr id="50" name="Shape 47"/>
          <p:cNvSpPr/>
          <p:nvPr/>
        </p:nvSpPr>
        <p:spPr>
          <a:xfrm>
            <a:off x="4526280" y="4061984"/>
            <a:ext cx="1920240" cy="118287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1" name="Shape 48"/>
          <p:cNvSpPr/>
          <p:nvPr/>
        </p:nvSpPr>
        <p:spPr>
          <a:xfrm>
            <a:off x="4526280" y="4061984"/>
            <a:ext cx="1536192" cy="118287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2" name="Text 49"/>
          <p:cNvSpPr/>
          <p:nvPr/>
        </p:nvSpPr>
        <p:spPr>
          <a:xfrm>
            <a:off x="6656832" y="3983126"/>
            <a:ext cx="86868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97706"/>
                </a:solidFill>
              </a:rPr>
              <a:t>80%</a:t>
            </a:r>
            <a:endParaRPr lang="en-US" sz="1000" dirty="0"/>
          </a:p>
        </p:txBody>
      </p:sp>
      <p:sp>
        <p:nvSpPr>
          <p:cNvPr id="53" name="Text 50"/>
          <p:cNvSpPr/>
          <p:nvPr/>
        </p:nvSpPr>
        <p:spPr>
          <a:xfrm>
            <a:off x="7543800" y="3983126"/>
            <a:ext cx="146304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667085"/>
                </a:solidFill>
              </a:rPr>
              <a:t>700</a:t>
            </a:r>
            <a:endParaRPr lang="en-US" sz="850" dirty="0"/>
          </a:p>
        </p:txBody>
      </p:sp>
      <p:sp>
        <p:nvSpPr>
          <p:cNvPr id="54" name="Shape 51"/>
          <p:cNvSpPr/>
          <p:nvPr/>
        </p:nvSpPr>
        <p:spPr>
          <a:xfrm>
            <a:off x="0" y="4264762"/>
            <a:ext cx="9144000" cy="281635"/>
          </a:xfrm>
          <a:prstGeom prst="rect">
            <a:avLst/>
          </a:prstGeom>
          <a:solidFill>
            <a:srgbClr val="FFFFFF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5" name="Text 52"/>
          <p:cNvSpPr/>
          <p:nvPr/>
        </p:nvSpPr>
        <p:spPr>
          <a:xfrm>
            <a:off x="182880" y="4264762"/>
            <a:ext cx="292608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45078"/>
                </a:solidFill>
              </a:rPr>
              <a:t>PLD Digital (Prestamos)</a:t>
            </a:r>
            <a:endParaRPr lang="en-US" sz="950" dirty="0"/>
          </a:p>
        </p:txBody>
      </p:sp>
      <p:sp>
        <p:nvSpPr>
          <p:cNvPr id="56" name="Text 53"/>
          <p:cNvSpPr/>
          <p:nvPr/>
        </p:nvSpPr>
        <p:spPr>
          <a:xfrm>
            <a:off x="2498212" y="4264762"/>
            <a:ext cx="11887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01828"/>
                </a:solidFill>
              </a:rPr>
              <a:t>10</a:t>
            </a:r>
            <a:endParaRPr lang="en-US" sz="950" dirty="0"/>
          </a:p>
        </p:txBody>
      </p:sp>
      <p:sp>
        <p:nvSpPr>
          <p:cNvPr id="57" name="Shape 54"/>
          <p:cNvSpPr/>
          <p:nvPr/>
        </p:nvSpPr>
        <p:spPr>
          <a:xfrm>
            <a:off x="4526280" y="4343619"/>
            <a:ext cx="1920240" cy="118287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8" name="Shape 55"/>
          <p:cNvSpPr/>
          <p:nvPr/>
        </p:nvSpPr>
        <p:spPr>
          <a:xfrm>
            <a:off x="4526280" y="4343619"/>
            <a:ext cx="1920240" cy="118287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9" name="Text 56"/>
          <p:cNvSpPr/>
          <p:nvPr/>
        </p:nvSpPr>
        <p:spPr>
          <a:xfrm>
            <a:off x="6656832" y="4264762"/>
            <a:ext cx="86868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59669"/>
                </a:solidFill>
              </a:rPr>
              <a:t>103%</a:t>
            </a:r>
            <a:endParaRPr lang="en-US" sz="1000" dirty="0"/>
          </a:p>
        </p:txBody>
      </p:sp>
      <p:sp>
        <p:nvSpPr>
          <p:cNvPr id="60" name="Text 57"/>
          <p:cNvSpPr/>
          <p:nvPr/>
        </p:nvSpPr>
        <p:spPr>
          <a:xfrm>
            <a:off x="7543800" y="4264762"/>
            <a:ext cx="146304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667085"/>
                </a:solidFill>
              </a:rPr>
              <a:t>700</a:t>
            </a:r>
            <a:endParaRPr lang="en-US" sz="850" dirty="0"/>
          </a:p>
        </p:txBody>
      </p:sp>
      <p:sp>
        <p:nvSpPr>
          <p:cNvPr id="61" name="Shape 58"/>
          <p:cNvSpPr/>
          <p:nvPr/>
        </p:nvSpPr>
        <p:spPr>
          <a:xfrm>
            <a:off x="0" y="4546397"/>
            <a:ext cx="9144000" cy="281635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2" name="Text 59"/>
          <p:cNvSpPr/>
          <p:nvPr/>
        </p:nvSpPr>
        <p:spPr>
          <a:xfrm>
            <a:off x="182880" y="4546397"/>
            <a:ext cx="292608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45078"/>
                </a:solidFill>
              </a:rPr>
              <a:t>TC Respaldada</a:t>
            </a:r>
            <a:endParaRPr lang="en-US" sz="950" dirty="0"/>
          </a:p>
        </p:txBody>
      </p:sp>
      <p:sp>
        <p:nvSpPr>
          <p:cNvPr id="63" name="Text 60"/>
          <p:cNvSpPr/>
          <p:nvPr/>
        </p:nvSpPr>
        <p:spPr>
          <a:xfrm>
            <a:off x="2498212" y="4546397"/>
            <a:ext cx="11887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01828"/>
                </a:solidFill>
              </a:rPr>
              <a:t>16</a:t>
            </a:r>
            <a:endParaRPr lang="en-US" sz="950" dirty="0"/>
          </a:p>
        </p:txBody>
      </p:sp>
      <p:sp>
        <p:nvSpPr>
          <p:cNvPr id="64" name="Shape 61"/>
          <p:cNvSpPr/>
          <p:nvPr/>
        </p:nvSpPr>
        <p:spPr>
          <a:xfrm>
            <a:off x="4526280" y="4625255"/>
            <a:ext cx="1920240" cy="118287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5" name="Shape 62"/>
          <p:cNvSpPr/>
          <p:nvPr/>
        </p:nvSpPr>
        <p:spPr>
          <a:xfrm>
            <a:off x="4526280" y="4625255"/>
            <a:ext cx="1555394" cy="118287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6" name="Text 63"/>
          <p:cNvSpPr/>
          <p:nvPr/>
        </p:nvSpPr>
        <p:spPr>
          <a:xfrm>
            <a:off x="6656832" y="4546397"/>
            <a:ext cx="86868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97706"/>
                </a:solidFill>
              </a:rPr>
              <a:t>81%</a:t>
            </a:r>
            <a:endParaRPr lang="en-US" sz="1000" dirty="0"/>
          </a:p>
        </p:txBody>
      </p:sp>
      <p:sp>
        <p:nvSpPr>
          <p:cNvPr id="67" name="Text 64"/>
          <p:cNvSpPr/>
          <p:nvPr/>
        </p:nvSpPr>
        <p:spPr>
          <a:xfrm>
            <a:off x="7543800" y="4546397"/>
            <a:ext cx="146304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667085"/>
                </a:solidFill>
              </a:rPr>
              <a:t>700</a:t>
            </a:r>
            <a:endParaRPr lang="en-US" sz="850" dirty="0"/>
          </a:p>
        </p:txBody>
      </p:sp>
      <p:sp>
        <p:nvSpPr>
          <p:cNvPr id="68" name="Shape 65"/>
          <p:cNvSpPr/>
          <p:nvPr/>
        </p:nvSpPr>
        <p:spPr>
          <a:xfrm>
            <a:off x="0" y="4864608"/>
            <a:ext cx="9144000" cy="256032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9" name="Text 66"/>
          <p:cNvSpPr/>
          <p:nvPr/>
        </p:nvSpPr>
        <p:spPr>
          <a:xfrm>
            <a:off x="201168" y="4864608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667085"/>
                </a:solidFill>
              </a:rPr>
              <a:t>TU META ES NUESTRA META  ·  BBVA DIGITAL  |  NORMA LEVANO  |  Norma Levano  |  Cierre Julio 2026</a:t>
            </a:r>
            <a:endParaRPr lang="en-US" sz="750" dirty="0"/>
          </a:p>
        </p:txBody>
      </p:sp>
      <p:sp>
        <p:nvSpPr>
          <p:cNvPr id="71" name="Text 39">
            <a:extLst>
              <a:ext uri="{FF2B5EF4-FFF2-40B4-BE49-F238E27FC236}">
                <a16:creationId xmlns:a16="http://schemas.microsoft.com/office/drawing/2014/main" id="{EDB46277-5DFE-41CA-1D0F-8607DDACB47C}"/>
              </a:ext>
            </a:extLst>
          </p:cNvPr>
          <p:cNvSpPr/>
          <p:nvPr/>
        </p:nvSpPr>
        <p:spPr>
          <a:xfrm>
            <a:off x="5060549" y="3710636"/>
            <a:ext cx="1260698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11010"/>
                </a:solidFill>
              </a:rPr>
              <a:t>900</a:t>
            </a:r>
            <a:endParaRPr lang="en-US" sz="950" dirty="0"/>
          </a:p>
        </p:txBody>
      </p:sp>
      <p:sp>
        <p:nvSpPr>
          <p:cNvPr id="73" name="Text 39">
            <a:extLst>
              <a:ext uri="{FF2B5EF4-FFF2-40B4-BE49-F238E27FC236}">
                <a16:creationId xmlns:a16="http://schemas.microsoft.com/office/drawing/2014/main" id="{16D5521A-7387-FF67-F06A-F8B3DB17D9C2}"/>
              </a:ext>
            </a:extLst>
          </p:cNvPr>
          <p:cNvSpPr/>
          <p:nvPr/>
        </p:nvSpPr>
        <p:spPr>
          <a:xfrm>
            <a:off x="5134288" y="3988773"/>
            <a:ext cx="1260698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11010"/>
                </a:solidFill>
              </a:rPr>
              <a:t>900</a:t>
            </a:r>
            <a:endParaRPr lang="en-US" sz="950" dirty="0"/>
          </a:p>
        </p:txBody>
      </p:sp>
      <p:sp>
        <p:nvSpPr>
          <p:cNvPr id="75" name="Text 39">
            <a:extLst>
              <a:ext uri="{FF2B5EF4-FFF2-40B4-BE49-F238E27FC236}">
                <a16:creationId xmlns:a16="http://schemas.microsoft.com/office/drawing/2014/main" id="{5E6D863A-D9F8-DABA-51E9-6A141B079082}"/>
              </a:ext>
            </a:extLst>
          </p:cNvPr>
          <p:cNvSpPr/>
          <p:nvPr/>
        </p:nvSpPr>
        <p:spPr>
          <a:xfrm>
            <a:off x="5224718" y="4261944"/>
            <a:ext cx="1260698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11010"/>
                </a:solidFill>
              </a:rPr>
              <a:t>900</a:t>
            </a:r>
            <a:endParaRPr lang="en-US" sz="950" dirty="0"/>
          </a:p>
        </p:txBody>
      </p:sp>
      <p:sp>
        <p:nvSpPr>
          <p:cNvPr id="77" name="Text 39">
            <a:extLst>
              <a:ext uri="{FF2B5EF4-FFF2-40B4-BE49-F238E27FC236}">
                <a16:creationId xmlns:a16="http://schemas.microsoft.com/office/drawing/2014/main" id="{734381A0-16F3-499C-91FB-57637AE08174}"/>
              </a:ext>
            </a:extLst>
          </p:cNvPr>
          <p:cNvSpPr/>
          <p:nvPr/>
        </p:nvSpPr>
        <p:spPr>
          <a:xfrm>
            <a:off x="5084665" y="4546397"/>
            <a:ext cx="1260698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11010"/>
                </a:solidFill>
              </a:rPr>
              <a:t>900</a:t>
            </a:r>
            <a:endParaRPr lang="en-US" sz="950" dirty="0"/>
          </a:p>
        </p:txBody>
      </p:sp>
      <p:sp>
        <p:nvSpPr>
          <p:cNvPr id="79" name="Text 33">
            <a:extLst>
              <a:ext uri="{FF2B5EF4-FFF2-40B4-BE49-F238E27FC236}">
                <a16:creationId xmlns:a16="http://schemas.microsoft.com/office/drawing/2014/main" id="{EE6159A9-E90D-225C-BE9F-3193D446CBFD}"/>
              </a:ext>
            </a:extLst>
          </p:cNvPr>
          <p:cNvSpPr/>
          <p:nvPr/>
        </p:nvSpPr>
        <p:spPr>
          <a:xfrm>
            <a:off x="3328305" y="3399699"/>
            <a:ext cx="11887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 err="1">
                <a:solidFill>
                  <a:srgbClr val="FFFFFF"/>
                </a:solidFill>
              </a:rPr>
              <a:t>Conectados</a:t>
            </a:r>
            <a:endParaRPr lang="en-US" sz="850" dirty="0"/>
          </a:p>
        </p:txBody>
      </p:sp>
      <p:sp>
        <p:nvSpPr>
          <p:cNvPr id="81" name="Text 39">
            <a:extLst>
              <a:ext uri="{FF2B5EF4-FFF2-40B4-BE49-F238E27FC236}">
                <a16:creationId xmlns:a16="http://schemas.microsoft.com/office/drawing/2014/main" id="{65069EF4-EF82-2351-6446-1AD3FC907DB8}"/>
              </a:ext>
            </a:extLst>
          </p:cNvPr>
          <p:cNvSpPr/>
          <p:nvPr/>
        </p:nvSpPr>
        <p:spPr>
          <a:xfrm>
            <a:off x="3530781" y="3653976"/>
            <a:ext cx="11887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11010"/>
                </a:solidFill>
              </a:rPr>
              <a:t>40</a:t>
            </a:r>
            <a:endParaRPr lang="en-US" sz="950" dirty="0"/>
          </a:p>
        </p:txBody>
      </p:sp>
      <p:sp>
        <p:nvSpPr>
          <p:cNvPr id="83" name="Text 39">
            <a:extLst>
              <a:ext uri="{FF2B5EF4-FFF2-40B4-BE49-F238E27FC236}">
                <a16:creationId xmlns:a16="http://schemas.microsoft.com/office/drawing/2014/main" id="{ED12223E-687F-9E78-F20F-888642B45EC3}"/>
              </a:ext>
            </a:extLst>
          </p:cNvPr>
          <p:cNvSpPr/>
          <p:nvPr/>
        </p:nvSpPr>
        <p:spPr>
          <a:xfrm>
            <a:off x="3544480" y="3982956"/>
            <a:ext cx="11887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11010"/>
                </a:solidFill>
              </a:rPr>
              <a:t>20</a:t>
            </a:r>
            <a:endParaRPr lang="en-US" sz="950" dirty="0"/>
          </a:p>
        </p:txBody>
      </p:sp>
      <p:sp>
        <p:nvSpPr>
          <p:cNvPr id="85" name="Text 39">
            <a:extLst>
              <a:ext uri="{FF2B5EF4-FFF2-40B4-BE49-F238E27FC236}">
                <a16:creationId xmlns:a16="http://schemas.microsoft.com/office/drawing/2014/main" id="{744C982A-CC8C-5C69-CED9-0D2A261DFB08}"/>
              </a:ext>
            </a:extLst>
          </p:cNvPr>
          <p:cNvSpPr/>
          <p:nvPr/>
        </p:nvSpPr>
        <p:spPr>
          <a:xfrm>
            <a:off x="3561355" y="4263554"/>
            <a:ext cx="11887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11010"/>
                </a:solidFill>
              </a:rPr>
              <a:t>28</a:t>
            </a:r>
            <a:endParaRPr lang="en-US" sz="950" dirty="0"/>
          </a:p>
        </p:txBody>
      </p:sp>
      <p:sp>
        <p:nvSpPr>
          <p:cNvPr id="87" name="Text 39">
            <a:extLst>
              <a:ext uri="{FF2B5EF4-FFF2-40B4-BE49-F238E27FC236}">
                <a16:creationId xmlns:a16="http://schemas.microsoft.com/office/drawing/2014/main" id="{B5DFDEA4-93A8-540B-CE5F-627403DF028F}"/>
              </a:ext>
            </a:extLst>
          </p:cNvPr>
          <p:cNvSpPr/>
          <p:nvPr/>
        </p:nvSpPr>
        <p:spPr>
          <a:xfrm>
            <a:off x="3585612" y="4545189"/>
            <a:ext cx="11887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11010"/>
                </a:solidFill>
              </a:rPr>
              <a:t>4</a:t>
            </a:r>
            <a:endParaRPr lang="en-US" sz="950" dirty="0"/>
          </a:p>
        </p:txBody>
      </p:sp>
      <p:pic>
        <p:nvPicPr>
          <p:cNvPr id="89" name="Picture 8">
            <a:extLst>
              <a:ext uri="{FF2B5EF4-FFF2-40B4-BE49-F238E27FC236}">
                <a16:creationId xmlns:a16="http://schemas.microsoft.com/office/drawing/2014/main" id="{DB335D8E-DAD0-8DAF-3C94-76A1564C5F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99248" y="-15232"/>
            <a:ext cx="1298448" cy="739132"/>
          </a:xfrm>
          <a:prstGeom prst="rect">
            <a:avLst/>
          </a:prstGeom>
        </p:spPr>
      </p:pic>
      <p:pic>
        <p:nvPicPr>
          <p:cNvPr id="90" name="Panel Resume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704088"/>
            <a:ext cx="9144000" cy="4146804"/>
          </a:xfrm>
          <a:prstGeom prst="rect">
            <a:avLst/>
          </a:prstGeom>
        </p:spPr>
      </p:pic>
      <p:sp>
        <p:nvSpPr>
          <p:cNvPr id="91" name="dato_manual"/>
          <p:cNvSpPr>
            <a:spLocks noGrp="1"/>
          </p:cNvSpPr>
          <p:nvPr/>
        </p:nvSpPr>
        <p:spPr>
          <a:xfrm>
            <a:off x="2743200" y="1422732"/>
            <a:ext cx="1259586" cy="34747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es-PE" sz="1650" b="1" dirty="0">
                <a:solidFill>
                  <a:srgbClr val="103A5E"/>
                </a:solidFill>
                <a:latin typeface="Arial"/>
              </a:rPr>
              <a:t>57</a:t>
            </a:r>
          </a:p>
        </p:txBody>
      </p:sp>
      <p:sp>
        <p:nvSpPr>
          <p:cNvPr id="92" name="dato_manual"/>
          <p:cNvSpPr>
            <a:spLocks noGrp="1"/>
          </p:cNvSpPr>
          <p:nvPr/>
        </p:nvSpPr>
        <p:spPr>
          <a:xfrm>
            <a:off x="4359401" y="1422732"/>
            <a:ext cx="1259586" cy="34747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es-PE" sz="1650" b="1" dirty="0">
                <a:solidFill>
                  <a:srgbClr val="103A5E"/>
                </a:solidFill>
                <a:latin typeface="Arial"/>
              </a:rPr>
              <a:t>14</a:t>
            </a:r>
          </a:p>
        </p:txBody>
      </p:sp>
      <p:sp>
        <p:nvSpPr>
          <p:cNvPr id="93" name="dato_manual"/>
          <p:cNvSpPr>
            <a:spLocks noGrp="1"/>
          </p:cNvSpPr>
          <p:nvPr/>
        </p:nvSpPr>
        <p:spPr>
          <a:xfrm>
            <a:off x="2531059" y="3109696"/>
            <a:ext cx="1097280" cy="27432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93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94" name="dato_manual"/>
          <p:cNvSpPr>
            <a:spLocks noGrp="1"/>
          </p:cNvSpPr>
          <p:nvPr/>
        </p:nvSpPr>
        <p:spPr>
          <a:xfrm>
            <a:off x="3584448" y="3109696"/>
            <a:ext cx="1097280" cy="27432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93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95" name="dato_manual"/>
          <p:cNvSpPr>
            <a:spLocks noGrp="1"/>
          </p:cNvSpPr>
          <p:nvPr/>
        </p:nvSpPr>
        <p:spPr>
          <a:xfrm>
            <a:off x="2531059" y="3455988"/>
            <a:ext cx="1097280" cy="27432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930" b="1" dirty="0">
                <a:solidFill>
                  <a:srgbClr val="4A5A6A"/>
                </a:solidFill>
                <a:latin typeface="Arial"/>
              </a:rPr>
              <a:t>20</a:t>
            </a:r>
          </a:p>
        </p:txBody>
      </p:sp>
      <p:sp>
        <p:nvSpPr>
          <p:cNvPr id="96" name="dato_manual"/>
          <p:cNvSpPr>
            <a:spLocks noGrp="1"/>
          </p:cNvSpPr>
          <p:nvPr/>
        </p:nvSpPr>
        <p:spPr>
          <a:xfrm>
            <a:off x="3584448" y="3455988"/>
            <a:ext cx="1097280" cy="27432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930" b="1" dirty="0">
                <a:solidFill>
                  <a:srgbClr val="4A5A6A"/>
                </a:solidFill>
                <a:latin typeface="Arial"/>
              </a:rPr>
              <a:t>20</a:t>
            </a:r>
          </a:p>
        </p:txBody>
      </p:sp>
      <p:sp>
        <p:nvSpPr>
          <p:cNvPr id="97" name="dato_manual"/>
          <p:cNvSpPr>
            <a:spLocks noGrp="1"/>
          </p:cNvSpPr>
          <p:nvPr/>
        </p:nvSpPr>
        <p:spPr>
          <a:xfrm>
            <a:off x="2531059" y="3802280"/>
            <a:ext cx="1097280" cy="27432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93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98" name="dato_manual"/>
          <p:cNvSpPr>
            <a:spLocks noGrp="1"/>
          </p:cNvSpPr>
          <p:nvPr/>
        </p:nvSpPr>
        <p:spPr>
          <a:xfrm>
            <a:off x="3584448" y="3802280"/>
            <a:ext cx="1097280" cy="27432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930" b="1" dirty="0">
                <a:solidFill>
                  <a:srgbClr val="4A5A6A"/>
                </a:solidFill>
                <a:latin typeface="Arial"/>
              </a:rPr>
              <a:t>0</a:t>
            </a:r>
          </a:p>
        </p:txBody>
      </p:sp>
      <p:sp>
        <p:nvSpPr>
          <p:cNvPr id="99" name="dato_manual"/>
          <p:cNvSpPr>
            <a:spLocks noGrp="1"/>
          </p:cNvSpPr>
          <p:nvPr/>
        </p:nvSpPr>
        <p:spPr>
          <a:xfrm>
            <a:off x="2531059" y="4148573"/>
            <a:ext cx="1097280" cy="27432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930" b="1" dirty="0">
                <a:solidFill>
                  <a:srgbClr val="4A5A6A"/>
                </a:solidFill>
                <a:latin typeface="Arial"/>
              </a:rPr>
              <a:t>16</a:t>
            </a:r>
          </a:p>
        </p:txBody>
      </p:sp>
      <p:sp>
        <p:nvSpPr>
          <p:cNvPr id="100" name="dato_manual"/>
          <p:cNvSpPr>
            <a:spLocks noGrp="1"/>
          </p:cNvSpPr>
          <p:nvPr/>
        </p:nvSpPr>
        <p:spPr>
          <a:xfrm>
            <a:off x="3584448" y="4148573"/>
            <a:ext cx="1097280" cy="27432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930" b="1" dirty="0">
                <a:solidFill>
                  <a:srgbClr val="4A5A6A"/>
                </a:solidFill>
                <a:latin typeface="Arial"/>
              </a:rPr>
              <a:t>4</a:t>
            </a:r>
          </a:p>
        </p:txBody>
      </p:sp>
      <p:sp>
        <p:nvSpPr>
          <p:cNvPr id="101" name="dato_manual"/>
          <p:cNvSpPr>
            <a:spLocks noGrp="1"/>
          </p:cNvSpPr>
          <p:nvPr/>
        </p:nvSpPr>
        <p:spPr>
          <a:xfrm>
            <a:off x="2531059" y="4494865"/>
            <a:ext cx="1097280" cy="27432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930" b="1" dirty="0">
                <a:solidFill>
                  <a:srgbClr val="123A5E"/>
                </a:solidFill>
                <a:latin typeface="Arial"/>
              </a:rPr>
              <a:t>36</a:t>
            </a:r>
          </a:p>
        </p:txBody>
      </p:sp>
      <p:sp>
        <p:nvSpPr>
          <p:cNvPr id="102" name="dato_manual"/>
          <p:cNvSpPr>
            <a:spLocks noGrp="1"/>
          </p:cNvSpPr>
          <p:nvPr/>
        </p:nvSpPr>
        <p:spPr>
          <a:xfrm>
            <a:off x="3584448" y="4494865"/>
            <a:ext cx="1097280" cy="27432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930" b="1" dirty="0">
                <a:solidFill>
                  <a:srgbClr val="123A5E"/>
                </a:solidFill>
                <a:latin typeface="Arial"/>
              </a:rPr>
              <a:t>24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" cy="658368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0" y="658368"/>
            <a:ext cx="9144000" cy="32004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01168" y="0"/>
            <a:ext cx="7498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30" dirty="0">
                <a:solidFill>
                  <a:srgbClr val="FFFFFF"/>
                </a:solidFill>
              </a:rPr>
              <a:t>TC HIBRIDO — TARJETAS DIGITAL: Información al 18 de Julio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8577072" y="713232"/>
            <a:ext cx="5212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1 / 4</a:t>
            </a:r>
            <a:endParaRPr lang="en-US" sz="800" dirty="0"/>
          </a:p>
        </p:txBody>
      </p:sp>
      <p:sp>
        <p:nvSpPr>
          <p:cNvPr id="12" name="Text 9"/>
          <p:cNvSpPr/>
          <p:nvPr/>
        </p:nvSpPr>
        <p:spPr>
          <a:xfrm>
            <a:off x="201168" y="1115568"/>
            <a:ext cx="2331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800" i="1" dirty="0">
                <a:solidFill>
                  <a:srgbClr val="667085"/>
                </a:solidFill>
              </a:rPr>
              <a:t>Sub-</a:t>
            </a:r>
            <a:r>
              <a:rPr lang="en-US" sz="800" i="1" dirty="0" err="1">
                <a:solidFill>
                  <a:srgbClr val="667085"/>
                </a:solidFill>
              </a:rPr>
              <a:t>Gerente</a:t>
            </a:r>
            <a:r>
              <a:rPr lang="en-US" sz="800" i="1" dirty="0">
                <a:solidFill>
                  <a:srgbClr val="667085"/>
                </a:solidFill>
              </a:rPr>
              <a:t> </a:t>
            </a:r>
            <a:r>
              <a:rPr lang="en-US" sz="850" i="1" dirty="0">
                <a:solidFill>
                  <a:srgbClr val="667085"/>
                </a:solidFill>
              </a:rPr>
              <a:t>: Norma Levano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423458" y="2049562"/>
            <a:ext cx="23317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0" b="1" dirty="0">
                <a:solidFill>
                  <a:srgbClr val="19A075"/>
                </a:solidFill>
              </a:rPr>
              <a:t>0.0%</a:t>
            </a:r>
            <a:endParaRPr lang="en-US" sz="7200" dirty="0">
              <a:solidFill>
                <a:srgbClr val="19A075"/>
              </a:solidFill>
            </a:endParaRPr>
          </a:p>
        </p:txBody>
      </p:sp>
      <p:sp>
        <p:nvSpPr>
          <p:cNvPr id="27" name="Shape 24"/>
          <p:cNvSpPr/>
          <p:nvPr/>
        </p:nvSpPr>
        <p:spPr>
          <a:xfrm>
            <a:off x="2651760" y="749808"/>
            <a:ext cx="18288" cy="4078224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7" name="Shape 74"/>
          <p:cNvSpPr/>
          <p:nvPr/>
        </p:nvSpPr>
        <p:spPr>
          <a:xfrm>
            <a:off x="0" y="4864608"/>
            <a:ext cx="9144000" cy="256032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8" name="Text 75"/>
          <p:cNvSpPr/>
          <p:nvPr/>
        </p:nvSpPr>
        <p:spPr>
          <a:xfrm>
            <a:off x="201168" y="4864608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667085"/>
                </a:solidFill>
              </a:rPr>
              <a:t>TU META ES NUESTRA META  ·  BBVA DIGITAL  |  TC HIBRIDO (TARJETAS)  |  Norma Levano  |  Cierre Julio 2026</a:t>
            </a:r>
            <a:endParaRPr lang="en-US" sz="750" dirty="0"/>
          </a:p>
        </p:txBody>
      </p:sp>
      <p:sp>
        <p:nvSpPr>
          <p:cNvPr id="80" name="Text 26">
            <a:extLst>
              <a:ext uri="{FF2B5EF4-FFF2-40B4-BE49-F238E27FC236}">
                <a16:creationId xmlns:a16="http://schemas.microsoft.com/office/drawing/2014/main" id="{CE342462-AEF5-27AF-9D0A-8C61BD68C57E}"/>
              </a:ext>
            </a:extLst>
          </p:cNvPr>
          <p:cNvSpPr/>
          <p:nvPr/>
        </p:nvSpPr>
        <p:spPr>
          <a:xfrm>
            <a:off x="423458" y="2045251"/>
            <a:ext cx="139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META: 2.80K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82" name="Text 26">
            <a:extLst>
              <a:ext uri="{FF2B5EF4-FFF2-40B4-BE49-F238E27FC236}">
                <a16:creationId xmlns:a16="http://schemas.microsoft.com/office/drawing/2014/main" id="{B6116E27-65FF-2E4A-FCED-FB340C6A370A}"/>
              </a:ext>
            </a:extLst>
          </p:cNvPr>
          <p:cNvSpPr/>
          <p:nvPr/>
        </p:nvSpPr>
        <p:spPr>
          <a:xfrm>
            <a:off x="-56358" y="3183890"/>
            <a:ext cx="139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AVANCE: 0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84" name="Text 26">
            <a:extLst>
              <a:ext uri="{FF2B5EF4-FFF2-40B4-BE49-F238E27FC236}">
                <a16:creationId xmlns:a16="http://schemas.microsoft.com/office/drawing/2014/main" id="{C26A8E09-D220-F7F0-8529-A345739179C5}"/>
              </a:ext>
            </a:extLst>
          </p:cNvPr>
          <p:cNvSpPr/>
          <p:nvPr/>
        </p:nvSpPr>
        <p:spPr>
          <a:xfrm>
            <a:off x="1142368" y="3180450"/>
            <a:ext cx="139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META AVANCE: 1.79K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28" name="BARRAS_AVANCE_TARJETAS_DIGITAL" descr="image.png">
            <a:extLst>
              <a:ext uri="{FF2B5EF4-FFF2-40B4-BE49-F238E27FC236}">
                <a16:creationId xmlns:a16="http://schemas.microsoft.com/office/drawing/2014/main" id="{D06EBFBE-36CC-A076-403C-6D4F5F6E96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64982" y="1572768"/>
            <a:ext cx="5125159" cy="2071643"/>
          </a:xfrm>
          <a:prstGeom prst="rect">
            <a:avLst/>
          </a:prstGeom>
        </p:spPr>
      </p:pic>
      <p:sp>
        <p:nvSpPr>
          <p:cNvPr id="29" name="Shape 6">
            <a:extLst>
              <a:ext uri="{FF2B5EF4-FFF2-40B4-BE49-F238E27FC236}">
                <a16:creationId xmlns:a16="http://schemas.microsoft.com/office/drawing/2014/main" id="{FB3879E5-13D0-7CAE-00D7-94114AFA0339}"/>
              </a:ext>
            </a:extLst>
          </p:cNvPr>
          <p:cNvSpPr/>
          <p:nvPr/>
        </p:nvSpPr>
        <p:spPr>
          <a:xfrm>
            <a:off x="91440" y="759213"/>
            <a:ext cx="2331720" cy="329184"/>
          </a:xfrm>
          <a:prstGeom prst="rect">
            <a:avLst/>
          </a:prstGeom>
          <a:solidFill>
            <a:srgbClr val="D1FAE5"/>
          </a:solidFill>
          <a:ln w="12700">
            <a:solidFill>
              <a:srgbClr val="D1FAE5"/>
            </a:solidFill>
            <a:prstDash val="solid"/>
          </a:ln>
        </p:spPr>
        <p:txBody>
          <a:bodyPr/>
          <a:lstStyle/>
          <a:p>
            <a:endParaRPr lang="es-PE" dirty="0"/>
          </a:p>
        </p:txBody>
      </p:sp>
      <p:sp>
        <p:nvSpPr>
          <p:cNvPr id="32" name="Shape 7">
            <a:extLst>
              <a:ext uri="{FF2B5EF4-FFF2-40B4-BE49-F238E27FC236}">
                <a16:creationId xmlns:a16="http://schemas.microsoft.com/office/drawing/2014/main" id="{10B6BD4F-7FA6-3688-AC63-DF3B989E6203}"/>
              </a:ext>
            </a:extLst>
          </p:cNvPr>
          <p:cNvSpPr/>
          <p:nvPr/>
        </p:nvSpPr>
        <p:spPr>
          <a:xfrm>
            <a:off x="182880" y="832365"/>
            <a:ext cx="164592" cy="164592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4" name="Text 8">
            <a:extLst>
              <a:ext uri="{FF2B5EF4-FFF2-40B4-BE49-F238E27FC236}">
                <a16:creationId xmlns:a16="http://schemas.microsoft.com/office/drawing/2014/main" id="{FA1FF34D-0E5E-428F-A548-E95DA37926D9}"/>
              </a:ext>
            </a:extLst>
          </p:cNvPr>
          <p:cNvSpPr/>
          <p:nvPr/>
        </p:nvSpPr>
        <p:spPr>
          <a:xfrm>
            <a:off x="402336" y="759213"/>
            <a:ext cx="200253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950" b="1" dirty="0">
                <a:solidFill>
                  <a:srgbClr val="059669"/>
                </a:solidFill>
              </a:rPr>
              <a:t>EN AVANCE</a:t>
            </a:r>
            <a:endParaRPr lang="en-US" sz="950" dirty="0"/>
          </a:p>
        </p:txBody>
      </p:sp>
      <p:pic>
        <p:nvPicPr>
          <p:cNvPr id="11" name="Picture 8">
            <a:extLst>
              <a:ext uri="{FF2B5EF4-FFF2-40B4-BE49-F238E27FC236}">
                <a16:creationId xmlns:a16="http://schemas.microsoft.com/office/drawing/2014/main" id="{FC6A1E59-F2DC-0ABF-AC77-32F124B8BEF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99248" y="-15232"/>
            <a:ext cx="1298448" cy="739132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" cy="658368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0" y="658368"/>
            <a:ext cx="9144000" cy="32004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01168" y="0"/>
            <a:ext cx="7498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30" dirty="0">
                <a:solidFill>
                  <a:srgbClr val="FFFFFF"/>
                </a:solidFill>
              </a:rPr>
              <a:t>OPERACIONES DIGITAL: </a:t>
            </a:r>
            <a:r>
              <a:rPr lang="en-US" sz="1250" b="1" kern="0" spc="30" dirty="0" err="1">
                <a:solidFill>
                  <a:srgbClr val="FFFFFF"/>
                </a:solidFill>
              </a:rPr>
              <a:t>Informacion</a:t>
            </a:r>
            <a:r>
              <a:rPr lang="en-US" sz="1250" b="1" kern="0" spc="30" dirty="0">
                <a:solidFill>
                  <a:srgbClr val="FFFFFF"/>
                </a:solidFill>
              </a:rPr>
              <a:t> al 18 de Julio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201168" y="1115568"/>
            <a:ext cx="2331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800" i="1" dirty="0">
                <a:solidFill>
                  <a:srgbClr val="667085"/>
                </a:solidFill>
              </a:rPr>
              <a:t>Sub-</a:t>
            </a:r>
            <a:r>
              <a:rPr lang="en-US" sz="800" i="1" dirty="0" err="1">
                <a:solidFill>
                  <a:srgbClr val="667085"/>
                </a:solidFill>
              </a:rPr>
              <a:t>Gerente</a:t>
            </a:r>
            <a:r>
              <a:rPr lang="en-US" sz="800" i="1" dirty="0">
                <a:solidFill>
                  <a:srgbClr val="667085"/>
                </a:solidFill>
              </a:rPr>
              <a:t> </a:t>
            </a:r>
            <a:r>
              <a:rPr lang="en-US" sz="850" i="1" dirty="0">
                <a:solidFill>
                  <a:srgbClr val="667085"/>
                </a:solidFill>
              </a:rPr>
              <a:t>: Norma Levano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278225" y="2070980"/>
            <a:ext cx="23317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0" b="1" dirty="0">
                <a:solidFill>
                  <a:srgbClr val="C00000"/>
                </a:solidFill>
              </a:rPr>
              <a:t>116%</a:t>
            </a:r>
            <a:endParaRPr lang="en-US" sz="7200" dirty="0">
              <a:solidFill>
                <a:srgbClr val="C00000"/>
              </a:solidFill>
            </a:endParaRPr>
          </a:p>
        </p:txBody>
      </p:sp>
      <p:sp>
        <p:nvSpPr>
          <p:cNvPr id="27" name="Shape 24"/>
          <p:cNvSpPr/>
          <p:nvPr/>
        </p:nvSpPr>
        <p:spPr>
          <a:xfrm>
            <a:off x="2651760" y="749808"/>
            <a:ext cx="18288" cy="4078224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7" name="Shape 74"/>
          <p:cNvSpPr/>
          <p:nvPr/>
        </p:nvSpPr>
        <p:spPr>
          <a:xfrm>
            <a:off x="0" y="4864608"/>
            <a:ext cx="9144000" cy="256032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8" name="Text 75"/>
          <p:cNvSpPr/>
          <p:nvPr/>
        </p:nvSpPr>
        <p:spPr>
          <a:xfrm>
            <a:off x="201168" y="4864608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667085"/>
                </a:solidFill>
              </a:rPr>
              <a:t>TU META ES NUESTRA META  ·  BBVA DIGITAL  |  OPERACIONES HIBRIDO  |  Norma Levano  |  Cierre Julio 2026</a:t>
            </a:r>
            <a:endParaRPr lang="en-US" sz="750" dirty="0"/>
          </a:p>
        </p:txBody>
      </p:sp>
      <p:sp>
        <p:nvSpPr>
          <p:cNvPr id="80" name="Text 26">
            <a:extLst>
              <a:ext uri="{FF2B5EF4-FFF2-40B4-BE49-F238E27FC236}">
                <a16:creationId xmlns:a16="http://schemas.microsoft.com/office/drawing/2014/main" id="{5D4F52AB-42F3-60EA-D4DD-893480880F78}"/>
              </a:ext>
            </a:extLst>
          </p:cNvPr>
          <p:cNvSpPr/>
          <p:nvPr/>
        </p:nvSpPr>
        <p:spPr>
          <a:xfrm>
            <a:off x="470518" y="2035375"/>
            <a:ext cx="139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META: 3.00K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82" name="Text 26">
            <a:extLst>
              <a:ext uri="{FF2B5EF4-FFF2-40B4-BE49-F238E27FC236}">
                <a16:creationId xmlns:a16="http://schemas.microsoft.com/office/drawing/2014/main" id="{E2101963-994E-1919-D127-79AF54582F0F}"/>
              </a:ext>
            </a:extLst>
          </p:cNvPr>
          <p:cNvSpPr/>
          <p:nvPr/>
        </p:nvSpPr>
        <p:spPr>
          <a:xfrm>
            <a:off x="-9298" y="3174014"/>
            <a:ext cx="139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AVANCE: 2.16K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84" name="Text 26">
            <a:extLst>
              <a:ext uri="{FF2B5EF4-FFF2-40B4-BE49-F238E27FC236}">
                <a16:creationId xmlns:a16="http://schemas.microsoft.com/office/drawing/2014/main" id="{E0134AAA-27D6-DE6B-A951-F2716CDCB379}"/>
              </a:ext>
            </a:extLst>
          </p:cNvPr>
          <p:cNvSpPr/>
          <p:nvPr/>
        </p:nvSpPr>
        <p:spPr>
          <a:xfrm>
            <a:off x="1189428" y="3170574"/>
            <a:ext cx="139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META AVANCE: 1.86K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81" name="BARRAS_AVANCE_OPERACIONES_DIGITAL" descr="image.png">
            <a:extLst>
              <a:ext uri="{FF2B5EF4-FFF2-40B4-BE49-F238E27FC236}">
                <a16:creationId xmlns:a16="http://schemas.microsoft.com/office/drawing/2014/main" id="{D45A250F-2AD2-C233-A518-D90AFE28AF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4781" y="1551395"/>
            <a:ext cx="5442291" cy="2695939"/>
          </a:xfrm>
          <a:prstGeom prst="rect">
            <a:avLst/>
          </a:prstGeom>
        </p:spPr>
      </p:pic>
      <p:sp>
        <p:nvSpPr>
          <p:cNvPr id="29" name="Shape 6">
            <a:extLst>
              <a:ext uri="{FF2B5EF4-FFF2-40B4-BE49-F238E27FC236}">
                <a16:creationId xmlns:a16="http://schemas.microsoft.com/office/drawing/2014/main" id="{B26CD5DB-3AD5-DB03-D98B-2AC2E5B65F16}"/>
              </a:ext>
            </a:extLst>
          </p:cNvPr>
          <p:cNvSpPr/>
          <p:nvPr/>
        </p:nvSpPr>
        <p:spPr>
          <a:xfrm>
            <a:off x="91440" y="785704"/>
            <a:ext cx="2331720" cy="329184"/>
          </a:xfrm>
          <a:prstGeom prst="rect">
            <a:avLst/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1" name="Shape 7">
            <a:extLst>
              <a:ext uri="{FF2B5EF4-FFF2-40B4-BE49-F238E27FC236}">
                <a16:creationId xmlns:a16="http://schemas.microsoft.com/office/drawing/2014/main" id="{A1648BD7-9CB8-3964-45BA-22E0C0F32935}"/>
              </a:ext>
            </a:extLst>
          </p:cNvPr>
          <p:cNvSpPr/>
          <p:nvPr/>
        </p:nvSpPr>
        <p:spPr>
          <a:xfrm>
            <a:off x="182880" y="858856"/>
            <a:ext cx="164592" cy="164592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3" name="Text 8">
            <a:extLst>
              <a:ext uri="{FF2B5EF4-FFF2-40B4-BE49-F238E27FC236}">
                <a16:creationId xmlns:a16="http://schemas.microsoft.com/office/drawing/2014/main" id="{E0D2FC64-771F-2BBE-BE27-D89178315431}"/>
              </a:ext>
            </a:extLst>
          </p:cNvPr>
          <p:cNvSpPr/>
          <p:nvPr/>
        </p:nvSpPr>
        <p:spPr>
          <a:xfrm>
            <a:off x="402336" y="785704"/>
            <a:ext cx="200253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950" b="1" dirty="0">
                <a:solidFill>
                  <a:srgbClr val="DC2626"/>
                </a:solidFill>
              </a:rPr>
              <a:t>EN OBSERVACIÓN</a:t>
            </a:r>
          </a:p>
        </p:txBody>
      </p:sp>
      <p:pic>
        <p:nvPicPr>
          <p:cNvPr id="10" name="Picture 8">
            <a:extLst>
              <a:ext uri="{FF2B5EF4-FFF2-40B4-BE49-F238E27FC236}">
                <a16:creationId xmlns:a16="http://schemas.microsoft.com/office/drawing/2014/main" id="{1A0F12F0-DE73-A8A8-A8CE-76D05780520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76170" y="-37330"/>
            <a:ext cx="1298448" cy="739132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" cy="658368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0" y="658368"/>
            <a:ext cx="9144000" cy="32004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01168" y="0"/>
            <a:ext cx="7498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50" b="1" kern="0" spc="30" dirty="0">
                <a:solidFill>
                  <a:srgbClr val="FFFFFF"/>
                </a:solidFill>
              </a:rPr>
              <a:t>PLD DIGITAL: </a:t>
            </a:r>
            <a:r>
              <a:rPr lang="en-US" sz="1250" b="1" kern="0" spc="30" dirty="0" err="1">
                <a:solidFill>
                  <a:srgbClr val="FFFFFF"/>
                </a:solidFill>
              </a:rPr>
              <a:t>Informacion</a:t>
            </a:r>
            <a:r>
              <a:rPr lang="en-US" sz="1250" b="1" kern="0" spc="30" dirty="0">
                <a:solidFill>
                  <a:srgbClr val="FFFFFF"/>
                </a:solidFill>
              </a:rPr>
              <a:t> al 18 de Julio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8577072" y="713232"/>
            <a:ext cx="5212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3 / 4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201168" y="749808"/>
            <a:ext cx="2331720" cy="329184"/>
          </a:xfrm>
          <a:prstGeom prst="rect">
            <a:avLst/>
          </a:prstGeom>
          <a:solidFill>
            <a:srgbClr val="D1FAE5"/>
          </a:solidFill>
          <a:ln w="12700">
            <a:solidFill>
              <a:srgbClr val="D1FAE5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0" name="Shape 7"/>
          <p:cNvSpPr/>
          <p:nvPr/>
        </p:nvSpPr>
        <p:spPr>
          <a:xfrm>
            <a:off x="292608" y="822960"/>
            <a:ext cx="164592" cy="164592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Text 8"/>
          <p:cNvSpPr/>
          <p:nvPr/>
        </p:nvSpPr>
        <p:spPr>
          <a:xfrm>
            <a:off x="512064" y="749808"/>
            <a:ext cx="200253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950" b="1" dirty="0">
                <a:solidFill>
                  <a:srgbClr val="059669"/>
                </a:solidFill>
              </a:rPr>
              <a:t>EN AVANCE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201168" y="1115568"/>
            <a:ext cx="2331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800" i="1" dirty="0">
                <a:solidFill>
                  <a:srgbClr val="667085"/>
                </a:solidFill>
              </a:rPr>
              <a:t>Sub-</a:t>
            </a:r>
            <a:r>
              <a:rPr lang="en-US" sz="800" i="1" dirty="0" err="1">
                <a:solidFill>
                  <a:srgbClr val="667085"/>
                </a:solidFill>
              </a:rPr>
              <a:t>Gerente</a:t>
            </a:r>
            <a:r>
              <a:rPr lang="en-US" sz="800" i="1" dirty="0">
                <a:solidFill>
                  <a:srgbClr val="667085"/>
                </a:solidFill>
              </a:rPr>
              <a:t> </a:t>
            </a:r>
            <a:r>
              <a:rPr lang="en-US" sz="850" i="1" dirty="0">
                <a:solidFill>
                  <a:srgbClr val="667085"/>
                </a:solidFill>
              </a:rPr>
              <a:t>: Norma Levano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260371" y="2135808"/>
            <a:ext cx="23317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0" b="1" dirty="0">
                <a:solidFill>
                  <a:srgbClr val="059669"/>
                </a:solidFill>
              </a:rPr>
              <a:t>222%</a:t>
            </a:r>
            <a:endParaRPr lang="en-US" sz="7200" dirty="0"/>
          </a:p>
        </p:txBody>
      </p:sp>
      <p:sp>
        <p:nvSpPr>
          <p:cNvPr id="27" name="Shape 24"/>
          <p:cNvSpPr/>
          <p:nvPr/>
        </p:nvSpPr>
        <p:spPr>
          <a:xfrm>
            <a:off x="2651760" y="749808"/>
            <a:ext cx="18288" cy="4078224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2" name="Shape 69"/>
          <p:cNvSpPr/>
          <p:nvPr/>
        </p:nvSpPr>
        <p:spPr>
          <a:xfrm>
            <a:off x="0" y="4864608"/>
            <a:ext cx="9144000" cy="256032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3" name="Text 70"/>
          <p:cNvSpPr/>
          <p:nvPr/>
        </p:nvSpPr>
        <p:spPr>
          <a:xfrm>
            <a:off x="201168" y="4864608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667085"/>
                </a:solidFill>
              </a:rPr>
              <a:t>TU META ES NUESTRA META  ·  BBVA DIGITAL  |  PLD DIGITAL (PRESTAMOS)  |  Norma Levano  |  Cierre Julio 2026</a:t>
            </a:r>
            <a:endParaRPr lang="en-US" sz="750" dirty="0"/>
          </a:p>
        </p:txBody>
      </p:sp>
      <p:sp>
        <p:nvSpPr>
          <p:cNvPr id="75" name="Text 26">
            <a:extLst>
              <a:ext uri="{FF2B5EF4-FFF2-40B4-BE49-F238E27FC236}">
                <a16:creationId xmlns:a16="http://schemas.microsoft.com/office/drawing/2014/main" id="{F3EBCCF7-7214-2130-1FA9-E31457629BA3}"/>
              </a:ext>
            </a:extLst>
          </p:cNvPr>
          <p:cNvSpPr/>
          <p:nvPr/>
        </p:nvSpPr>
        <p:spPr>
          <a:xfrm>
            <a:off x="434906" y="2088745"/>
            <a:ext cx="139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META: 400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7" name="Text 26">
            <a:extLst>
              <a:ext uri="{FF2B5EF4-FFF2-40B4-BE49-F238E27FC236}">
                <a16:creationId xmlns:a16="http://schemas.microsoft.com/office/drawing/2014/main" id="{0737E61C-88FB-907B-E8F9-897CF8B11E72}"/>
              </a:ext>
            </a:extLst>
          </p:cNvPr>
          <p:cNvSpPr/>
          <p:nvPr/>
        </p:nvSpPr>
        <p:spPr>
          <a:xfrm>
            <a:off x="-44910" y="3227384"/>
            <a:ext cx="139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AVANCE: 610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9" name="Text 26">
            <a:extLst>
              <a:ext uri="{FF2B5EF4-FFF2-40B4-BE49-F238E27FC236}">
                <a16:creationId xmlns:a16="http://schemas.microsoft.com/office/drawing/2014/main" id="{BFD4EF03-1C60-CA28-7777-90A8034C19F4}"/>
              </a:ext>
            </a:extLst>
          </p:cNvPr>
          <p:cNvSpPr/>
          <p:nvPr/>
        </p:nvSpPr>
        <p:spPr>
          <a:xfrm>
            <a:off x="1153816" y="3223944"/>
            <a:ext cx="139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META AVANCE: 275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76" name="Imagen 75">
            <a:extLst>
              <a:ext uri="{FF2B5EF4-FFF2-40B4-BE49-F238E27FC236}">
                <a16:creationId xmlns:a16="http://schemas.microsoft.com/office/drawing/2014/main" id="{9C1213A0-702B-B32F-1472-0CDB816CE8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68391" y="1800375"/>
            <a:ext cx="6019577" cy="2191154"/>
          </a:xfrm>
          <a:prstGeom prst="rect">
            <a:avLst/>
          </a:prstGeom>
        </p:spPr>
      </p:pic>
      <p:pic>
        <p:nvPicPr>
          <p:cNvPr id="28" name="Picture 8">
            <a:extLst>
              <a:ext uri="{FF2B5EF4-FFF2-40B4-BE49-F238E27FC236}">
                <a16:creationId xmlns:a16="http://schemas.microsoft.com/office/drawing/2014/main" id="{986FBAAE-887A-E83F-7775-2CFA2935426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76170" y="-37330"/>
            <a:ext cx="1298448" cy="739132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" cy="658368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0" y="658368"/>
            <a:ext cx="9144000" cy="32004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01168" y="0"/>
            <a:ext cx="7498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50" b="1" kern="0" spc="30" dirty="0">
                <a:solidFill>
                  <a:srgbClr val="FFFFFF"/>
                </a:solidFill>
              </a:rPr>
              <a:t>TC RESPALDADA: </a:t>
            </a:r>
            <a:r>
              <a:rPr lang="en-US" sz="1250" b="1" kern="0" spc="30" dirty="0" err="1">
                <a:solidFill>
                  <a:srgbClr val="FFFFFF"/>
                </a:solidFill>
              </a:rPr>
              <a:t>Informacion</a:t>
            </a:r>
            <a:r>
              <a:rPr lang="en-US" sz="1250" b="1" kern="0" spc="30" dirty="0">
                <a:solidFill>
                  <a:srgbClr val="FFFFFF"/>
                </a:solidFill>
              </a:rPr>
              <a:t> al 18 de Julio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195301" y="1158468"/>
            <a:ext cx="2331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800" i="1" dirty="0">
                <a:solidFill>
                  <a:srgbClr val="667085"/>
                </a:solidFill>
              </a:rPr>
              <a:t>Sub-</a:t>
            </a:r>
            <a:r>
              <a:rPr lang="en-US" sz="800" i="1" dirty="0" err="1">
                <a:solidFill>
                  <a:srgbClr val="667085"/>
                </a:solidFill>
              </a:rPr>
              <a:t>Gerente</a:t>
            </a:r>
            <a:r>
              <a:rPr lang="en-US" sz="800" i="1" dirty="0">
                <a:solidFill>
                  <a:srgbClr val="667085"/>
                </a:solidFill>
              </a:rPr>
              <a:t> </a:t>
            </a:r>
            <a:r>
              <a:rPr lang="en-US" sz="850" i="1" dirty="0">
                <a:solidFill>
                  <a:srgbClr val="667085"/>
                </a:solidFill>
              </a:rPr>
              <a:t>: Norma Levano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195743" y="2020256"/>
            <a:ext cx="23317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0" b="1" dirty="0">
                <a:solidFill>
                  <a:srgbClr val="19A075"/>
                </a:solidFill>
              </a:rPr>
              <a:t>88.6%</a:t>
            </a:r>
            <a:endParaRPr lang="en-US" sz="7200" dirty="0">
              <a:solidFill>
                <a:srgbClr val="19A075"/>
              </a:solidFill>
            </a:endParaRPr>
          </a:p>
        </p:txBody>
      </p:sp>
      <p:sp>
        <p:nvSpPr>
          <p:cNvPr id="27" name="Shape 24"/>
          <p:cNvSpPr/>
          <p:nvPr/>
        </p:nvSpPr>
        <p:spPr>
          <a:xfrm>
            <a:off x="2651760" y="749808"/>
            <a:ext cx="18288" cy="4078224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4" name="Shape 31"/>
          <p:cNvSpPr/>
          <p:nvPr/>
        </p:nvSpPr>
        <p:spPr>
          <a:xfrm>
            <a:off x="2999232" y="4645152"/>
            <a:ext cx="5861304" cy="0"/>
          </a:xfrm>
          <a:prstGeom prst="line">
            <a:avLst/>
          </a:prstGeom>
          <a:noFill/>
          <a:ln w="6350">
            <a:solidFill>
              <a:srgbClr val="F3F4F6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2" name="Shape 69"/>
          <p:cNvSpPr/>
          <p:nvPr/>
        </p:nvSpPr>
        <p:spPr>
          <a:xfrm>
            <a:off x="0" y="4864608"/>
            <a:ext cx="9144000" cy="256032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3" name="Text 70"/>
          <p:cNvSpPr/>
          <p:nvPr/>
        </p:nvSpPr>
        <p:spPr>
          <a:xfrm>
            <a:off x="201168" y="4864608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667085"/>
                </a:solidFill>
              </a:rPr>
              <a:t>TU META ES NUESTRA META  ·  BBVA DIGITAL  |  TC RESPALDADA  |  Norma Levano  |  Cierre Julio 2026</a:t>
            </a:r>
            <a:endParaRPr lang="en-US" sz="750" dirty="0"/>
          </a:p>
        </p:txBody>
      </p:sp>
      <p:sp>
        <p:nvSpPr>
          <p:cNvPr id="75" name="Text 26">
            <a:extLst>
              <a:ext uri="{FF2B5EF4-FFF2-40B4-BE49-F238E27FC236}">
                <a16:creationId xmlns:a16="http://schemas.microsoft.com/office/drawing/2014/main" id="{6E3927B6-2417-2C78-5D87-B31C9ED86135}"/>
              </a:ext>
            </a:extLst>
          </p:cNvPr>
          <p:cNvSpPr/>
          <p:nvPr/>
        </p:nvSpPr>
        <p:spPr>
          <a:xfrm>
            <a:off x="408671" y="2034222"/>
            <a:ext cx="139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META: 650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7" name="Text 26">
            <a:extLst>
              <a:ext uri="{FF2B5EF4-FFF2-40B4-BE49-F238E27FC236}">
                <a16:creationId xmlns:a16="http://schemas.microsoft.com/office/drawing/2014/main" id="{CC5CD9B7-B5CD-51E4-B10B-5216F9AEA9F1}"/>
              </a:ext>
            </a:extLst>
          </p:cNvPr>
          <p:cNvSpPr/>
          <p:nvPr/>
        </p:nvSpPr>
        <p:spPr>
          <a:xfrm>
            <a:off x="-71145" y="3172861"/>
            <a:ext cx="139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AVANCE: 379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9" name="Text 26">
            <a:extLst>
              <a:ext uri="{FF2B5EF4-FFF2-40B4-BE49-F238E27FC236}">
                <a16:creationId xmlns:a16="http://schemas.microsoft.com/office/drawing/2014/main" id="{53C7C78C-13B4-3463-B3C3-3D0578367B1B}"/>
              </a:ext>
            </a:extLst>
          </p:cNvPr>
          <p:cNvSpPr/>
          <p:nvPr/>
        </p:nvSpPr>
        <p:spPr>
          <a:xfrm>
            <a:off x="1127581" y="3169421"/>
            <a:ext cx="139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META AVANCE: 428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29" name="Imagen 28">
            <a:extLst>
              <a:ext uri="{FF2B5EF4-FFF2-40B4-BE49-F238E27FC236}">
                <a16:creationId xmlns:a16="http://schemas.microsoft.com/office/drawing/2014/main" id="{9E59611B-4DBF-56EB-CA01-09719364A8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89104" y="1825824"/>
            <a:ext cx="6254896" cy="2073316"/>
          </a:xfrm>
          <a:prstGeom prst="rect">
            <a:avLst/>
          </a:prstGeom>
        </p:spPr>
      </p:pic>
      <p:sp>
        <p:nvSpPr>
          <p:cNvPr id="31" name="Shape 6">
            <a:extLst>
              <a:ext uri="{FF2B5EF4-FFF2-40B4-BE49-F238E27FC236}">
                <a16:creationId xmlns:a16="http://schemas.microsoft.com/office/drawing/2014/main" id="{51A25C9F-58FE-AA95-32C6-0839F97D73A4}"/>
              </a:ext>
            </a:extLst>
          </p:cNvPr>
          <p:cNvSpPr/>
          <p:nvPr/>
        </p:nvSpPr>
        <p:spPr>
          <a:xfrm>
            <a:off x="195301" y="777008"/>
            <a:ext cx="2331720" cy="329184"/>
          </a:xfrm>
          <a:prstGeom prst="rect">
            <a:avLst/>
          </a:prstGeom>
          <a:solidFill>
            <a:srgbClr val="D1FAE5"/>
          </a:solidFill>
          <a:ln w="12700">
            <a:solidFill>
              <a:srgbClr val="D1FAE5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3" name="Shape 7">
            <a:extLst>
              <a:ext uri="{FF2B5EF4-FFF2-40B4-BE49-F238E27FC236}">
                <a16:creationId xmlns:a16="http://schemas.microsoft.com/office/drawing/2014/main" id="{3D5D5F47-C893-B137-447B-D16F78E33F7B}"/>
              </a:ext>
            </a:extLst>
          </p:cNvPr>
          <p:cNvSpPr/>
          <p:nvPr/>
        </p:nvSpPr>
        <p:spPr>
          <a:xfrm>
            <a:off x="286741" y="850160"/>
            <a:ext cx="164592" cy="164592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6" name="Text 8">
            <a:extLst>
              <a:ext uri="{FF2B5EF4-FFF2-40B4-BE49-F238E27FC236}">
                <a16:creationId xmlns:a16="http://schemas.microsoft.com/office/drawing/2014/main" id="{D607C4E0-CFB8-3DB1-6E3A-D9661C2D97A8}"/>
              </a:ext>
            </a:extLst>
          </p:cNvPr>
          <p:cNvSpPr/>
          <p:nvPr/>
        </p:nvSpPr>
        <p:spPr>
          <a:xfrm>
            <a:off x="506197" y="777008"/>
            <a:ext cx="200253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950" b="1" dirty="0">
                <a:solidFill>
                  <a:srgbClr val="059669"/>
                </a:solidFill>
              </a:rPr>
              <a:t>EN AVANCE</a:t>
            </a:r>
            <a:endParaRPr lang="en-US" sz="950" dirty="0"/>
          </a:p>
        </p:txBody>
      </p:sp>
      <p:pic>
        <p:nvPicPr>
          <p:cNvPr id="10" name="Picture 8">
            <a:extLst>
              <a:ext uri="{FF2B5EF4-FFF2-40B4-BE49-F238E27FC236}">
                <a16:creationId xmlns:a16="http://schemas.microsoft.com/office/drawing/2014/main" id="{67708AED-FBF2-EF2D-185D-801DB0DE02E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76170" y="-37330"/>
            <a:ext cx="1298448" cy="739132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" cy="658368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0" y="658368"/>
            <a:ext cx="9144000" cy="32004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01168" y="0"/>
            <a:ext cx="7498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30" dirty="0">
                <a:solidFill>
                  <a:srgbClr val="FFFFFF"/>
                </a:solidFill>
              </a:rPr>
              <a:t>BBVA DIGITAL |  DIAGNOSTICO Y SEGUIMIENTO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77072" y="713232"/>
            <a:ext cx="521208" cy="228600"/>
          </a:xfrm>
          <a:prstGeom prst="rect">
            <a:avLst/>
          </a:prstGeom>
          <a:solidFill>
            <a:srgbClr val="0E3854"/>
          </a:solidFill>
          <a:ln w="12700">
            <a:solidFill>
              <a:srgbClr val="0E3854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ext 5"/>
          <p:cNvSpPr/>
          <p:nvPr/>
        </p:nvSpPr>
        <p:spPr>
          <a:xfrm>
            <a:off x="8577072" y="713232"/>
            <a:ext cx="5212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2 / 3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0" y="749808"/>
            <a:ext cx="4160520" cy="310896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0" name="Text 7"/>
          <p:cNvSpPr/>
          <p:nvPr/>
        </p:nvSpPr>
        <p:spPr>
          <a:xfrm>
            <a:off x="91440" y="749808"/>
            <a:ext cx="40690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kern="0" spc="30" dirty="0">
                <a:solidFill>
                  <a:srgbClr val="FFFFFF"/>
                </a:solidFill>
              </a:rPr>
              <a:t>SEGUIMIENTO PLAN SEMANA ANTERIOR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0" y="1097280"/>
            <a:ext cx="4160520" cy="1191768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2" name="Shape 9"/>
          <p:cNvSpPr/>
          <p:nvPr/>
        </p:nvSpPr>
        <p:spPr>
          <a:xfrm>
            <a:off x="0" y="1097280"/>
            <a:ext cx="50292" cy="1191768"/>
          </a:xfrm>
          <a:prstGeom prst="rect">
            <a:avLst/>
          </a:prstGeom>
          <a:solidFill>
            <a:srgbClr val="2B7A8C"/>
          </a:solidFill>
          <a:ln w="12700">
            <a:solidFill>
              <a:srgbClr val="2B7A8C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3" name="Text 10"/>
          <p:cNvSpPr/>
          <p:nvPr/>
        </p:nvSpPr>
        <p:spPr>
          <a:xfrm>
            <a:off x="128016" y="1152144"/>
            <a:ext cx="3959352" cy="6806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01828"/>
                </a:solidFill>
              </a:rPr>
              <a:t>Segmentacion y analisis de base de datos para focalizar esfuerzos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128016" y="1815023"/>
            <a:ext cx="39593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AFCB07"/>
                </a:solidFill>
              </a:rPr>
              <a:t>Ejecutado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0" y="2334768"/>
            <a:ext cx="4160520" cy="1191768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6" name="Shape 13"/>
          <p:cNvSpPr/>
          <p:nvPr/>
        </p:nvSpPr>
        <p:spPr>
          <a:xfrm>
            <a:off x="0" y="2334768"/>
            <a:ext cx="50292" cy="1191768"/>
          </a:xfrm>
          <a:prstGeom prst="rect">
            <a:avLst/>
          </a:prstGeom>
          <a:solidFill>
            <a:srgbClr val="2B7A8C"/>
          </a:solidFill>
          <a:ln w="12700">
            <a:solidFill>
              <a:srgbClr val="2B7A8C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7" name="Text 14"/>
          <p:cNvSpPr/>
          <p:nvPr/>
        </p:nvSpPr>
        <p:spPr>
          <a:xfrm>
            <a:off x="128016" y="2389632"/>
            <a:ext cx="3959352" cy="6806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01828"/>
                </a:solidFill>
              </a:rPr>
              <a:t>Entrenamiento continuo: script y manejo de objeciones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128016" y="3052511"/>
            <a:ext cx="39593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AFCB07"/>
                </a:solidFill>
              </a:rPr>
              <a:t>Ejecutado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0" y="3572256"/>
            <a:ext cx="4160520" cy="1191768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0" name="Shape 17"/>
          <p:cNvSpPr/>
          <p:nvPr/>
        </p:nvSpPr>
        <p:spPr>
          <a:xfrm>
            <a:off x="0" y="3572256"/>
            <a:ext cx="50292" cy="1191768"/>
          </a:xfrm>
          <a:prstGeom prst="rect">
            <a:avLst/>
          </a:prstGeom>
          <a:solidFill>
            <a:srgbClr val="2B7A8C"/>
          </a:solidFill>
          <a:ln w="12700">
            <a:solidFill>
              <a:srgbClr val="2B7A8C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1" name="Text 18"/>
          <p:cNvSpPr/>
          <p:nvPr/>
        </p:nvSpPr>
        <p:spPr>
          <a:xfrm>
            <a:off x="128016" y="3627120"/>
            <a:ext cx="3959352" cy="6806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01828"/>
                </a:solidFill>
              </a:rPr>
              <a:t>Fortalecimiento de convenios estrategicos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109728" y="4174236"/>
            <a:ext cx="39593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AFCB07"/>
                </a:solidFill>
              </a:rPr>
              <a:t>Ejecutado</a:t>
            </a:r>
            <a:endParaRPr lang="en-US" sz="900" dirty="0"/>
          </a:p>
        </p:txBody>
      </p:sp>
      <p:sp>
        <p:nvSpPr>
          <p:cNvPr id="23" name="Shape 20"/>
          <p:cNvSpPr/>
          <p:nvPr/>
        </p:nvSpPr>
        <p:spPr>
          <a:xfrm>
            <a:off x="4242816" y="749808"/>
            <a:ext cx="18288" cy="4059936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4" name="Shape 21"/>
          <p:cNvSpPr/>
          <p:nvPr/>
        </p:nvSpPr>
        <p:spPr>
          <a:xfrm>
            <a:off x="4343400" y="749808"/>
            <a:ext cx="4800600" cy="310896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5" name="Text 22"/>
          <p:cNvSpPr/>
          <p:nvPr/>
        </p:nvSpPr>
        <p:spPr>
          <a:xfrm>
            <a:off x="4434840" y="749808"/>
            <a:ext cx="4709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kern="0" spc="30" dirty="0">
                <a:solidFill>
                  <a:srgbClr val="FFFFFF"/>
                </a:solidFill>
              </a:rPr>
              <a:t>DIAGNOSTICO — CAUSAS RAIZ</a:t>
            </a:r>
            <a:endParaRPr lang="en-US" sz="800" dirty="0"/>
          </a:p>
        </p:txBody>
      </p:sp>
      <p:sp>
        <p:nvSpPr>
          <p:cNvPr id="26" name="Shape 23"/>
          <p:cNvSpPr/>
          <p:nvPr/>
        </p:nvSpPr>
        <p:spPr>
          <a:xfrm>
            <a:off x="4343400" y="1097280"/>
            <a:ext cx="4800600" cy="1792224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7" name="Shape 24"/>
          <p:cNvSpPr/>
          <p:nvPr/>
        </p:nvSpPr>
        <p:spPr>
          <a:xfrm>
            <a:off x="4343400" y="1097280"/>
            <a:ext cx="502920" cy="1792224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8" name="Text 25"/>
          <p:cNvSpPr/>
          <p:nvPr/>
        </p:nvSpPr>
        <p:spPr>
          <a:xfrm>
            <a:off x="4343400" y="1097280"/>
            <a:ext cx="502920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1</a:t>
            </a:r>
            <a:endParaRPr lang="en-US" sz="1800" dirty="0"/>
          </a:p>
        </p:txBody>
      </p:sp>
      <p:sp>
        <p:nvSpPr>
          <p:cNvPr id="29" name="Text 26"/>
          <p:cNvSpPr/>
          <p:nvPr/>
        </p:nvSpPr>
        <p:spPr>
          <a:xfrm>
            <a:off x="4937760" y="118872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45078"/>
                </a:solidFill>
              </a:rPr>
              <a:t>TC Hibrido al 76% — caida del CET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4937760" y="1444752"/>
            <a:ext cx="4114800" cy="77961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01828"/>
                </a:solidFill>
              </a:rPr>
              <a:t>CET cayo -5.7pp vs abril. Incremento cierre sin formaliz. equivalente. Cliente no concreta deposito.</a:t>
            </a:r>
            <a:endParaRPr lang="en-US" sz="900" dirty="0"/>
          </a:p>
        </p:txBody>
      </p:sp>
      <p:sp>
        <p:nvSpPr>
          <p:cNvPr id="31" name="Shape 28"/>
          <p:cNvSpPr/>
          <p:nvPr/>
        </p:nvSpPr>
        <p:spPr>
          <a:xfrm>
            <a:off x="4937760" y="2615184"/>
            <a:ext cx="1005840" cy="219456"/>
          </a:xfrm>
          <a:prstGeom prst="rect">
            <a:avLst/>
          </a:prstGeom>
          <a:solidFill>
            <a:srgbClr val="FBEDD0"/>
          </a:solidFill>
          <a:ln w="12700">
            <a:solidFill>
              <a:srgbClr val="FBEDD0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2" name="Text 29"/>
          <p:cNvSpPr/>
          <p:nvPr/>
        </p:nvSpPr>
        <p:spPr>
          <a:xfrm>
            <a:off x="4937760" y="2615184"/>
            <a:ext cx="1005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E0A024"/>
                </a:solidFill>
              </a:rPr>
              <a:t>Impacto Medio</a:t>
            </a:r>
            <a:endParaRPr lang="en-US" sz="850" dirty="0"/>
          </a:p>
        </p:txBody>
      </p:sp>
      <p:sp>
        <p:nvSpPr>
          <p:cNvPr id="33" name="Shape 30"/>
          <p:cNvSpPr/>
          <p:nvPr/>
        </p:nvSpPr>
        <p:spPr>
          <a:xfrm>
            <a:off x="4343400" y="2953512"/>
            <a:ext cx="4800600" cy="1792224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4" name="Shape 31"/>
          <p:cNvSpPr/>
          <p:nvPr/>
        </p:nvSpPr>
        <p:spPr>
          <a:xfrm>
            <a:off x="4343400" y="2953512"/>
            <a:ext cx="502920" cy="1792224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5" name="Text 32"/>
          <p:cNvSpPr/>
          <p:nvPr/>
        </p:nvSpPr>
        <p:spPr>
          <a:xfrm>
            <a:off x="4343400" y="2953512"/>
            <a:ext cx="502920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2</a:t>
            </a:r>
            <a:endParaRPr lang="en-US" sz="1800" dirty="0"/>
          </a:p>
        </p:txBody>
      </p:sp>
      <p:sp>
        <p:nvSpPr>
          <p:cNvPr id="36" name="Text 33"/>
          <p:cNvSpPr/>
          <p:nvPr/>
        </p:nvSpPr>
        <p:spPr>
          <a:xfrm>
            <a:off x="4937760" y="3044952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45078"/>
                </a:solidFill>
              </a:rPr>
              <a:t>TC Respaldada al 81% — 3 pendientes de formalizacion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4937760" y="3300984"/>
            <a:ext cx="4114800" cy="77961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01828"/>
                </a:solidFill>
              </a:rPr>
              <a:t>Falta de seguimiento &lt;24h. Desistimiento posterior a la aceptacion.</a:t>
            </a:r>
            <a:endParaRPr lang="en-US" sz="900" dirty="0"/>
          </a:p>
        </p:txBody>
      </p:sp>
      <p:sp>
        <p:nvSpPr>
          <p:cNvPr id="38" name="Shape 35"/>
          <p:cNvSpPr/>
          <p:nvPr/>
        </p:nvSpPr>
        <p:spPr>
          <a:xfrm>
            <a:off x="4937760" y="4471416"/>
            <a:ext cx="1005840" cy="219456"/>
          </a:xfrm>
          <a:prstGeom prst="rect">
            <a:avLst/>
          </a:prstGeom>
          <a:solidFill>
            <a:srgbClr val="FBEDD0"/>
          </a:solidFill>
          <a:ln w="12700">
            <a:solidFill>
              <a:srgbClr val="FBEDD0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9" name="Text 36"/>
          <p:cNvSpPr/>
          <p:nvPr/>
        </p:nvSpPr>
        <p:spPr>
          <a:xfrm>
            <a:off x="4937760" y="4471416"/>
            <a:ext cx="1005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E0A024"/>
                </a:solidFill>
              </a:rPr>
              <a:t>Impacto Medio</a:t>
            </a:r>
            <a:endParaRPr lang="en-US" sz="850" dirty="0"/>
          </a:p>
        </p:txBody>
      </p:sp>
      <p:sp>
        <p:nvSpPr>
          <p:cNvPr id="42" name="Shape 39"/>
          <p:cNvSpPr/>
          <p:nvPr/>
        </p:nvSpPr>
        <p:spPr>
          <a:xfrm>
            <a:off x="0" y="4864608"/>
            <a:ext cx="9144000" cy="256032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3" name="Text 40"/>
          <p:cNvSpPr/>
          <p:nvPr/>
        </p:nvSpPr>
        <p:spPr>
          <a:xfrm>
            <a:off x="201168" y="4864608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667085"/>
                </a:solidFill>
              </a:rPr>
              <a:t>TU META ES NUESTRA META  ·  BBVA DIGITAL  |  DIAGNOSTICO Y SEGUIMIENTO  |  Norma Levano  |  Cierre Julio 2026</a:t>
            </a:r>
            <a:endParaRPr lang="en-US" sz="750" dirty="0"/>
          </a:p>
        </p:txBody>
      </p:sp>
      <p:pic>
        <p:nvPicPr>
          <p:cNvPr id="45" name="Picture 8">
            <a:extLst>
              <a:ext uri="{FF2B5EF4-FFF2-40B4-BE49-F238E27FC236}">
                <a16:creationId xmlns:a16="http://schemas.microsoft.com/office/drawing/2014/main" id="{6AC55FDF-5738-EA47-B4F2-68596CE6A6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76170" y="-37330"/>
            <a:ext cx="1298448" cy="739132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4507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02920" cy="5143500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685800" y="2148840"/>
            <a:ext cx="8275320" cy="22860"/>
          </a:xfrm>
          <a:prstGeom prst="rect">
            <a:avLst/>
          </a:prstGeom>
          <a:solidFill>
            <a:srgbClr val="FFFFFF">
              <a:alpha val="40000"/>
            </a:srgbClr>
          </a:solidFill>
          <a:ln w="12700">
            <a:solidFill>
              <a:srgbClr val="FFFFFF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502920" y="1027938"/>
            <a:ext cx="87325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</a:rPr>
              <a:t>Sheyla: BBVA Convenios Lima - Call - Norte - Oriente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610743" y="2313432"/>
            <a:ext cx="8732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</a:rPr>
              <a:t>Sheyla  ·  Sub </a:t>
            </a:r>
            <a:r>
              <a:rPr lang="en-US" sz="1400" dirty="0" err="1">
                <a:solidFill>
                  <a:srgbClr val="FFFFFF"/>
                </a:solidFill>
              </a:rPr>
              <a:t>Gerenta</a:t>
            </a:r>
            <a:r>
              <a:rPr lang="en-US" sz="1400" dirty="0">
                <a:solidFill>
                  <a:srgbClr val="FFFFFF"/>
                </a:solidFill>
              </a:rPr>
              <a:t> de BBVA Convenios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610743" y="2844546"/>
            <a:ext cx="8732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 dirty="0">
                <a:solidFill>
                  <a:srgbClr val="FFFFFF"/>
                </a:solidFill>
              </a:rPr>
              <a:t>Julio 2026</a:t>
            </a:r>
            <a:endParaRPr lang="en-US" sz="1200" dirty="0"/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BF594D15-71DC-6787-371E-F6DCF0BA36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58376" y="3164586"/>
            <a:ext cx="3785624" cy="215494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" cy="658368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0" y="658368"/>
            <a:ext cx="9144000" cy="32004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01168" y="0"/>
            <a:ext cx="7498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50" b="1" kern="0" spc="30" dirty="0">
                <a:solidFill>
                  <a:srgbClr val="FFFFFF"/>
                </a:solidFill>
              </a:rPr>
              <a:t>RESUMEN GENERAL: BBVA CONVENIOS  |LIMA · TELECAMPO +PROV. · NORTE · SUR · ORIENTE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77072" y="713232"/>
            <a:ext cx="521208" cy="228600"/>
          </a:xfrm>
          <a:prstGeom prst="rect">
            <a:avLst/>
          </a:prstGeom>
          <a:solidFill>
            <a:srgbClr val="0E3854"/>
          </a:solidFill>
          <a:ln w="12700">
            <a:solidFill>
              <a:srgbClr val="0E3854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ext 5"/>
          <p:cNvSpPr/>
          <p:nvPr/>
        </p:nvSpPr>
        <p:spPr>
          <a:xfrm>
            <a:off x="8577072" y="713232"/>
            <a:ext cx="5212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1 / 3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201168" y="749808"/>
            <a:ext cx="2331720" cy="347472"/>
          </a:xfrm>
          <a:prstGeom prst="rect">
            <a:avLst/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0" name="Shape 7"/>
          <p:cNvSpPr/>
          <p:nvPr/>
        </p:nvSpPr>
        <p:spPr>
          <a:xfrm>
            <a:off x="292608" y="822960"/>
            <a:ext cx="182880" cy="182880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Text 8"/>
          <p:cNvSpPr/>
          <p:nvPr/>
        </p:nvSpPr>
        <p:spPr>
          <a:xfrm>
            <a:off x="530352" y="749808"/>
            <a:ext cx="19842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000" b="1" dirty="0">
                <a:solidFill>
                  <a:srgbClr val="D97706"/>
                </a:solidFill>
              </a:rPr>
              <a:t>EN SEGUIMIENTO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201168" y="1152144"/>
            <a:ext cx="2331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67085"/>
                </a:solidFill>
              </a:rPr>
              <a:t>Sub-Gerente: Sheyla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201168" y="1463040"/>
            <a:ext cx="2331720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0" b="1" dirty="0">
                <a:solidFill>
                  <a:srgbClr val="D97706"/>
                </a:solidFill>
              </a:rPr>
              <a:t>87%</a:t>
            </a:r>
            <a:endParaRPr lang="en-US" sz="8000" dirty="0"/>
          </a:p>
        </p:txBody>
      </p:sp>
      <p:sp>
        <p:nvSpPr>
          <p:cNvPr id="14" name="Text 11"/>
          <p:cNvSpPr/>
          <p:nvPr/>
        </p:nvSpPr>
        <p:spPr>
          <a:xfrm>
            <a:off x="201168" y="2907792"/>
            <a:ext cx="2331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67085"/>
                </a:solidFill>
              </a:rPr>
              <a:t>Avance promedio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2633472" y="749808"/>
            <a:ext cx="20117" cy="4069080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6" name="Shape 13"/>
          <p:cNvSpPr/>
          <p:nvPr/>
        </p:nvSpPr>
        <p:spPr>
          <a:xfrm>
            <a:off x="2743200" y="749808"/>
            <a:ext cx="3086100" cy="786384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7" name="Text 14"/>
          <p:cNvSpPr/>
          <p:nvPr/>
        </p:nvSpPr>
        <p:spPr>
          <a:xfrm>
            <a:off x="2880360" y="841248"/>
            <a:ext cx="29032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80" kern="0" spc="40" dirty="0">
                <a:solidFill>
                  <a:srgbClr val="667085"/>
                </a:solidFill>
              </a:rPr>
              <a:t>ACTIVOS TOTAL</a:t>
            </a:r>
            <a:endParaRPr lang="en-US" sz="780" dirty="0"/>
          </a:p>
        </p:txBody>
      </p:sp>
      <p:sp>
        <p:nvSpPr>
          <p:cNvPr id="18" name="Text 15"/>
          <p:cNvSpPr/>
          <p:nvPr/>
        </p:nvSpPr>
        <p:spPr>
          <a:xfrm>
            <a:off x="2880360" y="1024128"/>
            <a:ext cx="29032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45078"/>
                </a:solidFill>
              </a:rPr>
              <a:t>69</a:t>
            </a:r>
            <a:endParaRPr lang="en-US" sz="2200" dirty="0"/>
          </a:p>
        </p:txBody>
      </p:sp>
      <p:sp>
        <p:nvSpPr>
          <p:cNvPr id="19" name="Shape 16"/>
          <p:cNvSpPr/>
          <p:nvPr/>
        </p:nvSpPr>
        <p:spPr>
          <a:xfrm>
            <a:off x="5920740" y="749808"/>
            <a:ext cx="3086100" cy="786384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0" name="Text 17"/>
          <p:cNvSpPr/>
          <p:nvPr/>
        </p:nvSpPr>
        <p:spPr>
          <a:xfrm>
            <a:off x="6057900" y="841248"/>
            <a:ext cx="29032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80" kern="0" spc="40" dirty="0">
                <a:solidFill>
                  <a:srgbClr val="667085"/>
                </a:solidFill>
              </a:rPr>
              <a:t>DOTACION</a:t>
            </a:r>
            <a:endParaRPr lang="en-US" sz="780" dirty="0"/>
          </a:p>
        </p:txBody>
      </p:sp>
      <p:sp>
        <p:nvSpPr>
          <p:cNvPr id="21" name="Text 18"/>
          <p:cNvSpPr/>
          <p:nvPr/>
        </p:nvSpPr>
        <p:spPr>
          <a:xfrm>
            <a:off x="6057900" y="1024128"/>
            <a:ext cx="29032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45078"/>
                </a:solidFill>
              </a:rPr>
              <a:t>79</a:t>
            </a:r>
            <a:endParaRPr lang="en-US" sz="2200" dirty="0"/>
          </a:p>
        </p:txBody>
      </p:sp>
      <p:sp>
        <p:nvSpPr>
          <p:cNvPr id="22" name="Shape 19"/>
          <p:cNvSpPr/>
          <p:nvPr/>
        </p:nvSpPr>
        <p:spPr>
          <a:xfrm>
            <a:off x="2743200" y="1609344"/>
            <a:ext cx="3086100" cy="786384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3" name="Text 20"/>
          <p:cNvSpPr/>
          <p:nvPr/>
        </p:nvSpPr>
        <p:spPr>
          <a:xfrm>
            <a:off x="2880360" y="1700784"/>
            <a:ext cx="29032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80" kern="0" spc="40" dirty="0">
                <a:solidFill>
                  <a:srgbClr val="667085"/>
                </a:solidFill>
              </a:rPr>
              <a:t>PEND. SELECCION</a:t>
            </a:r>
            <a:endParaRPr lang="en-US" sz="780" dirty="0"/>
          </a:p>
        </p:txBody>
      </p:sp>
      <p:sp>
        <p:nvSpPr>
          <p:cNvPr id="24" name="Text 21"/>
          <p:cNvSpPr/>
          <p:nvPr/>
        </p:nvSpPr>
        <p:spPr>
          <a:xfrm>
            <a:off x="2880360" y="1883664"/>
            <a:ext cx="29032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45078"/>
                </a:solidFill>
              </a:rPr>
              <a:t>5</a:t>
            </a:r>
            <a:endParaRPr lang="en-US" sz="2200" dirty="0"/>
          </a:p>
        </p:txBody>
      </p:sp>
      <p:sp>
        <p:nvSpPr>
          <p:cNvPr id="25" name="Shape 22"/>
          <p:cNvSpPr/>
          <p:nvPr/>
        </p:nvSpPr>
        <p:spPr>
          <a:xfrm>
            <a:off x="5920740" y="1609344"/>
            <a:ext cx="3086100" cy="786384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6" name="Text 23"/>
          <p:cNvSpPr/>
          <p:nvPr/>
        </p:nvSpPr>
        <p:spPr>
          <a:xfrm>
            <a:off x="6057900" y="1700784"/>
            <a:ext cx="29032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80" kern="0" spc="40" dirty="0">
                <a:solidFill>
                  <a:srgbClr val="667085"/>
                </a:solidFill>
              </a:rPr>
              <a:t>PEND. INDUCCION</a:t>
            </a:r>
            <a:endParaRPr lang="en-US" sz="780" dirty="0"/>
          </a:p>
        </p:txBody>
      </p:sp>
      <p:sp>
        <p:nvSpPr>
          <p:cNvPr id="27" name="Text 24"/>
          <p:cNvSpPr/>
          <p:nvPr/>
        </p:nvSpPr>
        <p:spPr>
          <a:xfrm>
            <a:off x="6057900" y="1883664"/>
            <a:ext cx="29032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45078"/>
                </a:solidFill>
              </a:rPr>
              <a:t>10</a:t>
            </a:r>
            <a:endParaRPr lang="en-US" sz="2200" dirty="0"/>
          </a:p>
        </p:txBody>
      </p:sp>
      <p:sp>
        <p:nvSpPr>
          <p:cNvPr id="28" name="Shape 25"/>
          <p:cNvSpPr/>
          <p:nvPr/>
        </p:nvSpPr>
        <p:spPr>
          <a:xfrm>
            <a:off x="2743200" y="2468880"/>
            <a:ext cx="3086100" cy="786384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9" name="Text 26"/>
          <p:cNvSpPr/>
          <p:nvPr/>
        </p:nvSpPr>
        <p:spPr>
          <a:xfrm>
            <a:off x="2880360" y="2560320"/>
            <a:ext cx="29032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80" kern="0" spc="40" dirty="0">
                <a:solidFill>
                  <a:srgbClr val="667085"/>
                </a:solidFill>
              </a:rPr>
              <a:t>PRESUPUESTO</a:t>
            </a:r>
            <a:endParaRPr lang="en-US" sz="780" dirty="0"/>
          </a:p>
        </p:txBody>
      </p:sp>
      <p:sp>
        <p:nvSpPr>
          <p:cNvPr id="30" name="Text 27"/>
          <p:cNvSpPr/>
          <p:nvPr/>
        </p:nvSpPr>
        <p:spPr>
          <a:xfrm>
            <a:off x="2880360" y="2743200"/>
            <a:ext cx="29032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45078"/>
                </a:solidFill>
              </a:rPr>
              <a:t>79</a:t>
            </a:r>
            <a:endParaRPr lang="en-US" sz="2200" dirty="0"/>
          </a:p>
        </p:txBody>
      </p:sp>
      <p:sp>
        <p:nvSpPr>
          <p:cNvPr id="31" name="Shape 28"/>
          <p:cNvSpPr/>
          <p:nvPr/>
        </p:nvSpPr>
        <p:spPr>
          <a:xfrm>
            <a:off x="5920740" y="2468880"/>
            <a:ext cx="3086100" cy="786384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2" name="Text 29"/>
          <p:cNvSpPr/>
          <p:nvPr/>
        </p:nvSpPr>
        <p:spPr>
          <a:xfrm>
            <a:off x="6057900" y="2560320"/>
            <a:ext cx="29032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80" kern="0" spc="40" dirty="0">
                <a:solidFill>
                  <a:srgbClr val="667085"/>
                </a:solidFill>
              </a:rPr>
              <a:t>SEMANA</a:t>
            </a:r>
            <a:endParaRPr lang="en-US" sz="780" dirty="0"/>
          </a:p>
        </p:txBody>
      </p:sp>
      <p:sp>
        <p:nvSpPr>
          <p:cNvPr id="33" name="Text 30"/>
          <p:cNvSpPr/>
          <p:nvPr/>
        </p:nvSpPr>
        <p:spPr>
          <a:xfrm>
            <a:off x="6057900" y="2743200"/>
            <a:ext cx="29032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45078"/>
                </a:solidFill>
              </a:rPr>
              <a:t>05</a:t>
            </a:r>
            <a:endParaRPr lang="en-US" sz="2200" dirty="0"/>
          </a:p>
        </p:txBody>
      </p:sp>
      <p:sp>
        <p:nvSpPr>
          <p:cNvPr id="34" name="Shape 31"/>
          <p:cNvSpPr/>
          <p:nvPr/>
        </p:nvSpPr>
        <p:spPr>
          <a:xfrm>
            <a:off x="0" y="3273214"/>
            <a:ext cx="9144000" cy="281635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5" name="Text 32"/>
          <p:cNvSpPr/>
          <p:nvPr/>
        </p:nvSpPr>
        <p:spPr>
          <a:xfrm>
            <a:off x="182880" y="3273214"/>
            <a:ext cx="310896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</a:rPr>
              <a:t>Sub-campaña</a:t>
            </a:r>
            <a:endParaRPr lang="en-US" sz="850" dirty="0"/>
          </a:p>
        </p:txBody>
      </p:sp>
      <p:sp>
        <p:nvSpPr>
          <p:cNvPr id="36" name="Text 33"/>
          <p:cNvSpPr/>
          <p:nvPr/>
        </p:nvSpPr>
        <p:spPr>
          <a:xfrm>
            <a:off x="2257450" y="3262518"/>
            <a:ext cx="11887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</a:rPr>
              <a:t>Presupuesto</a:t>
            </a:r>
            <a:endParaRPr lang="en-US" sz="850" dirty="0"/>
          </a:p>
        </p:txBody>
      </p:sp>
      <p:sp>
        <p:nvSpPr>
          <p:cNvPr id="37" name="Text 34"/>
          <p:cNvSpPr/>
          <p:nvPr/>
        </p:nvSpPr>
        <p:spPr>
          <a:xfrm>
            <a:off x="4526280" y="3273214"/>
            <a:ext cx="21031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</a:rPr>
              <a:t>Avance</a:t>
            </a:r>
            <a:endParaRPr lang="en-US" sz="850" dirty="0"/>
          </a:p>
        </p:txBody>
      </p:sp>
      <p:sp>
        <p:nvSpPr>
          <p:cNvPr id="38" name="Text 35"/>
          <p:cNvSpPr/>
          <p:nvPr/>
        </p:nvSpPr>
        <p:spPr>
          <a:xfrm>
            <a:off x="6656832" y="3273214"/>
            <a:ext cx="86868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</a:rPr>
              <a:t>% Logro</a:t>
            </a:r>
            <a:endParaRPr lang="en-US" sz="850" dirty="0"/>
          </a:p>
        </p:txBody>
      </p:sp>
      <p:sp>
        <p:nvSpPr>
          <p:cNvPr id="39" name="Text 36"/>
          <p:cNvSpPr/>
          <p:nvPr/>
        </p:nvSpPr>
        <p:spPr>
          <a:xfrm>
            <a:off x="7543800" y="3273214"/>
            <a:ext cx="146304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</a:rPr>
              <a:t>Proyeccion</a:t>
            </a:r>
            <a:endParaRPr lang="en-US" sz="850" dirty="0"/>
          </a:p>
        </p:txBody>
      </p:sp>
      <p:sp>
        <p:nvSpPr>
          <p:cNvPr id="40" name="Shape 37"/>
          <p:cNvSpPr/>
          <p:nvPr/>
        </p:nvSpPr>
        <p:spPr>
          <a:xfrm>
            <a:off x="0" y="3606605"/>
            <a:ext cx="9144000" cy="281635"/>
          </a:xfrm>
          <a:prstGeom prst="rect">
            <a:avLst/>
          </a:prstGeom>
          <a:solidFill>
            <a:srgbClr val="FFFFFF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 sz="1400"/>
          </a:p>
        </p:txBody>
      </p:sp>
      <p:sp>
        <p:nvSpPr>
          <p:cNvPr id="41" name="Text 38"/>
          <p:cNvSpPr/>
          <p:nvPr/>
        </p:nvSpPr>
        <p:spPr>
          <a:xfrm>
            <a:off x="182880" y="3606605"/>
            <a:ext cx="292608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45078"/>
                </a:solidFill>
              </a:rPr>
              <a:t>BBVA Conv. Lima</a:t>
            </a:r>
            <a:endParaRPr lang="en-US" sz="800" dirty="0"/>
          </a:p>
        </p:txBody>
      </p:sp>
      <p:sp>
        <p:nvSpPr>
          <p:cNvPr id="42" name="Text 39"/>
          <p:cNvSpPr/>
          <p:nvPr/>
        </p:nvSpPr>
        <p:spPr>
          <a:xfrm>
            <a:off x="2455856" y="3604535"/>
            <a:ext cx="11887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01828"/>
                </a:solidFill>
              </a:rPr>
              <a:t>12</a:t>
            </a:r>
            <a:endParaRPr lang="en-US" sz="800" dirty="0"/>
          </a:p>
        </p:txBody>
      </p:sp>
      <p:sp>
        <p:nvSpPr>
          <p:cNvPr id="43" name="Shape 40"/>
          <p:cNvSpPr/>
          <p:nvPr/>
        </p:nvSpPr>
        <p:spPr>
          <a:xfrm>
            <a:off x="4526280" y="3685463"/>
            <a:ext cx="1920240" cy="118287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s-PE" sz="1400"/>
          </a:p>
        </p:txBody>
      </p:sp>
      <p:sp>
        <p:nvSpPr>
          <p:cNvPr id="44" name="Shape 41"/>
          <p:cNvSpPr/>
          <p:nvPr/>
        </p:nvSpPr>
        <p:spPr>
          <a:xfrm>
            <a:off x="4526280" y="3685463"/>
            <a:ext cx="1593799" cy="118287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s-PE" sz="1400"/>
          </a:p>
        </p:txBody>
      </p:sp>
      <p:sp>
        <p:nvSpPr>
          <p:cNvPr id="45" name="Text 42"/>
          <p:cNvSpPr/>
          <p:nvPr/>
        </p:nvSpPr>
        <p:spPr>
          <a:xfrm>
            <a:off x="6656832" y="3606605"/>
            <a:ext cx="86868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D97706"/>
                </a:solidFill>
              </a:rPr>
              <a:t>83%</a:t>
            </a:r>
            <a:endParaRPr lang="en-US" sz="800" dirty="0"/>
          </a:p>
        </p:txBody>
      </p:sp>
      <p:sp>
        <p:nvSpPr>
          <p:cNvPr id="46" name="Text 43"/>
          <p:cNvSpPr/>
          <p:nvPr/>
        </p:nvSpPr>
        <p:spPr>
          <a:xfrm>
            <a:off x="7543800" y="3606605"/>
            <a:ext cx="146304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i="1" dirty="0">
                <a:solidFill>
                  <a:srgbClr val="667085"/>
                </a:solidFill>
              </a:rPr>
              <a:t>700</a:t>
            </a:r>
            <a:endParaRPr lang="en-US" sz="700" dirty="0"/>
          </a:p>
        </p:txBody>
      </p:sp>
      <p:sp>
        <p:nvSpPr>
          <p:cNvPr id="47" name="Shape 44"/>
          <p:cNvSpPr/>
          <p:nvPr/>
        </p:nvSpPr>
        <p:spPr>
          <a:xfrm>
            <a:off x="0" y="3888240"/>
            <a:ext cx="9144000" cy="281635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 sz="1400"/>
          </a:p>
        </p:txBody>
      </p:sp>
      <p:sp>
        <p:nvSpPr>
          <p:cNvPr id="48" name="Text 45"/>
          <p:cNvSpPr/>
          <p:nvPr/>
        </p:nvSpPr>
        <p:spPr>
          <a:xfrm>
            <a:off x="182880" y="3888240"/>
            <a:ext cx="292608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45078"/>
                </a:solidFill>
              </a:rPr>
              <a:t>BBVA Conv. Telecampo</a:t>
            </a:r>
            <a:endParaRPr lang="en-US" sz="800" dirty="0"/>
          </a:p>
        </p:txBody>
      </p:sp>
      <p:sp>
        <p:nvSpPr>
          <p:cNvPr id="49" name="Text 46"/>
          <p:cNvSpPr/>
          <p:nvPr/>
        </p:nvSpPr>
        <p:spPr>
          <a:xfrm>
            <a:off x="2455856" y="3886170"/>
            <a:ext cx="11887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01828"/>
                </a:solidFill>
              </a:rPr>
              <a:t>20</a:t>
            </a:r>
            <a:endParaRPr lang="en-US" sz="800" dirty="0"/>
          </a:p>
        </p:txBody>
      </p:sp>
      <p:sp>
        <p:nvSpPr>
          <p:cNvPr id="50" name="Shape 47"/>
          <p:cNvSpPr/>
          <p:nvPr/>
        </p:nvSpPr>
        <p:spPr>
          <a:xfrm>
            <a:off x="4526280" y="3967098"/>
            <a:ext cx="1920240" cy="118287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s-PE" sz="1400"/>
          </a:p>
        </p:txBody>
      </p:sp>
      <p:sp>
        <p:nvSpPr>
          <p:cNvPr id="51" name="Shape 48"/>
          <p:cNvSpPr/>
          <p:nvPr/>
        </p:nvSpPr>
        <p:spPr>
          <a:xfrm>
            <a:off x="4526280" y="3967098"/>
            <a:ext cx="1728216" cy="118287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s-PE" sz="1400"/>
          </a:p>
        </p:txBody>
      </p:sp>
      <p:sp>
        <p:nvSpPr>
          <p:cNvPr id="52" name="Text 49"/>
          <p:cNvSpPr/>
          <p:nvPr/>
        </p:nvSpPr>
        <p:spPr>
          <a:xfrm>
            <a:off x="6656832" y="3888240"/>
            <a:ext cx="86868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059669"/>
                </a:solidFill>
              </a:rPr>
              <a:t>90%</a:t>
            </a:r>
            <a:endParaRPr lang="en-US" sz="800" dirty="0"/>
          </a:p>
        </p:txBody>
      </p:sp>
      <p:sp>
        <p:nvSpPr>
          <p:cNvPr id="53" name="Text 50"/>
          <p:cNvSpPr/>
          <p:nvPr/>
        </p:nvSpPr>
        <p:spPr>
          <a:xfrm>
            <a:off x="7543800" y="3888240"/>
            <a:ext cx="146304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i="1" dirty="0">
                <a:solidFill>
                  <a:srgbClr val="667085"/>
                </a:solidFill>
              </a:rPr>
              <a:t>700</a:t>
            </a:r>
            <a:endParaRPr lang="en-US" sz="700" dirty="0"/>
          </a:p>
        </p:txBody>
      </p:sp>
      <p:sp>
        <p:nvSpPr>
          <p:cNvPr id="54" name="Shape 51"/>
          <p:cNvSpPr/>
          <p:nvPr/>
        </p:nvSpPr>
        <p:spPr>
          <a:xfrm>
            <a:off x="0" y="4169876"/>
            <a:ext cx="9144000" cy="281635"/>
          </a:xfrm>
          <a:prstGeom prst="rect">
            <a:avLst/>
          </a:prstGeom>
          <a:solidFill>
            <a:srgbClr val="FFFFFF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 sz="1400" dirty="0"/>
          </a:p>
        </p:txBody>
      </p:sp>
      <p:sp>
        <p:nvSpPr>
          <p:cNvPr id="55" name="Text 52"/>
          <p:cNvSpPr/>
          <p:nvPr/>
        </p:nvSpPr>
        <p:spPr>
          <a:xfrm>
            <a:off x="182880" y="4169876"/>
            <a:ext cx="292608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45078"/>
                </a:solidFill>
              </a:rPr>
              <a:t>BBVA Conv. Norte</a:t>
            </a:r>
            <a:endParaRPr lang="en-US" sz="800" dirty="0"/>
          </a:p>
        </p:txBody>
      </p:sp>
      <p:sp>
        <p:nvSpPr>
          <p:cNvPr id="56" name="Text 53"/>
          <p:cNvSpPr/>
          <p:nvPr/>
        </p:nvSpPr>
        <p:spPr>
          <a:xfrm>
            <a:off x="2455856" y="4167806"/>
            <a:ext cx="11887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01828"/>
                </a:solidFill>
              </a:rPr>
              <a:t>25</a:t>
            </a:r>
            <a:endParaRPr lang="en-US" sz="800" dirty="0"/>
          </a:p>
        </p:txBody>
      </p:sp>
      <p:sp>
        <p:nvSpPr>
          <p:cNvPr id="57" name="Shape 54"/>
          <p:cNvSpPr/>
          <p:nvPr/>
        </p:nvSpPr>
        <p:spPr>
          <a:xfrm>
            <a:off x="4526280" y="4248733"/>
            <a:ext cx="1920240" cy="118287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s-PE" sz="1400"/>
          </a:p>
        </p:txBody>
      </p:sp>
      <p:sp>
        <p:nvSpPr>
          <p:cNvPr id="58" name="Shape 55"/>
          <p:cNvSpPr/>
          <p:nvPr/>
        </p:nvSpPr>
        <p:spPr>
          <a:xfrm>
            <a:off x="4526280" y="4248733"/>
            <a:ext cx="1689811" cy="118287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s-PE" sz="1400"/>
          </a:p>
        </p:txBody>
      </p:sp>
      <p:sp>
        <p:nvSpPr>
          <p:cNvPr id="59" name="Text 56"/>
          <p:cNvSpPr/>
          <p:nvPr/>
        </p:nvSpPr>
        <p:spPr>
          <a:xfrm>
            <a:off x="6656832" y="4169876"/>
            <a:ext cx="86868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D97706"/>
                </a:solidFill>
              </a:rPr>
              <a:t>88%</a:t>
            </a:r>
            <a:endParaRPr lang="en-US" sz="800" dirty="0"/>
          </a:p>
        </p:txBody>
      </p:sp>
      <p:sp>
        <p:nvSpPr>
          <p:cNvPr id="60" name="Text 57"/>
          <p:cNvSpPr/>
          <p:nvPr/>
        </p:nvSpPr>
        <p:spPr>
          <a:xfrm>
            <a:off x="7543800" y="4169876"/>
            <a:ext cx="146304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i="1" dirty="0">
                <a:solidFill>
                  <a:srgbClr val="667085"/>
                </a:solidFill>
              </a:rPr>
              <a:t>700</a:t>
            </a:r>
            <a:endParaRPr lang="en-US" sz="700" dirty="0"/>
          </a:p>
        </p:txBody>
      </p:sp>
      <p:sp>
        <p:nvSpPr>
          <p:cNvPr id="62" name="Text 59"/>
          <p:cNvSpPr/>
          <p:nvPr/>
        </p:nvSpPr>
        <p:spPr>
          <a:xfrm>
            <a:off x="190025" y="4657046"/>
            <a:ext cx="292608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45078"/>
                </a:solidFill>
              </a:rPr>
              <a:t>BBVA Conv. Oriente</a:t>
            </a:r>
            <a:endParaRPr lang="en-US" sz="800" dirty="0"/>
          </a:p>
        </p:txBody>
      </p:sp>
      <p:sp>
        <p:nvSpPr>
          <p:cNvPr id="63" name="Text 60"/>
          <p:cNvSpPr/>
          <p:nvPr/>
        </p:nvSpPr>
        <p:spPr>
          <a:xfrm>
            <a:off x="2455856" y="4449441"/>
            <a:ext cx="11887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01828"/>
                </a:solidFill>
              </a:rPr>
              <a:t>22</a:t>
            </a:r>
            <a:endParaRPr lang="en-US" sz="800" dirty="0"/>
          </a:p>
        </p:txBody>
      </p:sp>
      <p:sp>
        <p:nvSpPr>
          <p:cNvPr id="64" name="Shape 61"/>
          <p:cNvSpPr/>
          <p:nvPr/>
        </p:nvSpPr>
        <p:spPr>
          <a:xfrm>
            <a:off x="4526280" y="4530369"/>
            <a:ext cx="1920240" cy="118287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s-PE" sz="1400"/>
          </a:p>
        </p:txBody>
      </p:sp>
      <p:sp>
        <p:nvSpPr>
          <p:cNvPr id="65" name="Shape 62"/>
          <p:cNvSpPr/>
          <p:nvPr/>
        </p:nvSpPr>
        <p:spPr>
          <a:xfrm>
            <a:off x="4526280" y="4530369"/>
            <a:ext cx="1651406" cy="118287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s-PE" sz="1400"/>
          </a:p>
        </p:txBody>
      </p:sp>
      <p:sp>
        <p:nvSpPr>
          <p:cNvPr id="66" name="Text 63"/>
          <p:cNvSpPr/>
          <p:nvPr/>
        </p:nvSpPr>
        <p:spPr>
          <a:xfrm>
            <a:off x="6656832" y="4451511"/>
            <a:ext cx="86868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D97706"/>
                </a:solidFill>
              </a:rPr>
              <a:t>86%</a:t>
            </a:r>
            <a:endParaRPr lang="en-US" sz="800" dirty="0"/>
          </a:p>
        </p:txBody>
      </p:sp>
      <p:sp>
        <p:nvSpPr>
          <p:cNvPr id="67" name="Text 64"/>
          <p:cNvSpPr/>
          <p:nvPr/>
        </p:nvSpPr>
        <p:spPr>
          <a:xfrm>
            <a:off x="7543800" y="4451511"/>
            <a:ext cx="146304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i="1" dirty="0">
                <a:solidFill>
                  <a:srgbClr val="667085"/>
                </a:solidFill>
              </a:rPr>
              <a:t>700</a:t>
            </a:r>
            <a:endParaRPr lang="en-US" sz="700" dirty="0"/>
          </a:p>
        </p:txBody>
      </p:sp>
      <p:sp>
        <p:nvSpPr>
          <p:cNvPr id="69" name="Text 66"/>
          <p:cNvSpPr/>
          <p:nvPr/>
        </p:nvSpPr>
        <p:spPr>
          <a:xfrm>
            <a:off x="-11430" y="4950611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00" i="1" dirty="0">
                <a:solidFill>
                  <a:srgbClr val="667085"/>
                </a:solidFill>
              </a:rPr>
              <a:t>TU META ES NUESTRA META  ·  BBVA CONVENIOS  |  SHEYLA  |  Sheyla  |  Cierre Julio 2026</a:t>
            </a:r>
            <a:endParaRPr lang="en-US" sz="600" dirty="0"/>
          </a:p>
        </p:txBody>
      </p:sp>
      <p:sp>
        <p:nvSpPr>
          <p:cNvPr id="71" name="Text 39">
            <a:extLst>
              <a:ext uri="{FF2B5EF4-FFF2-40B4-BE49-F238E27FC236}">
                <a16:creationId xmlns:a16="http://schemas.microsoft.com/office/drawing/2014/main" id="{BBE9F211-45A5-BA17-A407-5C3D2D5E01C0}"/>
              </a:ext>
            </a:extLst>
          </p:cNvPr>
          <p:cNvSpPr/>
          <p:nvPr/>
        </p:nvSpPr>
        <p:spPr>
          <a:xfrm>
            <a:off x="5090775" y="3608382"/>
            <a:ext cx="1260698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11010"/>
                </a:solidFill>
              </a:rPr>
              <a:t>900</a:t>
            </a:r>
            <a:endParaRPr lang="en-US" sz="800" dirty="0"/>
          </a:p>
        </p:txBody>
      </p:sp>
      <p:sp>
        <p:nvSpPr>
          <p:cNvPr id="73" name="Text 39">
            <a:extLst>
              <a:ext uri="{FF2B5EF4-FFF2-40B4-BE49-F238E27FC236}">
                <a16:creationId xmlns:a16="http://schemas.microsoft.com/office/drawing/2014/main" id="{9739C4FB-C6F0-5718-92AC-168903A98407}"/>
              </a:ext>
            </a:extLst>
          </p:cNvPr>
          <p:cNvSpPr/>
          <p:nvPr/>
        </p:nvSpPr>
        <p:spPr>
          <a:xfrm>
            <a:off x="5134288" y="3893887"/>
            <a:ext cx="1260698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11010"/>
                </a:solidFill>
              </a:rPr>
              <a:t>900</a:t>
            </a:r>
            <a:endParaRPr lang="en-US" sz="800" dirty="0"/>
          </a:p>
        </p:txBody>
      </p:sp>
      <p:sp>
        <p:nvSpPr>
          <p:cNvPr id="75" name="Text 39">
            <a:extLst>
              <a:ext uri="{FF2B5EF4-FFF2-40B4-BE49-F238E27FC236}">
                <a16:creationId xmlns:a16="http://schemas.microsoft.com/office/drawing/2014/main" id="{DA8907C7-B650-7E80-A036-E2338D79CEBF}"/>
              </a:ext>
            </a:extLst>
          </p:cNvPr>
          <p:cNvSpPr/>
          <p:nvPr/>
        </p:nvSpPr>
        <p:spPr>
          <a:xfrm>
            <a:off x="5116000" y="4167058"/>
            <a:ext cx="1260698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11010"/>
                </a:solidFill>
              </a:rPr>
              <a:t>900</a:t>
            </a:r>
            <a:endParaRPr lang="en-US" sz="800" dirty="0"/>
          </a:p>
        </p:txBody>
      </p:sp>
      <p:sp>
        <p:nvSpPr>
          <p:cNvPr id="77" name="Text 39">
            <a:extLst>
              <a:ext uri="{FF2B5EF4-FFF2-40B4-BE49-F238E27FC236}">
                <a16:creationId xmlns:a16="http://schemas.microsoft.com/office/drawing/2014/main" id="{893EA4AE-ED9B-6CA2-CFEC-AF368EFA86EE}"/>
              </a:ext>
            </a:extLst>
          </p:cNvPr>
          <p:cNvSpPr/>
          <p:nvPr/>
        </p:nvSpPr>
        <p:spPr>
          <a:xfrm>
            <a:off x="5116000" y="4442367"/>
            <a:ext cx="1260698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11010"/>
                </a:solidFill>
              </a:rPr>
              <a:t>900</a:t>
            </a:r>
            <a:endParaRPr lang="en-US" sz="800" dirty="0"/>
          </a:p>
        </p:txBody>
      </p:sp>
      <p:sp>
        <p:nvSpPr>
          <p:cNvPr id="79" name="Text 33">
            <a:extLst>
              <a:ext uri="{FF2B5EF4-FFF2-40B4-BE49-F238E27FC236}">
                <a16:creationId xmlns:a16="http://schemas.microsoft.com/office/drawing/2014/main" id="{0CACAE7C-1921-24FD-B255-786D9F421FB3}"/>
              </a:ext>
            </a:extLst>
          </p:cNvPr>
          <p:cNvSpPr/>
          <p:nvPr/>
        </p:nvSpPr>
        <p:spPr>
          <a:xfrm>
            <a:off x="3103612" y="3275124"/>
            <a:ext cx="11887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 err="1">
                <a:solidFill>
                  <a:srgbClr val="FFFFFF"/>
                </a:solidFill>
              </a:rPr>
              <a:t>Conectados</a:t>
            </a:r>
            <a:endParaRPr lang="en-US" sz="850" dirty="0"/>
          </a:p>
        </p:txBody>
      </p:sp>
      <p:sp>
        <p:nvSpPr>
          <p:cNvPr id="81" name="Text 39">
            <a:extLst>
              <a:ext uri="{FF2B5EF4-FFF2-40B4-BE49-F238E27FC236}">
                <a16:creationId xmlns:a16="http://schemas.microsoft.com/office/drawing/2014/main" id="{6BF71203-C7EC-7F9E-8B17-7BB746571FE6}"/>
              </a:ext>
            </a:extLst>
          </p:cNvPr>
          <p:cNvSpPr/>
          <p:nvPr/>
        </p:nvSpPr>
        <p:spPr>
          <a:xfrm>
            <a:off x="3306088" y="3676043"/>
            <a:ext cx="11887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11010"/>
                </a:solidFill>
              </a:rPr>
              <a:t>40</a:t>
            </a:r>
            <a:endParaRPr lang="en-US" sz="950" dirty="0"/>
          </a:p>
        </p:txBody>
      </p:sp>
      <p:sp>
        <p:nvSpPr>
          <p:cNvPr id="83" name="Text 39">
            <a:extLst>
              <a:ext uri="{FF2B5EF4-FFF2-40B4-BE49-F238E27FC236}">
                <a16:creationId xmlns:a16="http://schemas.microsoft.com/office/drawing/2014/main" id="{0041979E-326E-63A7-480C-145660A93053}"/>
              </a:ext>
            </a:extLst>
          </p:cNvPr>
          <p:cNvSpPr/>
          <p:nvPr/>
        </p:nvSpPr>
        <p:spPr>
          <a:xfrm>
            <a:off x="3319787" y="3910137"/>
            <a:ext cx="11887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11010"/>
                </a:solidFill>
              </a:rPr>
              <a:t>20</a:t>
            </a:r>
            <a:endParaRPr lang="en-US" sz="800" dirty="0"/>
          </a:p>
        </p:txBody>
      </p:sp>
      <p:sp>
        <p:nvSpPr>
          <p:cNvPr id="85" name="Text 39">
            <a:extLst>
              <a:ext uri="{FF2B5EF4-FFF2-40B4-BE49-F238E27FC236}">
                <a16:creationId xmlns:a16="http://schemas.microsoft.com/office/drawing/2014/main" id="{6CA350C2-4943-0699-47E4-98BF833841D6}"/>
              </a:ext>
            </a:extLst>
          </p:cNvPr>
          <p:cNvSpPr/>
          <p:nvPr/>
        </p:nvSpPr>
        <p:spPr>
          <a:xfrm>
            <a:off x="3336662" y="4190735"/>
            <a:ext cx="11887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11010"/>
                </a:solidFill>
              </a:rPr>
              <a:t>28</a:t>
            </a:r>
            <a:endParaRPr lang="en-US" sz="800" dirty="0"/>
          </a:p>
        </p:txBody>
      </p:sp>
      <p:sp>
        <p:nvSpPr>
          <p:cNvPr id="87" name="Text 39">
            <a:extLst>
              <a:ext uri="{FF2B5EF4-FFF2-40B4-BE49-F238E27FC236}">
                <a16:creationId xmlns:a16="http://schemas.microsoft.com/office/drawing/2014/main" id="{44DFD12E-CDA2-118E-71A3-9CA5686F69E4}"/>
              </a:ext>
            </a:extLst>
          </p:cNvPr>
          <p:cNvSpPr/>
          <p:nvPr/>
        </p:nvSpPr>
        <p:spPr>
          <a:xfrm>
            <a:off x="3360919" y="4446492"/>
            <a:ext cx="11887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11010"/>
                </a:solidFill>
              </a:rPr>
              <a:t>4</a:t>
            </a:r>
            <a:endParaRPr lang="en-US" sz="800" dirty="0"/>
          </a:p>
        </p:txBody>
      </p:sp>
      <p:sp>
        <p:nvSpPr>
          <p:cNvPr id="91" name="Text 59">
            <a:extLst>
              <a:ext uri="{FF2B5EF4-FFF2-40B4-BE49-F238E27FC236}">
                <a16:creationId xmlns:a16="http://schemas.microsoft.com/office/drawing/2014/main" id="{DFC632F1-521C-5FA9-948D-98F5C8218648}"/>
              </a:ext>
            </a:extLst>
          </p:cNvPr>
          <p:cNvSpPr/>
          <p:nvPr/>
        </p:nvSpPr>
        <p:spPr>
          <a:xfrm>
            <a:off x="185537" y="4420771"/>
            <a:ext cx="292608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45078"/>
                </a:solidFill>
              </a:rPr>
              <a:t>BBVA Conv. Sur</a:t>
            </a:r>
            <a:endParaRPr lang="en-US" sz="800" dirty="0"/>
          </a:p>
        </p:txBody>
      </p:sp>
      <p:sp>
        <p:nvSpPr>
          <p:cNvPr id="93" name="Text 60">
            <a:extLst>
              <a:ext uri="{FF2B5EF4-FFF2-40B4-BE49-F238E27FC236}">
                <a16:creationId xmlns:a16="http://schemas.microsoft.com/office/drawing/2014/main" id="{57F6436D-E93C-A866-2C0A-72558B67DCBE}"/>
              </a:ext>
            </a:extLst>
          </p:cNvPr>
          <p:cNvSpPr/>
          <p:nvPr/>
        </p:nvSpPr>
        <p:spPr>
          <a:xfrm>
            <a:off x="2462624" y="4662343"/>
            <a:ext cx="11887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01828"/>
                </a:solidFill>
              </a:rPr>
              <a:t>22</a:t>
            </a:r>
            <a:endParaRPr lang="en-US" sz="800" dirty="0"/>
          </a:p>
        </p:txBody>
      </p:sp>
      <p:sp>
        <p:nvSpPr>
          <p:cNvPr id="95" name="Text 39">
            <a:extLst>
              <a:ext uri="{FF2B5EF4-FFF2-40B4-BE49-F238E27FC236}">
                <a16:creationId xmlns:a16="http://schemas.microsoft.com/office/drawing/2014/main" id="{0717CE86-AB76-1918-6623-C813E72FFD7D}"/>
              </a:ext>
            </a:extLst>
          </p:cNvPr>
          <p:cNvSpPr/>
          <p:nvPr/>
        </p:nvSpPr>
        <p:spPr>
          <a:xfrm>
            <a:off x="3366672" y="4685152"/>
            <a:ext cx="118872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11010"/>
                </a:solidFill>
              </a:rPr>
              <a:t>4</a:t>
            </a:r>
            <a:endParaRPr lang="en-US" sz="800" dirty="0"/>
          </a:p>
        </p:txBody>
      </p:sp>
      <p:sp>
        <p:nvSpPr>
          <p:cNvPr id="101" name="Shape 61">
            <a:extLst>
              <a:ext uri="{FF2B5EF4-FFF2-40B4-BE49-F238E27FC236}">
                <a16:creationId xmlns:a16="http://schemas.microsoft.com/office/drawing/2014/main" id="{AA0CA985-77A4-1BD8-33D2-D5D819E47FA4}"/>
              </a:ext>
            </a:extLst>
          </p:cNvPr>
          <p:cNvSpPr/>
          <p:nvPr/>
        </p:nvSpPr>
        <p:spPr>
          <a:xfrm>
            <a:off x="4566542" y="4760403"/>
            <a:ext cx="1920240" cy="118287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s-PE" sz="1400"/>
          </a:p>
        </p:txBody>
      </p:sp>
      <p:sp>
        <p:nvSpPr>
          <p:cNvPr id="97" name="Shape 62">
            <a:extLst>
              <a:ext uri="{FF2B5EF4-FFF2-40B4-BE49-F238E27FC236}">
                <a16:creationId xmlns:a16="http://schemas.microsoft.com/office/drawing/2014/main" id="{D5E6F4F4-4BB3-96CB-AF80-07B00F5CC9E2}"/>
              </a:ext>
            </a:extLst>
          </p:cNvPr>
          <p:cNvSpPr/>
          <p:nvPr/>
        </p:nvSpPr>
        <p:spPr>
          <a:xfrm>
            <a:off x="4552434" y="4761089"/>
            <a:ext cx="1651406" cy="118287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s-PE" sz="1400"/>
          </a:p>
        </p:txBody>
      </p:sp>
      <p:sp>
        <p:nvSpPr>
          <p:cNvPr id="99" name="Text 39">
            <a:extLst>
              <a:ext uri="{FF2B5EF4-FFF2-40B4-BE49-F238E27FC236}">
                <a16:creationId xmlns:a16="http://schemas.microsoft.com/office/drawing/2014/main" id="{52D1BBE0-41F8-3157-1A79-F802C038E87A}"/>
              </a:ext>
            </a:extLst>
          </p:cNvPr>
          <p:cNvSpPr/>
          <p:nvPr/>
        </p:nvSpPr>
        <p:spPr>
          <a:xfrm>
            <a:off x="5142154" y="4673087"/>
            <a:ext cx="1260698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11010"/>
                </a:solidFill>
              </a:rPr>
              <a:t>900</a:t>
            </a:r>
            <a:endParaRPr lang="en-US" sz="800" dirty="0"/>
          </a:p>
        </p:txBody>
      </p:sp>
      <p:sp>
        <p:nvSpPr>
          <p:cNvPr id="103" name="Text 63">
            <a:extLst>
              <a:ext uri="{FF2B5EF4-FFF2-40B4-BE49-F238E27FC236}">
                <a16:creationId xmlns:a16="http://schemas.microsoft.com/office/drawing/2014/main" id="{D73B47FE-74EB-55D4-B959-CFC3A28C71A1}"/>
              </a:ext>
            </a:extLst>
          </p:cNvPr>
          <p:cNvSpPr/>
          <p:nvPr/>
        </p:nvSpPr>
        <p:spPr>
          <a:xfrm>
            <a:off x="6671213" y="4672921"/>
            <a:ext cx="86868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D97706"/>
                </a:solidFill>
              </a:rPr>
              <a:t>86%</a:t>
            </a:r>
            <a:endParaRPr lang="en-US" sz="800" dirty="0"/>
          </a:p>
        </p:txBody>
      </p:sp>
      <p:sp>
        <p:nvSpPr>
          <p:cNvPr id="105" name="Text 64">
            <a:extLst>
              <a:ext uri="{FF2B5EF4-FFF2-40B4-BE49-F238E27FC236}">
                <a16:creationId xmlns:a16="http://schemas.microsoft.com/office/drawing/2014/main" id="{916BD683-1652-98CD-4EF9-2457640F25DD}"/>
              </a:ext>
            </a:extLst>
          </p:cNvPr>
          <p:cNvSpPr/>
          <p:nvPr/>
        </p:nvSpPr>
        <p:spPr>
          <a:xfrm>
            <a:off x="7558181" y="4672921"/>
            <a:ext cx="1463040" cy="281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i="1" dirty="0">
                <a:solidFill>
                  <a:srgbClr val="667085"/>
                </a:solidFill>
              </a:rPr>
              <a:t>700</a:t>
            </a:r>
            <a:endParaRPr lang="en-US" sz="700" dirty="0"/>
          </a:p>
        </p:txBody>
      </p:sp>
      <p:pic>
        <p:nvPicPr>
          <p:cNvPr id="107" name="Picture 8">
            <a:extLst>
              <a:ext uri="{FF2B5EF4-FFF2-40B4-BE49-F238E27FC236}">
                <a16:creationId xmlns:a16="http://schemas.microsoft.com/office/drawing/2014/main" id="{0AFA0D32-5A0E-A7FC-9D89-11C05C1E78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76170" y="-37330"/>
            <a:ext cx="1298448" cy="739132"/>
          </a:xfrm>
          <a:prstGeom prst="rect">
            <a:avLst/>
          </a:prstGeom>
        </p:spPr>
      </p:pic>
      <p:pic>
        <p:nvPicPr>
          <p:cNvPr id="108" name="Panel Resume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704088"/>
            <a:ext cx="9144000" cy="4232807"/>
          </a:xfrm>
          <a:prstGeom prst="rect">
            <a:avLst/>
          </a:prstGeom>
        </p:spPr>
      </p:pic>
      <p:sp>
        <p:nvSpPr>
          <p:cNvPr id="109" name="dato_manual"/>
          <p:cNvSpPr>
            <a:spLocks noGrp="1"/>
          </p:cNvSpPr>
          <p:nvPr/>
        </p:nvSpPr>
        <p:spPr>
          <a:xfrm>
            <a:off x="2743200" y="1438205"/>
            <a:ext cx="1259586" cy="34747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es-PE" sz="1650" b="1" dirty="0">
                <a:solidFill>
                  <a:srgbClr val="103A5E"/>
                </a:solidFill>
                <a:latin typeface="Arial"/>
              </a:rPr>
              <a:t>69</a:t>
            </a:r>
          </a:p>
        </p:txBody>
      </p:sp>
      <p:sp>
        <p:nvSpPr>
          <p:cNvPr id="110" name="dato_manual"/>
          <p:cNvSpPr>
            <a:spLocks noGrp="1"/>
          </p:cNvSpPr>
          <p:nvPr/>
        </p:nvSpPr>
        <p:spPr>
          <a:xfrm>
            <a:off x="4359401" y="1438205"/>
            <a:ext cx="1259586" cy="34747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es-PE" sz="1650" b="1" dirty="0">
                <a:solidFill>
                  <a:srgbClr val="103A5E"/>
                </a:solidFill>
                <a:latin typeface="Arial"/>
              </a:rPr>
              <a:t>15</a:t>
            </a:r>
          </a:p>
        </p:txBody>
      </p:sp>
      <p:sp>
        <p:nvSpPr>
          <p:cNvPr id="111" name="dato_manual"/>
          <p:cNvSpPr>
            <a:spLocks noGrp="1"/>
          </p:cNvSpPr>
          <p:nvPr/>
        </p:nvSpPr>
        <p:spPr>
          <a:xfrm>
            <a:off x="2531059" y="3125058"/>
            <a:ext cx="1097280" cy="27432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930" b="1" dirty="0">
                <a:solidFill>
                  <a:srgbClr val="4A5A6A"/>
                </a:solidFill>
                <a:latin typeface="Arial"/>
              </a:rPr>
              <a:t>12</a:t>
            </a:r>
          </a:p>
        </p:txBody>
      </p:sp>
      <p:sp>
        <p:nvSpPr>
          <p:cNvPr id="112" name="dato_manual"/>
          <p:cNvSpPr>
            <a:spLocks noGrp="1"/>
          </p:cNvSpPr>
          <p:nvPr/>
        </p:nvSpPr>
        <p:spPr>
          <a:xfrm>
            <a:off x="3584448" y="3125058"/>
            <a:ext cx="1097280" cy="27432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930" b="1" dirty="0">
                <a:solidFill>
                  <a:srgbClr val="4A5A6A"/>
                </a:solidFill>
                <a:latin typeface="Arial"/>
              </a:rPr>
              <a:t>40</a:t>
            </a:r>
          </a:p>
        </p:txBody>
      </p:sp>
      <p:sp>
        <p:nvSpPr>
          <p:cNvPr id="113" name="dato_manual"/>
          <p:cNvSpPr>
            <a:spLocks noGrp="1"/>
          </p:cNvSpPr>
          <p:nvPr/>
        </p:nvSpPr>
        <p:spPr>
          <a:xfrm>
            <a:off x="2531059" y="3421232"/>
            <a:ext cx="1097280" cy="27432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930" b="1" dirty="0">
                <a:solidFill>
                  <a:srgbClr val="4A5A6A"/>
                </a:solidFill>
                <a:latin typeface="Arial"/>
              </a:rPr>
              <a:t>20</a:t>
            </a:r>
          </a:p>
        </p:txBody>
      </p:sp>
      <p:sp>
        <p:nvSpPr>
          <p:cNvPr id="114" name="dato_manual"/>
          <p:cNvSpPr>
            <a:spLocks noGrp="1"/>
          </p:cNvSpPr>
          <p:nvPr/>
        </p:nvSpPr>
        <p:spPr>
          <a:xfrm>
            <a:off x="3584448" y="3421232"/>
            <a:ext cx="1097280" cy="27432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930" b="1" dirty="0">
                <a:solidFill>
                  <a:srgbClr val="4A5A6A"/>
                </a:solidFill>
                <a:latin typeface="Arial"/>
              </a:rPr>
              <a:t>20</a:t>
            </a:r>
          </a:p>
        </p:txBody>
      </p:sp>
      <p:sp>
        <p:nvSpPr>
          <p:cNvPr id="115" name="dato_manual"/>
          <p:cNvSpPr>
            <a:spLocks noGrp="1"/>
          </p:cNvSpPr>
          <p:nvPr/>
        </p:nvSpPr>
        <p:spPr>
          <a:xfrm>
            <a:off x="2531059" y="3717406"/>
            <a:ext cx="1097280" cy="27432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930" b="1" dirty="0">
                <a:solidFill>
                  <a:srgbClr val="4A5A6A"/>
                </a:solidFill>
                <a:latin typeface="Arial"/>
              </a:rPr>
              <a:t>25</a:t>
            </a:r>
          </a:p>
        </p:txBody>
      </p:sp>
      <p:sp>
        <p:nvSpPr>
          <p:cNvPr id="116" name="dato_manual"/>
          <p:cNvSpPr>
            <a:spLocks noGrp="1"/>
          </p:cNvSpPr>
          <p:nvPr/>
        </p:nvSpPr>
        <p:spPr>
          <a:xfrm>
            <a:off x="3584448" y="3717406"/>
            <a:ext cx="1097280" cy="27432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930" b="1" dirty="0">
                <a:solidFill>
                  <a:srgbClr val="4A5A6A"/>
                </a:solidFill>
                <a:latin typeface="Arial"/>
              </a:rPr>
              <a:t>28</a:t>
            </a:r>
          </a:p>
        </p:txBody>
      </p:sp>
      <p:sp>
        <p:nvSpPr>
          <p:cNvPr id="117" name="dato_manual"/>
          <p:cNvSpPr>
            <a:spLocks noGrp="1"/>
          </p:cNvSpPr>
          <p:nvPr/>
        </p:nvSpPr>
        <p:spPr>
          <a:xfrm>
            <a:off x="2531059" y="4013580"/>
            <a:ext cx="1097280" cy="27432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930" b="1" dirty="0">
                <a:solidFill>
                  <a:srgbClr val="4A5A6A"/>
                </a:solidFill>
                <a:latin typeface="Arial"/>
              </a:rPr>
              <a:t>22</a:t>
            </a:r>
          </a:p>
        </p:txBody>
      </p:sp>
      <p:sp>
        <p:nvSpPr>
          <p:cNvPr id="118" name="dato_manual"/>
          <p:cNvSpPr>
            <a:spLocks noGrp="1"/>
          </p:cNvSpPr>
          <p:nvPr/>
        </p:nvSpPr>
        <p:spPr>
          <a:xfrm>
            <a:off x="3584448" y="4013580"/>
            <a:ext cx="1097280" cy="27432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930" b="1" dirty="0">
                <a:solidFill>
                  <a:srgbClr val="4A5A6A"/>
                </a:solidFill>
                <a:latin typeface="Arial"/>
              </a:rPr>
              <a:t>4</a:t>
            </a:r>
          </a:p>
        </p:txBody>
      </p:sp>
      <p:sp>
        <p:nvSpPr>
          <p:cNvPr id="119" name="dato_manual"/>
          <p:cNvSpPr>
            <a:spLocks noGrp="1"/>
          </p:cNvSpPr>
          <p:nvPr/>
        </p:nvSpPr>
        <p:spPr>
          <a:xfrm>
            <a:off x="2531059" y="4309754"/>
            <a:ext cx="1097280" cy="27432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930" b="1" dirty="0">
                <a:solidFill>
                  <a:srgbClr val="4A5A6A"/>
                </a:solidFill>
                <a:latin typeface="Arial"/>
              </a:rPr>
              <a:t>22</a:t>
            </a:r>
          </a:p>
        </p:txBody>
      </p:sp>
      <p:sp>
        <p:nvSpPr>
          <p:cNvPr id="120" name="dato_manual"/>
          <p:cNvSpPr>
            <a:spLocks noGrp="1"/>
          </p:cNvSpPr>
          <p:nvPr/>
        </p:nvSpPr>
        <p:spPr>
          <a:xfrm>
            <a:off x="3584448" y="4309754"/>
            <a:ext cx="1097280" cy="27432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930" b="1" dirty="0">
                <a:solidFill>
                  <a:srgbClr val="4A5A6A"/>
                </a:solidFill>
                <a:latin typeface="Arial"/>
              </a:rPr>
              <a:t>4</a:t>
            </a:r>
          </a:p>
        </p:txBody>
      </p:sp>
      <p:sp>
        <p:nvSpPr>
          <p:cNvPr id="121" name="dato_manual"/>
          <p:cNvSpPr>
            <a:spLocks noGrp="1"/>
          </p:cNvSpPr>
          <p:nvPr/>
        </p:nvSpPr>
        <p:spPr>
          <a:xfrm>
            <a:off x="2531059" y="4605928"/>
            <a:ext cx="1097280" cy="27432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930" b="1" dirty="0">
                <a:solidFill>
                  <a:srgbClr val="123A5E"/>
                </a:solidFill>
                <a:latin typeface="Arial"/>
              </a:rPr>
              <a:t>101</a:t>
            </a:r>
          </a:p>
        </p:txBody>
      </p:sp>
      <p:sp>
        <p:nvSpPr>
          <p:cNvPr id="122" name="dato_manual"/>
          <p:cNvSpPr>
            <a:spLocks noGrp="1"/>
          </p:cNvSpPr>
          <p:nvPr/>
        </p:nvSpPr>
        <p:spPr>
          <a:xfrm>
            <a:off x="3584448" y="4605928"/>
            <a:ext cx="1097280" cy="27432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es-PE" sz="930" b="1" dirty="0">
                <a:solidFill>
                  <a:srgbClr val="123A5E"/>
                </a:solidFill>
                <a:latin typeface="Arial"/>
              </a:rPr>
              <a:t>96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" cy="658368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0" y="658368"/>
            <a:ext cx="9144000" cy="32004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01168" y="0"/>
            <a:ext cx="7498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50" b="1" kern="0" spc="30" dirty="0">
                <a:solidFill>
                  <a:srgbClr val="FFFFFF"/>
                </a:solidFill>
              </a:rPr>
              <a:t>BBVA CONVENIOS  | TELECAMPO: Información al 18 de Julio 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8577072" y="713232"/>
            <a:ext cx="5212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2 / 4</a:t>
            </a:r>
            <a:endParaRPr lang="en-US" sz="800" dirty="0"/>
          </a:p>
        </p:txBody>
      </p:sp>
      <p:sp>
        <p:nvSpPr>
          <p:cNvPr id="12" name="Text 9"/>
          <p:cNvSpPr/>
          <p:nvPr/>
        </p:nvSpPr>
        <p:spPr>
          <a:xfrm>
            <a:off x="201168" y="1115568"/>
            <a:ext cx="2331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850" i="1" dirty="0">
                <a:solidFill>
                  <a:srgbClr val="667085"/>
                </a:solidFill>
              </a:rPr>
              <a:t>Sub Gerente : Sheyla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374904" y="2019776"/>
            <a:ext cx="23317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0" b="1" dirty="0">
                <a:solidFill>
                  <a:srgbClr val="C00000"/>
                </a:solidFill>
              </a:rPr>
              <a:t>115%</a:t>
            </a:r>
            <a:endParaRPr lang="en-US" sz="7200" dirty="0">
              <a:solidFill>
                <a:srgbClr val="C00000"/>
              </a:solidFill>
            </a:endParaRPr>
          </a:p>
        </p:txBody>
      </p:sp>
      <p:sp>
        <p:nvSpPr>
          <p:cNvPr id="27" name="Shape 24"/>
          <p:cNvSpPr/>
          <p:nvPr/>
        </p:nvSpPr>
        <p:spPr>
          <a:xfrm>
            <a:off x="2651760" y="749808"/>
            <a:ext cx="18288" cy="4078224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7" name="Shape 64"/>
          <p:cNvSpPr/>
          <p:nvPr/>
        </p:nvSpPr>
        <p:spPr>
          <a:xfrm>
            <a:off x="0" y="4864608"/>
            <a:ext cx="9144000" cy="256032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8" name="Text 65"/>
          <p:cNvSpPr/>
          <p:nvPr/>
        </p:nvSpPr>
        <p:spPr>
          <a:xfrm>
            <a:off x="201168" y="4864608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667085"/>
                </a:solidFill>
              </a:rPr>
              <a:t>TU META ES NUESTRA META  ·  BBVA CONVENIOS  |  CALL LIMA + PROVINCIA  |  Sheyla  |  Cierre Julio 2026</a:t>
            </a:r>
            <a:endParaRPr lang="en-US" sz="750" dirty="0"/>
          </a:p>
        </p:txBody>
      </p:sp>
      <p:sp>
        <p:nvSpPr>
          <p:cNvPr id="72" name="Text 26">
            <a:extLst>
              <a:ext uri="{FF2B5EF4-FFF2-40B4-BE49-F238E27FC236}">
                <a16:creationId xmlns:a16="http://schemas.microsoft.com/office/drawing/2014/main" id="{27EA2489-7279-F978-D858-EE8912551351}"/>
              </a:ext>
            </a:extLst>
          </p:cNvPr>
          <p:cNvSpPr/>
          <p:nvPr/>
        </p:nvSpPr>
        <p:spPr>
          <a:xfrm>
            <a:off x="423458" y="2025661"/>
            <a:ext cx="139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META: 7.00M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4" name="Text 26">
            <a:extLst>
              <a:ext uri="{FF2B5EF4-FFF2-40B4-BE49-F238E27FC236}">
                <a16:creationId xmlns:a16="http://schemas.microsoft.com/office/drawing/2014/main" id="{610F36D7-6934-4762-36C4-25EB5CC397D4}"/>
              </a:ext>
            </a:extLst>
          </p:cNvPr>
          <p:cNvSpPr/>
          <p:nvPr/>
        </p:nvSpPr>
        <p:spPr>
          <a:xfrm>
            <a:off x="-56358" y="3164300"/>
            <a:ext cx="139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AVANCE: 4.25M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6" name="Text 26">
            <a:extLst>
              <a:ext uri="{FF2B5EF4-FFF2-40B4-BE49-F238E27FC236}">
                <a16:creationId xmlns:a16="http://schemas.microsoft.com/office/drawing/2014/main" id="{470AAE93-3E6D-6ABC-978C-0EBA14A72CA4}"/>
              </a:ext>
            </a:extLst>
          </p:cNvPr>
          <p:cNvSpPr/>
          <p:nvPr/>
        </p:nvSpPr>
        <p:spPr>
          <a:xfrm>
            <a:off x="1142368" y="3160860"/>
            <a:ext cx="139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META AVANCE: 3.71M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35" name="Imagen_barras" descr="image.png">
            <a:extLst>
              <a:ext uri="{FF2B5EF4-FFF2-40B4-BE49-F238E27FC236}">
                <a16:creationId xmlns:a16="http://schemas.microsoft.com/office/drawing/2014/main" id="{A3B3A0DA-44FD-69D2-8D56-F057EFDAB9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25496" y="925928"/>
            <a:ext cx="5878102" cy="2434069"/>
          </a:xfrm>
          <a:prstGeom prst="rect">
            <a:avLst/>
          </a:prstGeom>
        </p:spPr>
      </p:pic>
      <p:pic>
        <p:nvPicPr>
          <p:cNvPr id="37" name="Picture 34" descr="image.png">
            <a:extLst>
              <a:ext uri="{FF2B5EF4-FFF2-40B4-BE49-F238E27FC236}">
                <a16:creationId xmlns:a16="http://schemas.microsoft.com/office/drawing/2014/main" id="{EA6B5B9D-BF35-B4BC-E75A-C33D4566E61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93775" y="3532237"/>
            <a:ext cx="1967304" cy="1314083"/>
          </a:xfrm>
          <a:prstGeom prst="rect">
            <a:avLst/>
          </a:prstGeom>
        </p:spPr>
      </p:pic>
      <p:pic>
        <p:nvPicPr>
          <p:cNvPr id="39" name="Asesor" descr="image.png">
            <a:extLst>
              <a:ext uri="{FF2B5EF4-FFF2-40B4-BE49-F238E27FC236}">
                <a16:creationId xmlns:a16="http://schemas.microsoft.com/office/drawing/2014/main" id="{34D6065A-9504-0D23-92D5-C9D916EA6F4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48033" y="3487048"/>
            <a:ext cx="2355565" cy="1461047"/>
          </a:xfrm>
          <a:prstGeom prst="rect">
            <a:avLst/>
          </a:prstGeom>
        </p:spPr>
      </p:pic>
      <p:sp>
        <p:nvSpPr>
          <p:cNvPr id="29" name="Shape 6">
            <a:extLst>
              <a:ext uri="{FF2B5EF4-FFF2-40B4-BE49-F238E27FC236}">
                <a16:creationId xmlns:a16="http://schemas.microsoft.com/office/drawing/2014/main" id="{3213149F-0CF0-EF74-5FE2-D13E756455B8}"/>
              </a:ext>
            </a:extLst>
          </p:cNvPr>
          <p:cNvSpPr/>
          <p:nvPr/>
        </p:nvSpPr>
        <p:spPr>
          <a:xfrm>
            <a:off x="91440" y="785704"/>
            <a:ext cx="2331720" cy="329184"/>
          </a:xfrm>
          <a:prstGeom prst="rect">
            <a:avLst/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1" name="Shape 7">
            <a:extLst>
              <a:ext uri="{FF2B5EF4-FFF2-40B4-BE49-F238E27FC236}">
                <a16:creationId xmlns:a16="http://schemas.microsoft.com/office/drawing/2014/main" id="{E877B0F1-27DA-4E32-C4EE-4F4F411F4FCA}"/>
              </a:ext>
            </a:extLst>
          </p:cNvPr>
          <p:cNvSpPr/>
          <p:nvPr/>
        </p:nvSpPr>
        <p:spPr>
          <a:xfrm>
            <a:off x="182880" y="858856"/>
            <a:ext cx="164592" cy="164592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3" name="Text 8">
            <a:extLst>
              <a:ext uri="{FF2B5EF4-FFF2-40B4-BE49-F238E27FC236}">
                <a16:creationId xmlns:a16="http://schemas.microsoft.com/office/drawing/2014/main" id="{E6607949-A43B-8073-1A4C-3B902659B7AF}"/>
              </a:ext>
            </a:extLst>
          </p:cNvPr>
          <p:cNvSpPr/>
          <p:nvPr/>
        </p:nvSpPr>
        <p:spPr>
          <a:xfrm>
            <a:off x="402336" y="785704"/>
            <a:ext cx="200253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950" b="1" dirty="0">
                <a:solidFill>
                  <a:srgbClr val="DC2626"/>
                </a:solidFill>
              </a:rPr>
              <a:t>EN OBSERVACIÓN</a:t>
            </a:r>
          </a:p>
        </p:txBody>
      </p:sp>
      <p:pic>
        <p:nvPicPr>
          <p:cNvPr id="10" name="Picture 8">
            <a:extLst>
              <a:ext uri="{FF2B5EF4-FFF2-40B4-BE49-F238E27FC236}">
                <a16:creationId xmlns:a16="http://schemas.microsoft.com/office/drawing/2014/main" id="{372A4D65-94DD-9C93-0BCD-B3C2450C168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76170" y="-37330"/>
            <a:ext cx="1298448" cy="739132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" cy="658368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0" y="658368"/>
            <a:ext cx="9144000" cy="32004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01168" y="0"/>
            <a:ext cx="7498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50" b="1" kern="0" spc="30" dirty="0">
                <a:solidFill>
                  <a:srgbClr val="FFFFFF"/>
                </a:solidFill>
              </a:rPr>
              <a:t>BBVA CONVENIOS  | LIMA CAMPO: </a:t>
            </a:r>
            <a:r>
              <a:rPr lang="en-US" sz="1250" b="1" kern="0" spc="30" dirty="0" err="1">
                <a:solidFill>
                  <a:srgbClr val="FFFFFF"/>
                </a:solidFill>
              </a:rPr>
              <a:t>Informacion</a:t>
            </a:r>
            <a:r>
              <a:rPr lang="en-US" sz="1250" b="1" kern="0" spc="30" dirty="0">
                <a:solidFill>
                  <a:srgbClr val="FFFFFF"/>
                </a:solidFill>
              </a:rPr>
              <a:t> al 18 de Julio  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137160" y="1252728"/>
            <a:ext cx="2331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667085"/>
                </a:solidFill>
              </a:rPr>
              <a:t>Sub Gerente: Sheyla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241240" y="2214602"/>
            <a:ext cx="23317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0" b="1" dirty="0">
                <a:solidFill>
                  <a:srgbClr val="C00000"/>
                </a:solidFill>
              </a:rPr>
              <a:t>79.1%</a:t>
            </a:r>
            <a:endParaRPr lang="en-US" sz="7200" dirty="0">
              <a:solidFill>
                <a:srgbClr val="C00000"/>
              </a:solidFill>
            </a:endParaRPr>
          </a:p>
        </p:txBody>
      </p:sp>
      <p:sp>
        <p:nvSpPr>
          <p:cNvPr id="27" name="Shape 24"/>
          <p:cNvSpPr/>
          <p:nvPr/>
        </p:nvSpPr>
        <p:spPr>
          <a:xfrm>
            <a:off x="2651760" y="749808"/>
            <a:ext cx="18288" cy="4078224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7" name="Shape 64"/>
          <p:cNvSpPr/>
          <p:nvPr/>
        </p:nvSpPr>
        <p:spPr>
          <a:xfrm>
            <a:off x="0" y="4864608"/>
            <a:ext cx="9144000" cy="256032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8" name="Text 65"/>
          <p:cNvSpPr/>
          <p:nvPr/>
        </p:nvSpPr>
        <p:spPr>
          <a:xfrm>
            <a:off x="201168" y="4864608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667085"/>
                </a:solidFill>
              </a:rPr>
              <a:t>TU META ES NUESTRA META  ·  BBVA CONVENIOS  |  LIMA CAMPO  |  Sheyla  |  Cierre Julio 2026</a:t>
            </a:r>
            <a:endParaRPr lang="en-US" sz="750" dirty="0"/>
          </a:p>
        </p:txBody>
      </p:sp>
      <p:sp>
        <p:nvSpPr>
          <p:cNvPr id="70" name="Text 26">
            <a:extLst>
              <a:ext uri="{FF2B5EF4-FFF2-40B4-BE49-F238E27FC236}">
                <a16:creationId xmlns:a16="http://schemas.microsoft.com/office/drawing/2014/main" id="{8480DA6F-65FA-B069-34CD-9AA6C627D6DC}"/>
              </a:ext>
            </a:extLst>
          </p:cNvPr>
          <p:cNvSpPr/>
          <p:nvPr/>
        </p:nvSpPr>
        <p:spPr>
          <a:xfrm>
            <a:off x="457964" y="2131990"/>
            <a:ext cx="139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META: 7.51M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2" name="Text 26">
            <a:extLst>
              <a:ext uri="{FF2B5EF4-FFF2-40B4-BE49-F238E27FC236}">
                <a16:creationId xmlns:a16="http://schemas.microsoft.com/office/drawing/2014/main" id="{7C8E20B4-2106-61B7-614C-6736DAF7EF5F}"/>
              </a:ext>
            </a:extLst>
          </p:cNvPr>
          <p:cNvSpPr/>
          <p:nvPr/>
        </p:nvSpPr>
        <p:spPr>
          <a:xfrm>
            <a:off x="-73611" y="3287882"/>
            <a:ext cx="139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AVANCE: 3.47M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4" name="Text 26">
            <a:extLst>
              <a:ext uri="{FF2B5EF4-FFF2-40B4-BE49-F238E27FC236}">
                <a16:creationId xmlns:a16="http://schemas.microsoft.com/office/drawing/2014/main" id="{741327E9-B672-3DCB-C2E1-A7265FAA11FC}"/>
              </a:ext>
            </a:extLst>
          </p:cNvPr>
          <p:cNvSpPr/>
          <p:nvPr/>
        </p:nvSpPr>
        <p:spPr>
          <a:xfrm>
            <a:off x="1142368" y="3301695"/>
            <a:ext cx="1527680" cy="26446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META AVANCE: 4.38M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8" name="Imagen_barras" descr="image.png">
            <a:extLst>
              <a:ext uri="{FF2B5EF4-FFF2-40B4-BE49-F238E27FC236}">
                <a16:creationId xmlns:a16="http://schemas.microsoft.com/office/drawing/2014/main" id="{9B074277-10BE-3B3E-3741-ED0214CF2B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72156" y="759705"/>
            <a:ext cx="4741132" cy="2170809"/>
          </a:xfrm>
          <a:prstGeom prst="rect">
            <a:avLst/>
          </a:prstGeom>
        </p:spPr>
      </p:pic>
      <p:pic>
        <p:nvPicPr>
          <p:cNvPr id="29" name="Picture 34" descr="image.png">
            <a:extLst>
              <a:ext uri="{FF2B5EF4-FFF2-40B4-BE49-F238E27FC236}">
                <a16:creationId xmlns:a16="http://schemas.microsoft.com/office/drawing/2014/main" id="{9C77F8C9-766E-27C3-C891-996AEC5E075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78662" y="3063856"/>
            <a:ext cx="2719034" cy="1816210"/>
          </a:xfrm>
          <a:prstGeom prst="rect">
            <a:avLst/>
          </a:prstGeom>
        </p:spPr>
      </p:pic>
      <p:pic>
        <p:nvPicPr>
          <p:cNvPr id="31" name="Asesor" descr="image.png">
            <a:extLst>
              <a:ext uri="{FF2B5EF4-FFF2-40B4-BE49-F238E27FC236}">
                <a16:creationId xmlns:a16="http://schemas.microsoft.com/office/drawing/2014/main" id="{D6059DDA-6B4F-BA7A-BC24-D63B5754BDD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65339" y="3063856"/>
            <a:ext cx="2844284" cy="1764176"/>
          </a:xfrm>
          <a:prstGeom prst="rect">
            <a:avLst/>
          </a:prstGeom>
        </p:spPr>
      </p:pic>
      <p:sp>
        <p:nvSpPr>
          <p:cNvPr id="28" name="Shape 6">
            <a:extLst>
              <a:ext uri="{FF2B5EF4-FFF2-40B4-BE49-F238E27FC236}">
                <a16:creationId xmlns:a16="http://schemas.microsoft.com/office/drawing/2014/main" id="{5E2F0946-28EF-962B-4113-EE13E9AF55C5}"/>
              </a:ext>
            </a:extLst>
          </p:cNvPr>
          <p:cNvSpPr/>
          <p:nvPr/>
        </p:nvSpPr>
        <p:spPr>
          <a:xfrm>
            <a:off x="91440" y="785704"/>
            <a:ext cx="2331720" cy="329184"/>
          </a:xfrm>
          <a:prstGeom prst="rect">
            <a:avLst/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2" name="Shape 7">
            <a:extLst>
              <a:ext uri="{FF2B5EF4-FFF2-40B4-BE49-F238E27FC236}">
                <a16:creationId xmlns:a16="http://schemas.microsoft.com/office/drawing/2014/main" id="{6A077831-C390-D5A5-FA6A-1FEC2314D1E9}"/>
              </a:ext>
            </a:extLst>
          </p:cNvPr>
          <p:cNvSpPr/>
          <p:nvPr/>
        </p:nvSpPr>
        <p:spPr>
          <a:xfrm>
            <a:off x="182880" y="858856"/>
            <a:ext cx="164592" cy="164592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4" name="Text 8">
            <a:extLst>
              <a:ext uri="{FF2B5EF4-FFF2-40B4-BE49-F238E27FC236}">
                <a16:creationId xmlns:a16="http://schemas.microsoft.com/office/drawing/2014/main" id="{F7A403F1-17A5-172C-D72C-E235F0491CA5}"/>
              </a:ext>
            </a:extLst>
          </p:cNvPr>
          <p:cNvSpPr/>
          <p:nvPr/>
        </p:nvSpPr>
        <p:spPr>
          <a:xfrm>
            <a:off x="402336" y="785704"/>
            <a:ext cx="200253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950" b="1" dirty="0">
                <a:solidFill>
                  <a:srgbClr val="DC2626"/>
                </a:solidFill>
              </a:rPr>
              <a:t>EN OBSERVACIÓN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D0332C3-2CA6-5458-CC22-55C4D67D8E8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76170" y="-37330"/>
            <a:ext cx="1298448" cy="739132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" cy="658368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0" y="658368"/>
            <a:ext cx="9144000" cy="32004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01168" y="0"/>
            <a:ext cx="7498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50" b="1" kern="0" spc="30" dirty="0">
                <a:solidFill>
                  <a:srgbClr val="FFFFFF"/>
                </a:solidFill>
              </a:rPr>
              <a:t>BBVA CONVENIOS  | PROVINCIA NORTE:  Información al 18 de Julio 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8577072" y="713232"/>
            <a:ext cx="5212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3 / 4</a:t>
            </a:r>
            <a:endParaRPr lang="en-US" sz="800" dirty="0"/>
          </a:p>
        </p:txBody>
      </p:sp>
      <p:sp>
        <p:nvSpPr>
          <p:cNvPr id="12" name="Text 9"/>
          <p:cNvSpPr/>
          <p:nvPr/>
        </p:nvSpPr>
        <p:spPr>
          <a:xfrm>
            <a:off x="201168" y="1115568"/>
            <a:ext cx="2331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667085"/>
                </a:solidFill>
              </a:rPr>
              <a:t>Sub </a:t>
            </a:r>
            <a:r>
              <a:rPr lang="en-US" sz="850" i="1" dirty="0" err="1">
                <a:solidFill>
                  <a:srgbClr val="667085"/>
                </a:solidFill>
              </a:rPr>
              <a:t>Gerenta</a:t>
            </a:r>
            <a:r>
              <a:rPr lang="en-US" sz="850" i="1" dirty="0">
                <a:solidFill>
                  <a:srgbClr val="667085"/>
                </a:solidFill>
              </a:rPr>
              <a:t>: Sheyla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71541" y="2107333"/>
            <a:ext cx="277063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0" b="1" dirty="0">
                <a:solidFill>
                  <a:srgbClr val="19A075"/>
                </a:solidFill>
              </a:rPr>
              <a:t>148%</a:t>
            </a:r>
            <a:endParaRPr lang="en-US" sz="6600" dirty="0">
              <a:solidFill>
                <a:srgbClr val="19A075"/>
              </a:solidFill>
            </a:endParaRPr>
          </a:p>
        </p:txBody>
      </p:sp>
      <p:sp>
        <p:nvSpPr>
          <p:cNvPr id="27" name="Shape 24"/>
          <p:cNvSpPr/>
          <p:nvPr/>
        </p:nvSpPr>
        <p:spPr>
          <a:xfrm>
            <a:off x="2670048" y="749808"/>
            <a:ext cx="18288" cy="4078224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7" name="Shape 64"/>
          <p:cNvSpPr/>
          <p:nvPr/>
        </p:nvSpPr>
        <p:spPr>
          <a:xfrm>
            <a:off x="0" y="4864608"/>
            <a:ext cx="9144000" cy="256032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8" name="Text 65"/>
          <p:cNvSpPr/>
          <p:nvPr/>
        </p:nvSpPr>
        <p:spPr>
          <a:xfrm>
            <a:off x="201168" y="4864608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667085"/>
                </a:solidFill>
              </a:rPr>
              <a:t>TU META ES NUESTRA META  ·  BBVA CONVENIOS  |  NORTE  |  Sheyla  |  Cierre Julio 2026</a:t>
            </a:r>
            <a:endParaRPr lang="en-US" sz="750" dirty="0"/>
          </a:p>
        </p:txBody>
      </p:sp>
      <p:sp>
        <p:nvSpPr>
          <p:cNvPr id="70" name="Text 26">
            <a:extLst>
              <a:ext uri="{FF2B5EF4-FFF2-40B4-BE49-F238E27FC236}">
                <a16:creationId xmlns:a16="http://schemas.microsoft.com/office/drawing/2014/main" id="{AB0575AD-6901-AE80-E45C-78AB50A743C4}"/>
              </a:ext>
            </a:extLst>
          </p:cNvPr>
          <p:cNvSpPr/>
          <p:nvPr/>
        </p:nvSpPr>
        <p:spPr>
          <a:xfrm>
            <a:off x="497069" y="2093696"/>
            <a:ext cx="139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META: 7.50M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2" name="Text 26">
            <a:extLst>
              <a:ext uri="{FF2B5EF4-FFF2-40B4-BE49-F238E27FC236}">
                <a16:creationId xmlns:a16="http://schemas.microsoft.com/office/drawing/2014/main" id="{E5C7218A-B099-E1DA-6E16-6D61BC90CC79}"/>
              </a:ext>
            </a:extLst>
          </p:cNvPr>
          <p:cNvSpPr/>
          <p:nvPr/>
        </p:nvSpPr>
        <p:spPr>
          <a:xfrm>
            <a:off x="0" y="3266841"/>
            <a:ext cx="139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AVANCE: 5.89M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4" name="Text 26">
            <a:extLst>
              <a:ext uri="{FF2B5EF4-FFF2-40B4-BE49-F238E27FC236}">
                <a16:creationId xmlns:a16="http://schemas.microsoft.com/office/drawing/2014/main" id="{26DF5C35-EDFA-E398-100F-070596FE01B8}"/>
              </a:ext>
            </a:extLst>
          </p:cNvPr>
          <p:cNvSpPr/>
          <p:nvPr/>
        </p:nvSpPr>
        <p:spPr>
          <a:xfrm>
            <a:off x="1215979" y="3228894"/>
            <a:ext cx="1491104" cy="3562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META AVANCE: 3.99M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28" name="Imagen_barras" descr="image.png">
            <a:extLst>
              <a:ext uri="{FF2B5EF4-FFF2-40B4-BE49-F238E27FC236}">
                <a16:creationId xmlns:a16="http://schemas.microsoft.com/office/drawing/2014/main" id="{31068695-F214-6276-68B8-7D2ABCF414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71742" y="801048"/>
            <a:ext cx="5376730" cy="2205819"/>
          </a:xfrm>
          <a:prstGeom prst="rect">
            <a:avLst/>
          </a:prstGeom>
        </p:spPr>
      </p:pic>
      <p:pic>
        <p:nvPicPr>
          <p:cNvPr id="30" name="Picture 34" descr="image.png">
            <a:extLst>
              <a:ext uri="{FF2B5EF4-FFF2-40B4-BE49-F238E27FC236}">
                <a16:creationId xmlns:a16="http://schemas.microsoft.com/office/drawing/2014/main" id="{DDF3AF98-EA43-292D-C0C6-C587FE9B116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93613" y="3324441"/>
            <a:ext cx="2331720" cy="1557499"/>
          </a:xfrm>
          <a:prstGeom prst="rect">
            <a:avLst/>
          </a:prstGeom>
        </p:spPr>
      </p:pic>
      <p:pic>
        <p:nvPicPr>
          <p:cNvPr id="32" name="Asesor" descr="image.png">
            <a:extLst>
              <a:ext uri="{FF2B5EF4-FFF2-40B4-BE49-F238E27FC236}">
                <a16:creationId xmlns:a16="http://schemas.microsoft.com/office/drawing/2014/main" id="{832C5A12-1555-7F3C-7B6D-16C6CEF4C7B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03488" y="3228894"/>
            <a:ext cx="2651639" cy="1644688"/>
          </a:xfrm>
          <a:prstGeom prst="rect">
            <a:avLst/>
          </a:prstGeom>
        </p:spPr>
      </p:pic>
      <p:sp>
        <p:nvSpPr>
          <p:cNvPr id="29" name="Shape 6">
            <a:extLst>
              <a:ext uri="{FF2B5EF4-FFF2-40B4-BE49-F238E27FC236}">
                <a16:creationId xmlns:a16="http://schemas.microsoft.com/office/drawing/2014/main" id="{CB8CFC5B-1408-6000-A44E-099F69EE743E}"/>
              </a:ext>
            </a:extLst>
          </p:cNvPr>
          <p:cNvSpPr/>
          <p:nvPr/>
        </p:nvSpPr>
        <p:spPr>
          <a:xfrm>
            <a:off x="195301" y="777008"/>
            <a:ext cx="2331720" cy="329184"/>
          </a:xfrm>
          <a:prstGeom prst="rect">
            <a:avLst/>
          </a:prstGeom>
          <a:solidFill>
            <a:srgbClr val="D1FAE5"/>
          </a:solidFill>
          <a:ln w="12700">
            <a:solidFill>
              <a:srgbClr val="D1FAE5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3" name="Shape 7">
            <a:extLst>
              <a:ext uri="{FF2B5EF4-FFF2-40B4-BE49-F238E27FC236}">
                <a16:creationId xmlns:a16="http://schemas.microsoft.com/office/drawing/2014/main" id="{C40E32A9-5A7B-27DE-A226-0A0B45572163}"/>
              </a:ext>
            </a:extLst>
          </p:cNvPr>
          <p:cNvSpPr/>
          <p:nvPr/>
        </p:nvSpPr>
        <p:spPr>
          <a:xfrm>
            <a:off x="286741" y="850160"/>
            <a:ext cx="164592" cy="164592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5" name="Text 8">
            <a:extLst>
              <a:ext uri="{FF2B5EF4-FFF2-40B4-BE49-F238E27FC236}">
                <a16:creationId xmlns:a16="http://schemas.microsoft.com/office/drawing/2014/main" id="{9C213A1C-5EED-46B3-2B49-A48C45517E04}"/>
              </a:ext>
            </a:extLst>
          </p:cNvPr>
          <p:cNvSpPr/>
          <p:nvPr/>
        </p:nvSpPr>
        <p:spPr>
          <a:xfrm>
            <a:off x="506197" y="777008"/>
            <a:ext cx="200253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950" b="1" dirty="0">
                <a:solidFill>
                  <a:srgbClr val="059669"/>
                </a:solidFill>
              </a:rPr>
              <a:t>EN AVANCE</a:t>
            </a:r>
            <a:endParaRPr lang="en-US" sz="950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A2578C4-1704-7C62-F49A-7680D8193F6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76170" y="-37330"/>
            <a:ext cx="1298448" cy="739132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7E835FE-2760-7CDA-4AE8-A8AECFB46A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89475BB5-1838-23F5-BC27-F66ABAF9E0BE}"/>
              </a:ext>
            </a:extLst>
          </p:cNvPr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94FE5DC8-FD0C-EDDA-5A42-1C2AB6DB6564}"/>
              </a:ext>
            </a:extLst>
          </p:cNvPr>
          <p:cNvSpPr/>
          <p:nvPr/>
        </p:nvSpPr>
        <p:spPr>
          <a:xfrm>
            <a:off x="0" y="0"/>
            <a:ext cx="91440" cy="658368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A9847520-2E56-03F3-2E50-96F3ED1A2F16}"/>
              </a:ext>
            </a:extLst>
          </p:cNvPr>
          <p:cNvSpPr/>
          <p:nvPr/>
        </p:nvSpPr>
        <p:spPr>
          <a:xfrm>
            <a:off x="0" y="658368"/>
            <a:ext cx="9144000" cy="32004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153C71BA-4DAD-AAEE-21BC-8562D6B53F99}"/>
              </a:ext>
            </a:extLst>
          </p:cNvPr>
          <p:cNvSpPr/>
          <p:nvPr/>
        </p:nvSpPr>
        <p:spPr>
          <a:xfrm>
            <a:off x="201168" y="0"/>
            <a:ext cx="7498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50" b="1" kern="0" spc="30" dirty="0">
                <a:solidFill>
                  <a:srgbClr val="FFFFFF"/>
                </a:solidFill>
              </a:rPr>
              <a:t>BBVA CONVENIOS  | PROVINCIA SUR:  Información al 18 de Julio </a:t>
            </a:r>
            <a:endParaRPr lang="en-US" sz="1250" dirty="0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8F65A6FD-1970-5084-751D-33FFFBFC7B97}"/>
              </a:ext>
            </a:extLst>
          </p:cNvPr>
          <p:cNvSpPr/>
          <p:nvPr/>
        </p:nvSpPr>
        <p:spPr>
          <a:xfrm>
            <a:off x="8577072" y="713232"/>
            <a:ext cx="5212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3 / 4</a:t>
            </a:r>
            <a:endParaRPr lang="en-US" sz="800" dirty="0"/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09BC58CE-F762-59E8-9E5E-7681E8357ADB}"/>
              </a:ext>
            </a:extLst>
          </p:cNvPr>
          <p:cNvSpPr/>
          <p:nvPr/>
        </p:nvSpPr>
        <p:spPr>
          <a:xfrm>
            <a:off x="201168" y="1115568"/>
            <a:ext cx="2331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667085"/>
                </a:solidFill>
              </a:rPr>
              <a:t>Sub </a:t>
            </a:r>
            <a:r>
              <a:rPr lang="en-US" sz="850" i="1" dirty="0" err="1">
                <a:solidFill>
                  <a:srgbClr val="667085"/>
                </a:solidFill>
              </a:rPr>
              <a:t>Gerenta</a:t>
            </a:r>
            <a:r>
              <a:rPr lang="en-US" sz="850" i="1" dirty="0">
                <a:solidFill>
                  <a:srgbClr val="667085"/>
                </a:solidFill>
              </a:rPr>
              <a:t>: Sheyla</a:t>
            </a:r>
            <a:endParaRPr lang="en-US" sz="850" dirty="0"/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DD61EE82-98A1-05BF-8668-B98D7AC2ECCA}"/>
              </a:ext>
            </a:extLst>
          </p:cNvPr>
          <p:cNvSpPr/>
          <p:nvPr/>
        </p:nvSpPr>
        <p:spPr>
          <a:xfrm>
            <a:off x="249457" y="2144374"/>
            <a:ext cx="23317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0" b="1" dirty="0">
                <a:solidFill>
                  <a:srgbClr val="C00000"/>
                </a:solidFill>
              </a:rPr>
              <a:t>73.0%</a:t>
            </a:r>
            <a:endParaRPr lang="en-US" sz="7200" dirty="0">
              <a:solidFill>
                <a:srgbClr val="C00000"/>
              </a:solidFill>
            </a:endParaRPr>
          </a:p>
        </p:txBody>
      </p:sp>
      <p:sp>
        <p:nvSpPr>
          <p:cNvPr id="27" name="Shape 24">
            <a:extLst>
              <a:ext uri="{FF2B5EF4-FFF2-40B4-BE49-F238E27FC236}">
                <a16:creationId xmlns:a16="http://schemas.microsoft.com/office/drawing/2014/main" id="{397DE739-B7E3-CCAE-DD3D-ECA8DE8AB222}"/>
              </a:ext>
            </a:extLst>
          </p:cNvPr>
          <p:cNvSpPr/>
          <p:nvPr/>
        </p:nvSpPr>
        <p:spPr>
          <a:xfrm>
            <a:off x="2670048" y="749808"/>
            <a:ext cx="18288" cy="4078224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7" name="Shape 64">
            <a:extLst>
              <a:ext uri="{FF2B5EF4-FFF2-40B4-BE49-F238E27FC236}">
                <a16:creationId xmlns:a16="http://schemas.microsoft.com/office/drawing/2014/main" id="{6341AA6A-C53D-503F-7A4A-73156A0D98E4}"/>
              </a:ext>
            </a:extLst>
          </p:cNvPr>
          <p:cNvSpPr/>
          <p:nvPr/>
        </p:nvSpPr>
        <p:spPr>
          <a:xfrm>
            <a:off x="0" y="4864608"/>
            <a:ext cx="9144000" cy="256032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8" name="Text 65">
            <a:extLst>
              <a:ext uri="{FF2B5EF4-FFF2-40B4-BE49-F238E27FC236}">
                <a16:creationId xmlns:a16="http://schemas.microsoft.com/office/drawing/2014/main" id="{DE704FB0-D0CE-88BD-0085-EE00C688AB4F}"/>
              </a:ext>
            </a:extLst>
          </p:cNvPr>
          <p:cNvSpPr/>
          <p:nvPr/>
        </p:nvSpPr>
        <p:spPr>
          <a:xfrm>
            <a:off x="201168" y="4864608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667085"/>
                </a:solidFill>
              </a:rPr>
              <a:t>TU META ES NUESTRA META  ·  BBVA CONVENIOS  |  NORTE  |  Sheyla  |  Cierre Julio 2026</a:t>
            </a:r>
            <a:endParaRPr lang="en-US" sz="750" dirty="0"/>
          </a:p>
        </p:txBody>
      </p:sp>
      <p:sp>
        <p:nvSpPr>
          <p:cNvPr id="70" name="Text 26">
            <a:extLst>
              <a:ext uri="{FF2B5EF4-FFF2-40B4-BE49-F238E27FC236}">
                <a16:creationId xmlns:a16="http://schemas.microsoft.com/office/drawing/2014/main" id="{9A13ABEF-76D2-249B-8311-FA6523DB245A}"/>
              </a:ext>
            </a:extLst>
          </p:cNvPr>
          <p:cNvSpPr/>
          <p:nvPr/>
        </p:nvSpPr>
        <p:spPr>
          <a:xfrm>
            <a:off x="391350" y="2113484"/>
            <a:ext cx="139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META: 3.00M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2" name="Text 26">
            <a:extLst>
              <a:ext uri="{FF2B5EF4-FFF2-40B4-BE49-F238E27FC236}">
                <a16:creationId xmlns:a16="http://schemas.microsoft.com/office/drawing/2014/main" id="{9556D5C2-2C1E-5EF6-480E-DE83DE4C4BD1}"/>
              </a:ext>
            </a:extLst>
          </p:cNvPr>
          <p:cNvSpPr/>
          <p:nvPr/>
        </p:nvSpPr>
        <p:spPr>
          <a:xfrm>
            <a:off x="-105719" y="3286629"/>
            <a:ext cx="139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AVANCE: 1.20M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4" name="Text 26">
            <a:extLst>
              <a:ext uri="{FF2B5EF4-FFF2-40B4-BE49-F238E27FC236}">
                <a16:creationId xmlns:a16="http://schemas.microsoft.com/office/drawing/2014/main" id="{A40E2505-6C6E-8ABA-320D-DC4C2FA463B7}"/>
              </a:ext>
            </a:extLst>
          </p:cNvPr>
          <p:cNvSpPr/>
          <p:nvPr/>
        </p:nvSpPr>
        <p:spPr>
          <a:xfrm>
            <a:off x="1075754" y="3248682"/>
            <a:ext cx="1536824" cy="34314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META AVANCE: 1.65M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29" name="Imagen_barras" descr="image.png">
            <a:extLst>
              <a:ext uri="{FF2B5EF4-FFF2-40B4-BE49-F238E27FC236}">
                <a16:creationId xmlns:a16="http://schemas.microsoft.com/office/drawing/2014/main" id="{8B767D98-EB03-7419-18B2-57A83A5F41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64973" y="897372"/>
            <a:ext cx="5441049" cy="2034856"/>
          </a:xfrm>
          <a:prstGeom prst="rect">
            <a:avLst/>
          </a:prstGeom>
        </p:spPr>
      </p:pic>
      <p:pic>
        <p:nvPicPr>
          <p:cNvPr id="33" name="Picture 34" descr="image.png">
            <a:extLst>
              <a:ext uri="{FF2B5EF4-FFF2-40B4-BE49-F238E27FC236}">
                <a16:creationId xmlns:a16="http://schemas.microsoft.com/office/drawing/2014/main" id="{97F770EF-071A-49EF-8237-192FEFACB8B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7333" y="3248682"/>
            <a:ext cx="2198689" cy="1468639"/>
          </a:xfrm>
          <a:prstGeom prst="rect">
            <a:avLst/>
          </a:prstGeom>
        </p:spPr>
      </p:pic>
      <p:pic>
        <p:nvPicPr>
          <p:cNvPr id="35" name="Asesor" descr="image.png">
            <a:extLst>
              <a:ext uri="{FF2B5EF4-FFF2-40B4-BE49-F238E27FC236}">
                <a16:creationId xmlns:a16="http://schemas.microsoft.com/office/drawing/2014/main" id="{0E2AC5AE-AECF-CF06-1065-323DA7FB19A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77754" y="3248682"/>
            <a:ext cx="2361203" cy="1464544"/>
          </a:xfrm>
          <a:prstGeom prst="rect">
            <a:avLst/>
          </a:prstGeom>
        </p:spPr>
      </p:pic>
      <p:sp>
        <p:nvSpPr>
          <p:cNvPr id="28" name="Shape 6">
            <a:extLst>
              <a:ext uri="{FF2B5EF4-FFF2-40B4-BE49-F238E27FC236}">
                <a16:creationId xmlns:a16="http://schemas.microsoft.com/office/drawing/2014/main" id="{6E892E2C-3830-D938-95BF-83C884706599}"/>
              </a:ext>
            </a:extLst>
          </p:cNvPr>
          <p:cNvSpPr/>
          <p:nvPr/>
        </p:nvSpPr>
        <p:spPr>
          <a:xfrm>
            <a:off x="91440" y="785704"/>
            <a:ext cx="2331720" cy="329184"/>
          </a:xfrm>
          <a:prstGeom prst="rect">
            <a:avLst/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1" name="Shape 7">
            <a:extLst>
              <a:ext uri="{FF2B5EF4-FFF2-40B4-BE49-F238E27FC236}">
                <a16:creationId xmlns:a16="http://schemas.microsoft.com/office/drawing/2014/main" id="{2970F1A6-4A82-60F7-3100-2BB6CC472735}"/>
              </a:ext>
            </a:extLst>
          </p:cNvPr>
          <p:cNvSpPr/>
          <p:nvPr/>
        </p:nvSpPr>
        <p:spPr>
          <a:xfrm>
            <a:off x="182880" y="858856"/>
            <a:ext cx="164592" cy="164592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4" name="Text 8">
            <a:extLst>
              <a:ext uri="{FF2B5EF4-FFF2-40B4-BE49-F238E27FC236}">
                <a16:creationId xmlns:a16="http://schemas.microsoft.com/office/drawing/2014/main" id="{1B340E67-2F21-D7C4-DB0E-4E58739E8512}"/>
              </a:ext>
            </a:extLst>
          </p:cNvPr>
          <p:cNvSpPr/>
          <p:nvPr/>
        </p:nvSpPr>
        <p:spPr>
          <a:xfrm>
            <a:off x="402336" y="785704"/>
            <a:ext cx="200253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950" b="1" dirty="0">
                <a:solidFill>
                  <a:srgbClr val="DC2626"/>
                </a:solidFill>
              </a:rPr>
              <a:t>EN OBSERVACIÓN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0C85C88-D079-8F91-1A9D-9B8A145E206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76170" y="-37330"/>
            <a:ext cx="1298448" cy="7391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741297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" cy="658368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0" y="658368"/>
            <a:ext cx="9144000" cy="32004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01168" y="0"/>
            <a:ext cx="7498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30" dirty="0">
                <a:solidFill>
                  <a:srgbClr val="FFFFFF"/>
                </a:solidFill>
              </a:rPr>
              <a:t>BBVA CONVENIOS  |  PROVINCIA ORIENTE: Información al 18 de Julio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201168" y="1115568"/>
            <a:ext cx="2331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667085"/>
                </a:solidFill>
              </a:rPr>
              <a:t>Sub Gerente: Sheyla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166347" y="1968850"/>
            <a:ext cx="23317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0" b="1" dirty="0">
                <a:solidFill>
                  <a:srgbClr val="C00000"/>
                </a:solidFill>
              </a:rPr>
              <a:t>96.2%</a:t>
            </a:r>
            <a:endParaRPr lang="en-US" sz="7200" dirty="0">
              <a:solidFill>
                <a:srgbClr val="C00000"/>
              </a:solidFill>
            </a:endParaRPr>
          </a:p>
        </p:txBody>
      </p:sp>
      <p:sp>
        <p:nvSpPr>
          <p:cNvPr id="27" name="Shape 24"/>
          <p:cNvSpPr/>
          <p:nvPr/>
        </p:nvSpPr>
        <p:spPr>
          <a:xfrm>
            <a:off x="2651760" y="749808"/>
            <a:ext cx="18288" cy="4078224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7" name="Shape 64"/>
          <p:cNvSpPr/>
          <p:nvPr/>
        </p:nvSpPr>
        <p:spPr>
          <a:xfrm>
            <a:off x="0" y="4864608"/>
            <a:ext cx="9144000" cy="256032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8" name="Text 65"/>
          <p:cNvSpPr/>
          <p:nvPr/>
        </p:nvSpPr>
        <p:spPr>
          <a:xfrm>
            <a:off x="201168" y="4864608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667085"/>
                </a:solidFill>
              </a:rPr>
              <a:t>TU META ES NUESTRA META  ·  BBVA CONVENIOS  |  COA  |  Sheyla  |  Cierre Julio 2026</a:t>
            </a:r>
            <a:endParaRPr lang="en-US" sz="750" dirty="0"/>
          </a:p>
        </p:txBody>
      </p:sp>
      <p:sp>
        <p:nvSpPr>
          <p:cNvPr id="70" name="Text 26">
            <a:extLst>
              <a:ext uri="{FF2B5EF4-FFF2-40B4-BE49-F238E27FC236}">
                <a16:creationId xmlns:a16="http://schemas.microsoft.com/office/drawing/2014/main" id="{8E0C2926-0DB6-DEE8-581C-3B85250E44BC}"/>
              </a:ext>
            </a:extLst>
          </p:cNvPr>
          <p:cNvSpPr/>
          <p:nvPr/>
        </p:nvSpPr>
        <p:spPr>
          <a:xfrm>
            <a:off x="506544" y="1905476"/>
            <a:ext cx="139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META: 5.00M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2" name="Text 26">
            <a:extLst>
              <a:ext uri="{FF2B5EF4-FFF2-40B4-BE49-F238E27FC236}">
                <a16:creationId xmlns:a16="http://schemas.microsoft.com/office/drawing/2014/main" id="{6FE172D7-36A3-67F1-79EA-6723B1D67A6B}"/>
              </a:ext>
            </a:extLst>
          </p:cNvPr>
          <p:cNvSpPr/>
          <p:nvPr/>
        </p:nvSpPr>
        <p:spPr>
          <a:xfrm>
            <a:off x="-5634" y="3124742"/>
            <a:ext cx="139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AVANCE: 2.49M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4" name="Text 26">
            <a:extLst>
              <a:ext uri="{FF2B5EF4-FFF2-40B4-BE49-F238E27FC236}">
                <a16:creationId xmlns:a16="http://schemas.microsoft.com/office/drawing/2014/main" id="{520EAADD-646C-F993-7B08-8B352D62F52A}"/>
              </a:ext>
            </a:extLst>
          </p:cNvPr>
          <p:cNvSpPr/>
          <p:nvPr/>
        </p:nvSpPr>
        <p:spPr>
          <a:xfrm>
            <a:off x="1227598" y="3104049"/>
            <a:ext cx="1424162" cy="3311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2">
                    <a:lumMod val="50000"/>
                  </a:schemeClr>
                </a:solidFill>
              </a:rPr>
              <a:t>META AVANCE: 2.59M</a:t>
            </a:r>
            <a:endParaRPr lang="en-US" sz="1100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33" name="Imagen_barras" descr="image.png">
            <a:extLst>
              <a:ext uri="{FF2B5EF4-FFF2-40B4-BE49-F238E27FC236}">
                <a16:creationId xmlns:a16="http://schemas.microsoft.com/office/drawing/2014/main" id="{22949D2E-2703-6298-2348-A66E0E8961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57424" y="956497"/>
            <a:ext cx="4946214" cy="1832423"/>
          </a:xfrm>
          <a:prstGeom prst="rect">
            <a:avLst/>
          </a:prstGeom>
        </p:spPr>
      </p:pic>
      <p:pic>
        <p:nvPicPr>
          <p:cNvPr id="35" name="Picture 34" descr="image.png">
            <a:extLst>
              <a:ext uri="{FF2B5EF4-FFF2-40B4-BE49-F238E27FC236}">
                <a16:creationId xmlns:a16="http://schemas.microsoft.com/office/drawing/2014/main" id="{9D11C918-8487-A1B2-8C4D-296717D1CD9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28885" y="3124742"/>
            <a:ext cx="2211430" cy="1477150"/>
          </a:xfrm>
          <a:prstGeom prst="rect">
            <a:avLst/>
          </a:prstGeom>
        </p:spPr>
      </p:pic>
      <p:pic>
        <p:nvPicPr>
          <p:cNvPr id="37" name="Asesor" descr="image.png">
            <a:extLst>
              <a:ext uri="{FF2B5EF4-FFF2-40B4-BE49-F238E27FC236}">
                <a16:creationId xmlns:a16="http://schemas.microsoft.com/office/drawing/2014/main" id="{ABC338E2-1293-405F-134D-8882C6C43F1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77434" y="3124742"/>
            <a:ext cx="2374886" cy="1473031"/>
          </a:xfrm>
          <a:prstGeom prst="rect">
            <a:avLst/>
          </a:prstGeom>
        </p:spPr>
      </p:pic>
      <p:sp>
        <p:nvSpPr>
          <p:cNvPr id="8" name="Shape 6">
            <a:extLst>
              <a:ext uri="{FF2B5EF4-FFF2-40B4-BE49-F238E27FC236}">
                <a16:creationId xmlns:a16="http://schemas.microsoft.com/office/drawing/2014/main" id="{E2BA164A-6A35-7335-C2B6-FC10BA27A74B}"/>
              </a:ext>
            </a:extLst>
          </p:cNvPr>
          <p:cNvSpPr/>
          <p:nvPr/>
        </p:nvSpPr>
        <p:spPr>
          <a:xfrm>
            <a:off x="91440" y="785704"/>
            <a:ext cx="2331720" cy="329184"/>
          </a:xfrm>
          <a:prstGeom prst="rect">
            <a:avLst/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9" name="Shape 7">
            <a:extLst>
              <a:ext uri="{FF2B5EF4-FFF2-40B4-BE49-F238E27FC236}">
                <a16:creationId xmlns:a16="http://schemas.microsoft.com/office/drawing/2014/main" id="{C0E632C6-671C-F739-6A56-745B8ED2CB72}"/>
              </a:ext>
            </a:extLst>
          </p:cNvPr>
          <p:cNvSpPr/>
          <p:nvPr/>
        </p:nvSpPr>
        <p:spPr>
          <a:xfrm>
            <a:off x="182880" y="858856"/>
            <a:ext cx="164592" cy="164592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1" name="Text 8">
            <a:extLst>
              <a:ext uri="{FF2B5EF4-FFF2-40B4-BE49-F238E27FC236}">
                <a16:creationId xmlns:a16="http://schemas.microsoft.com/office/drawing/2014/main" id="{51E0B2FB-D17F-A92A-ED55-670D6500C537}"/>
              </a:ext>
            </a:extLst>
          </p:cNvPr>
          <p:cNvSpPr/>
          <p:nvPr/>
        </p:nvSpPr>
        <p:spPr>
          <a:xfrm>
            <a:off x="402336" y="785704"/>
            <a:ext cx="200253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950" b="1" dirty="0">
                <a:solidFill>
                  <a:srgbClr val="DC2626"/>
                </a:solidFill>
              </a:rPr>
              <a:t>EN OBSERVACIÓN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27354AB-69AC-6F65-C8D4-25F5E562924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76170" y="-37330"/>
            <a:ext cx="1298448" cy="739132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" cy="658368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0" y="658368"/>
            <a:ext cx="9144000" cy="32004"/>
          </a:xfrm>
          <a:prstGeom prst="rect">
            <a:avLst/>
          </a:prstGeom>
          <a:solidFill>
            <a:srgbClr val="AFCB07"/>
          </a:solidFill>
          <a:ln w="12700">
            <a:solidFill>
              <a:srgbClr val="AFCB0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201168" y="0"/>
            <a:ext cx="7498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30" dirty="0">
                <a:solidFill>
                  <a:srgbClr val="FFFFFF"/>
                </a:solidFill>
              </a:rPr>
              <a:t>BBVA CONVENIOS  |  DIAGNOSTICO Y SEGUIMIENTO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77072" y="713232"/>
            <a:ext cx="521208" cy="228600"/>
          </a:xfrm>
          <a:prstGeom prst="rect">
            <a:avLst/>
          </a:prstGeom>
          <a:solidFill>
            <a:srgbClr val="0E3854"/>
          </a:solidFill>
          <a:ln w="12700">
            <a:solidFill>
              <a:srgbClr val="0E3854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ext 5"/>
          <p:cNvSpPr/>
          <p:nvPr/>
        </p:nvSpPr>
        <p:spPr>
          <a:xfrm>
            <a:off x="8577072" y="713232"/>
            <a:ext cx="5212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2 / 3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0" y="749808"/>
            <a:ext cx="4160520" cy="310896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0" name="Text 7"/>
          <p:cNvSpPr/>
          <p:nvPr/>
        </p:nvSpPr>
        <p:spPr>
          <a:xfrm>
            <a:off x="91440" y="749808"/>
            <a:ext cx="40690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kern="0" spc="30" dirty="0">
                <a:solidFill>
                  <a:srgbClr val="FFFFFF"/>
                </a:solidFill>
              </a:rPr>
              <a:t>SEGUIMIENTO PLAN SEMANA ANTERIOR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0" y="1097280"/>
            <a:ext cx="4160520" cy="1191768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2" name="Shape 9"/>
          <p:cNvSpPr/>
          <p:nvPr/>
        </p:nvSpPr>
        <p:spPr>
          <a:xfrm>
            <a:off x="0" y="1097280"/>
            <a:ext cx="50292" cy="1191768"/>
          </a:xfrm>
          <a:prstGeom prst="rect">
            <a:avLst/>
          </a:prstGeom>
          <a:solidFill>
            <a:srgbClr val="2B7A8C"/>
          </a:solidFill>
          <a:ln w="12700">
            <a:solidFill>
              <a:srgbClr val="2B7A8C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3" name="Text 10"/>
          <p:cNvSpPr/>
          <p:nvPr/>
        </p:nvSpPr>
        <p:spPr>
          <a:xfrm>
            <a:off x="128016" y="1152144"/>
            <a:ext cx="3959352" cy="6806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01828"/>
                </a:solidFill>
              </a:rPr>
              <a:t>Segmentacion y analisis de base de datos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128016" y="1815023"/>
            <a:ext cx="39593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AFCB07"/>
                </a:solidFill>
              </a:rPr>
              <a:t>Ejecutado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0" y="2334768"/>
            <a:ext cx="4160520" cy="1191768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6" name="Shape 13"/>
          <p:cNvSpPr/>
          <p:nvPr/>
        </p:nvSpPr>
        <p:spPr>
          <a:xfrm>
            <a:off x="0" y="2334768"/>
            <a:ext cx="50292" cy="1191768"/>
          </a:xfrm>
          <a:prstGeom prst="rect">
            <a:avLst/>
          </a:prstGeom>
          <a:solidFill>
            <a:srgbClr val="2B7A8C"/>
          </a:solidFill>
          <a:ln w="12700">
            <a:solidFill>
              <a:srgbClr val="2B7A8C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7" name="Text 14"/>
          <p:cNvSpPr/>
          <p:nvPr/>
        </p:nvSpPr>
        <p:spPr>
          <a:xfrm>
            <a:off x="128016" y="2389632"/>
            <a:ext cx="3959352" cy="6806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01828"/>
                </a:solidFill>
              </a:rPr>
              <a:t>Entrenamiento continuo al equipo de ventas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128016" y="3052511"/>
            <a:ext cx="39593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AFCB07"/>
                </a:solidFill>
              </a:rPr>
              <a:t>Ejecutado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0" y="3572256"/>
            <a:ext cx="4160520" cy="1191768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0" name="Shape 17"/>
          <p:cNvSpPr/>
          <p:nvPr/>
        </p:nvSpPr>
        <p:spPr>
          <a:xfrm>
            <a:off x="0" y="3572256"/>
            <a:ext cx="50292" cy="1191768"/>
          </a:xfrm>
          <a:prstGeom prst="rect">
            <a:avLst/>
          </a:prstGeom>
          <a:solidFill>
            <a:srgbClr val="2B7A8C"/>
          </a:solidFill>
          <a:ln w="12700">
            <a:solidFill>
              <a:srgbClr val="2B7A8C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1" name="Text 18"/>
          <p:cNvSpPr/>
          <p:nvPr/>
        </p:nvSpPr>
        <p:spPr>
          <a:xfrm>
            <a:off x="128016" y="3627120"/>
            <a:ext cx="3959352" cy="6806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01828"/>
                </a:solidFill>
              </a:rPr>
              <a:t>Plan visitas presenciales + operativos por plaza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128016" y="4289999"/>
            <a:ext cx="39593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AFCB07"/>
                </a:solidFill>
              </a:rPr>
              <a:t>En proceso</a:t>
            </a:r>
            <a:endParaRPr lang="en-US" sz="900" dirty="0"/>
          </a:p>
        </p:txBody>
      </p:sp>
      <p:sp>
        <p:nvSpPr>
          <p:cNvPr id="23" name="Shape 20"/>
          <p:cNvSpPr/>
          <p:nvPr/>
        </p:nvSpPr>
        <p:spPr>
          <a:xfrm>
            <a:off x="4242816" y="749808"/>
            <a:ext cx="18288" cy="4059936"/>
          </a:xfrm>
          <a:prstGeom prst="rect">
            <a:avLst/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4" name="Shape 21"/>
          <p:cNvSpPr/>
          <p:nvPr/>
        </p:nvSpPr>
        <p:spPr>
          <a:xfrm>
            <a:off x="4343400" y="749808"/>
            <a:ext cx="4800600" cy="310896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5" name="Text 22"/>
          <p:cNvSpPr/>
          <p:nvPr/>
        </p:nvSpPr>
        <p:spPr>
          <a:xfrm>
            <a:off x="4434840" y="749808"/>
            <a:ext cx="4709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kern="0" spc="30" dirty="0">
                <a:solidFill>
                  <a:srgbClr val="FFFFFF"/>
                </a:solidFill>
              </a:rPr>
              <a:t>DIAGNOSTICO — CAUSAS RAIZ</a:t>
            </a:r>
            <a:endParaRPr lang="en-US" sz="800" dirty="0"/>
          </a:p>
        </p:txBody>
      </p:sp>
      <p:sp>
        <p:nvSpPr>
          <p:cNvPr id="26" name="Shape 23"/>
          <p:cNvSpPr/>
          <p:nvPr/>
        </p:nvSpPr>
        <p:spPr>
          <a:xfrm>
            <a:off x="4343400" y="1097280"/>
            <a:ext cx="4800600" cy="1792224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7" name="Shape 24"/>
          <p:cNvSpPr/>
          <p:nvPr/>
        </p:nvSpPr>
        <p:spPr>
          <a:xfrm>
            <a:off x="4343400" y="1097280"/>
            <a:ext cx="502920" cy="1792224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8" name="Text 25"/>
          <p:cNvSpPr/>
          <p:nvPr/>
        </p:nvSpPr>
        <p:spPr>
          <a:xfrm>
            <a:off x="4343400" y="1097280"/>
            <a:ext cx="502920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1</a:t>
            </a:r>
            <a:endParaRPr lang="en-US" sz="1800" dirty="0"/>
          </a:p>
        </p:txBody>
      </p:sp>
      <p:sp>
        <p:nvSpPr>
          <p:cNvPr id="29" name="Text 26"/>
          <p:cNvSpPr/>
          <p:nvPr/>
        </p:nvSpPr>
        <p:spPr>
          <a:xfrm>
            <a:off x="4937760" y="118872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45078"/>
                </a:solidFill>
              </a:rPr>
              <a:t>Impacto Ley 32561 — Rechazos PNP/FF.AA al 50.1%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4937760" y="1444752"/>
            <a:ext cx="4114800" cy="77961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01828"/>
                </a:solidFill>
              </a:rPr>
              <a:t>3,422 leads retirados. Impacto S/ 488K neto. COA: renuncias TOP y desistimientos PNP.</a:t>
            </a:r>
            <a:endParaRPr lang="en-US" sz="900" dirty="0"/>
          </a:p>
        </p:txBody>
      </p:sp>
      <p:sp>
        <p:nvSpPr>
          <p:cNvPr id="31" name="Shape 28"/>
          <p:cNvSpPr/>
          <p:nvPr/>
        </p:nvSpPr>
        <p:spPr>
          <a:xfrm>
            <a:off x="4937760" y="2615184"/>
            <a:ext cx="1005840" cy="219456"/>
          </a:xfrm>
          <a:prstGeom prst="rect">
            <a:avLst/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2" name="Text 29"/>
          <p:cNvSpPr/>
          <p:nvPr/>
        </p:nvSpPr>
        <p:spPr>
          <a:xfrm>
            <a:off x="4937760" y="2615184"/>
            <a:ext cx="1005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DC2626"/>
                </a:solidFill>
              </a:rPr>
              <a:t>Impacto Alto</a:t>
            </a:r>
            <a:endParaRPr lang="en-US" sz="850" dirty="0"/>
          </a:p>
        </p:txBody>
      </p:sp>
      <p:sp>
        <p:nvSpPr>
          <p:cNvPr id="33" name="Shape 30"/>
          <p:cNvSpPr/>
          <p:nvPr/>
        </p:nvSpPr>
        <p:spPr>
          <a:xfrm>
            <a:off x="4343400" y="2953512"/>
            <a:ext cx="4800600" cy="1792224"/>
          </a:xfrm>
          <a:prstGeom prst="rect">
            <a:avLst/>
          </a:prstGeom>
          <a:solidFill>
            <a:srgbClr val="FFFFFF"/>
          </a:solidFill>
          <a:ln w="635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4" name="Shape 31"/>
          <p:cNvSpPr/>
          <p:nvPr/>
        </p:nvSpPr>
        <p:spPr>
          <a:xfrm>
            <a:off x="4343400" y="2953512"/>
            <a:ext cx="502920" cy="1792224"/>
          </a:xfrm>
          <a:prstGeom prst="rect">
            <a:avLst/>
          </a:prstGeom>
          <a:solidFill>
            <a:srgbClr val="145078"/>
          </a:solidFill>
          <a:ln w="12700">
            <a:solidFill>
              <a:srgbClr val="145078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5" name="Text 32"/>
          <p:cNvSpPr/>
          <p:nvPr/>
        </p:nvSpPr>
        <p:spPr>
          <a:xfrm>
            <a:off x="4343400" y="2953512"/>
            <a:ext cx="502920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2</a:t>
            </a:r>
            <a:endParaRPr lang="en-US" sz="1800" dirty="0"/>
          </a:p>
        </p:txBody>
      </p:sp>
      <p:sp>
        <p:nvSpPr>
          <p:cNvPr id="36" name="Text 33"/>
          <p:cNvSpPr/>
          <p:nvPr/>
        </p:nvSpPr>
        <p:spPr>
          <a:xfrm>
            <a:off x="4937760" y="3044952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45078"/>
                </a:solidFill>
              </a:rPr>
              <a:t>Lima Campo con 5 pendientes de seleccion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4937760" y="3300984"/>
            <a:ext cx="4114800" cy="77961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01828"/>
                </a:solidFill>
              </a:rPr>
              <a:t>La zona mas afectada. Sin completar dotacion Lima no cierra la brecha del 17%.</a:t>
            </a:r>
            <a:endParaRPr lang="en-US" sz="900" dirty="0"/>
          </a:p>
        </p:txBody>
      </p:sp>
      <p:sp>
        <p:nvSpPr>
          <p:cNvPr id="38" name="Shape 35"/>
          <p:cNvSpPr/>
          <p:nvPr/>
        </p:nvSpPr>
        <p:spPr>
          <a:xfrm>
            <a:off x="4937760" y="4471416"/>
            <a:ext cx="1005840" cy="219456"/>
          </a:xfrm>
          <a:prstGeom prst="rect">
            <a:avLst/>
          </a:prstGeom>
          <a:solidFill>
            <a:srgbClr val="FBEDD0"/>
          </a:solidFill>
          <a:ln w="12700">
            <a:solidFill>
              <a:srgbClr val="FBEDD0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9" name="Text 36"/>
          <p:cNvSpPr/>
          <p:nvPr/>
        </p:nvSpPr>
        <p:spPr>
          <a:xfrm>
            <a:off x="4937760" y="4471416"/>
            <a:ext cx="1005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E0A024"/>
                </a:solidFill>
              </a:rPr>
              <a:t>Impacto Medio</a:t>
            </a:r>
            <a:endParaRPr lang="en-US" sz="850" dirty="0"/>
          </a:p>
        </p:txBody>
      </p:sp>
      <p:sp>
        <p:nvSpPr>
          <p:cNvPr id="42" name="Shape 39"/>
          <p:cNvSpPr/>
          <p:nvPr/>
        </p:nvSpPr>
        <p:spPr>
          <a:xfrm>
            <a:off x="0" y="4864608"/>
            <a:ext cx="9144000" cy="256032"/>
          </a:xfrm>
          <a:prstGeom prst="rect">
            <a:avLst/>
          </a:prstGeom>
          <a:solidFill>
            <a:srgbClr val="FAFBFC"/>
          </a:solidFill>
          <a:ln w="381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3" name="Text 40"/>
          <p:cNvSpPr/>
          <p:nvPr/>
        </p:nvSpPr>
        <p:spPr>
          <a:xfrm>
            <a:off x="201168" y="4864608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667085"/>
                </a:solidFill>
              </a:rPr>
              <a:t>TU META ES NUESTRA META  ·  BBVA CONVENIOS  |  DIAGNOSTICO  |  Sheyla  |  Cierre Julio 2026</a:t>
            </a:r>
            <a:endParaRPr lang="en-US" sz="750" dirty="0"/>
          </a:p>
        </p:txBody>
      </p:sp>
      <p:pic>
        <p:nvPicPr>
          <p:cNvPr id="45" name="Picture 8">
            <a:extLst>
              <a:ext uri="{FF2B5EF4-FFF2-40B4-BE49-F238E27FC236}">
                <a16:creationId xmlns:a16="http://schemas.microsoft.com/office/drawing/2014/main" id="{BE94AFF7-0D8A-F349-9403-6414FE5094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76170" y="-37330"/>
            <a:ext cx="1298448" cy="73913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>
  <clbl:label id="{51bec757-b8d9-4f0d-86eb-78a37ed8c863}" enabled="0" method="" siteId="{51bec757-b8d9-4f0d-86eb-78a37ed8c863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1926</TotalTime>
  <Words>2456</Words>
  <Application>Microsoft Office PowerPoint</Application>
  <PresentationFormat>Presentación en pantalla (16:9)</PresentationFormat>
  <Paragraphs>641</Paragraphs>
  <Slides>36</Slides>
  <Notes>36</Notes>
  <HiddenSlides>0</HiddenSlides>
  <MMClips>0</MMClips>
  <ScaleCrop>false</ScaleCrop>
  <HeadingPairs>
    <vt:vector size="6" baseType="variant">
      <vt:variant>
        <vt:lpstr>Fuentes usadas</vt:lpstr>
      </vt:variant>
      <vt:variant>
        <vt:i4>1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36</vt:i4>
      </vt:variant>
    </vt:vector>
  </HeadingPairs>
  <TitlesOfParts>
    <vt:vector size="38" baseType="lpstr">
      <vt:lpstr>Arial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Comite Semanal de Campanas — Cierre Mayo 2026</dc:title>
  <dc:subject>PptxGenJS Presentation</dc:subject>
  <dc:creator>PptxGenJS</dc:creator>
  <cp:lastModifiedBy>Jeampiere Manuel Pocomucha Toribio</cp:lastModifiedBy>
  <cp:revision>17</cp:revision>
  <dcterms:created xsi:type="dcterms:W3CDTF">2026-06-10T17:53:50Z</dcterms:created>
  <dcterms:modified xsi:type="dcterms:W3CDTF">2026-07-24T21:45:25Z</dcterms:modified>
</cp:coreProperties>
</file>