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</p:sldMasterIdLst>
  <p:notesMasterIdLst>
    <p:notesMasterId r:id="rId78"/>
  </p:notesMasterIdLst>
  <p:sldIdLst>
    <p:sldId id="256" r:id="rId10"/>
    <p:sldId id="343" r:id="rId11"/>
    <p:sldId id="344" r:id="rId12"/>
    <p:sldId id="409" r:id="rId13"/>
    <p:sldId id="346" r:id="rId14"/>
    <p:sldId id="345" r:id="rId15"/>
    <p:sldId id="347" r:id="rId16"/>
    <p:sldId id="349" r:id="rId17"/>
    <p:sldId id="348" r:id="rId18"/>
    <p:sldId id="350" r:id="rId19"/>
    <p:sldId id="351" r:id="rId20"/>
    <p:sldId id="352" r:id="rId21"/>
    <p:sldId id="407" r:id="rId22"/>
    <p:sldId id="353" r:id="rId23"/>
    <p:sldId id="354" r:id="rId24"/>
    <p:sldId id="355" r:id="rId25"/>
    <p:sldId id="356" r:id="rId26"/>
    <p:sldId id="357" r:id="rId27"/>
    <p:sldId id="358" r:id="rId28"/>
    <p:sldId id="359" r:id="rId29"/>
    <p:sldId id="360" r:id="rId30"/>
    <p:sldId id="361" r:id="rId31"/>
    <p:sldId id="362" r:id="rId32"/>
    <p:sldId id="363" r:id="rId33"/>
    <p:sldId id="364" r:id="rId34"/>
    <p:sldId id="365" r:id="rId35"/>
    <p:sldId id="408" r:id="rId36"/>
    <p:sldId id="366" r:id="rId37"/>
    <p:sldId id="367" r:id="rId38"/>
    <p:sldId id="368" r:id="rId39"/>
    <p:sldId id="369" r:id="rId40"/>
    <p:sldId id="370" r:id="rId41"/>
    <p:sldId id="371" r:id="rId42"/>
    <p:sldId id="372" r:id="rId43"/>
    <p:sldId id="373" r:id="rId44"/>
    <p:sldId id="374" r:id="rId45"/>
    <p:sldId id="375" r:id="rId46"/>
    <p:sldId id="376" r:id="rId47"/>
    <p:sldId id="377" r:id="rId48"/>
    <p:sldId id="378" r:id="rId49"/>
    <p:sldId id="379" r:id="rId50"/>
    <p:sldId id="380" r:id="rId51"/>
    <p:sldId id="381" r:id="rId52"/>
    <p:sldId id="382" r:id="rId53"/>
    <p:sldId id="383" r:id="rId54"/>
    <p:sldId id="384" r:id="rId55"/>
    <p:sldId id="385" r:id="rId56"/>
    <p:sldId id="386" r:id="rId57"/>
    <p:sldId id="387" r:id="rId58"/>
    <p:sldId id="388" r:id="rId59"/>
    <p:sldId id="389" r:id="rId60"/>
    <p:sldId id="390" r:id="rId61"/>
    <p:sldId id="391" r:id="rId62"/>
    <p:sldId id="392" r:id="rId63"/>
    <p:sldId id="393" r:id="rId64"/>
    <p:sldId id="394" r:id="rId65"/>
    <p:sldId id="395" r:id="rId66"/>
    <p:sldId id="396" r:id="rId67"/>
    <p:sldId id="397" r:id="rId68"/>
    <p:sldId id="398" r:id="rId69"/>
    <p:sldId id="399" r:id="rId70"/>
    <p:sldId id="400" r:id="rId71"/>
    <p:sldId id="401" r:id="rId72"/>
    <p:sldId id="402" r:id="rId73"/>
    <p:sldId id="403" r:id="rId74"/>
    <p:sldId id="404" r:id="rId75"/>
    <p:sldId id="405" r:id="rId76"/>
    <p:sldId id="406" r:id="rId77"/>
  </p:sldIdLst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8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9" Type="http://schemas.openxmlformats.org/officeDocument/2006/relationships/slide" Target="slides/slide30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63" Type="http://schemas.openxmlformats.org/officeDocument/2006/relationships/slide" Target="slides/slide54.xml"/><Relationship Id="rId68" Type="http://schemas.openxmlformats.org/officeDocument/2006/relationships/slide" Target="slides/slide59.xml"/><Relationship Id="rId76" Type="http://schemas.openxmlformats.org/officeDocument/2006/relationships/slide" Target="slides/slide67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6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66" Type="http://schemas.openxmlformats.org/officeDocument/2006/relationships/slide" Target="slides/slide57.xml"/><Relationship Id="rId74" Type="http://schemas.openxmlformats.org/officeDocument/2006/relationships/slide" Target="slides/slide65.xml"/><Relationship Id="rId79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2.xml"/><Relationship Id="rId82" Type="http://schemas.openxmlformats.org/officeDocument/2006/relationships/tableStyles" Target="tableStyles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slide" Target="slides/slide56.xml"/><Relationship Id="rId73" Type="http://schemas.openxmlformats.org/officeDocument/2006/relationships/slide" Target="slides/slide64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slide" Target="slides/slide55.xml"/><Relationship Id="rId69" Type="http://schemas.openxmlformats.org/officeDocument/2006/relationships/slide" Target="slides/slide60.xml"/><Relationship Id="rId77" Type="http://schemas.openxmlformats.org/officeDocument/2006/relationships/slide" Target="slides/slide68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2.xml"/><Relationship Id="rId72" Type="http://schemas.openxmlformats.org/officeDocument/2006/relationships/slide" Target="slides/slide63.xml"/><Relationship Id="rId80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67" Type="http://schemas.openxmlformats.org/officeDocument/2006/relationships/slide" Target="slides/slide58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slide" Target="slides/slide53.xml"/><Relationship Id="rId70" Type="http://schemas.openxmlformats.org/officeDocument/2006/relationships/slide" Target="slides/slide61.xml"/><Relationship Id="rId75" Type="http://schemas.openxmlformats.org/officeDocument/2006/relationships/slide" Target="slides/slide66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6888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841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496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4886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484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06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402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215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206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7207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45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6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1.png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8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9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0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2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7.png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3.png"/><Relationship Id="rId4" Type="http://schemas.openxmlformats.org/officeDocument/2006/relationships/image" Target="../media/image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6060" y="1804416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165463" y="2020516"/>
            <a:ext cx="11704320" cy="1950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5867" b="1" kern="0" spc="-67" dirty="0">
                <a:solidFill>
                  <a:srgbClr val="FFFFFF"/>
                </a:solidFill>
                <a:latin typeface="Calibri" panose="020F0502020204030204"/>
              </a:rPr>
              <a:t>COMITÉ SEMANAL DE CAMPAÑAS</a:t>
            </a:r>
            <a:endParaRPr lang="en-US" sz="5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243840" y="3971236"/>
            <a:ext cx="117043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267" dirty="0">
                <a:solidFill>
                  <a:srgbClr val="FFFFFF"/>
                </a:solidFill>
                <a:latin typeface="Calibri" panose="020F0502020204030204"/>
              </a:rPr>
              <a:t>Consolidado · Agosto 2026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99767" y="4937760"/>
            <a:ext cx="117043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dirty="0">
                <a:solidFill>
                  <a:srgbClr val="FFFFFF"/>
                </a:solidFill>
                <a:latin typeface="Calibri" panose="020F0502020204030204"/>
              </a:rPr>
              <a:t>Agosto 2026  ·  MF Asesoría y Consultoría  &amp;  PlusMetas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3" y="-248411"/>
            <a:ext cx="2411404" cy="2411404"/>
          </a:xfrm>
          <a:prstGeom prst="rect">
            <a:avLst/>
          </a:prstGeom>
        </p:spPr>
      </p:pic>
      <p:pic>
        <p:nvPicPr>
          <p:cNvPr id="11" name="LogoPlusMetas"/>
          <p:cNvPicPr/>
          <p:nvPr/>
        </p:nvPicPr>
        <p:blipFill>
          <a:blip r:embed="rId4"/>
          <a:stretch>
            <a:fillRect/>
          </a:stretch>
        </p:blipFill>
        <p:spPr>
          <a:xfrm>
            <a:off x="8717280" y="341377"/>
            <a:ext cx="3169920" cy="18044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370584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Scotiabank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Iván Vilcapoma  ·  Gerente de SBP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E947DDDF-F7B2-D8C9-A611-5C35853CF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SBP CONVENIOS  |LIMA · TELECAMPO + PROV. · NORTE · COA· SUR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109472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/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·  SBP CONVENIOS  |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6B150B"/>
                </a:solidFill>
              </a:rPr>
              <a:t>SBP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473" y="9219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GENERAL: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LIMA: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29.8%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73.51K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246.4K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C0392B"/>
                </a:solidFill>
              </a:rPr>
              <a:t>META: 1.80M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83.9%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767.9K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 err="1">
                <a:solidFill>
                  <a:srgbClr val="667085"/>
                </a:solidFill>
              </a:rPr>
              <a:t/>
            </a: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55.1%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584.9K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COA: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35.6%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4.70M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370.5K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1.04M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SBP CONVENIOS  |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 err="1">
                <a:solidFill>
                  <a:srgbClr val="667085"/>
                </a:solidFill>
              </a:rPr>
              <a:t/>
            </a: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500.0K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129.0K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SBP CONVENIOS  |  DIAGNÓSTICO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/>
              <a:t>Rescatar la plaza de Trujillo</a:t>
            </a: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s-ES" sz="1267" dirty="0">
                <a:solidFill>
                  <a:srgbClr val="101828"/>
                </a:solidFill>
              </a:rPr>
              <a:t>Completar la dotación del COA</a:t>
            </a: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DIAGNÓSTICO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Recuperar plaza Trujillo en Norte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67" b="1" dirty="0">
                <a:solidFill>
                  <a:srgbClr val="6B150B"/>
                </a:solidFill>
              </a:rPr>
              <a:t>Dotación al 100% en COA</a:t>
            </a: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>
                <a:solidFill>
                  <a:srgbClr val="101828"/>
                </a:solidFill>
              </a:rPr>
              <a:t>Completar la dotación del COA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SBP CONVENIOS    | 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sp>
        <p:nvSpPr>
          <p:cNvPr id="40" name="Text 34">
            <a:extLst>
              <a:ext uri="{FF2B5EF4-FFF2-40B4-BE49-F238E27FC236}">
                <a16:creationId xmlns:a16="http://schemas.microsoft.com/office/drawing/2014/main" id="{C42B5418-EDDE-7005-E049-24FF2A3FA716}"/>
              </a:ext>
            </a:extLst>
          </p:cNvPr>
          <p:cNvSpPr/>
          <p:nvPr/>
        </p:nvSpPr>
        <p:spPr>
          <a:xfrm>
            <a:off x="6583680" y="182315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200" dirty="0" err="1">
                <a:solidFill>
                  <a:srgbClr val="101828"/>
                </a:solidFill>
              </a:rPr>
              <a:t>Re-prospectar</a:t>
            </a:r>
            <a:r>
              <a:rPr lang="es-ES" sz="1200" dirty="0">
                <a:solidFill>
                  <a:srgbClr val="101828"/>
                </a:solidFill>
              </a:rPr>
              <a:t> (maduración ~10 días); nueva política: luchar cada rechazo.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70560" y="2487492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6933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0560" y="158960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67" b="1" dirty="0">
                <a:solidFill>
                  <a:srgbClr val="FFFFFF"/>
                </a:solidFill>
              </a:rPr>
              <a:t>BBVA Convenios</a:t>
            </a:r>
            <a:endParaRPr lang="en-US" sz="4267" dirty="0"/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Sheyla Ramos  ·  Sub Gerenta de BBVA Convenios</a:t>
            </a:r>
            <a:endParaRPr lang="en-US" sz="1867" dirty="0"/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B900F1C-9A00-42F4-8F13-6C3836BD9D8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2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109472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D97706"/>
                </a:solidFill>
              </a:rPr>
              <a:t>EN SEGUIMIENTO</a:t>
            </a:r>
            <a:endParaRPr lang="en-US" sz="1333" dirty="0"/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7085"/>
                </a:solidFill>
              </a:rPr>
              <a:t/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87%</a:t>
            </a:r>
            <a:endParaRPr lang="en-US" sz="10667" dirty="0"/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ACTIVOS TOTAL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69</a:t>
            </a:r>
            <a:endParaRPr lang="en-US" sz="2933" dirty="0"/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5</a:t>
            </a:r>
            <a:endParaRPr lang="en-US" sz="2933" dirty="0"/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10</a:t>
            </a:r>
            <a:endParaRPr lang="en-US" sz="2933" dirty="0"/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79</a:t>
            </a:r>
            <a:endParaRPr lang="en-US" sz="2933" dirty="0"/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667085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145078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/>
          <p:cNvSpPr/>
          <p:nvPr/>
        </p:nvSpPr>
        <p:spPr>
          <a:xfrm>
            <a:off x="0" y="4364285"/>
            <a:ext cx="12192000" cy="375513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243840" y="4364285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/>
          <p:cNvSpPr/>
          <p:nvPr/>
        </p:nvSpPr>
        <p:spPr>
          <a:xfrm>
            <a:off x="3009933" y="435002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/>
          <p:cNvSpPr/>
          <p:nvPr/>
        </p:nvSpPr>
        <p:spPr>
          <a:xfrm>
            <a:off x="6035040" y="4364285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/>
          <p:cNvSpPr/>
          <p:nvPr/>
        </p:nvSpPr>
        <p:spPr>
          <a:xfrm>
            <a:off x="8875776" y="436428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/>
          <p:cNvSpPr/>
          <p:nvPr/>
        </p:nvSpPr>
        <p:spPr>
          <a:xfrm>
            <a:off x="10058400" y="436428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0" y="4808807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1" name="Text 38"/>
          <p:cNvSpPr/>
          <p:nvPr/>
        </p:nvSpPr>
        <p:spPr>
          <a:xfrm>
            <a:off x="243840" y="4808807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Lima</a:t>
            </a:r>
            <a:endParaRPr lang="en-US" sz="1067" dirty="0"/>
          </a:p>
        </p:txBody>
      </p:sp>
      <p:sp>
        <p:nvSpPr>
          <p:cNvPr id="42" name="Text 39"/>
          <p:cNvSpPr/>
          <p:nvPr/>
        </p:nvSpPr>
        <p:spPr>
          <a:xfrm>
            <a:off x="3274475" y="48060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12</a:t>
            </a:r>
            <a:endParaRPr lang="en-US" sz="1067" dirty="0"/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4" name="Shape 41"/>
          <p:cNvSpPr/>
          <p:nvPr/>
        </p:nvSpPr>
        <p:spPr>
          <a:xfrm>
            <a:off x="6035040" y="4913951"/>
            <a:ext cx="212506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5" name="Text 42"/>
          <p:cNvSpPr/>
          <p:nvPr/>
        </p:nvSpPr>
        <p:spPr>
          <a:xfrm>
            <a:off x="8875776" y="4808807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83%</a:t>
            </a:r>
            <a:endParaRPr lang="en-US" sz="1067" dirty="0"/>
          </a:p>
        </p:txBody>
      </p:sp>
      <p:sp>
        <p:nvSpPr>
          <p:cNvPr id="46" name="Text 43"/>
          <p:cNvSpPr/>
          <p:nvPr/>
        </p:nvSpPr>
        <p:spPr>
          <a:xfrm>
            <a:off x="10058400" y="4808807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47" name="Shape 44"/>
          <p:cNvSpPr/>
          <p:nvPr/>
        </p:nvSpPr>
        <p:spPr>
          <a:xfrm>
            <a:off x="0" y="5184320"/>
            <a:ext cx="12192000" cy="375513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48" name="Text 45"/>
          <p:cNvSpPr/>
          <p:nvPr/>
        </p:nvSpPr>
        <p:spPr>
          <a:xfrm>
            <a:off x="243840" y="518432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Telecampo</a:t>
            </a:r>
            <a:endParaRPr lang="en-US" sz="1067" dirty="0"/>
          </a:p>
        </p:txBody>
      </p:sp>
      <p:sp>
        <p:nvSpPr>
          <p:cNvPr id="49" name="Text 46"/>
          <p:cNvSpPr/>
          <p:nvPr/>
        </p:nvSpPr>
        <p:spPr>
          <a:xfrm>
            <a:off x="3274475" y="51815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20</a:t>
            </a:r>
            <a:endParaRPr lang="en-US" sz="1067" dirty="0"/>
          </a:p>
        </p:txBody>
      </p:sp>
      <p:sp>
        <p:nvSpPr>
          <p:cNvPr id="50" name="Shape 47"/>
          <p:cNvSpPr/>
          <p:nvPr/>
        </p:nvSpPr>
        <p:spPr>
          <a:xfrm>
            <a:off x="6035040" y="528946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1" name="Shape 48"/>
          <p:cNvSpPr/>
          <p:nvPr/>
        </p:nvSpPr>
        <p:spPr>
          <a:xfrm>
            <a:off x="6035040" y="5289464"/>
            <a:ext cx="2304288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2" name="Text 49"/>
          <p:cNvSpPr/>
          <p:nvPr/>
        </p:nvSpPr>
        <p:spPr>
          <a:xfrm>
            <a:off x="8875776" y="518432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059669"/>
                </a:solidFill>
              </a:rPr>
              <a:t>90%</a:t>
            </a:r>
            <a:endParaRPr lang="en-US" sz="1067" dirty="0"/>
          </a:p>
        </p:txBody>
      </p:sp>
      <p:sp>
        <p:nvSpPr>
          <p:cNvPr id="53" name="Text 50"/>
          <p:cNvSpPr/>
          <p:nvPr/>
        </p:nvSpPr>
        <p:spPr>
          <a:xfrm>
            <a:off x="10058400" y="518432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54" name="Shape 51"/>
          <p:cNvSpPr/>
          <p:nvPr/>
        </p:nvSpPr>
        <p:spPr>
          <a:xfrm>
            <a:off x="0" y="5559835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867" dirty="0"/>
          </a:p>
        </p:txBody>
      </p:sp>
      <p:sp>
        <p:nvSpPr>
          <p:cNvPr id="55" name="Text 52"/>
          <p:cNvSpPr/>
          <p:nvPr/>
        </p:nvSpPr>
        <p:spPr>
          <a:xfrm>
            <a:off x="243840" y="5559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Norte</a:t>
            </a:r>
            <a:endParaRPr lang="en-US" sz="1067" dirty="0"/>
          </a:p>
        </p:txBody>
      </p:sp>
      <p:sp>
        <p:nvSpPr>
          <p:cNvPr id="56" name="Text 53"/>
          <p:cNvSpPr/>
          <p:nvPr/>
        </p:nvSpPr>
        <p:spPr>
          <a:xfrm>
            <a:off x="3274475" y="555707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25</a:t>
            </a:r>
            <a:endParaRPr lang="en-US" sz="1067" dirty="0"/>
          </a:p>
        </p:txBody>
      </p:sp>
      <p:sp>
        <p:nvSpPr>
          <p:cNvPr id="57" name="Shape 54"/>
          <p:cNvSpPr/>
          <p:nvPr/>
        </p:nvSpPr>
        <p:spPr>
          <a:xfrm>
            <a:off x="6035040" y="566497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8" name="Shape 55"/>
          <p:cNvSpPr/>
          <p:nvPr/>
        </p:nvSpPr>
        <p:spPr>
          <a:xfrm>
            <a:off x="6035040" y="5664977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59" name="Text 56"/>
          <p:cNvSpPr/>
          <p:nvPr/>
        </p:nvSpPr>
        <p:spPr>
          <a:xfrm>
            <a:off x="8875776" y="5559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88%</a:t>
            </a:r>
            <a:endParaRPr lang="en-US" sz="1067" dirty="0"/>
          </a:p>
        </p:txBody>
      </p:sp>
      <p:sp>
        <p:nvSpPr>
          <p:cNvPr id="60" name="Text 57"/>
          <p:cNvSpPr/>
          <p:nvPr/>
        </p:nvSpPr>
        <p:spPr>
          <a:xfrm>
            <a:off x="10058400" y="5559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2" name="Text 59"/>
          <p:cNvSpPr/>
          <p:nvPr/>
        </p:nvSpPr>
        <p:spPr>
          <a:xfrm>
            <a:off x="253367" y="620939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Oriente</a:t>
            </a:r>
            <a:endParaRPr lang="en-US" sz="1067" dirty="0"/>
          </a:p>
        </p:txBody>
      </p:sp>
      <p:sp>
        <p:nvSpPr>
          <p:cNvPr id="63" name="Text 60"/>
          <p:cNvSpPr/>
          <p:nvPr/>
        </p:nvSpPr>
        <p:spPr>
          <a:xfrm>
            <a:off x="3274475" y="5932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64" name="Shape 61"/>
          <p:cNvSpPr/>
          <p:nvPr/>
        </p:nvSpPr>
        <p:spPr>
          <a:xfrm>
            <a:off x="6035040" y="6040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5" name="Shape 62"/>
          <p:cNvSpPr/>
          <p:nvPr/>
        </p:nvSpPr>
        <p:spPr>
          <a:xfrm>
            <a:off x="6035040" y="6040492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66" name="Text 63"/>
          <p:cNvSpPr/>
          <p:nvPr/>
        </p:nvSpPr>
        <p:spPr>
          <a:xfrm>
            <a:off x="8875776" y="593534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67" name="Text 64"/>
          <p:cNvSpPr/>
          <p:nvPr/>
        </p:nvSpPr>
        <p:spPr>
          <a:xfrm>
            <a:off x="10058400" y="593534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67085"/>
                </a:solidFill>
              </a:rPr>
              <a:t>TU META ES NUESTRA META  ·  BBVA CONVENIOS  |   Agosto 2026</a:t>
            </a:r>
            <a:endParaRPr lang="en-US" sz="8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49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40</a:t>
            </a:r>
            <a:endParaRPr lang="en-US" sz="1267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20</a:t>
            </a:r>
            <a:endParaRPr lang="en-US" sz="1067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28</a:t>
            </a:r>
            <a:endParaRPr lang="en-US" sz="1067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145078"/>
                </a:solidFill>
              </a:rPr>
              <a:t>BBVA Conv. Sur</a:t>
            </a:r>
            <a:endParaRPr lang="en-US" sz="1067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01828"/>
                </a:solidFill>
              </a:rPr>
              <a:t>22</a:t>
            </a:r>
            <a:endParaRPr lang="en-US" sz="1067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4</a:t>
            </a:r>
            <a:endParaRPr lang="en-US" sz="1067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4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867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dirty="0">
                <a:solidFill>
                  <a:srgbClr val="111010"/>
                </a:solidFill>
              </a:rPr>
              <a:t>900</a:t>
            </a:r>
            <a:endParaRPr lang="en-US" sz="1067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dirty="0">
                <a:solidFill>
                  <a:srgbClr val="D97706"/>
                </a:solidFill>
              </a:rPr>
              <a:t>86%</a:t>
            </a:r>
            <a:endParaRPr lang="en-US" sz="1067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33" i="1" dirty="0">
                <a:solidFill>
                  <a:srgbClr val="667085"/>
                </a:solidFill>
              </a:rPr>
              <a:t>700</a:t>
            </a:r>
            <a:endParaRPr lang="en-US" sz="933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3853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47702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81550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15399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49247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583095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3" name="dato_manual"/>
          <p:cNvSpPr>
            <a:spLocks noGrp="1"/>
          </p:cNvSpPr>
          <p:nvPr/>
        </p:nvSpPr>
        <p:spPr>
          <a:xfrm>
            <a:off x="3374745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4" name="dato_manual"/>
          <p:cNvSpPr>
            <a:spLocks noGrp="1"/>
          </p:cNvSpPr>
          <p:nvPr/>
        </p:nvSpPr>
        <p:spPr>
          <a:xfrm>
            <a:off x="4779264" y="61694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GENERAL: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/>
            </a:r>
            <a:r>
              <a:rPr lang="en-US" sz="1133" i="1" dirty="0" err="1">
                <a:solidFill>
                  <a:srgbClr val="667085"/>
                </a:solidFill>
              </a:rPr>
              <a:t/>
            </a: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TELECAMPO: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/>
            </a:r>
            <a:r>
              <a:rPr lang="en-US" sz="1133" i="1" dirty="0" err="1">
                <a:solidFill>
                  <a:srgbClr val="667085"/>
                </a:solidFill>
              </a:rPr>
              <a:t/>
            </a: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63.2%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500.9K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792.1K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CENTRO: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0.0%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387.1K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LIMA CAMPO: Información al 8 de Agosto  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182880" y="167030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104%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7.70M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950.5K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918.1K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NORTE: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/>
            </a:r>
            <a:r>
              <a:rPr lang="en-US" sz="1133" i="1" dirty="0" err="1">
                <a:solidFill>
                  <a:srgbClr val="667085"/>
                </a:solidFill>
              </a:rPr>
              <a:t/>
            </a: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76.2%</a:t>
            </a:r>
            <a:endParaRPr lang="en-US" sz="88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TU META ES NUESTRA META  ·  BBVA CONVENIOS  |   Agosto 2026</a:t>
            </a:r>
            <a:endParaRPr lang="en-US" sz="933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825.8K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1.08M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BBVA CONVENIOS  | PROVINCIA SUR:  Información al 8 de Agosto </a:t>
            </a:r>
            <a:endParaRPr lang="en-US" sz="16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4</a:t>
            </a:r>
            <a:endParaRPr lang="en-US" sz="10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/>
            </a:r>
            <a:r>
              <a:rPr lang="en-US" sz="1133" i="1" dirty="0" err="1">
                <a:solidFill>
                  <a:srgbClr val="667085"/>
                </a:solidFill>
              </a:rPr>
              <a:t/>
            </a: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16.0%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3.80M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106.5K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667.5K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PROVINCIA ORIENTE: Información al 8 de Agosto</a:t>
            </a:r>
            <a:endParaRPr lang="en-US" sz="16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/>
            </a:r>
            <a:r>
              <a:rPr lang="en-US" sz="1133" i="1" dirty="0" err="1">
                <a:solidFill>
                  <a:srgbClr val="667085"/>
                </a:solidFill>
              </a:rPr>
              <a:t/>
            </a:r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8CA61E"/>
                </a:solidFill>
              </a:rPr>
              <a:t>157%</a:t>
            </a:r>
            <a:endParaRPr lang="en-US" sz="9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80491" y="1048512"/>
            <a:ext cx="24384" cy="5437632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886.2K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565.7K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EAF0D2"/>
          </a:solidFill>
          <a:ln w="16933">
            <a:solidFill>
              <a:srgbClr val="EAF0D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8CA61E"/>
          </a:solidFill>
          <a:ln w="16933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6933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BBVA CONVENIOS  |  DIAGNÓSTICO Y SEGUIMIENTO</a:t>
            </a:r>
            <a:endParaRPr lang="en-US" sz="1667" dirty="0"/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6933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6933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6933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DIAGNÓSTICO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6933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/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6933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0A024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508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33" i="1" dirty="0">
                <a:solidFill>
                  <a:srgbClr val="667085"/>
                </a:solidFill>
              </a:rPr>
              <a:t>·  BBVA CONVENIOS  |   Agosto 2026</a:t>
            </a:r>
            <a:endParaRPr lang="en-US" sz="933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176784" y="1605443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Scotiabank Tarjetas de Crédito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Christian Passara : Sub Gerente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Image result for scotiabank">
            <a:extLst>
              <a:ext uri="{FF2B5EF4-FFF2-40B4-BE49-F238E27FC236}">
                <a16:creationId xmlns:a16="http://schemas.microsoft.com/office/drawing/2014/main" id="{A00C97D8-5704-2398-DCDF-3C515195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4937760"/>
            <a:ext cx="1239028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SCOTIABANK TARJETAS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09472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/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Scotiabank Tarjetas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</a:rPr>
              <a:t>SCOTIABANK TC    |  DIAGNÓSTICO    |  Agosto 2026</a:t>
            </a:r>
            <a:endParaRPr lang="en-US" sz="1000" dirty="0">
              <a:solidFill>
                <a:prstClr val="black"/>
              </a:solidFill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B73DF2-1531-786C-804D-6E358661C57B}"/>
              </a:ext>
            </a:extLst>
          </p:cNvPr>
          <p:cNvSpPr/>
          <p:nvPr/>
        </p:nvSpPr>
        <p:spPr>
          <a:xfrm>
            <a:off x="390144" y="3413761"/>
            <a:ext cx="2152235" cy="1294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es-PE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61288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88.0%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390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7229" y="5120640"/>
            <a:ext cx="1115126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SCOTIABANK TARJETAS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Superar las 1,000 tarjetas aprobadas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Sostener la productividad y completar al equipo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DIAGNÓSTICO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467" b="1" dirty="0">
                <a:solidFill>
                  <a:srgbClr val="6B150B"/>
                </a:solidFill>
                <a:latin typeface="Calibri" panose="020F0502020204030204"/>
              </a:rPr>
              <a:t>Meta 1,000 tarjetas en agosto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Superar la meta de 1000 tarjetas aprobadas.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Completar la dotación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Dotación 100% completa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3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SCOTIABANK TC    |  DIAGNÓSTICO  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36690" y="251788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86931" y="15180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BCP Convenios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4324" y="3084576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Jhonny Vega  ·  Sub Gerente de BCP Convenios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814324" y="3792728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4501" y="4219448"/>
            <a:ext cx="5047499" cy="28732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8C003E7-D288-9D3B-BB30-D56C0BF91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5166360"/>
            <a:ext cx="3325897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GENERAL: BCP CONVENIOS  |LIMA · TELECAMPO +PROV. · NORTE · SUR · ORIENTE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09472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87%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ACTIVOS TOTAL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69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79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364286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364286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009933" y="435002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364286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36428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36428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08808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08808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Lima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274475" y="48060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12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13951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1" y="4913951"/>
            <a:ext cx="212506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08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83%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08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4321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4321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Telecampo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274475" y="518156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8946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289465"/>
            <a:ext cx="2304288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4321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4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559836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559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Norte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274475" y="555707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664978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1" y="5664978"/>
            <a:ext cx="2253081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559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88%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559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53367" y="620939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Oriente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274475" y="59325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040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040493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935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935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-15240" y="6600815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800" i="1" dirty="0">
                <a:solidFill>
                  <a:srgbClr val="667085"/>
                </a:solidFill>
                <a:latin typeface="Calibri" panose="020F0502020204030204"/>
              </a:rPr>
              <a:t>TU META ES NUESTRA META  ·  BCP CONVENIOS  |  Cierre Agosto 2026</a:t>
            </a:r>
            <a:endParaRPr lang="en-US" sz="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6787700" y="48111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6845717" y="519185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6821333" y="55560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6821333" y="592315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4138149" y="43668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4408117" y="490139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4426383" y="521351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4448883" y="558764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4481225" y="5928657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247383" y="589436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6B150B"/>
                </a:solidFill>
                <a:latin typeface="Calibri" panose="020F0502020204030204"/>
              </a:rPr>
              <a:t>BCP Conv. Sur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3283499" y="621645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01828"/>
                </a:solidFill>
                <a:latin typeface="Calibri" panose="020F0502020204030204"/>
              </a:rPr>
              <a:t>22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4488896" y="62468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6088723" y="6347205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6069912" y="6348119"/>
            <a:ext cx="2201875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1867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6856205" y="623078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8894951" y="623056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dirty="0">
                <a:solidFill>
                  <a:srgbClr val="D97706"/>
                </a:solidFill>
                <a:latin typeface="Calibri" panose="020F0502020204030204"/>
              </a:rPr>
              <a:t>86%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10077575" y="623056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9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933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38785"/>
            <a:ext cx="12192000" cy="5643743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3657600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5812535" y="1917607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374745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4779264" y="416674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374745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4779264" y="456164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3374745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4779264" y="495654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3374745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4779264" y="5351440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3374745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4779264" y="574633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3374745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4779264" y="614123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GENERAL: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LIMA: Informacion al 8 de Agosto 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21920" y="1452471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40.7%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8.50M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893.4K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2.19M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TELECAMPO: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28.4%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219.8K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774.2K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7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23.9%</a:t>
            </a:r>
            <a:endParaRPr lang="en-US" sz="88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370.7K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NORTE II:  Información al 8 de Agosto 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36.9%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3560064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6.00M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571.5K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1.55M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SUR/ORIENTE: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23.6%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395.7K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1.68M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987552"/>
            <a:ext cx="8412480" cy="3017520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133088"/>
            <a:ext cx="4096512" cy="2304288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133088"/>
            <a:ext cx="3931920" cy="2231136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5445728"/>
            <a:ext cx="2286000" cy="58426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BCP CONVENIOS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79008" y="983179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DIAGNÓSTICO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5791200" y="3938016"/>
            <a:ext cx="6400800" cy="238963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0A024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6933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207264" y="145867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267" b="1" dirty="0">
                <a:solidFill>
                  <a:srgbClr val="FFFFFF"/>
                </a:solidFill>
              </a:rPr>
              <a:t>Efectiva - Fonocompras - Diners - BanBif</a:t>
            </a:r>
            <a:endParaRPr lang="en-US" sz="4267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67" dirty="0">
                <a:solidFill>
                  <a:srgbClr val="FFFFFF"/>
                </a:solidFill>
              </a:rPr>
              <a:t>Monica Mogollon: Subgerenta de Ventas</a:t>
            </a:r>
            <a:endParaRPr lang="en-US" sz="1867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FFFFFF"/>
                </a:solidFill>
              </a:rPr>
              <a:t>Agosto 2026</a:t>
            </a:r>
            <a:endParaRPr lang="en-US" sz="16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5104" y="4894384"/>
            <a:ext cx="2411404" cy="2411404"/>
          </a:xfrm>
          <a:prstGeom prst="rect">
            <a:avLst/>
          </a:prstGeom>
        </p:spPr>
      </p:pic>
      <p:pic>
        <p:nvPicPr>
          <p:cNvPr id="14" name="Cli_ef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623560"/>
            <a:ext cx="640080" cy="640080"/>
          </a:xfrm>
          <a:prstGeom prst="rect">
            <a:avLst/>
          </a:prstGeom>
        </p:spPr>
      </p:pic>
      <p:sp>
        <p:nvSpPr>
          <p:cNvPr id="15" name="Cli_card"/>
          <p:cNvSpPr/>
          <p:nvPr/>
        </p:nvSpPr>
        <p:spPr>
          <a:xfrm>
            <a:off x="1874519" y="5623560"/>
            <a:ext cx="1463039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pic>
        <p:nvPicPr>
          <p:cNvPr id="16" name="Cli_efecti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5742432"/>
            <a:ext cx="1097279" cy="402335"/>
          </a:xfrm>
          <a:prstGeom prst="rect">
            <a:avLst/>
          </a:prstGeom>
        </p:spPr>
      </p:pic>
      <p:sp>
        <p:nvSpPr>
          <p:cNvPr id="17" name="Cli_card"/>
          <p:cNvSpPr/>
          <p:nvPr/>
        </p:nvSpPr>
        <p:spPr>
          <a:xfrm>
            <a:off x="3794760" y="5623560"/>
            <a:ext cx="1837553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pic>
        <p:nvPicPr>
          <p:cNvPr id="18" name="Cli_banbi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7640" y="5742432"/>
            <a:ext cx="1471793" cy="402335"/>
          </a:xfrm>
          <a:prstGeom prst="rect">
            <a:avLst/>
          </a:prstGeom>
        </p:spPr>
      </p:pic>
      <p:sp>
        <p:nvSpPr>
          <p:cNvPr id="19" name="Cli_card"/>
          <p:cNvSpPr/>
          <p:nvPr/>
        </p:nvSpPr>
        <p:spPr>
          <a:xfrm>
            <a:off x="5897880" y="5623560"/>
            <a:ext cx="1937931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pic>
        <p:nvPicPr>
          <p:cNvPr id="20" name="Cli_diner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0760" y="5742432"/>
            <a:ext cx="1572171" cy="40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RESUMEN GENERAL|  EFECTIVA· FONOCOMPRAS · DINERS TC · BANBIF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6933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390144" y="1097280"/>
            <a:ext cx="243840" cy="243840"/>
          </a:xfrm>
          <a:prstGeom prst="ellipse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A9189"/>
                </a:solidFill>
              </a:rPr>
              <a:t/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667" b="1" dirty="0">
                <a:solidFill>
                  <a:srgbClr val="D97706"/>
                </a:solidFill>
              </a:rPr>
              <a:t>89%</a:t>
            </a:r>
            <a:endParaRPr lang="en-US" sz="106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9189"/>
                </a:solidFill>
              </a:rPr>
              <a:t>Avance promedio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3511296" y="999744"/>
            <a:ext cx="26823" cy="5425440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CONECTADOS</a:t>
            </a:r>
            <a:endParaRPr lang="en-US" sz="104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120</a:t>
            </a:r>
            <a:endParaRPr lang="en-US" sz="2933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DOTACION</a:t>
            </a:r>
            <a:endParaRPr lang="en-US" sz="104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130</a:t>
            </a:r>
            <a:endParaRPr lang="en-US" sz="2933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SELECCION</a:t>
            </a:r>
            <a:endParaRPr lang="en-US" sz="104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2</a:t>
            </a:r>
            <a:endParaRPr lang="en-US" sz="2933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PEND. INDUCCION</a:t>
            </a:r>
            <a:endParaRPr lang="en-US" sz="104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12</a:t>
            </a:r>
            <a:endParaRPr lang="en-US" sz="2933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PRESUPUESTO</a:t>
            </a:r>
            <a:endParaRPr lang="en-US" sz="104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140</a:t>
            </a:r>
            <a:endParaRPr lang="en-US" sz="2933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40" kern="0" spc="53" dirty="0">
                <a:solidFill>
                  <a:srgbClr val="9A9189"/>
                </a:solidFill>
              </a:rPr>
              <a:t>SEMANA</a:t>
            </a:r>
            <a:endParaRPr lang="en-US" sz="104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33" b="1" dirty="0">
                <a:solidFill>
                  <a:srgbClr val="6B150B"/>
                </a:solidFill>
              </a:rPr>
              <a:t>05</a:t>
            </a:r>
            <a:endParaRPr lang="en-US" sz="2933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4559808"/>
            <a:ext cx="12192000" cy="375513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243840" y="4559808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Sub-campaña</a:t>
            </a:r>
            <a:endParaRPr lang="en-US" sz="1133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3562503" y="455371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Presupuesto</a:t>
            </a:r>
            <a:endParaRPr lang="en-US" sz="1133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6035040" y="4559808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Avance</a:t>
            </a:r>
            <a:endParaRPr lang="en-US" sz="1133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8875776" y="4559808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% Logro</a:t>
            </a:r>
            <a:endParaRPr lang="en-US" sz="1133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10058400" y="4559808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>
                <a:solidFill>
                  <a:srgbClr val="FFFFFF"/>
                </a:solidFill>
              </a:rPr>
              <a:t>Proyeccion</a:t>
            </a:r>
            <a:endParaRPr lang="en-US" sz="1133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3866608" y="4935321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10058400" y="4935321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5310835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243840" y="5310835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Fonocompras </a:t>
            </a:r>
            <a:endParaRPr lang="en-US" sz="1267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3866608" y="5310835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24</a:t>
            </a:r>
            <a:endParaRPr lang="en-US" sz="1267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6035040" y="5415979"/>
            <a:ext cx="2253081" cy="157716"/>
          </a:xfrm>
          <a:prstGeom prst="rect">
            <a:avLst/>
          </a:prstGeom>
          <a:solidFill>
            <a:srgbClr val="D97706"/>
          </a:solidFill>
          <a:ln w="16933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8875776" y="5310835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D97706"/>
                </a:solidFill>
              </a:rPr>
              <a:t>88%</a:t>
            </a:r>
            <a:endParaRPr lang="en-US" sz="1333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10058400" y="5310835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1´500,000</a:t>
            </a:r>
            <a:endParaRPr lang="en-US" sz="1133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5686349"/>
            <a:ext cx="12192000" cy="375513"/>
          </a:xfrm>
          <a:prstGeom prst="rect">
            <a:avLst/>
          </a:prstGeom>
          <a:solidFill>
            <a:srgbClr val="FFFFFF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243840" y="5686349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6B150B"/>
                </a:solidFill>
              </a:rPr>
              <a:t>Efectivo (</a:t>
            </a:r>
            <a:r>
              <a:rPr lang="en-US" sz="1267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1267" b="1" dirty="0">
                <a:solidFill>
                  <a:srgbClr val="6B150B"/>
                </a:solidFill>
              </a:rPr>
              <a:t>)</a:t>
            </a:r>
            <a:endParaRPr lang="en-US" sz="1267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3866608" y="568634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39</a:t>
            </a:r>
            <a:endParaRPr lang="en-US" sz="1267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6035040" y="5791492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6035040" y="5791492"/>
            <a:ext cx="2381097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8875776" y="568634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93%</a:t>
            </a:r>
            <a:endParaRPr lang="en-US" sz="1333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10058400" y="568634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8’200,000</a:t>
            </a:r>
            <a:endParaRPr lang="en-US" sz="1133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6061863"/>
            <a:ext cx="12192000" cy="375513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243840" y="6061863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 err="1">
                <a:solidFill>
                  <a:srgbClr val="6B150B"/>
                </a:solidFill>
              </a:rPr>
              <a:t>BanBif</a:t>
            </a:r>
            <a:r>
              <a:rPr lang="en-US" sz="1267" b="1" dirty="0">
                <a:solidFill>
                  <a:srgbClr val="6B150B"/>
                </a:solidFill>
              </a:rPr>
              <a:t> </a:t>
            </a:r>
            <a:endParaRPr lang="en-US" sz="1267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3866608" y="606186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5</a:t>
            </a:r>
            <a:endParaRPr lang="en-US" sz="1267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6933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059669"/>
          </a:solidFill>
          <a:ln w="16933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8875776" y="6061863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33" b="1" dirty="0">
                <a:solidFill>
                  <a:srgbClr val="059669"/>
                </a:solidFill>
              </a:rPr>
              <a:t>100%</a:t>
            </a:r>
            <a:endParaRPr lang="en-US" sz="1333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10058400" y="6061863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>1,500,000</a:t>
            </a:r>
            <a:endParaRPr lang="en-US" sz="1133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GRUPO EFE  |  Agosto 2026</a:t>
            </a:r>
            <a:endParaRPr lang="en-US" sz="100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4507036" y="455605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b="1" dirty="0" err="1">
                <a:solidFill>
                  <a:srgbClr val="FFFFFF"/>
                </a:solidFill>
              </a:rPr>
              <a:t>Conectados</a:t>
            </a:r>
            <a:endParaRPr lang="en-US" sz="1133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4795269" y="533372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20</a:t>
            </a:r>
            <a:endParaRPr lang="en-US" sz="1267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4817769" y="570785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28</a:t>
            </a:r>
            <a:endParaRPr lang="en-US" sz="1267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4850112" y="608337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4</a:t>
            </a:r>
            <a:endParaRPr lang="en-US" sz="1267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6845717" y="53183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7011965" y="5693877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7064232" y="606186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dirty="0">
                <a:solidFill>
                  <a:srgbClr val="111010"/>
                </a:solidFill>
              </a:rPr>
              <a:t>900</a:t>
            </a:r>
            <a:endParaRPr lang="en-US" sz="1267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1836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46492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374745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4779264" y="511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374745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779264" y="55804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60460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124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EFECTIVA (DORMIDOS + NUEVOS + RECURRENTES): Información al 8 de Agosto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161288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58.8%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1.45M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2.46M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121" y="-193091"/>
            <a:ext cx="1264005" cy="1264005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97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318760"/>
            <a:ext cx="22860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3 / 5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55.9%</a:t>
            </a:r>
            <a:endParaRPr lang="en-US" sz="88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31628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1.57M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161.7K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289.5K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FONOCOMPRAS (</a:t>
            </a:r>
            <a:r>
              <a:rPr lang="es-ES" sz="1867" b="1" dirty="0">
                <a:solidFill>
                  <a:schemeClr val="bg1"/>
                </a:solidFill>
              </a:rPr>
              <a:t>OUTBOUND  + INBOUD)</a:t>
            </a:r>
            <a:r>
              <a:rPr lang="en-US" sz="1667" b="1" kern="0" spc="40" dirty="0">
                <a:solidFill>
                  <a:srgbClr val="FFFFFF"/>
                </a:solidFill>
              </a:rPr>
              <a:t>: Información al 8 de Agosto</a:t>
            </a:r>
            <a:endParaRPr lang="en-US" sz="1667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5" y="-217956"/>
            <a:ext cx="1264005" cy="1264005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78892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300812" y="1097280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  <a:endParaRPr lang="en-US" sz="1267" dirty="0"/>
          </a:p>
        </p:txBody>
      </p:sp>
      <p:pic>
        <p:nvPicPr>
          <p:cNvPr id="90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572" y="5120640"/>
            <a:ext cx="123444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DINERS  |  TARJETAS DE CREDITO: :  Información al 8 de Agosto 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1 / 1</a:t>
            </a:r>
            <a:endParaRPr lang="en-US" sz="10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C0392B"/>
                </a:solidFill>
              </a:rPr>
              <a:t>3.1%</a:t>
            </a:r>
            <a:endParaRPr lang="en-US" sz="96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8467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2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65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51184" y="6519812"/>
            <a:ext cx="315872" cy="307708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45354"/>
            <a:ext cx="2286000" cy="5850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BANBIF PRESTAMOS: Información al 8 de Agosto</a:t>
            </a:r>
            <a:endParaRPr lang="en-US" sz="1667" dirty="0"/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5 / 5</a:t>
            </a:r>
            <a:endParaRPr lang="en-US" sz="1067" dirty="0"/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6933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390144" y="1161288"/>
            <a:ext cx="219456" cy="219456"/>
          </a:xfrm>
          <a:prstGeom prst="ellipse">
            <a:avLst/>
          </a:prstGeom>
          <a:solidFill>
            <a:srgbClr val="C0392B"/>
          </a:solidFill>
          <a:ln w="16933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 err="1">
                <a:solidFill>
                  <a:srgbClr val="C0392B"/>
                </a:solidFill>
              </a:rPr>
              <a:t>Cerca</a:t>
            </a:r>
            <a:r>
              <a:rPr lang="en-US" sz="1267" b="1" dirty="0">
                <a:solidFill>
                  <a:srgbClr val="C0392B"/>
                </a:solidFill>
              </a:rPr>
              <a:t> de la meta</a:t>
            </a:r>
            <a:endParaRPr lang="en-US" sz="1267" dirty="0"/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33" i="1" dirty="0">
                <a:solidFill>
                  <a:srgbClr val="9A9189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dirty="0">
                <a:solidFill>
                  <a:srgbClr val="C0392B"/>
                </a:solidFill>
              </a:rPr>
              <a:t>80.1%</a:t>
            </a:r>
            <a:endParaRPr lang="en-US" sz="8800" dirty="0"/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2.10M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647.8K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809.0K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5425405"/>
            <a:ext cx="2286000" cy="62491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EFECTIVA Y FONOCOMPRAS|  DIAGNÓSTICO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DIAGNÓSTICO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6933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C97A0C"/>
                </a:solidFill>
              </a:rPr>
              <a:t>Impacto Medio</a:t>
            </a:r>
            <a:endParaRPr lang="en-US" sz="1133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8467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33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DINNERS  | DIAGNÓSTICO Y SEGUIMIENTO</a:t>
            </a:r>
            <a:endParaRPr lang="en-US" sz="1667" dirty="0"/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0" y="3113024"/>
            <a:ext cx="5547360" cy="1589024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DIAGNÓSTICO — CAUSAS RAIZ</a:t>
            </a:r>
            <a:endParaRPr lang="en-US" sz="1067" dirty="0"/>
          </a:p>
        </p:txBody>
      </p:sp>
      <p:sp>
        <p:nvSpPr>
          <p:cNvPr id="26" name="Shape 23"/>
          <p:cNvSpPr/>
          <p:nvPr/>
        </p:nvSpPr>
        <p:spPr>
          <a:xfrm>
            <a:off x="5791200" y="1463040"/>
            <a:ext cx="6400800" cy="2389632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6583680" y="1926336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7" name="Text 34"/>
          <p:cNvSpPr/>
          <p:nvPr/>
        </p:nvSpPr>
        <p:spPr>
          <a:xfrm>
            <a:off x="6583680" y="4401312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9189"/>
                </a:solidFill>
              </a:rPr>
              <a:t>DINERS  |  DIAGNÓSTICO  | Agosto 2026</a:t>
            </a:r>
            <a:endParaRPr lang="en-US" sz="100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9936" y="6510528"/>
            <a:ext cx="414528" cy="292608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877824"/>
            <a:ext cx="12192000" cy="34137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67" b="1" kern="0" spc="40" dirty="0">
                <a:solidFill>
                  <a:srgbClr val="FFFFFF"/>
                </a:solidFill>
              </a:rPr>
              <a:t>BANBIF|  DIAGNÓSTICO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6933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463040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70688" y="2180783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700528"/>
            <a:ext cx="5547360" cy="1176528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70688" y="2773680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70688" y="341827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0713"/>
                </a:solidFill>
              </a:rPr>
              <a:t>Ejecutado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6933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67" b="1" kern="0" spc="40" dirty="0">
                <a:solidFill>
                  <a:srgbClr val="FFFFFF"/>
                </a:solidFill>
              </a:rPr>
              <a:t>DIAGNÓSTICO MES ACTUAL — CAUSAS RAIZ</a:t>
            </a:r>
            <a:endParaRPr lang="en-US" sz="1067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6583680" y="1926336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6933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8467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6933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67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6583680" y="3576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6933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33" b="1" dirty="0">
                <a:solidFill>
                  <a:srgbClr val="E30713"/>
                </a:solidFill>
              </a:rPr>
              <a:t>Impacto Bajo</a:t>
            </a:r>
            <a:endParaRPr lang="en-US" sz="1133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5791200" y="4763008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508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6486144"/>
            <a:ext cx="12192000" cy="21945"/>
          </a:xfrm>
          <a:prstGeom prst="rect">
            <a:avLst/>
          </a:prstGeom>
          <a:solidFill>
            <a:srgbClr val="E30713"/>
          </a:solidFill>
          <a:ln w="16933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0025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29"/>
            <a:ext cx="315872" cy="30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8096" y="2367409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FFFFFF"/>
                </a:solidFill>
              </a:rPr>
              <a:t>Norma Lévano  ·  Sub </a:t>
            </a:r>
            <a:r>
              <a:rPr lang="en-US" sz="2000" dirty="0" err="1">
                <a:solidFill>
                  <a:srgbClr val="FFFFFF"/>
                </a:solidFill>
              </a:rPr>
              <a:t>Gerente</a:t>
            </a:r>
            <a:r>
              <a:rPr lang="en-US" sz="2000" dirty="0">
                <a:solidFill>
                  <a:srgbClr val="FFFFFF"/>
                </a:solidFill>
              </a:rPr>
              <a:t> BBVA Digital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HIBRIDO · PLD DIGITAL · OPERACIONES DIGITAL · TARJETA START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09472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82%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68224" y="3877056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57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13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71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135427" y="45598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Hibrido (Tarjetas Digital)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330949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25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1945843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76%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310836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Digital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330949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415979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0" y="5415979"/>
            <a:ext cx="2048256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686350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Digital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330949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791493"/>
            <a:ext cx="2560320" cy="15771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103%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6061864"/>
            <a:ext cx="12192000" cy="375513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TARJETA START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330949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6167007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6167007"/>
            <a:ext cx="2073859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DIGITAL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6747399" y="4947516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6966291" y="5682593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6779553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4437740" y="453293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4707708" y="48719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4725973" y="531060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4748473" y="568474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4780816" y="60602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3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61288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400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8CA61E"/>
                </a:solidFill>
                <a:latin typeface="Calibri" panose="020F0502020204030204"/>
              </a:rPr>
              <a:t>188%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400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229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122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TARJETA START: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401" y="15446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/>
            </a:r>
            <a:r>
              <a:rPr lang="en-US" sz="1067" i="1" dirty="0" err="1">
                <a:solidFill>
                  <a:srgbClr val="667085"/>
                </a:solidFill>
                <a:latin typeface="Calibri" panose="020F0502020204030204"/>
              </a:rPr>
              <a:t/>
            </a:r>
            <a:r>
              <a:rPr lang="en-US" sz="1067" i="1" dirty="0">
                <a:solidFill>
                  <a:srgbClr val="667085"/>
                </a:solidFill>
                <a:latin typeface="Calibri" panose="020F0502020204030204"/>
              </a:rPr>
              <a:t/>
            </a:r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65.1%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650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123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260401" y="1036011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382321" y="1133547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650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HIBRIDO — TARJETAS 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4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52.2%</a:t>
            </a:r>
            <a:endParaRPr lang="en-US" sz="96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755902" y="1048512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2.80K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374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716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121920" y="101228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243840" y="110982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2800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20309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DIGITALES: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56.7%</a:t>
            </a:r>
            <a:endParaRPr lang="en-US" sz="9600" dirty="0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3.00K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346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610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121920" y="1047605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243840" y="1145141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3.000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4893" y="-49773"/>
            <a:ext cx="1731264" cy="985509"/>
          </a:xfrm>
          <a:prstGeom prst="rect">
            <a:avLst/>
          </a:prstGeom>
        </p:spPr>
      </p:pic>
      <p:pic>
        <p:nvPicPr>
          <p:cNvPr id="85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DIGITAL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DIAGNÓSTICO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DIGITAL  |  DIAGNÓSTICO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8096" y="139192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BBVA TELEMARKETING OUT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Ronny Aleman  ·  Subgerente BBVA TLM OUT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914400" y="3600196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E523-0285-0125-57E7-1555DB0E2A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>
          <a:xfrm>
            <a:off x="548640" y="5166360"/>
            <a:ext cx="3630623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TC TLM · PLD OUT · OPERACIONES OUT · PORTAFOLIO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/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/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/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/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/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73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38784"/>
            <a:ext cx="12192000" cy="5529072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896976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626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607984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5069707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531431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993153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TC TELEMARKETING OUT: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BEED6"/>
          </a:solidFill>
          <a:ln w="12700">
            <a:solidFill>
              <a:srgbClr val="FBEED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61288"/>
            <a:ext cx="219456" cy="219456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E08A1E"/>
                </a:solidFill>
                <a:latin typeface="Calibri" panose="020F0502020204030204"/>
              </a:rPr>
              <a:t>META: 2.90K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E08A1E"/>
                </a:solidFill>
                <a:latin typeface="Calibri" panose="020F0502020204030204"/>
              </a:rPr>
              <a:t>96.7%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Shape 7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2.90K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989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1.02K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PLD OUT PRESTAMOS: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61288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9600" b="1" dirty="0">
                <a:solidFill>
                  <a:srgbClr val="C0392B"/>
                </a:solidFill>
                <a:latin typeface="Calibri" panose="020F0502020204030204"/>
              </a:rPr>
              <a:t>36.8%</a:t>
            </a:r>
            <a:endParaRPr lang="en-US" sz="9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360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117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51960"/>
            <a:ext cx="2194564" cy="1249240"/>
          </a:xfrm>
          <a:prstGeom prst="rect">
            <a:avLst/>
          </a:prstGeom>
        </p:spPr>
      </p:pic>
      <p:pic>
        <p:nvPicPr>
          <p:cNvPr id="80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OPERACIONES OUT: 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61288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5.25K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82.9%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5.25K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1.55K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1.88K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139" y="-143757"/>
            <a:ext cx="2194564" cy="1249240"/>
          </a:xfrm>
          <a:prstGeom prst="rect">
            <a:avLst/>
          </a:prstGeom>
        </p:spPr>
      </p:pic>
      <p:pic>
        <p:nvPicPr>
          <p:cNvPr id="81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PORTAFOLIO: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89.7%</a:t>
            </a:r>
            <a:endParaRPr lang="en-US" sz="8800" dirty="0">
              <a:solidFill>
                <a:srgbClr val="D97706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12.50M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2.95M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3.28M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118872" y="1033897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240792" y="1131433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5664" y="-17748"/>
            <a:ext cx="1731264" cy="985509"/>
          </a:xfrm>
          <a:prstGeom prst="rect">
            <a:avLst/>
          </a:prstGeom>
        </p:spPr>
      </p:pic>
      <p:pic>
        <p:nvPicPr>
          <p:cNvPr id="75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86939"/>
            <a:ext cx="2286000" cy="701841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BBVA TLM OUT 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70688" y="4070015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763008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170688" y="5719999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AFCB07"/>
                </a:solidFill>
                <a:latin typeface="Calibri" panose="020F0502020204030204"/>
              </a:rPr>
              <a:t>En proceso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DIAGNÓSTICO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i="1" dirty="0">
                <a:solidFill>
                  <a:srgbClr val="667085"/>
                </a:solidFill>
                <a:latin typeface="Calibri" panose="020F0502020204030204"/>
              </a:rPr>
              <a:t>TU META ES NUESTRA META  ·  BBVA TLM OUT  |  DIAGNÓSTICO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670560" cy="68580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914400" y="2865120"/>
            <a:ext cx="11033760" cy="3048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757338" y="1554810"/>
            <a:ext cx="1164336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UNICEF RETENCIONES Y DIGITAL</a:t>
            </a:r>
            <a:endParaRPr lang="en-US" sz="4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914400" y="2954020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José Jesus San Martin ·  Jefe de Ventas UNICEF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959224" y="367212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320005"/>
            <a:ext cx="4876800" cy="2776084"/>
          </a:xfrm>
          <a:prstGeom prst="rect">
            <a:avLst/>
          </a:prstGeom>
        </p:spPr>
      </p:pic>
      <p:pic>
        <p:nvPicPr>
          <p:cNvPr id="4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46320"/>
            <a:ext cx="2743200" cy="150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 |  FIDELIZACION · UPGRADE LINEA · SAVING · EXTRACASH · DIGITAL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633984" y="1687721"/>
            <a:ext cx="4120896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0" b="1" dirty="0">
                <a:solidFill>
                  <a:srgbClr val="19A075"/>
                </a:solidFill>
                <a:latin typeface="Calibri" panose="020F0502020204030204"/>
              </a:rPr>
              <a:t>90%</a:t>
            </a:r>
            <a:endParaRPr lang="en-US" sz="8000" dirty="0">
              <a:solidFill>
                <a:srgbClr val="19A075"/>
              </a:solidFill>
              <a:latin typeface="Calibri" panose="020F0502020204030204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87452" y="35971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667085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3511297" y="999745"/>
            <a:ext cx="60959" cy="5030825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70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50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16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100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667085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145078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4559808"/>
            <a:ext cx="12192000" cy="3129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243840" y="4559808"/>
            <a:ext cx="414528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3415817" y="4559077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6035040" y="4559808"/>
            <a:ext cx="28041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8875776" y="4559808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10058400" y="4559808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4872736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243840" y="4872736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TC Telemarketing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3594583" y="4872736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6035040" y="4960356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6035040" y="4960356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8875776" y="4872736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10058400" y="4872736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5185664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243840" y="5185664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PLD OUT (Prestamos)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3594583" y="5185664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16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6035040" y="5273284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6035041" y="5273284"/>
            <a:ext cx="1869033" cy="131429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8875776" y="5185664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C2626"/>
                </a:solidFill>
                <a:latin typeface="Calibri" panose="020F0502020204030204"/>
              </a:rPr>
              <a:t>73%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10058400" y="5185664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5498592"/>
            <a:ext cx="12192000" cy="312928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243840" y="5498592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145078"/>
                </a:solidFill>
                <a:latin typeface="Calibri" panose="020F0502020204030204"/>
              </a:rPr>
              <a:t>Operaciones OUT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3594583" y="5498592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14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6035040" y="5586212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6035040" y="5586212"/>
            <a:ext cx="2329891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8875776" y="5498592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91%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10058400" y="5498592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5811520"/>
            <a:ext cx="12192000" cy="312928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243840" y="5811520"/>
            <a:ext cx="39014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 err="1">
                <a:solidFill>
                  <a:srgbClr val="145078"/>
                </a:solidFill>
                <a:latin typeface="Calibri" panose="020F0502020204030204"/>
              </a:rPr>
              <a:t>Portafolio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3594583" y="5811520"/>
            <a:ext cx="158496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01828"/>
                </a:solidFill>
                <a:latin typeface="Calibri" panose="020F0502020204030204"/>
              </a:rPr>
              <a:t>18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6035040" y="5899140"/>
            <a:ext cx="2560320" cy="1314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6035040" y="5899140"/>
            <a:ext cx="2304288" cy="131429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8875776" y="5811520"/>
            <a:ext cx="115824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059669"/>
                </a:solidFill>
                <a:latin typeface="Calibri" panose="020F0502020204030204"/>
              </a:rPr>
              <a:t>90%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10058400" y="5811520"/>
            <a:ext cx="1950720" cy="312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>700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201168" y="1047509"/>
            <a:ext cx="310896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323088" y="1145045"/>
            <a:ext cx="219456" cy="2194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615696" y="1047509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059669"/>
                </a:solidFill>
                <a:latin typeface="Calibri" panose="020F0502020204030204"/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6823024" y="484900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6823024" y="515124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6816111" y="5464170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6845717" y="577709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900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4568659" y="452777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4879392" y="51344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4868393" y="546646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4879392" y="5771588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28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4846007" y="483831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89" y="-193290"/>
            <a:ext cx="2365251" cy="1346403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57072"/>
            <a:ext cx="12192000" cy="5565648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3657600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5812535" y="1921844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3374745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4779264" y="414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3374745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4779264" y="4532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3374745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4779264" y="4920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3374745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4779264" y="5308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374745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4779264" y="5696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374745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4779264" y="6084879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DIGITAL: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240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42.4%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25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59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873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FIDELIZACION: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129%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200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62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48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UPGRADE LINEA: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EAF0D2"/>
          </a:solidFill>
          <a:ln w="12700">
            <a:solidFill>
              <a:srgbClr val="EAF0D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8CA61E"/>
                </a:solidFill>
                <a:latin typeface="Calibri" panose="020F0502020204030204"/>
              </a:rPr>
              <a:t>META: 2.40K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8CA61E"/>
                </a:solidFill>
                <a:latin typeface="Calibri" panose="020F0502020204030204"/>
              </a:rPr>
              <a:t>100%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2.40K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460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SAVING: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META: 11.70K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67085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63.4%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11.70K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1.56K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2.46K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EXTRACASH: Información al 8 de Agosto</a:t>
            </a:r>
            <a:endParaRPr lang="en-US" sz="16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390144" y="1097280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b="1" dirty="0">
                <a:solidFill>
                  <a:srgbClr val="C0392B"/>
                </a:solidFill>
              </a:rPr>
              <a:t>META: 60.00K</a:t>
            </a:r>
            <a:endParaRPr lang="en-US" sz="1267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i="1" dirty="0">
                <a:solidFill>
                  <a:srgbClr val="667085"/>
                </a:solidFill>
              </a:rPr>
              <a:t/>
            </a:r>
            <a:endParaRPr lang="en-US" sz="1133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800" b="1" dirty="0">
                <a:solidFill>
                  <a:srgbClr val="C0392B"/>
                </a:solidFill>
              </a:rPr>
              <a:t>19.8%</a:t>
            </a:r>
            <a:endParaRPr lang="en-US" sz="88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chemeClr val="bg2">
                    <a:lumMod val="50000"/>
                  </a:schemeClr>
                </a:solidFill>
              </a:rPr>
              <a:t>META: 60.00K</a:t>
            </a:r>
            <a:endParaRPr lang="en-US" sz="1467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AVANCE: 3.83K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 dirty="0">
                <a:solidFill>
                  <a:schemeClr val="bg2">
                    <a:lumMod val="50000"/>
                  </a:schemeClr>
                </a:solidFill>
              </a:rPr>
              <a:t>META AVANCE: 19.33K</a:t>
            </a:r>
            <a:endParaRPr lang="en-US" sz="115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3" y="-137127"/>
            <a:ext cx="2194564" cy="1249240"/>
          </a:xfrm>
          <a:prstGeom prst="rect">
            <a:avLst/>
          </a:prstGeom>
        </p:spPr>
      </p:pic>
      <p:pic>
        <p:nvPicPr>
          <p:cNvPr id="89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499617"/>
            <a:ext cx="2286000" cy="47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121920" cy="87782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877824"/>
            <a:ext cx="12192000" cy="42672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b="1" kern="0" spc="40" dirty="0">
                <a:solidFill>
                  <a:srgbClr val="FFFFFF"/>
                </a:solidFill>
              </a:rPr>
              <a:t>UNICEF  |  DIAGNÓSTICO Y SEGUIMIENTO</a:t>
            </a:r>
            <a:endParaRPr lang="en-US" sz="1667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67" b="1" dirty="0">
                <a:solidFill>
                  <a:srgbClr val="FFFFFF"/>
                </a:solidFill>
              </a:rPr>
              <a:t>2 / 3</a:t>
            </a:r>
            <a:endParaRPr lang="en-US" sz="1067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SEGUIMIENTO PLAN SEMANA ANTERIOR</a:t>
            </a:r>
            <a:endParaRPr lang="en-US" sz="1067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46304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463040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70688" y="1536192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70688" y="2420031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Ejecutado</a:t>
            </a:r>
            <a:endParaRPr lang="en-US" sz="12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33528" y="3962400"/>
            <a:ext cx="5547360" cy="15890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Igualar/superar junio en Saving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3113024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70688" y="3186176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95072" y="55973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AFCB07"/>
                </a:solidFill>
              </a:rPr>
              <a:t>En proceso</a:t>
            </a:r>
            <a:endParaRPr lang="en-US" sz="12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4763008"/>
            <a:ext cx="67056" cy="1589024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70688" y="4836160"/>
            <a:ext cx="5279136" cy="907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endParaRPr lang="en-US" sz="1267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b="1" kern="0" spc="40" dirty="0">
                <a:solidFill>
                  <a:srgbClr val="FFFFFF"/>
                </a:solidFill>
              </a:rPr>
              <a:t>DIAGNÓSTICO — CAUSAS RAIZ</a:t>
            </a:r>
            <a:endParaRPr lang="en-US" sz="1067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6264537" y="1422700"/>
            <a:ext cx="5903079" cy="2429972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5791200" y="1463040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6583680" y="1926337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6583680" y="3486912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6583680" y="4324216"/>
            <a:ext cx="3937299" cy="10605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5791200" y="3938016"/>
            <a:ext cx="670560" cy="2389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6583680" y="405993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6583680" y="4401313"/>
            <a:ext cx="5486400" cy="10394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2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6571488" y="5670865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6583680" y="5670865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DC2626"/>
                </a:solidFill>
              </a:rPr>
              <a:t>Impacto Alto</a:t>
            </a:r>
            <a:endParaRPr lang="en-US" sz="1133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240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68224" y="6486144"/>
            <a:ext cx="11582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i="1" dirty="0">
                <a:solidFill>
                  <a:srgbClr val="667085"/>
                </a:solidFill>
              </a:rPr>
              <a:t>TU META ES NUESTRA META  ·  UNICEF  |  DIAGNÓSTICO  |   Agosto 2026</a:t>
            </a:r>
            <a:endParaRPr lang="en-US" sz="100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2512" y="-15361"/>
            <a:ext cx="1731264" cy="985509"/>
          </a:xfrm>
          <a:prstGeom prst="rect">
            <a:avLst/>
          </a:prstGeom>
        </p:spPr>
      </p:pic>
      <p:sp>
        <p:nvSpPr>
          <p:cNvPr id="40" name="Shape 12">
            <a:extLst>
              <a:ext uri="{FF2B5EF4-FFF2-40B4-BE49-F238E27FC236}">
                <a16:creationId xmlns:a16="http://schemas.microsoft.com/office/drawing/2014/main" id="{8A7481B4-F99B-DA41-3BFE-DF0D56448BC5}"/>
              </a:ext>
            </a:extLst>
          </p:cNvPr>
          <p:cNvSpPr/>
          <p:nvPr/>
        </p:nvSpPr>
        <p:spPr>
          <a:xfrm>
            <a:off x="121920" y="1524000"/>
            <a:ext cx="5230368" cy="871647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pPr fontAlgn="t"/>
            <a:r>
              <a:rPr lang="es-ES" sz="1400" dirty="0">
                <a:solidFill>
                  <a:srgbClr val="101828"/>
                </a:solidFill>
              </a:rPr>
              <a:t>Cerrar Digital en la meta</a:t>
            </a: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192FD573-9785-5141-DD6B-A8A02316E1DF}"/>
              </a:ext>
            </a:extLst>
          </p:cNvPr>
          <p:cNvSpPr/>
          <p:nvPr/>
        </p:nvSpPr>
        <p:spPr>
          <a:xfrm>
            <a:off x="6669741" y="403447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5078"/>
                </a:solidFill>
              </a:rPr>
              <a:t>CERRAR SAVING CON + DE 8700</a:t>
            </a:r>
            <a:endParaRPr lang="en-US" sz="1400" dirty="0"/>
          </a:p>
        </p:txBody>
      </p:sp>
      <p:sp>
        <p:nvSpPr>
          <p:cNvPr id="44" name="Text 33">
            <a:extLst>
              <a:ext uri="{FF2B5EF4-FFF2-40B4-BE49-F238E27FC236}">
                <a16:creationId xmlns:a16="http://schemas.microsoft.com/office/drawing/2014/main" id="{60CEE97D-0182-911D-F2B0-841022589DAE}"/>
              </a:ext>
            </a:extLst>
          </p:cNvPr>
          <p:cNvSpPr/>
          <p:nvPr/>
        </p:nvSpPr>
        <p:spPr>
          <a:xfrm>
            <a:off x="6669741" y="1591057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1600" b="1" dirty="0">
                <a:solidFill>
                  <a:srgbClr val="145078"/>
                </a:solidFill>
              </a:rPr>
              <a:t>Cerrar 240 en cantidad al 09/08.</a:t>
            </a:r>
            <a:endParaRPr lang="en-US" sz="1600" b="1" dirty="0">
              <a:solidFill>
                <a:srgbClr val="14507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6" cy="68580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6304" y="2881025"/>
            <a:ext cx="11704320" cy="3048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2336" y="1854002"/>
            <a:ext cx="11643360" cy="10722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 defTabSz="1219170"/>
            <a:r>
              <a:rPr lang="en-US" sz="4267" b="1" dirty="0">
                <a:solidFill>
                  <a:srgbClr val="FFFFFF"/>
                </a:solidFill>
                <a:latin typeface="Calibri" panose="020F0502020204030204"/>
              </a:rPr>
              <a:t>SANNA SEGUROS</a:t>
            </a:r>
            <a:endParaRPr lang="en-US" sz="4267" b="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268224" y="2976433"/>
            <a:ext cx="1164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867" dirty="0">
                <a:solidFill>
                  <a:srgbClr val="FFFFFF"/>
                </a:solidFill>
                <a:latin typeface="Calibri" panose="020F0502020204030204"/>
              </a:rPr>
              <a:t>Claudia Nuñez: Jefa de Ventas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6"/>
          <p:cNvSpPr/>
          <p:nvPr/>
        </p:nvSpPr>
        <p:spPr>
          <a:xfrm>
            <a:off x="268224" y="3741264"/>
            <a:ext cx="116433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dirty="0">
                <a:solidFill>
                  <a:srgbClr val="FFFFFF"/>
                </a:solidFill>
                <a:latin typeface="Calibri" panose="020F0502020204030204"/>
              </a:rPr>
              <a:t>Agosto 2026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5105" y="4894385"/>
            <a:ext cx="2411404" cy="2411404"/>
          </a:xfrm>
          <a:prstGeom prst="rect">
            <a:avLst/>
          </a:prstGeom>
        </p:spPr>
      </p:pic>
      <p:pic>
        <p:nvPicPr>
          <p:cNvPr id="4" name="Picture 2" descr="Busca trabajo en SANNA . Encuentra empleo en SANNA incluyendo sueldos,  ratings y reviews compartidos anónimanete por colaboradores de SANNA .">
            <a:extLst>
              <a:ext uri="{FF2B5EF4-FFF2-40B4-BE49-F238E27FC236}">
                <a16:creationId xmlns:a16="http://schemas.microsoft.com/office/drawing/2014/main" id="{1613AFE6-3234-365E-4BCC-B08FF8EBB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8640" y="5193791"/>
            <a:ext cx="3657600" cy="111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RESUMEN GENERAL|  SANNA SEGUROS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632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09472"/>
            <a:ext cx="243840" cy="243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07136" y="999744"/>
            <a:ext cx="2645664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536192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i="1" dirty="0">
                <a:solidFill>
                  <a:srgbClr val="9A9189"/>
                </a:solidFill>
                <a:latin typeface="Calibri" panose="020F0502020204030204"/>
              </a:rPr>
              <a:t/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68224" y="1950720"/>
            <a:ext cx="3108960" cy="1853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666" b="1" dirty="0">
                <a:solidFill>
                  <a:srgbClr val="D97706"/>
                </a:solidFill>
                <a:latin typeface="Calibri" panose="020F0502020204030204"/>
              </a:rPr>
              <a:t>89%</a:t>
            </a:r>
            <a:endParaRPr lang="en-US" sz="10666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-37795" y="3509048"/>
            <a:ext cx="310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200" dirty="0">
                <a:solidFill>
                  <a:srgbClr val="9A9189"/>
                </a:solidFill>
                <a:latin typeface="Calibri" panose="020F0502020204030204"/>
              </a:rPr>
              <a:t>Avance promedio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3511297" y="999744"/>
            <a:ext cx="26823" cy="542544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65760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4048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CONECTADOS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4048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894320" y="999744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077200" y="1121664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DOTACION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8077200" y="1365504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130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65760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SELECCION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4048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7894320" y="2145792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8077200" y="2267712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PEND. INDUCCION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8077200" y="2511552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12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365760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384048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PRESUPUESTO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84048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140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7894320" y="3291840"/>
            <a:ext cx="4114800" cy="1048512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077200" y="3413760"/>
            <a:ext cx="387096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40" kern="0" spc="53" dirty="0">
                <a:solidFill>
                  <a:srgbClr val="9A9189"/>
                </a:solidFill>
                <a:latin typeface="Calibri" panose="020F0502020204030204"/>
              </a:rPr>
              <a:t>SEMANA</a:t>
            </a:r>
            <a:endParaRPr lang="en-US" sz="104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8077200" y="3657600"/>
            <a:ext cx="3870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933" b="1" dirty="0">
                <a:solidFill>
                  <a:srgbClr val="6B150B"/>
                </a:solidFill>
                <a:latin typeface="Calibri" panose="020F0502020204030204"/>
              </a:rPr>
              <a:t>05</a:t>
            </a:r>
            <a:endParaRPr lang="en-US" sz="29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0" y="4559809"/>
            <a:ext cx="12192000" cy="375513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43840" y="4559809"/>
            <a:ext cx="414528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Sub-campaña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3562503" y="455371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Presupuesto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035040" y="4559809"/>
            <a:ext cx="28041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Avance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8875776" y="4559809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% Logro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10058400" y="4559809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>
                <a:solidFill>
                  <a:srgbClr val="FFFFFF"/>
                </a:solidFill>
                <a:latin typeface="Calibri" panose="020F0502020204030204"/>
              </a:rPr>
              <a:t>Proyeccion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7"/>
          <p:cNvSpPr/>
          <p:nvPr/>
        </p:nvSpPr>
        <p:spPr>
          <a:xfrm>
            <a:off x="0" y="4935322"/>
            <a:ext cx="12192000" cy="375513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43840" y="4935322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6B150B"/>
                </a:solidFill>
                <a:latin typeface="Calibri" panose="020F0502020204030204"/>
              </a:rPr>
              <a:t>SANNA Seguros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3866608" y="4935322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50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035040" y="5040466"/>
            <a:ext cx="2560320" cy="1577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" name="Shape 41"/>
          <p:cNvSpPr/>
          <p:nvPr/>
        </p:nvSpPr>
        <p:spPr>
          <a:xfrm>
            <a:off x="6035040" y="5040466"/>
            <a:ext cx="2176272" cy="1577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8875776" y="4935322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333" b="1" dirty="0">
                <a:solidFill>
                  <a:srgbClr val="D97706"/>
                </a:solidFill>
                <a:latin typeface="Calibri" panose="020F0502020204030204"/>
              </a:rPr>
              <a:t>85%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10058400" y="4935322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>820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243840" y="5310836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Text 46"/>
          <p:cNvSpPr/>
          <p:nvPr/>
        </p:nvSpPr>
        <p:spPr>
          <a:xfrm>
            <a:off x="3866608" y="5310836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8875776" y="5310836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Text 50"/>
          <p:cNvSpPr/>
          <p:nvPr/>
        </p:nvSpPr>
        <p:spPr>
          <a:xfrm>
            <a:off x="10058400" y="5310836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43840" y="5686350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3866608" y="568635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9" name="Text 56"/>
          <p:cNvSpPr/>
          <p:nvPr/>
        </p:nvSpPr>
        <p:spPr>
          <a:xfrm>
            <a:off x="8875776" y="5686350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10058400" y="5686350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2" name="Text 59"/>
          <p:cNvSpPr/>
          <p:nvPr/>
        </p:nvSpPr>
        <p:spPr>
          <a:xfrm>
            <a:off x="243840" y="6061864"/>
            <a:ext cx="39014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Text 60"/>
          <p:cNvSpPr/>
          <p:nvPr/>
        </p:nvSpPr>
        <p:spPr>
          <a:xfrm>
            <a:off x="3866608" y="6061864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Text 63"/>
          <p:cNvSpPr/>
          <p:nvPr/>
        </p:nvSpPr>
        <p:spPr>
          <a:xfrm>
            <a:off x="8875776" y="6061864"/>
            <a:ext cx="115824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Text 64"/>
          <p:cNvSpPr/>
          <p:nvPr/>
        </p:nvSpPr>
        <p:spPr>
          <a:xfrm>
            <a:off x="10058400" y="6061864"/>
            <a:ext cx="195072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9" name="Shape 66"/>
          <p:cNvSpPr/>
          <p:nvPr/>
        </p:nvSpPr>
        <p:spPr>
          <a:xfrm flipV="1">
            <a:off x="0" y="6365962"/>
            <a:ext cx="12192000" cy="12018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4507036" y="455605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b="1" dirty="0" err="1">
                <a:solidFill>
                  <a:srgbClr val="FFFFFF"/>
                </a:solidFill>
                <a:latin typeface="Calibri" panose="020F0502020204030204"/>
              </a:rPr>
              <a:t>Conectados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4777004" y="489508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40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6709604" y="4942852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dirty="0">
                <a:solidFill>
                  <a:srgbClr val="111010"/>
                </a:solidFill>
                <a:latin typeface="Calibri" panose="020F0502020204030204"/>
              </a:rPr>
              <a:t>700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4795269" y="5333729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4817769" y="5707860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4850112" y="6083373"/>
            <a:ext cx="1584960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2122" y="-193091"/>
            <a:ext cx="1264005" cy="1264005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6845717" y="5318365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7011965" y="5693878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7064232" y="6061864"/>
            <a:ext cx="1680931" cy="3755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930250"/>
            <a:ext cx="12192000" cy="5592471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3657600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5812535" y="1899848"/>
            <a:ext cx="1679448" cy="4632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defTabSz="1219170"/>
            <a:r>
              <a:rPr lang="es-PE" sz="220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374745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4779264" y="4522216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374745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4779264" y="5693325"/>
            <a:ext cx="1463040" cy="3657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 defTabSz="1219170"/>
            <a:r>
              <a:rPr lang="es-PE" sz="1240" b="1" dirty="0">
                <a:solidFill>
                  <a:srgbClr val="123A5E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SEGUROS:  Información al 8 de Agosto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1 / 5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268224" y="999744"/>
            <a:ext cx="3108960" cy="438912"/>
          </a:xfrm>
          <a:prstGeom prst="rect">
            <a:avLst/>
          </a:prstGeom>
          <a:solidFill>
            <a:srgbClr val="F7DDDA"/>
          </a:solidFill>
          <a:ln w="12700">
            <a:solidFill>
              <a:srgbClr val="F7DDDA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0144" y="1161288"/>
            <a:ext cx="219456" cy="21945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9496" y="1051560"/>
            <a:ext cx="267004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67" b="1" dirty="0">
                <a:solidFill>
                  <a:srgbClr val="C0392B"/>
                </a:solidFill>
                <a:latin typeface="Calibri" panose="020F0502020204030204"/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68224" y="1487424"/>
            <a:ext cx="31089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/>
            </a:r>
            <a:r>
              <a:rPr lang="en-US" sz="1133" i="1" dirty="0" err="1">
                <a:solidFill>
                  <a:srgbClr val="9A9189"/>
                </a:solidFill>
                <a:latin typeface="Calibri" panose="020F0502020204030204"/>
              </a:rPr>
              <a:t/>
            </a:r>
            <a:r>
              <a:rPr lang="en-US" sz="1133" i="1" dirty="0">
                <a:solidFill>
                  <a:srgbClr val="9A9189"/>
                </a:solidFill>
                <a:latin typeface="Calibri" panose="020F0502020204030204"/>
              </a:rPr>
              <a:t/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0" y="2944368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8800" b="1" dirty="0">
                <a:solidFill>
                  <a:srgbClr val="C0392B"/>
                </a:solidFill>
                <a:latin typeface="Calibri" panose="020F0502020204030204"/>
              </a:rPr>
              <a:t>3.0%</a:t>
            </a:r>
            <a:endParaRPr lang="en-US" sz="8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535680" y="999744"/>
            <a:ext cx="24384" cy="5437632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998976" y="6193536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3998976" y="4673600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3998976" y="3153664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3998976" y="1633728"/>
            <a:ext cx="7815072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7" name="Shape 64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8" name="Shape 65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0" y="256032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467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META: 140</a:t>
            </a:r>
            <a:endParaRPr lang="en-US" sz="1467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4572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AVANCE: 1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737360" y="4590288"/>
            <a:ext cx="1691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50" b="1" dirty="0">
                <a:solidFill>
                  <a:srgbClr val="E7E6E6">
                    <a:lumMod val="50000"/>
                  </a:srgbClr>
                </a:solidFill>
                <a:latin typeface="Calibri" panose="020F0502020204030204"/>
              </a:rPr>
              <a:t>META AVANCE: 33</a:t>
            </a:r>
            <a:endParaRPr lang="en-US" sz="1150" dirty="0">
              <a:solidFill>
                <a:srgbClr val="E7E6E6">
                  <a:lumMod val="50000"/>
                </a:srgbClr>
              </a:solidFill>
              <a:latin typeface="Calibri" panose="020F0502020204030204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8281" y="6508090"/>
            <a:ext cx="335673" cy="32699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1926" y="-217956"/>
            <a:ext cx="1264005" cy="1264005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1280160"/>
            <a:ext cx="8412480" cy="4526280"/>
          </a:xfrm>
          <a:prstGeom prst="rect">
            <a:avLst/>
          </a:prstGeom>
        </p:spPr>
      </p:pic>
      <p:pic>
        <p:nvPicPr>
          <p:cNvPr id="78" name="Cliente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" y="5120640"/>
            <a:ext cx="150876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778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877825"/>
            <a:ext cx="12192000" cy="34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268224" y="0"/>
            <a:ext cx="999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kern="0" spc="40" dirty="0">
                <a:solidFill>
                  <a:srgbClr val="FFFFFF"/>
                </a:solidFill>
                <a:latin typeface="Calibri" panose="020F0502020204030204"/>
              </a:rPr>
              <a:t>SANNA |  DIAGNÓSTICO Y SEGUIMIENTO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36096" y="950976"/>
            <a:ext cx="6949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067" b="1" dirty="0">
                <a:solidFill>
                  <a:srgbClr val="FFFFFF"/>
                </a:solidFill>
                <a:latin typeface="Calibri" panose="020F0502020204030204"/>
              </a:rPr>
              <a:t>2 / 3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6"/>
          <p:cNvSpPr/>
          <p:nvPr/>
        </p:nvSpPr>
        <p:spPr>
          <a:xfrm>
            <a:off x="0" y="999744"/>
            <a:ext cx="554736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1920" y="999744"/>
            <a:ext cx="542544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SEGUIMIENTO PLAN SEMANA ANTERIOR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0" y="1463040"/>
            <a:ext cx="5547360" cy="123748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0" y="1463040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70688" y="1536192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Incorporar ejecutivo(a) de relacionamiento </a:t>
            </a:r>
            <a:endParaRPr lang="en-US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34112" y="275062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392" y="3123083"/>
            <a:ext cx="5547360" cy="1554581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r>
              <a:rPr lang="es-ES" sz="1267" dirty="0">
                <a:solidFill>
                  <a:srgbClr val="111010"/>
                </a:solidFill>
                <a:latin typeface="Calibri" panose="020F0502020204030204"/>
              </a:rPr>
              <a:t>Replicar mejores prácticas y resolver bienvenida 48 h</a:t>
            </a:r>
            <a:endParaRPr lang="es-PE" sz="1267" dirty="0">
              <a:solidFill>
                <a:srgbClr val="111010"/>
              </a:solidFill>
              <a:latin typeface="Calibri" panose="020F0502020204030204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0" y="2700528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219456" y="3750845"/>
            <a:ext cx="5279136" cy="6806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9170"/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146304" y="4677664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 err="1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0" y="3938016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0" y="5175504"/>
            <a:ext cx="67056" cy="1176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70688" y="5893247"/>
            <a:ext cx="5279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b="1" dirty="0">
                <a:solidFill>
                  <a:srgbClr val="E30713"/>
                </a:solidFill>
                <a:latin typeface="Calibri" panose="020F0502020204030204"/>
              </a:rPr>
              <a:t>Ejecutado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5657088" y="999744"/>
            <a:ext cx="24384" cy="5413248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791200" y="999744"/>
            <a:ext cx="6400800" cy="41452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913120" y="999744"/>
            <a:ext cx="6278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67" b="1" kern="0" spc="40" dirty="0">
                <a:solidFill>
                  <a:srgbClr val="FFFFFF"/>
                </a:solidFill>
                <a:latin typeface="Calibri" panose="020F0502020204030204"/>
              </a:rPr>
              <a:t>DIAGNÓSTICO MES ACTUAL — CAUSAS RAIZ</a:t>
            </a:r>
            <a:endParaRPr lang="en-US" sz="1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791200" y="1463040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5791200" y="1463040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1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6583680" y="158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Objetivo del mes: 140 pólizas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6583680" y="1926337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200" dirty="0">
                <a:solidFill>
                  <a:srgbClr val="111010"/>
                </a:solidFill>
                <a:latin typeface="Calibri" panose="020F0502020204030204"/>
              </a:rPr>
              <a:t>Buscar más empresas para colocar pólizas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583680" y="2661920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DC2626"/>
                </a:solidFill>
                <a:latin typeface="Calibri" panose="020F0502020204030204"/>
              </a:rPr>
              <a:t>Impacto Alto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791200" y="3113024"/>
            <a:ext cx="6400800" cy="156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5791200" y="3113024"/>
            <a:ext cx="670560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anose="020F0502020204030204"/>
              </a:rPr>
              <a:t>2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6583680" y="323494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Cumplir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la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bienvenida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en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48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hrs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con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los</a:t>
            </a:r>
            <a:r>
              <a:rPr lang="en-US" sz="1467" b="1" dirty="0">
                <a:solidFill>
                  <a:srgbClr val="6B150B"/>
                </a:solidFill>
                <a:latin typeface="Calibri" panose="020F0502020204030204"/>
              </a:rPr>
              <a:t> </a:t>
            </a:r>
            <a:r>
              <a:rPr lang="en-US" sz="1467" b="1" dirty="0" err="1">
                <a:solidFill>
                  <a:srgbClr val="6B150B"/>
                </a:solidFill>
                <a:latin typeface="Calibri" panose="020F0502020204030204"/>
              </a:rPr>
              <a:t>referidos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583680" y="3576321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40"/>
          <p:cNvSpPr/>
          <p:nvPr/>
        </p:nvSpPr>
        <p:spPr>
          <a:xfrm>
            <a:off x="6583680" y="4311904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E30713"/>
                </a:solidFill>
                <a:latin typeface="Calibri" panose="020F0502020204030204"/>
              </a:rPr>
              <a:t>Impacto Bajo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6583680" y="5226305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6583680" y="5961888"/>
            <a:ext cx="1341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defTabSz="1219170"/>
            <a:r>
              <a:rPr lang="en-US" sz="1133" b="1" dirty="0">
                <a:solidFill>
                  <a:srgbClr val="C97A0C"/>
                </a:solidFill>
                <a:latin typeface="Calibri" panose="020F0502020204030204"/>
              </a:rPr>
              <a:t>Impacto Medio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0" y="5876544"/>
            <a:ext cx="12192000" cy="48768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219456" y="5876544"/>
            <a:ext cx="1182624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133" i="1" dirty="0">
                <a:solidFill>
                  <a:srgbClr val="6B150B"/>
                </a:solidFill>
                <a:latin typeface="Calibri" panose="020F0502020204030204"/>
              </a:rPr>
              <a:t>Nota: BanBif cumplido al 100% (S/ 1,503,083). Foco en Tarjetas e induccion pendiente.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0" y="6486144"/>
            <a:ext cx="12192000" cy="341376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4" name="Shape 51"/>
          <p:cNvSpPr/>
          <p:nvPr/>
        </p:nvSpPr>
        <p:spPr>
          <a:xfrm>
            <a:off x="0" y="6486145"/>
            <a:ext cx="12192000" cy="21945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pPr defTabSz="1219170"/>
            <a:endParaRPr lang="es-P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5" name="Text 52"/>
          <p:cNvSpPr/>
          <p:nvPr/>
        </p:nvSpPr>
        <p:spPr>
          <a:xfrm>
            <a:off x="219456" y="6486144"/>
            <a:ext cx="10485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000" dirty="0">
                <a:solidFill>
                  <a:srgbClr val="9A9189"/>
                </a:solidFill>
                <a:latin typeface="Calibri" panose="020F0502020204030204"/>
              </a:rPr>
              <a:t>DIAGNÓSTICO  |  Agosto 2026</a:t>
            </a:r>
            <a:endParaRPr lang="en-US" sz="10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026" y="-141756"/>
            <a:ext cx="1264005" cy="1264005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808736" y="6537330"/>
            <a:ext cx="315872" cy="307708"/>
          </a:xfrm>
          <a:prstGeom prst="rect">
            <a:avLst/>
          </a:prstGeom>
        </p:spPr>
      </p:pic>
      <p:sp>
        <p:nvSpPr>
          <p:cNvPr id="4" name="Text 31">
            <a:extLst>
              <a:ext uri="{FF2B5EF4-FFF2-40B4-BE49-F238E27FC236}">
                <a16:creationId xmlns:a16="http://schemas.microsoft.com/office/drawing/2014/main" id="{7561DE02-26FD-2DBF-6E4C-F778270D9516}"/>
              </a:ext>
            </a:extLst>
          </p:cNvPr>
          <p:cNvSpPr/>
          <p:nvPr/>
        </p:nvSpPr>
        <p:spPr>
          <a:xfrm>
            <a:off x="6461760" y="3540320"/>
            <a:ext cx="5486400" cy="6929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s-ES" sz="1200" dirty="0">
                <a:solidFill>
                  <a:srgbClr val="111010"/>
                </a:solidFill>
                <a:latin typeface="Calibri" panose="020F0502020204030204"/>
              </a:rPr>
              <a:t>Asesora top (26 pólizas) comparta factores clave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2018</TotalTime>
  <Words>2856</Words>
  <Application>Microsoft Office PowerPoint</Application>
  <PresentationFormat>Panorámica</PresentationFormat>
  <Paragraphs>1025</Paragraphs>
  <Slides>68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9</vt:i4>
      </vt:variant>
      <vt:variant>
        <vt:lpstr>Títulos de diapositiva</vt:lpstr>
      </vt:variant>
      <vt:variant>
        <vt:i4>68</vt:i4>
      </vt:variant>
    </vt:vector>
  </HeadingPairs>
  <TitlesOfParts>
    <vt:vector size="79" baseType="lpstr">
      <vt:lpstr>Arial</vt:lpstr>
      <vt:lpstr>Calibri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Comité Agosto 2026 — Consolidado (todas las campañas)</dc:title>
  <dc:subject>SBP Convenios · BBVA Convenios · SBP TC · BCP Convenios · Efectiva-Diners-BanBif · BBVA TLM Digital · BBVA TLM Out · UNICEF · SANNA</dc:subject>
  <dc:creator>PptxGenJS</dc:creator>
  <cp:lastModifiedBy>Jeampiere Manuel Pocomucha Toribio</cp:lastModifiedBy>
  <cp:revision>23</cp:revision>
  <dcterms:created xsi:type="dcterms:W3CDTF">2026-06-10T17:53:50Z</dcterms:created>
  <dcterms:modified xsi:type="dcterms:W3CDTF">2026-09-01T16:28:11Z</dcterms:modified>
</cp:coreProperties>
</file>